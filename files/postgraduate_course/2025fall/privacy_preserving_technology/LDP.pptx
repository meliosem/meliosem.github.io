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0" r:id="rId5"/>
    <p:sldId id="309" r:id="rId6"/>
    <p:sldId id="312" r:id="rId7"/>
    <p:sldId id="313" r:id="rId8"/>
    <p:sldId id="314" r:id="rId9"/>
    <p:sldId id="316" r:id="rId10"/>
    <p:sldId id="317" r:id="rId11"/>
    <p:sldId id="315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8" r:id="rId21"/>
    <p:sldId id="329" r:id="rId22"/>
    <p:sldId id="331" r:id="rId23"/>
    <p:sldId id="330" r:id="rId24"/>
    <p:sldId id="333" r:id="rId25"/>
    <p:sldId id="332" r:id="rId26"/>
    <p:sldId id="326" r:id="rId27"/>
    <p:sldId id="327" r:id="rId28"/>
    <p:sldId id="334" r:id="rId29"/>
    <p:sldId id="336" r:id="rId30"/>
    <p:sldId id="337" r:id="rId31"/>
    <p:sldId id="338" r:id="rId32"/>
    <p:sldId id="339" r:id="rId33"/>
    <p:sldId id="340" r:id="rId34"/>
    <p:sldId id="343" r:id="rId35"/>
    <p:sldId id="341" r:id="rId36"/>
    <p:sldId id="342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4" r:id="rId57"/>
    <p:sldId id="365" r:id="rId58"/>
    <p:sldId id="367" r:id="rId59"/>
    <p:sldId id="368" r:id="rId60"/>
    <p:sldId id="369" r:id="rId61"/>
    <p:sldId id="370" r:id="rId62"/>
    <p:sldId id="372" r:id="rId63"/>
    <p:sldId id="373" r:id="rId64"/>
    <p:sldId id="374" r:id="rId65"/>
    <p:sldId id="375" r:id="rId66"/>
    <p:sldId id="376" r:id="rId67"/>
    <p:sldId id="377" r:id="rId68"/>
    <p:sldId id="378" r:id="rId69"/>
    <p:sldId id="379" r:id="rId70"/>
    <p:sldId id="380" r:id="rId71"/>
    <p:sldId id="381" r:id="rId72"/>
    <p:sldId id="382" r:id="rId73"/>
    <p:sldId id="383" r:id="rId74"/>
    <p:sldId id="384" r:id="rId75"/>
    <p:sldId id="385" r:id="rId76"/>
    <p:sldId id="386" r:id="rId77"/>
    <p:sldId id="387" r:id="rId78"/>
    <p:sldId id="388" r:id="rId79"/>
    <p:sldId id="389" r:id="rId80"/>
    <p:sldId id="390" r:id="rId81"/>
    <p:sldId id="391" r:id="rId82"/>
    <p:sldId id="392" r:id="rId83"/>
    <p:sldId id="393" r:id="rId84"/>
    <p:sldId id="394" r:id="rId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8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DA4D5-A4BD-4A92-90E7-FD88744EF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6E7AC6-19CB-4E95-8B99-3D0F2F1C7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C2B70-8F5D-4A57-ABB1-C2FF199C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48BE8-C0F6-4974-AAC9-12B55EA4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00FCB-5BF9-471C-9C3E-E97D0931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26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BFA21-95E3-4554-B931-B071A022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9DDB5-36DE-4B27-83DB-11FA2E960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D579F-94E4-444F-9B4B-25AE7D0C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AA4BE6-66C3-402B-A313-2E684BD4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D02C0-6DAB-46E2-A721-8294E849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72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9F19A-A971-4453-B0EC-105A8B485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2CB361-ABC2-4F31-98DF-61C011714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466E0-CFEA-487A-B1E9-96DF0406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09D82-D105-4A2A-891C-17696290D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90783E-62BA-40E6-AEDF-340FC1AF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70DB0-1C5C-468A-8255-5C175CD8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84981-3DEF-4444-9D0D-5FE1BE581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A2B3DB-D50D-44A6-9617-AB75C4672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5E12E8-C1CC-4911-8004-9F36A402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E364A5-0ED7-4CDC-9FA0-30396B7A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5CEB27-1B86-48BE-80DF-A11B75F1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45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C31EC-1446-46A4-B40B-B6533D81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AF341-C173-46A8-83D9-BC935FCAE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5731E5-DBD2-4C4D-A025-BC3661EC6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35AA2F-42F7-4DC2-8539-5E9E07549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562E6B-E609-4435-9152-D83665B5B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7D71F0-2E29-47C2-89BB-DBD685DF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7657AE-63AF-4EC8-8DB9-33F4FDA5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FB16A4-3992-40F5-B85F-EC2C8BD0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04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78BB4-6674-4A54-BAD3-F04A5896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58214A-4377-4FD6-A23A-E8C38101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0AB980-EBAA-4EF0-A2E7-6E97BD7C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05CC43-CF68-434B-9766-D5F59715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1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D1F182-0ECE-4246-9EE1-CDBBCB58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352ADA-266D-4CF6-9814-68F07F53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36D728-8170-4802-8DE4-A557730F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82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FCD69-E6A5-46AF-A8DA-3B218D6B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CDB8BD-516C-4953-96ED-8CDE66237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FB965-D226-4B0E-8E69-CD5C1B03E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FF425D-E676-4965-99F6-FF04F03E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CA5AAB-6349-455A-8246-1E1A63EE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1ECF18-6711-47B7-A3FC-8B32ADAD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CBEB4-9166-44E7-82BC-46A24782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8855F0-69E3-4B18-A57A-36D391261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C8D2A4-7C7C-45C8-858C-B6046F221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B056B7-727F-4345-BF68-3ADF5FB7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3D87BE-0E86-4805-B846-C6781297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11207F-1589-4CFE-9F3E-9F4A8BC2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68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D77DDC-B07A-4285-A79B-2306D5A2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999D21-748B-4C68-BA9B-D1AE2151C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A4EB1D-ABC5-4F2D-AA85-80786BD2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4F5C68-542A-4502-9535-27542E9F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11EC54-4E82-4087-A6FE-7A0C9964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42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E9D54D-ABD4-4413-8EA0-46D87D91E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CCEA61-B98E-4D43-878B-D7F30F3E9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361822-96F8-4DD4-9910-EEBB9302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1BE43-6A85-4D2B-BB3E-590671A8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778D39-51B3-43B5-B858-7D01B1BD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11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0894FA-A276-49ED-BC8B-4F6C1A42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2BD20F-ACAC-417E-B623-913D28004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B3BCC-3132-4912-B942-BC3D471AA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B30E3-1FC8-41DA-8EEC-BFEC42F12546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2AF90-CA36-4C7C-9582-F55D47C23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447E6-6BC3-482B-9D7E-797C61BC8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5D025-E5D9-47DC-8DBB-C5D45AE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78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13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2" Type="http://schemas.openxmlformats.org/officeDocument/2006/relationships/image" Target="../media/image156.png"/><Relationship Id="rId2" Type="http://schemas.openxmlformats.org/officeDocument/2006/relationships/image" Target="../media/image146.png"/><Relationship Id="rId16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5" Type="http://schemas.openxmlformats.org/officeDocument/2006/relationships/image" Target="../media/image15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Relationship Id="rId14" Type="http://schemas.openxmlformats.org/officeDocument/2006/relationships/image" Target="../media/image158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3" Type="http://schemas.openxmlformats.org/officeDocument/2006/relationships/image" Target="../media/image162.png"/><Relationship Id="rId21" Type="http://schemas.openxmlformats.org/officeDocument/2006/relationships/image" Target="../media/image180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6F9304A-814D-4951-BB98-2D06479D74DE}"/>
              </a:ext>
            </a:extLst>
          </p:cNvPr>
          <p:cNvSpPr txBox="1"/>
          <p:nvPr/>
        </p:nvSpPr>
        <p:spPr>
          <a:xfrm>
            <a:off x="1053101" y="2352782"/>
            <a:ext cx="99299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Local Differential Privacy Introduction</a:t>
            </a:r>
          </a:p>
          <a:p>
            <a:pPr algn="ctr"/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Xiaoguang Li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20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01D9D2-23ED-4D28-87B0-F995F3682864}"/>
              </a:ext>
            </a:extLst>
          </p:cNvPr>
          <p:cNvSpPr txBox="1"/>
          <p:nvPr/>
        </p:nvSpPr>
        <p:spPr>
          <a:xfrm>
            <a:off x="791110" y="440077"/>
            <a:ext cx="9529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DD35AD-90AC-4929-BA69-549EFA36A25F}"/>
              </a:ext>
            </a:extLst>
          </p:cNvPr>
          <p:cNvSpPr txBox="1"/>
          <p:nvPr/>
        </p:nvSpPr>
        <p:spPr>
          <a:xfrm>
            <a:off x="868166" y="1443519"/>
            <a:ext cx="9529281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</a:p>
        </p:txBody>
      </p:sp>
    </p:spTree>
    <p:extLst>
      <p:ext uri="{BB962C8B-B14F-4D97-AF65-F5344CB8AC3E}">
        <p14:creationId xmlns:p14="http://schemas.microsoft.com/office/powerpoint/2010/main" val="2154698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43E28A-D966-448F-B271-845C3BC9BADA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Revisit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4" descr="User - Free people icons">
            <a:extLst>
              <a:ext uri="{FF2B5EF4-FFF2-40B4-BE49-F238E27FC236}">
                <a16:creationId xmlns:a16="http://schemas.microsoft.com/office/drawing/2014/main" id="{4DC099C5-0A70-49F3-BAFD-B0BFE3DCD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2" y="2596383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User - Free people icons">
            <a:extLst>
              <a:ext uri="{FF2B5EF4-FFF2-40B4-BE49-F238E27FC236}">
                <a16:creationId xmlns:a16="http://schemas.microsoft.com/office/drawing/2014/main" id="{31314E94-DC37-4B66-AFE8-B1D58CF4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3" y="3745382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ser - Free people icons">
            <a:extLst>
              <a:ext uri="{FF2B5EF4-FFF2-40B4-BE49-F238E27FC236}">
                <a16:creationId xmlns:a16="http://schemas.microsoft.com/office/drawing/2014/main" id="{85EF8AEF-E0BA-4E31-BAB7-D0405F55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827" y="4894380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23A57822-EBC2-4396-AACA-2A644BE8A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960" y="3367492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193F163-3C1B-4F4F-BA1B-301C538BE0A3}"/>
              </a:ext>
            </a:extLst>
          </p:cNvPr>
          <p:cNvSpPr txBox="1"/>
          <p:nvPr/>
        </p:nvSpPr>
        <p:spPr>
          <a:xfrm>
            <a:off x="4596972" y="4669955"/>
            <a:ext cx="1602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箭头: 右 12">
                <a:extLst>
                  <a:ext uri="{FF2B5EF4-FFF2-40B4-BE49-F238E27FC236}">
                    <a16:creationId xmlns:a16="http://schemas.microsoft.com/office/drawing/2014/main" id="{C5451E50-6D78-42BF-9B6A-86F4FC19D8D0}"/>
                  </a:ext>
                </a:extLst>
              </p:cNvPr>
              <p:cNvSpPr/>
              <p:nvPr/>
            </p:nvSpPr>
            <p:spPr>
              <a:xfrm>
                <a:off x="6017763" y="3751802"/>
                <a:ext cx="1515292" cy="6967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analyze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箭头: 右 12">
                <a:extLst>
                  <a:ext uri="{FF2B5EF4-FFF2-40B4-BE49-F238E27FC236}">
                    <a16:creationId xmlns:a16="http://schemas.microsoft.com/office/drawing/2014/main" id="{C5451E50-6D78-42BF-9B6A-86F4FC19D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763" y="3751802"/>
                <a:ext cx="1515292" cy="696767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A81F772-079F-411E-BC52-D2054E97D670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2016653" y="2924669"/>
            <a:ext cx="2666307" cy="1138186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E472EA2-2448-4A84-9556-F7A080821181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2016654" y="4062855"/>
            <a:ext cx="2666306" cy="10813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77794C5-5CBE-4EE4-8FBD-D111EA7F7217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031398" y="4062855"/>
            <a:ext cx="2651562" cy="115981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7C6CC13-FD2A-4088-828E-61112A8DC7CF}"/>
              </a:ext>
            </a:extLst>
          </p:cNvPr>
          <p:cNvSpPr txBox="1"/>
          <p:nvPr/>
        </p:nvSpPr>
        <p:spPr>
          <a:xfrm>
            <a:off x="2404763" y="3742051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F4AF07-CCEC-4C1B-BAB5-F08AE93157B7}"/>
              </a:ext>
            </a:extLst>
          </p:cNvPr>
          <p:cNvSpPr txBox="1"/>
          <p:nvPr/>
        </p:nvSpPr>
        <p:spPr>
          <a:xfrm rot="934603">
            <a:off x="2454209" y="2798676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6EB142-9880-4A2A-8D1A-88929DA877D7}"/>
              </a:ext>
            </a:extLst>
          </p:cNvPr>
          <p:cNvSpPr txBox="1"/>
          <p:nvPr/>
        </p:nvSpPr>
        <p:spPr>
          <a:xfrm rot="20519207">
            <a:off x="2451352" y="4592123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DDA18F6-9B93-401C-A157-7724D056EEC2}"/>
              </a:ext>
            </a:extLst>
          </p:cNvPr>
          <p:cNvCxnSpPr>
            <a:cxnSpLocks/>
          </p:cNvCxnSpPr>
          <p:nvPr/>
        </p:nvCxnSpPr>
        <p:spPr>
          <a:xfrm flipV="1">
            <a:off x="3981235" y="2046935"/>
            <a:ext cx="0" cy="371638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FDFDA34-E3B8-42C7-A2C0-E4C5A787315A}"/>
              </a:ext>
            </a:extLst>
          </p:cNvPr>
          <p:cNvSpPr txBox="1"/>
          <p:nvPr/>
        </p:nvSpPr>
        <p:spPr>
          <a:xfrm>
            <a:off x="1703112" y="5899187"/>
            <a:ext cx="165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User side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FE1DEA-D944-4CA7-B14A-3D0DEBB5834F}"/>
              </a:ext>
            </a:extLst>
          </p:cNvPr>
          <p:cNvSpPr txBox="1"/>
          <p:nvPr/>
        </p:nvSpPr>
        <p:spPr>
          <a:xfrm>
            <a:off x="7426206" y="5899186"/>
            <a:ext cx="17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Server side</a:t>
            </a:r>
            <a:endParaRPr lang="zh-CN" altLang="en-US" sz="24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54F32BF-ECF4-4064-910F-3AAD2B30B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762" y="2156210"/>
            <a:ext cx="1515292" cy="113876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7A82990-F61D-49AC-AE22-3323F6AEB6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41" y="3874860"/>
            <a:ext cx="527093" cy="527093"/>
          </a:xfrm>
          <a:prstGeom prst="rect">
            <a:avLst/>
          </a:prstGeom>
        </p:spPr>
      </p:pic>
      <p:sp>
        <p:nvSpPr>
          <p:cNvPr id="35" name="箭头: 右 34">
            <a:extLst>
              <a:ext uri="{FF2B5EF4-FFF2-40B4-BE49-F238E27FC236}">
                <a16:creationId xmlns:a16="http://schemas.microsoft.com/office/drawing/2014/main" id="{AEF16A99-FB58-46D5-80FE-C074423DDB05}"/>
              </a:ext>
            </a:extLst>
          </p:cNvPr>
          <p:cNvSpPr/>
          <p:nvPr/>
        </p:nvSpPr>
        <p:spPr>
          <a:xfrm rot="5400000">
            <a:off x="7661553" y="3276632"/>
            <a:ext cx="508022" cy="598701"/>
          </a:xfrm>
          <a:prstGeom prst="rightArrow">
            <a:avLst>
              <a:gd name="adj1" fmla="val 50000"/>
              <a:gd name="adj2" fmla="val 38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1018046C-05DA-4544-8226-3B9360285914}"/>
              </a:ext>
            </a:extLst>
          </p:cNvPr>
          <p:cNvSpPr/>
          <p:nvPr/>
        </p:nvSpPr>
        <p:spPr>
          <a:xfrm>
            <a:off x="8333101" y="3751802"/>
            <a:ext cx="1515292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publish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B0C4A7-07D0-4F30-AECF-8C6E29FD5248}"/>
              </a:ext>
            </a:extLst>
          </p:cNvPr>
          <p:cNvSpPr txBox="1"/>
          <p:nvPr/>
        </p:nvSpPr>
        <p:spPr>
          <a:xfrm>
            <a:off x="8457970" y="2362796"/>
            <a:ext cx="1390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Laplace noise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9C25447-98D6-4773-A5CF-425876EE85A6}"/>
                  </a:ext>
                </a:extLst>
              </p:cNvPr>
              <p:cNvSpPr txBox="1"/>
              <p:nvPr/>
            </p:nvSpPr>
            <p:spPr>
              <a:xfrm>
                <a:off x="578335" y="1016219"/>
                <a:ext cx="1087885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𝝐</m:t>
                    </m:r>
                  </m:oMath>
                </a14:m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-Differential Privacy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randomized algorithm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-DP if and only if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pair of neighbor datasets that only differ on one individual.</a:t>
                </a: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9C25447-98D6-4773-A5CF-425876EE8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35" y="1016219"/>
                <a:ext cx="10878855" cy="1015663"/>
              </a:xfrm>
              <a:prstGeom prst="rect">
                <a:avLst/>
              </a:prstGeom>
              <a:blipFill>
                <a:blip r:embed="rId7"/>
                <a:stretch>
                  <a:fillRect l="-617" t="-3012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图片 39">
            <a:extLst>
              <a:ext uri="{FF2B5EF4-FFF2-40B4-BE49-F238E27FC236}">
                <a16:creationId xmlns:a16="http://schemas.microsoft.com/office/drawing/2014/main" id="{03931BA8-330C-47F8-93EF-950D15E8E0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546" y="3182483"/>
            <a:ext cx="1760741" cy="1760741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FBFF3077-9A91-4307-BB78-879240540586}"/>
              </a:ext>
            </a:extLst>
          </p:cNvPr>
          <p:cNvSpPr txBox="1"/>
          <p:nvPr/>
        </p:nvSpPr>
        <p:spPr>
          <a:xfrm>
            <a:off x="10136704" y="4872641"/>
            <a:ext cx="1390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Private result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08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43E28A-D966-448F-B271-845C3BC9BADA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Revisit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4" descr="User - Free people icons">
            <a:extLst>
              <a:ext uri="{FF2B5EF4-FFF2-40B4-BE49-F238E27FC236}">
                <a16:creationId xmlns:a16="http://schemas.microsoft.com/office/drawing/2014/main" id="{4DC099C5-0A70-49F3-BAFD-B0BFE3DCD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2" y="2596383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User - Free people icons">
            <a:extLst>
              <a:ext uri="{FF2B5EF4-FFF2-40B4-BE49-F238E27FC236}">
                <a16:creationId xmlns:a16="http://schemas.microsoft.com/office/drawing/2014/main" id="{31314E94-DC37-4B66-AFE8-B1D58CF42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3" y="3745382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ser - Free people icons">
            <a:extLst>
              <a:ext uri="{FF2B5EF4-FFF2-40B4-BE49-F238E27FC236}">
                <a16:creationId xmlns:a16="http://schemas.microsoft.com/office/drawing/2014/main" id="{85EF8AEF-E0BA-4E31-BAB7-D0405F55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827" y="4894380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23A57822-EBC2-4396-AACA-2A644BE8A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960" y="3367492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193F163-3C1B-4F4F-BA1B-301C538BE0A3}"/>
              </a:ext>
            </a:extLst>
          </p:cNvPr>
          <p:cNvSpPr txBox="1"/>
          <p:nvPr/>
        </p:nvSpPr>
        <p:spPr>
          <a:xfrm>
            <a:off x="4596972" y="4669955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箭头: 右 12">
                <a:extLst>
                  <a:ext uri="{FF2B5EF4-FFF2-40B4-BE49-F238E27FC236}">
                    <a16:creationId xmlns:a16="http://schemas.microsoft.com/office/drawing/2014/main" id="{C5451E50-6D78-42BF-9B6A-86F4FC19D8D0}"/>
                  </a:ext>
                </a:extLst>
              </p:cNvPr>
              <p:cNvSpPr/>
              <p:nvPr/>
            </p:nvSpPr>
            <p:spPr>
              <a:xfrm>
                <a:off x="6017763" y="3751802"/>
                <a:ext cx="1515292" cy="69676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analyze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箭头: 右 12">
                <a:extLst>
                  <a:ext uri="{FF2B5EF4-FFF2-40B4-BE49-F238E27FC236}">
                    <a16:creationId xmlns:a16="http://schemas.microsoft.com/office/drawing/2014/main" id="{C5451E50-6D78-42BF-9B6A-86F4FC19D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763" y="3751802"/>
                <a:ext cx="1515292" cy="696767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A81F772-079F-411E-BC52-D2054E97D670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2016653" y="2924669"/>
            <a:ext cx="2666307" cy="1138186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E472EA2-2448-4A84-9556-F7A080821181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 flipV="1">
            <a:off x="2016654" y="4062855"/>
            <a:ext cx="2666306" cy="10813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77794C5-5CBE-4EE4-8FBD-D111EA7F7217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2031398" y="4062855"/>
            <a:ext cx="2651562" cy="115981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7C6CC13-FD2A-4088-828E-61112A8DC7CF}"/>
              </a:ext>
            </a:extLst>
          </p:cNvPr>
          <p:cNvSpPr txBox="1"/>
          <p:nvPr/>
        </p:nvSpPr>
        <p:spPr>
          <a:xfrm>
            <a:off x="2404763" y="3742051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F4AF07-CCEC-4C1B-BAB5-F08AE93157B7}"/>
              </a:ext>
            </a:extLst>
          </p:cNvPr>
          <p:cNvSpPr txBox="1"/>
          <p:nvPr/>
        </p:nvSpPr>
        <p:spPr>
          <a:xfrm rot="934603">
            <a:off x="2454209" y="2798676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6EB142-9880-4A2A-8D1A-88929DA877D7}"/>
              </a:ext>
            </a:extLst>
          </p:cNvPr>
          <p:cNvSpPr txBox="1"/>
          <p:nvPr/>
        </p:nvSpPr>
        <p:spPr>
          <a:xfrm rot="20519207">
            <a:off x="2451352" y="4592123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DDA18F6-9B93-401C-A157-7724D056EEC2}"/>
              </a:ext>
            </a:extLst>
          </p:cNvPr>
          <p:cNvCxnSpPr>
            <a:cxnSpLocks/>
          </p:cNvCxnSpPr>
          <p:nvPr/>
        </p:nvCxnSpPr>
        <p:spPr>
          <a:xfrm flipV="1">
            <a:off x="3981235" y="2046935"/>
            <a:ext cx="0" cy="371638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FDFDA34-E3B8-42C7-A2C0-E4C5A787315A}"/>
              </a:ext>
            </a:extLst>
          </p:cNvPr>
          <p:cNvSpPr txBox="1"/>
          <p:nvPr/>
        </p:nvSpPr>
        <p:spPr>
          <a:xfrm>
            <a:off x="1703112" y="5899187"/>
            <a:ext cx="165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User side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8FE1DEA-D944-4CA7-B14A-3D0DEBB5834F}"/>
              </a:ext>
            </a:extLst>
          </p:cNvPr>
          <p:cNvSpPr txBox="1"/>
          <p:nvPr/>
        </p:nvSpPr>
        <p:spPr>
          <a:xfrm>
            <a:off x="7426206" y="5899186"/>
            <a:ext cx="17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Server side</a:t>
            </a:r>
            <a:endParaRPr lang="zh-CN" altLang="en-US" sz="24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54F32BF-ECF4-4064-910F-3AAD2B30B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762" y="2156210"/>
            <a:ext cx="1515292" cy="113876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7A82990-F61D-49AC-AE22-3323F6AEB6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241" y="3874860"/>
            <a:ext cx="527093" cy="527093"/>
          </a:xfrm>
          <a:prstGeom prst="rect">
            <a:avLst/>
          </a:prstGeom>
        </p:spPr>
      </p:pic>
      <p:sp>
        <p:nvSpPr>
          <p:cNvPr id="35" name="箭头: 右 34">
            <a:extLst>
              <a:ext uri="{FF2B5EF4-FFF2-40B4-BE49-F238E27FC236}">
                <a16:creationId xmlns:a16="http://schemas.microsoft.com/office/drawing/2014/main" id="{AEF16A99-FB58-46D5-80FE-C074423DDB05}"/>
              </a:ext>
            </a:extLst>
          </p:cNvPr>
          <p:cNvSpPr/>
          <p:nvPr/>
        </p:nvSpPr>
        <p:spPr>
          <a:xfrm rot="5400000">
            <a:off x="7661553" y="3276632"/>
            <a:ext cx="508022" cy="598701"/>
          </a:xfrm>
          <a:prstGeom prst="rightArrow">
            <a:avLst>
              <a:gd name="adj1" fmla="val 50000"/>
              <a:gd name="adj2" fmla="val 38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1018046C-05DA-4544-8226-3B9360285914}"/>
              </a:ext>
            </a:extLst>
          </p:cNvPr>
          <p:cNvSpPr/>
          <p:nvPr/>
        </p:nvSpPr>
        <p:spPr>
          <a:xfrm>
            <a:off x="8333101" y="3751802"/>
            <a:ext cx="1515292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publish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B0C4A7-07D0-4F30-AECF-8C6E29FD5248}"/>
              </a:ext>
            </a:extLst>
          </p:cNvPr>
          <p:cNvSpPr txBox="1"/>
          <p:nvPr/>
        </p:nvSpPr>
        <p:spPr>
          <a:xfrm>
            <a:off x="8457970" y="2362796"/>
            <a:ext cx="1390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Laplace noise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9C25447-98D6-4773-A5CF-425876EE85A6}"/>
                  </a:ext>
                </a:extLst>
              </p:cNvPr>
              <p:cNvSpPr txBox="1"/>
              <p:nvPr/>
            </p:nvSpPr>
            <p:spPr>
              <a:xfrm>
                <a:off x="578335" y="1016219"/>
                <a:ext cx="1087885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𝝐</m:t>
                    </m:r>
                  </m:oMath>
                </a14:m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-Differential Privacy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A randomized algorithm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-DP if and only if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pair of neighbor datasets that only differ on one individual.</a:t>
                </a: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19C25447-98D6-4773-A5CF-425876EE8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35" y="1016219"/>
                <a:ext cx="10878855" cy="1015663"/>
              </a:xfrm>
              <a:prstGeom prst="rect">
                <a:avLst/>
              </a:prstGeom>
              <a:blipFill>
                <a:blip r:embed="rId7"/>
                <a:stretch>
                  <a:fillRect l="-617" t="-3012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思想气泡: 云 23">
            <a:extLst>
              <a:ext uri="{FF2B5EF4-FFF2-40B4-BE49-F238E27FC236}">
                <a16:creationId xmlns:a16="http://schemas.microsoft.com/office/drawing/2014/main" id="{8AF17D4A-1049-4C0C-94D1-8C8545760D66}"/>
              </a:ext>
            </a:extLst>
          </p:cNvPr>
          <p:cNvSpPr/>
          <p:nvPr/>
        </p:nvSpPr>
        <p:spPr>
          <a:xfrm>
            <a:off x="2239427" y="5217618"/>
            <a:ext cx="2605651" cy="1124103"/>
          </a:xfrm>
          <a:prstGeom prst="cloudCallout">
            <a:avLst>
              <a:gd name="adj1" fmla="val -57548"/>
              <a:gd name="adj2" fmla="val -541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Ops, my data is leaked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21D0108-DD96-4B1A-98A8-F8A289B080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1546" y="3182483"/>
            <a:ext cx="1760741" cy="176074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FA54F14-0FA2-4EA7-9ADF-329761736655}"/>
              </a:ext>
            </a:extLst>
          </p:cNvPr>
          <p:cNvSpPr txBox="1"/>
          <p:nvPr/>
        </p:nvSpPr>
        <p:spPr>
          <a:xfrm>
            <a:off x="10136704" y="4872641"/>
            <a:ext cx="1390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Private result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思想气泡: 云 29">
            <a:extLst>
              <a:ext uri="{FF2B5EF4-FFF2-40B4-BE49-F238E27FC236}">
                <a16:creationId xmlns:a16="http://schemas.microsoft.com/office/drawing/2014/main" id="{C329B838-9FA8-4D35-9BAE-CA58DF90DB62}"/>
              </a:ext>
            </a:extLst>
          </p:cNvPr>
          <p:cNvSpPr/>
          <p:nvPr/>
        </p:nvSpPr>
        <p:spPr>
          <a:xfrm>
            <a:off x="6199204" y="5217618"/>
            <a:ext cx="2605651" cy="1124103"/>
          </a:xfrm>
          <a:prstGeom prst="cloudCallout">
            <a:avLst>
              <a:gd name="adj1" fmla="val -57548"/>
              <a:gd name="adj2" fmla="val -541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 server must be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trusted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!!!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3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LDP Solution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4A6159-4015-4AA3-8AFB-C6EAEBAC122E}"/>
              </a:ext>
            </a:extLst>
          </p:cNvPr>
          <p:cNvSpPr txBox="1"/>
          <p:nvPr/>
        </p:nvSpPr>
        <p:spPr>
          <a:xfrm>
            <a:off x="601815" y="1092436"/>
            <a:ext cx="10612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Randomize private data locally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Untrusted server cannot touch the raw data</a:t>
            </a:r>
          </a:p>
        </p:txBody>
      </p:sp>
      <p:pic>
        <p:nvPicPr>
          <p:cNvPr id="29" name="Picture 4" descr="User - Free people icons">
            <a:extLst>
              <a:ext uri="{FF2B5EF4-FFF2-40B4-BE49-F238E27FC236}">
                <a16:creationId xmlns:a16="http://schemas.microsoft.com/office/drawing/2014/main" id="{FAB0F9A7-86BD-41C6-B173-C550B7CDB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2" y="2596383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User - Free people icons">
            <a:extLst>
              <a:ext uri="{FF2B5EF4-FFF2-40B4-BE49-F238E27FC236}">
                <a16:creationId xmlns:a16="http://schemas.microsoft.com/office/drawing/2014/main" id="{54CA07F1-D680-4B55-AB2B-C0174053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3" y="3745382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User - Free people icons">
            <a:extLst>
              <a:ext uri="{FF2B5EF4-FFF2-40B4-BE49-F238E27FC236}">
                <a16:creationId xmlns:a16="http://schemas.microsoft.com/office/drawing/2014/main" id="{53870A20-8A72-4AD0-9C1D-5760CD42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827" y="4894380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4B3269B-9C5D-4FFC-9D6F-3C65B77031FA}"/>
              </a:ext>
            </a:extLst>
          </p:cNvPr>
          <p:cNvCxnSpPr>
            <a:cxnSpLocks/>
            <a:stCxn id="45" idx="6"/>
            <a:endCxn id="42" idx="1"/>
          </p:cNvCxnSpPr>
          <p:nvPr/>
        </p:nvCxnSpPr>
        <p:spPr>
          <a:xfrm>
            <a:off x="3747185" y="2924668"/>
            <a:ext cx="1891271" cy="1138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4DBCA1C-AE40-447E-B434-0FA53E202EC6}"/>
              </a:ext>
            </a:extLst>
          </p:cNvPr>
          <p:cNvCxnSpPr>
            <a:cxnSpLocks/>
            <a:stCxn id="59" idx="6"/>
            <a:endCxn id="42" idx="1"/>
          </p:cNvCxnSpPr>
          <p:nvPr/>
        </p:nvCxnSpPr>
        <p:spPr>
          <a:xfrm flipV="1">
            <a:off x="3747185" y="4062855"/>
            <a:ext cx="1891271" cy="163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0E9EB4E-988D-4B60-8B30-3C91BF904D57}"/>
              </a:ext>
            </a:extLst>
          </p:cNvPr>
          <p:cNvCxnSpPr>
            <a:cxnSpLocks/>
            <a:stCxn id="61" idx="6"/>
            <a:endCxn id="42" idx="1"/>
          </p:cNvCxnSpPr>
          <p:nvPr/>
        </p:nvCxnSpPr>
        <p:spPr>
          <a:xfrm flipV="1">
            <a:off x="3794248" y="4062855"/>
            <a:ext cx="1844208" cy="11599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24" descr="Data scientist - Free professions and jobs icons">
            <a:extLst>
              <a:ext uri="{FF2B5EF4-FFF2-40B4-BE49-F238E27FC236}">
                <a16:creationId xmlns:a16="http://schemas.microsoft.com/office/drawing/2014/main" id="{06BE726D-09D5-4D06-BD81-476E1FCD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600" y="3112625"/>
            <a:ext cx="1711657" cy="171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8BC420E9-41BC-48EA-AC96-BADA93218B64}"/>
              </a:ext>
            </a:extLst>
          </p:cNvPr>
          <p:cNvSpPr txBox="1"/>
          <p:nvPr/>
        </p:nvSpPr>
        <p:spPr>
          <a:xfrm>
            <a:off x="8417172" y="4883785"/>
            <a:ext cx="1623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 analyst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03A64F98-F95C-4C5A-8D3D-59F0F0B06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456" y="3367492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64A1FB47-779D-48B9-ACC3-65F5F77F0E06}"/>
              </a:ext>
            </a:extLst>
          </p:cNvPr>
          <p:cNvSpPr txBox="1"/>
          <p:nvPr/>
        </p:nvSpPr>
        <p:spPr>
          <a:xfrm>
            <a:off x="5532703" y="4596551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DA61B44-A6B3-4833-BB0A-F16E30EBFCB6}"/>
              </a:ext>
            </a:extLst>
          </p:cNvPr>
          <p:cNvSpPr/>
          <p:nvPr/>
        </p:nvSpPr>
        <p:spPr>
          <a:xfrm>
            <a:off x="7156661" y="3758415"/>
            <a:ext cx="1515292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aggregate</a:t>
            </a:r>
            <a:endParaRPr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BCD1F6F-6EA0-4EA1-9C8B-42EF3B97A7CF}"/>
              </a:ext>
            </a:extLst>
          </p:cNvPr>
          <p:cNvSpPr/>
          <p:nvPr/>
        </p:nvSpPr>
        <p:spPr>
          <a:xfrm>
            <a:off x="2823439" y="2476463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4BEECA7-45B7-4C5F-9693-50592C4E37CE}"/>
                  </a:ext>
                </a:extLst>
              </p:cNvPr>
              <p:cNvSpPr txBox="1"/>
              <p:nvPr/>
            </p:nvSpPr>
            <p:spPr>
              <a:xfrm>
                <a:off x="3010249" y="2636729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4BEECA7-45B7-4C5F-9693-50592C4E3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249" y="2636729"/>
                <a:ext cx="60620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5D737CA-D754-42A0-86DC-140569C15DF9}"/>
              </a:ext>
            </a:extLst>
          </p:cNvPr>
          <p:cNvCxnSpPr>
            <a:cxnSpLocks/>
            <a:stCxn id="29" idx="3"/>
            <a:endCxn id="45" idx="2"/>
          </p:cNvCxnSpPr>
          <p:nvPr/>
        </p:nvCxnSpPr>
        <p:spPr>
          <a:xfrm flipV="1">
            <a:off x="2016653" y="2924668"/>
            <a:ext cx="806786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AEE3E45-3670-49A1-8AAD-D85E83F804EB}"/>
              </a:ext>
            </a:extLst>
          </p:cNvPr>
          <p:cNvCxnSpPr>
            <a:cxnSpLocks/>
            <a:stCxn id="33" idx="3"/>
            <a:endCxn id="59" idx="2"/>
          </p:cNvCxnSpPr>
          <p:nvPr/>
        </p:nvCxnSpPr>
        <p:spPr>
          <a:xfrm>
            <a:off x="2016654" y="4073668"/>
            <a:ext cx="806785" cy="554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E7E07B6-8D30-4311-8A8D-61FEE7D1BF16}"/>
              </a:ext>
            </a:extLst>
          </p:cNvPr>
          <p:cNvCxnSpPr>
            <a:cxnSpLocks/>
            <a:stCxn id="34" idx="3"/>
            <a:endCxn id="61" idx="2"/>
          </p:cNvCxnSpPr>
          <p:nvPr/>
        </p:nvCxnSpPr>
        <p:spPr>
          <a:xfrm>
            <a:off x="2031398" y="5222666"/>
            <a:ext cx="839104" cy="116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E83119AB-AB4A-4384-931A-0116B5B0D66F}"/>
              </a:ext>
            </a:extLst>
          </p:cNvPr>
          <p:cNvSpPr txBox="1"/>
          <p:nvPr/>
        </p:nvSpPr>
        <p:spPr>
          <a:xfrm>
            <a:off x="2063778" y="3768244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7777C4B-CE89-47DB-A6E1-5E50DD63D38B}"/>
              </a:ext>
            </a:extLst>
          </p:cNvPr>
          <p:cNvSpPr txBox="1"/>
          <p:nvPr/>
        </p:nvSpPr>
        <p:spPr>
          <a:xfrm>
            <a:off x="2037349" y="2630409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1617188-E716-4F0F-AD3C-5C46BAF7FBD2}"/>
              </a:ext>
            </a:extLst>
          </p:cNvPr>
          <p:cNvSpPr txBox="1"/>
          <p:nvPr/>
        </p:nvSpPr>
        <p:spPr>
          <a:xfrm>
            <a:off x="2040601" y="4950494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5603FF0-D1CD-4B17-B55D-3DFB73E9EE1C}"/>
              </a:ext>
            </a:extLst>
          </p:cNvPr>
          <p:cNvSpPr txBox="1"/>
          <p:nvPr/>
        </p:nvSpPr>
        <p:spPr>
          <a:xfrm rot="1963427">
            <a:off x="4004017" y="3037135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8E7CDB0-6F0D-43DF-B590-069A8B115AC1}"/>
              </a:ext>
            </a:extLst>
          </p:cNvPr>
          <p:cNvSpPr txBox="1"/>
          <p:nvPr/>
        </p:nvSpPr>
        <p:spPr>
          <a:xfrm>
            <a:off x="3936791" y="3732481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229B73F-D302-4E61-80BD-FA3F477323B0}"/>
              </a:ext>
            </a:extLst>
          </p:cNvPr>
          <p:cNvSpPr txBox="1"/>
          <p:nvPr/>
        </p:nvSpPr>
        <p:spPr>
          <a:xfrm rot="19469723">
            <a:off x="3935628" y="4399141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9513E79-E108-4688-9E5C-397D27EBDD8C}"/>
              </a:ext>
            </a:extLst>
          </p:cNvPr>
          <p:cNvCxnSpPr>
            <a:cxnSpLocks/>
          </p:cNvCxnSpPr>
          <p:nvPr/>
        </p:nvCxnSpPr>
        <p:spPr>
          <a:xfrm flipV="1">
            <a:off x="5342561" y="2324990"/>
            <a:ext cx="0" cy="371638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5EFDA09-14B4-47AA-9D75-CBE8D5B83854}"/>
              </a:ext>
            </a:extLst>
          </p:cNvPr>
          <p:cNvSpPr txBox="1"/>
          <p:nvPr/>
        </p:nvSpPr>
        <p:spPr>
          <a:xfrm>
            <a:off x="2691602" y="5976711"/>
            <a:ext cx="165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User side</a:t>
            </a:r>
            <a:endParaRPr lang="zh-CN" altLang="en-US" sz="2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A419969-E4B7-4A45-A298-76801E426349}"/>
              </a:ext>
            </a:extLst>
          </p:cNvPr>
          <p:cNvSpPr txBox="1"/>
          <p:nvPr/>
        </p:nvSpPr>
        <p:spPr>
          <a:xfrm>
            <a:off x="7539222" y="5939135"/>
            <a:ext cx="17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Server side</a:t>
            </a:r>
            <a:endParaRPr lang="zh-CN" altLang="en-US" sz="2400" dirty="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31B5EC08-E9E6-4377-AD15-2C9D3C0F36AE}"/>
              </a:ext>
            </a:extLst>
          </p:cNvPr>
          <p:cNvSpPr/>
          <p:nvPr/>
        </p:nvSpPr>
        <p:spPr>
          <a:xfrm>
            <a:off x="2823439" y="3631010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607ED1-DFAA-4776-814D-95D0A2279987}"/>
                  </a:ext>
                </a:extLst>
              </p:cNvPr>
              <p:cNvSpPr txBox="1"/>
              <p:nvPr/>
            </p:nvSpPr>
            <p:spPr>
              <a:xfrm>
                <a:off x="3010249" y="3791276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607ED1-DFAA-4776-814D-95D0A2279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249" y="3791276"/>
                <a:ext cx="6062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>
            <a:extLst>
              <a:ext uri="{FF2B5EF4-FFF2-40B4-BE49-F238E27FC236}">
                <a16:creationId xmlns:a16="http://schemas.microsoft.com/office/drawing/2014/main" id="{EFFB1A2E-8491-4D40-AEBD-0B4EF1357BF7}"/>
              </a:ext>
            </a:extLst>
          </p:cNvPr>
          <p:cNvSpPr/>
          <p:nvPr/>
        </p:nvSpPr>
        <p:spPr>
          <a:xfrm>
            <a:off x="2870502" y="4774577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04A2AF0-8DE9-4493-818F-E93F1019C08E}"/>
                  </a:ext>
                </a:extLst>
              </p:cNvPr>
              <p:cNvSpPr txBox="1"/>
              <p:nvPr/>
            </p:nvSpPr>
            <p:spPr>
              <a:xfrm>
                <a:off x="3057312" y="4934843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04A2AF0-8DE9-4493-818F-E93F1019C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12" y="4934843"/>
                <a:ext cx="60620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36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LDP Solution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4" descr="User - Free people icons">
            <a:extLst>
              <a:ext uri="{FF2B5EF4-FFF2-40B4-BE49-F238E27FC236}">
                <a16:creationId xmlns:a16="http://schemas.microsoft.com/office/drawing/2014/main" id="{FAB0F9A7-86BD-41C6-B173-C550B7CDB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2" y="2596383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User - Free people icons">
            <a:extLst>
              <a:ext uri="{FF2B5EF4-FFF2-40B4-BE49-F238E27FC236}">
                <a16:creationId xmlns:a16="http://schemas.microsoft.com/office/drawing/2014/main" id="{54CA07F1-D680-4B55-AB2B-C0174053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083" y="3745382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User - Free people icons">
            <a:extLst>
              <a:ext uri="{FF2B5EF4-FFF2-40B4-BE49-F238E27FC236}">
                <a16:creationId xmlns:a16="http://schemas.microsoft.com/office/drawing/2014/main" id="{53870A20-8A72-4AD0-9C1D-5760CD42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827" y="4894380"/>
            <a:ext cx="656571" cy="65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4B3269B-9C5D-4FFC-9D6F-3C65B77031FA}"/>
              </a:ext>
            </a:extLst>
          </p:cNvPr>
          <p:cNvCxnSpPr>
            <a:cxnSpLocks/>
            <a:stCxn id="45" idx="6"/>
            <a:endCxn id="42" idx="1"/>
          </p:cNvCxnSpPr>
          <p:nvPr/>
        </p:nvCxnSpPr>
        <p:spPr>
          <a:xfrm>
            <a:off x="3747185" y="2924668"/>
            <a:ext cx="1891271" cy="113818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14DBCA1C-AE40-447E-B434-0FA53E202EC6}"/>
              </a:ext>
            </a:extLst>
          </p:cNvPr>
          <p:cNvCxnSpPr>
            <a:cxnSpLocks/>
            <a:stCxn id="59" idx="6"/>
            <a:endCxn id="42" idx="1"/>
          </p:cNvCxnSpPr>
          <p:nvPr/>
        </p:nvCxnSpPr>
        <p:spPr>
          <a:xfrm flipV="1">
            <a:off x="3747185" y="4062855"/>
            <a:ext cx="1891271" cy="163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0E9EB4E-988D-4B60-8B30-3C91BF904D57}"/>
              </a:ext>
            </a:extLst>
          </p:cNvPr>
          <p:cNvCxnSpPr>
            <a:cxnSpLocks/>
            <a:stCxn id="61" idx="6"/>
            <a:endCxn id="42" idx="1"/>
          </p:cNvCxnSpPr>
          <p:nvPr/>
        </p:nvCxnSpPr>
        <p:spPr>
          <a:xfrm flipV="1">
            <a:off x="3794248" y="4062855"/>
            <a:ext cx="1844208" cy="11599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" name="Picture 24" descr="Data scientist - Free professions and jobs icons">
            <a:extLst>
              <a:ext uri="{FF2B5EF4-FFF2-40B4-BE49-F238E27FC236}">
                <a16:creationId xmlns:a16="http://schemas.microsoft.com/office/drawing/2014/main" id="{06BE726D-09D5-4D06-BD81-476E1FCD5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600" y="3112625"/>
            <a:ext cx="1711657" cy="171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8BC420E9-41BC-48EA-AC96-BADA93218B64}"/>
              </a:ext>
            </a:extLst>
          </p:cNvPr>
          <p:cNvSpPr txBox="1"/>
          <p:nvPr/>
        </p:nvSpPr>
        <p:spPr>
          <a:xfrm>
            <a:off x="8417172" y="4883785"/>
            <a:ext cx="1623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 analyst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2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03A64F98-F95C-4C5A-8D3D-59F0F0B06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456" y="3367492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64A1FB47-779D-48B9-ACC3-65F5F77F0E06}"/>
              </a:ext>
            </a:extLst>
          </p:cNvPr>
          <p:cNvSpPr txBox="1"/>
          <p:nvPr/>
        </p:nvSpPr>
        <p:spPr>
          <a:xfrm>
            <a:off x="5532703" y="4596551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箭头: 右 43">
            <a:extLst>
              <a:ext uri="{FF2B5EF4-FFF2-40B4-BE49-F238E27FC236}">
                <a16:creationId xmlns:a16="http://schemas.microsoft.com/office/drawing/2014/main" id="{8DA61B44-A6B3-4833-BB0A-F16E30EBFCB6}"/>
              </a:ext>
            </a:extLst>
          </p:cNvPr>
          <p:cNvSpPr/>
          <p:nvPr/>
        </p:nvSpPr>
        <p:spPr>
          <a:xfrm>
            <a:off x="7156661" y="3758415"/>
            <a:ext cx="1515292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aggregate</a:t>
            </a:r>
            <a:endParaRPr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1BCD1F6F-6EA0-4EA1-9C8B-42EF3B97A7CF}"/>
              </a:ext>
            </a:extLst>
          </p:cNvPr>
          <p:cNvSpPr/>
          <p:nvPr/>
        </p:nvSpPr>
        <p:spPr>
          <a:xfrm>
            <a:off x="2823439" y="2476463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4BEECA7-45B7-4C5F-9693-50592C4E37CE}"/>
                  </a:ext>
                </a:extLst>
              </p:cNvPr>
              <p:cNvSpPr txBox="1"/>
              <p:nvPr/>
            </p:nvSpPr>
            <p:spPr>
              <a:xfrm>
                <a:off x="3010249" y="2636729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4BEECA7-45B7-4C5F-9693-50592C4E3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249" y="2636729"/>
                <a:ext cx="60620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5D737CA-D754-42A0-86DC-140569C15DF9}"/>
              </a:ext>
            </a:extLst>
          </p:cNvPr>
          <p:cNvCxnSpPr>
            <a:cxnSpLocks/>
            <a:stCxn id="29" idx="3"/>
            <a:endCxn id="45" idx="2"/>
          </p:cNvCxnSpPr>
          <p:nvPr/>
        </p:nvCxnSpPr>
        <p:spPr>
          <a:xfrm flipV="1">
            <a:off x="2016653" y="2924668"/>
            <a:ext cx="806786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AEE3E45-3670-49A1-8AAD-D85E83F804EB}"/>
              </a:ext>
            </a:extLst>
          </p:cNvPr>
          <p:cNvCxnSpPr>
            <a:cxnSpLocks/>
            <a:stCxn id="33" idx="3"/>
            <a:endCxn id="59" idx="2"/>
          </p:cNvCxnSpPr>
          <p:nvPr/>
        </p:nvCxnSpPr>
        <p:spPr>
          <a:xfrm>
            <a:off x="2016654" y="4073668"/>
            <a:ext cx="806785" cy="5547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FE7E07B6-8D30-4311-8A8D-61FEE7D1BF16}"/>
              </a:ext>
            </a:extLst>
          </p:cNvPr>
          <p:cNvCxnSpPr>
            <a:cxnSpLocks/>
            <a:stCxn id="34" idx="3"/>
            <a:endCxn id="61" idx="2"/>
          </p:cNvCxnSpPr>
          <p:nvPr/>
        </p:nvCxnSpPr>
        <p:spPr>
          <a:xfrm>
            <a:off x="2031398" y="5222666"/>
            <a:ext cx="839104" cy="116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E83119AB-AB4A-4384-931A-0116B5B0D66F}"/>
              </a:ext>
            </a:extLst>
          </p:cNvPr>
          <p:cNvSpPr txBox="1"/>
          <p:nvPr/>
        </p:nvSpPr>
        <p:spPr>
          <a:xfrm>
            <a:off x="2063778" y="3768244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7777C4B-CE89-47DB-A6E1-5E50DD63D38B}"/>
              </a:ext>
            </a:extLst>
          </p:cNvPr>
          <p:cNvSpPr txBox="1"/>
          <p:nvPr/>
        </p:nvSpPr>
        <p:spPr>
          <a:xfrm>
            <a:off x="2037349" y="2630409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1617188-E716-4F0F-AD3C-5C46BAF7FBD2}"/>
              </a:ext>
            </a:extLst>
          </p:cNvPr>
          <p:cNvSpPr txBox="1"/>
          <p:nvPr/>
        </p:nvSpPr>
        <p:spPr>
          <a:xfrm>
            <a:off x="2040601" y="4950494"/>
            <a:ext cx="656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5603FF0-D1CD-4B17-B55D-3DFB73E9EE1C}"/>
              </a:ext>
            </a:extLst>
          </p:cNvPr>
          <p:cNvSpPr txBox="1"/>
          <p:nvPr/>
        </p:nvSpPr>
        <p:spPr>
          <a:xfrm rot="1963427">
            <a:off x="4004017" y="3037135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8E7CDB0-6F0D-43DF-B590-069A8B115AC1}"/>
              </a:ext>
            </a:extLst>
          </p:cNvPr>
          <p:cNvSpPr txBox="1"/>
          <p:nvPr/>
        </p:nvSpPr>
        <p:spPr>
          <a:xfrm>
            <a:off x="3936791" y="3732481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229B73F-D302-4E61-80BD-FA3F477323B0}"/>
              </a:ext>
            </a:extLst>
          </p:cNvPr>
          <p:cNvSpPr txBox="1"/>
          <p:nvPr/>
        </p:nvSpPr>
        <p:spPr>
          <a:xfrm rot="19469723">
            <a:off x="3935628" y="4399141"/>
            <a:ext cx="12156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noisy data</a:t>
            </a:r>
            <a:endParaRPr lang="zh-CN" altLang="en-US" sz="1600" dirty="0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9513E79-E108-4688-9E5C-397D27EBDD8C}"/>
              </a:ext>
            </a:extLst>
          </p:cNvPr>
          <p:cNvCxnSpPr>
            <a:cxnSpLocks/>
          </p:cNvCxnSpPr>
          <p:nvPr/>
        </p:nvCxnSpPr>
        <p:spPr>
          <a:xfrm flipV="1">
            <a:off x="5342561" y="2324990"/>
            <a:ext cx="0" cy="371638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15EFDA09-14B4-47AA-9D75-CBE8D5B83854}"/>
              </a:ext>
            </a:extLst>
          </p:cNvPr>
          <p:cNvSpPr txBox="1"/>
          <p:nvPr/>
        </p:nvSpPr>
        <p:spPr>
          <a:xfrm>
            <a:off x="2691602" y="5976711"/>
            <a:ext cx="16555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User side</a:t>
            </a:r>
            <a:endParaRPr lang="zh-CN" altLang="en-US" sz="2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A419969-E4B7-4A45-A298-76801E426349}"/>
              </a:ext>
            </a:extLst>
          </p:cNvPr>
          <p:cNvSpPr txBox="1"/>
          <p:nvPr/>
        </p:nvSpPr>
        <p:spPr>
          <a:xfrm>
            <a:off x="7539222" y="5939135"/>
            <a:ext cx="1755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Server side</a:t>
            </a:r>
            <a:endParaRPr lang="zh-CN" altLang="en-US" sz="2400" dirty="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31B5EC08-E9E6-4377-AD15-2C9D3C0F36AE}"/>
              </a:ext>
            </a:extLst>
          </p:cNvPr>
          <p:cNvSpPr/>
          <p:nvPr/>
        </p:nvSpPr>
        <p:spPr>
          <a:xfrm>
            <a:off x="2823439" y="3631010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607ED1-DFAA-4776-814D-95D0A2279987}"/>
                  </a:ext>
                </a:extLst>
              </p:cNvPr>
              <p:cNvSpPr txBox="1"/>
              <p:nvPr/>
            </p:nvSpPr>
            <p:spPr>
              <a:xfrm>
                <a:off x="3010249" y="3791276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2607ED1-DFAA-4776-814D-95D0A2279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249" y="3791276"/>
                <a:ext cx="6062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椭圆 60">
            <a:extLst>
              <a:ext uri="{FF2B5EF4-FFF2-40B4-BE49-F238E27FC236}">
                <a16:creationId xmlns:a16="http://schemas.microsoft.com/office/drawing/2014/main" id="{EFFB1A2E-8491-4D40-AEBD-0B4EF1357BF7}"/>
              </a:ext>
            </a:extLst>
          </p:cNvPr>
          <p:cNvSpPr/>
          <p:nvPr/>
        </p:nvSpPr>
        <p:spPr>
          <a:xfrm>
            <a:off x="2870502" y="4774577"/>
            <a:ext cx="923746" cy="89640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04A2AF0-8DE9-4493-818F-E93F1019C08E}"/>
                  </a:ext>
                </a:extLst>
              </p:cNvPr>
              <p:cNvSpPr txBox="1"/>
              <p:nvPr/>
            </p:nvSpPr>
            <p:spPr>
              <a:xfrm>
                <a:off x="3057312" y="4934843"/>
                <a:ext cx="6062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D04A2AF0-8DE9-4493-818F-E93F1019C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12" y="4934843"/>
                <a:ext cx="60620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B359FA4-9770-41F1-8CD7-F200B5D00189}"/>
                  </a:ext>
                </a:extLst>
              </p:cNvPr>
              <p:cNvSpPr txBox="1"/>
              <p:nvPr/>
            </p:nvSpPr>
            <p:spPr>
              <a:xfrm>
                <a:off x="601815" y="1092436"/>
                <a:ext cx="1061264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randomized algorithm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-LDP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and only if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𝑀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any pair of inputs in the domain.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B359FA4-9770-41F1-8CD7-F200B5D00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15" y="1092436"/>
                <a:ext cx="10612648" cy="1200329"/>
              </a:xfrm>
              <a:prstGeom prst="rect">
                <a:avLst/>
              </a:prstGeom>
              <a:blipFill>
                <a:blip r:embed="rId8"/>
                <a:stretch>
                  <a:fillRect l="-919" t="-3553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501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vs. LDP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860544"/>
                  </p:ext>
                </p:extLst>
              </p:nvPr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860544"/>
                  </p:ext>
                </p:extLst>
              </p:nvPr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86842" r="-194477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189333" r="-194477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996593" y="3517928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 relies on a trusted server but LDP does not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7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Big O notation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/>
              <p:nvPr/>
            </p:nvSpPr>
            <p:spPr>
              <a:xfrm>
                <a:off x="526094" y="1042828"/>
                <a:ext cx="1016114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Definition.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function to be estimated,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a real or complex valued function, and 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comparison function, be a real valued function. One writes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))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endParaRPr lang="en-US" altLang="zh-CN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there exists 1) a positive real number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2) a 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such that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×|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)|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Applicability: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Describe the limiting behavior of function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042828"/>
                <a:ext cx="10161142" cy="2246769"/>
              </a:xfrm>
              <a:prstGeom prst="rect">
                <a:avLst/>
              </a:prstGeom>
              <a:blipFill>
                <a:blip r:embed="rId2"/>
                <a:stretch>
                  <a:fillRect l="-600" t="-1084" r="-720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F7334D7D-501A-48CF-94B4-184E145B5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487" y="2745067"/>
            <a:ext cx="4269214" cy="401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Big O notation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/>
              <p:nvPr/>
            </p:nvSpPr>
            <p:spPr>
              <a:xfrm>
                <a:off x="526094" y="1022280"/>
                <a:ext cx="1016114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Definition.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function to be estimated,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a real or complex valued function, and 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comparison function, be a real valued function. One writes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))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endParaRPr lang="en-US" altLang="zh-CN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there exists 1) a positive real number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2) a 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such that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×|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)|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Example.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=6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−2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+5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=?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022280"/>
                <a:ext cx="10161142" cy="2246769"/>
              </a:xfrm>
              <a:prstGeom prst="rect">
                <a:avLst/>
              </a:prstGeom>
              <a:blipFill>
                <a:blip r:embed="rId2"/>
                <a:stretch>
                  <a:fillRect l="-600" t="-1359" r="-720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0398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Big O notation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/>
              <p:nvPr/>
            </p:nvSpPr>
            <p:spPr>
              <a:xfrm>
                <a:off x="526094" y="1022280"/>
                <a:ext cx="10161142" cy="4133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Definition.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function to be estimated,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a real or complex valued function, and let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comparison function, be a real valued function. One writes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))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endParaRPr lang="en-US" altLang="zh-CN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there exists 1) a positive real number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2) a 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such that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×|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)|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Example.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=6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−2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+5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=?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+5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≤6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+5</m:t>
                      </m:r>
                    </m:oMath>
                  </m:oMathPara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6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+2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+5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≤13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So,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≤13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𝑂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8A8EAC7-48C4-43E4-B6EF-E1E57D47D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022280"/>
                <a:ext cx="10161142" cy="4133055"/>
              </a:xfrm>
              <a:prstGeom prst="rect">
                <a:avLst/>
              </a:prstGeom>
              <a:blipFill>
                <a:blip r:embed="rId2"/>
                <a:stretch>
                  <a:fillRect l="-600" t="-737" r="-720" b="-7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17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vs. LDP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86842" r="-194477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189333" r="-194477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996593" y="3517928"/>
                <a:ext cx="10042989" cy="1640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DP noise magnitude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LDP noise magnitude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Laplace mechanism adds noise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𝐿𝑎𝑝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so the noise variance is the constant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Δ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𝜖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93" y="3517928"/>
                <a:ext cx="10042989" cy="1640064"/>
              </a:xfrm>
              <a:prstGeom prst="rect">
                <a:avLst/>
              </a:prstGeom>
              <a:blipFill>
                <a:blip r:embed="rId3"/>
                <a:stretch>
                  <a:fillRect l="-789" t="-2602" r="-1456" b="-1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226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vs. LDP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86842" r="-194477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189333" r="-194477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996593" y="3517928"/>
                <a:ext cx="10042989" cy="2410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DP noise magnitude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LDP noise magnitude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Laplace mechanism adds noise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𝐿𝑎𝑝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so the noise variance is the constant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Δ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𝜖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Suppose LDP noise variance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each user, the total variance is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93" y="3517928"/>
                <a:ext cx="10042989" cy="2410340"/>
              </a:xfrm>
              <a:prstGeom prst="rect">
                <a:avLst/>
              </a:prstGeom>
              <a:blipFill>
                <a:blip r:embed="rId3"/>
                <a:stretch>
                  <a:fillRect l="-789" t="-1772" r="-1456"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973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DP vs. LDP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r>
                                  <a:rPr lang="en-US" altLang="zh-CN" sz="2400" b="0" i="1" kern="120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5B3DFE0D-1622-42AB-9103-76EAC189AB5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0072" y="1582696"/>
              <a:ext cx="9685680" cy="1285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8251">
                      <a:extLst>
                        <a:ext uri="{9D8B030D-6E8A-4147-A177-3AD203B41FA5}">
                          <a16:colId xmlns:a16="http://schemas.microsoft.com/office/drawing/2014/main" val="3381962270"/>
                        </a:ext>
                      </a:extLst>
                    </a:gridCol>
                    <a:gridCol w="2491483">
                      <a:extLst>
                        <a:ext uri="{9D8B030D-6E8A-4147-A177-3AD203B41FA5}">
                          <a16:colId xmlns:a16="http://schemas.microsoft.com/office/drawing/2014/main" val="3821626630"/>
                        </a:ext>
                      </a:extLst>
                    </a:gridCol>
                    <a:gridCol w="2095928">
                      <a:extLst>
                        <a:ext uri="{9D8B030D-6E8A-4147-A177-3AD203B41FA5}">
                          <a16:colId xmlns:a16="http://schemas.microsoft.com/office/drawing/2014/main" val="4181131399"/>
                        </a:ext>
                      </a:extLst>
                    </a:gridCol>
                    <a:gridCol w="4050018">
                      <a:extLst>
                        <a:ext uri="{9D8B030D-6E8A-4147-A177-3AD203B41FA5}">
                          <a16:colId xmlns:a16="http://schemas.microsoft.com/office/drawing/2014/main" val="4861300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Need Trusted Server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Noise magnitude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Unified perturbation for queries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670075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86842" r="-194477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Yes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49456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CN" sz="2400" kern="1200" dirty="0">
                              <a:solidFill>
                                <a:schemeClr val="dk1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LDP</a:t>
                          </a:r>
                          <a:endParaRPr lang="zh-CN" altLang="en-US" sz="24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kern="1200" dirty="0">
                              <a:solidFill>
                                <a:srgbClr val="00B05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00B05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9186" t="-189333" r="-194477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kern="1200" dirty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No</a:t>
                          </a:r>
                          <a:endParaRPr lang="zh-CN" altLang="en-US" sz="2400" kern="1200" dirty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758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996593" y="3517928"/>
                <a:ext cx="10042989" cy="1383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One perturbation for different queries in DP, but LDP cannot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Laplace mechanism adds noise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𝐿𝑎𝑝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Δ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only need to tweak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LDP needs to design task-specific perturbations for different tasks</a:t>
                </a:r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93" y="3517928"/>
                <a:ext cx="10042989" cy="1383712"/>
              </a:xfrm>
              <a:prstGeom prst="rect">
                <a:avLst/>
              </a:prstGeom>
              <a:blipFill>
                <a:blip r:embed="rId3"/>
                <a:stretch>
                  <a:fillRect l="-789" t="-3084" b="-9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00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01D9D2-23ED-4D28-87B0-F995F3682864}"/>
              </a:ext>
            </a:extLst>
          </p:cNvPr>
          <p:cNvSpPr txBox="1"/>
          <p:nvPr/>
        </p:nvSpPr>
        <p:spPr>
          <a:xfrm>
            <a:off x="791110" y="440077"/>
            <a:ext cx="9529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DD35AD-90AC-4929-BA69-549EFA36A25F}"/>
              </a:ext>
            </a:extLst>
          </p:cNvPr>
          <p:cNvSpPr txBox="1"/>
          <p:nvPr/>
        </p:nvSpPr>
        <p:spPr>
          <a:xfrm>
            <a:off x="868166" y="1443519"/>
            <a:ext cx="9529281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</a:p>
        </p:txBody>
      </p:sp>
    </p:spTree>
    <p:extLst>
      <p:ext uri="{BB962C8B-B14F-4D97-AF65-F5344CB8AC3E}">
        <p14:creationId xmlns:p14="http://schemas.microsoft.com/office/powerpoint/2010/main" val="3065685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2021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Problem Definition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users and one server, each user possesses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The server wants to estimate the count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of each value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2021451"/>
              </a:xfrm>
              <a:prstGeom prst="rect">
                <a:avLst/>
              </a:prstGeom>
              <a:blipFill>
                <a:blip r:embed="rId2"/>
                <a:stretch>
                  <a:fillRect l="-910" t="-2115" b="-5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/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blipFill>
                <a:blip r:embed="rId3"/>
                <a:stretch>
                  <a:fillRect l="-4310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/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blipFill>
                <a:blip r:embed="rId4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/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blipFill>
                <a:blip r:embed="rId5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/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blipFill>
                <a:blip r:embed="rId6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5BC7F9E8-4D1F-4DE4-ABE4-E2AE11CB491C}"/>
              </a:ext>
            </a:extLst>
          </p:cNvPr>
          <p:cNvSpPr/>
          <p:nvPr/>
        </p:nvSpPr>
        <p:spPr>
          <a:xfrm>
            <a:off x="3225410" y="3497515"/>
            <a:ext cx="2029146" cy="28522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LDP Randomizer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C7852A4-7820-459C-952E-0D3CEB17AD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732926" y="3847336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5A54AEF-DC18-4CA9-BA64-5B9CBC74C66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40457" y="4503169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166700-22EA-4D35-857A-D2D8A1725D7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640458" y="5218896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38C2E6-D299-4518-B74C-D2F3A27828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640458" y="593462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/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blipFill>
                <a:blip r:embed="rId7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/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blipFill>
                <a:blip r:embed="rId8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/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blipFill>
                <a:blip r:embed="rId9"/>
                <a:stretch>
                  <a:fillRect l="-728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/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blipFill>
                <a:blip r:embed="rId10"/>
                <a:stretch>
                  <a:fillRect l="-744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8E370D77-7DA3-4B62-9D82-798CF162B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412" y="4199699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A3AD99D-AE22-4599-9A49-967A2AA51D1C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7145680" y="3846030"/>
            <a:ext cx="602732" cy="1049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B2CB7C6-DE51-4F7E-A697-F8AC7B381923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7145677" y="4523896"/>
            <a:ext cx="602735" cy="3711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96D6530-B8C5-4C54-BFA4-A7FEBC3CDEA4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 flipV="1">
            <a:off x="7048074" y="4895062"/>
            <a:ext cx="700338" cy="335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12B7074-D159-416A-ADAC-38C098E5DF11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7058348" y="4895062"/>
            <a:ext cx="690064" cy="10431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01092A51-7EA9-4E02-9D0A-99CE162BD64E}"/>
              </a:ext>
            </a:extLst>
          </p:cNvPr>
          <p:cNvSpPr txBox="1"/>
          <p:nvPr/>
        </p:nvSpPr>
        <p:spPr>
          <a:xfrm>
            <a:off x="7646690" y="5449392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2F326C5B-8986-4AE4-BADF-3BFEC03422BB}"/>
              </a:ext>
            </a:extLst>
          </p:cNvPr>
          <p:cNvSpPr/>
          <p:nvPr/>
        </p:nvSpPr>
        <p:spPr>
          <a:xfrm>
            <a:off x="9120581" y="4626558"/>
            <a:ext cx="815080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FA0D851-8AAB-4A74-829F-F44BAAEF78B9}"/>
              </a:ext>
            </a:extLst>
          </p:cNvPr>
          <p:cNvSpPr/>
          <p:nvPr/>
        </p:nvSpPr>
        <p:spPr>
          <a:xfrm>
            <a:off x="10066145" y="4765108"/>
            <a:ext cx="554946" cy="6967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79BFF26-3BA8-4519-917F-ABFD2CC3E33F}"/>
              </a:ext>
            </a:extLst>
          </p:cNvPr>
          <p:cNvSpPr/>
          <p:nvPr/>
        </p:nvSpPr>
        <p:spPr>
          <a:xfrm>
            <a:off x="10621091" y="4078168"/>
            <a:ext cx="554946" cy="13837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3DD8CA4-4959-41E2-B2A5-C7F8F7EF945C}"/>
              </a:ext>
            </a:extLst>
          </p:cNvPr>
          <p:cNvSpPr/>
          <p:nvPr/>
        </p:nvSpPr>
        <p:spPr>
          <a:xfrm>
            <a:off x="11176037" y="4765108"/>
            <a:ext cx="554946" cy="6967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7576328-2E29-4888-927A-F4ABC9B5E9FD}"/>
                  </a:ext>
                </a:extLst>
              </p:cNvPr>
              <p:cNvSpPr txBox="1"/>
              <p:nvPr/>
            </p:nvSpPr>
            <p:spPr>
              <a:xfrm>
                <a:off x="10066145" y="5527333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7576328-2E29-4888-927A-F4ABC9B5E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6145" y="5527333"/>
                <a:ext cx="554946" cy="27699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71BEED-B9C0-44D3-9352-9B397346D5BA}"/>
                  </a:ext>
                </a:extLst>
              </p:cNvPr>
              <p:cNvSpPr txBox="1"/>
              <p:nvPr/>
            </p:nvSpPr>
            <p:spPr>
              <a:xfrm>
                <a:off x="10564335" y="5527333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F71BEED-B9C0-44D3-9352-9B397346D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4335" y="5527333"/>
                <a:ext cx="611702" cy="276999"/>
              </a:xfrm>
              <a:prstGeom prst="rect">
                <a:avLst/>
              </a:prstGeom>
              <a:blipFill>
                <a:blip r:embed="rId1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281F1EA-14AF-4AF8-9D51-D2F77AED282B}"/>
                  </a:ext>
                </a:extLst>
              </p:cNvPr>
              <p:cNvSpPr txBox="1"/>
              <p:nvPr/>
            </p:nvSpPr>
            <p:spPr>
              <a:xfrm>
                <a:off x="11119281" y="5530789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C281F1EA-14AF-4AF8-9D51-D2F77AED2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281" y="5530789"/>
                <a:ext cx="611702" cy="276999"/>
              </a:xfrm>
              <a:prstGeom prst="rect">
                <a:avLst/>
              </a:prstGeom>
              <a:blipFill>
                <a:blip r:embed="rId1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42D4DA2-F24B-47E2-8F2B-D0AFC518CB0A}"/>
              </a:ext>
            </a:extLst>
          </p:cNvPr>
          <p:cNvCxnSpPr>
            <a:cxnSpLocks/>
          </p:cNvCxnSpPr>
          <p:nvPr/>
        </p:nvCxnSpPr>
        <p:spPr>
          <a:xfrm>
            <a:off x="5140504" y="3846029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DE5B01E-211D-470A-9A88-1043E6DD8D17}"/>
              </a:ext>
            </a:extLst>
          </p:cNvPr>
          <p:cNvCxnSpPr>
            <a:cxnSpLocks/>
          </p:cNvCxnSpPr>
          <p:nvPr/>
        </p:nvCxnSpPr>
        <p:spPr>
          <a:xfrm>
            <a:off x="5237967" y="4516472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1C4C939-FB02-4398-88A5-89AC80ED284F}"/>
              </a:ext>
            </a:extLst>
          </p:cNvPr>
          <p:cNvCxnSpPr>
            <a:cxnSpLocks/>
          </p:cNvCxnSpPr>
          <p:nvPr/>
        </p:nvCxnSpPr>
        <p:spPr>
          <a:xfrm flipV="1">
            <a:off x="5269388" y="5227579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BE96C2A-384C-40FA-AE5B-6AE10793C9E8}"/>
              </a:ext>
            </a:extLst>
          </p:cNvPr>
          <p:cNvCxnSpPr>
            <a:cxnSpLocks/>
          </p:cNvCxnSpPr>
          <p:nvPr/>
        </p:nvCxnSpPr>
        <p:spPr>
          <a:xfrm flipV="1">
            <a:off x="5129972" y="592397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B4ED11D3-4EB7-49F7-A8DF-79601ADC65F2}"/>
              </a:ext>
            </a:extLst>
          </p:cNvPr>
          <p:cNvSpPr txBox="1"/>
          <p:nvPr/>
        </p:nvSpPr>
        <p:spPr>
          <a:xfrm>
            <a:off x="10066145" y="4465058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79DE1DE-5DED-4A3A-82EF-558D06F6FCBE}"/>
              </a:ext>
            </a:extLst>
          </p:cNvPr>
          <p:cNvSpPr txBox="1"/>
          <p:nvPr/>
        </p:nvSpPr>
        <p:spPr>
          <a:xfrm>
            <a:off x="10592713" y="3766712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65B81D3-B99C-4509-A501-C3EEE215AF61}"/>
              </a:ext>
            </a:extLst>
          </p:cNvPr>
          <p:cNvSpPr txBox="1"/>
          <p:nvPr/>
        </p:nvSpPr>
        <p:spPr>
          <a:xfrm>
            <a:off x="11153101" y="4453652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47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Response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5207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Keep the input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unchanged with high probability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Perturb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be other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low probability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520737" cy="1200329"/>
              </a:xfrm>
              <a:prstGeom prst="rect">
                <a:avLst/>
              </a:prstGeom>
              <a:blipFill>
                <a:blip r:embed="rId2"/>
                <a:stretch>
                  <a:fillRect l="-869" t="-3553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945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Response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520737" cy="249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∈{0, 1}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we have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520737" cy="2495811"/>
              </a:xfrm>
              <a:prstGeom prst="rect">
                <a:avLst/>
              </a:prstGeom>
              <a:blipFill>
                <a:blip r:embed="rId2"/>
                <a:stretch>
                  <a:fillRect l="-869" t="-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261514-59B1-4702-B8C7-21CFAD7777D8}"/>
              </a:ext>
            </a:extLst>
          </p:cNvPr>
          <p:cNvCxnSpPr/>
          <p:nvPr/>
        </p:nvCxnSpPr>
        <p:spPr>
          <a:xfrm>
            <a:off x="6143947" y="6010381"/>
            <a:ext cx="291786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E510176-FCD3-4A51-8BF2-C4156D89A519}"/>
              </a:ext>
            </a:extLst>
          </p:cNvPr>
          <p:cNvCxnSpPr>
            <a:cxnSpLocks/>
          </p:cNvCxnSpPr>
          <p:nvPr/>
        </p:nvCxnSpPr>
        <p:spPr>
          <a:xfrm flipV="1">
            <a:off x="6964168" y="4967554"/>
            <a:ext cx="6848" cy="10428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4FDEEBA-1AAF-433B-A5A1-0A499FE05B17}"/>
              </a:ext>
            </a:extLst>
          </p:cNvPr>
          <p:cNvCxnSpPr>
            <a:cxnSpLocks/>
          </p:cNvCxnSpPr>
          <p:nvPr/>
        </p:nvCxnSpPr>
        <p:spPr>
          <a:xfrm flipV="1">
            <a:off x="7928227" y="5383658"/>
            <a:ext cx="0" cy="6267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F0FCB2-C720-4A35-9843-AB4B25B4C836}"/>
                  </a:ext>
                </a:extLst>
              </p:cNvPr>
              <p:cNvSpPr txBox="1"/>
              <p:nvPr/>
            </p:nvSpPr>
            <p:spPr>
              <a:xfrm>
                <a:off x="6768959" y="4621104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F0FCB2-C720-4A35-9843-AB4B25B4C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959" y="4621104"/>
                <a:ext cx="39041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5C6EF37-CDE2-4522-9165-97104D58EB7A}"/>
                  </a:ext>
                </a:extLst>
              </p:cNvPr>
              <p:cNvSpPr txBox="1"/>
              <p:nvPr/>
            </p:nvSpPr>
            <p:spPr>
              <a:xfrm>
                <a:off x="7733018" y="4965792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5C6EF37-CDE2-4522-9165-97104D58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018" y="4965792"/>
                <a:ext cx="39041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D3533287-9AE5-4A50-B55B-911618AFFF98}"/>
              </a:ext>
            </a:extLst>
          </p:cNvPr>
          <p:cNvSpPr txBox="1"/>
          <p:nvPr/>
        </p:nvSpPr>
        <p:spPr>
          <a:xfrm>
            <a:off x="6768959" y="6069044"/>
            <a:ext cx="4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E80F67-2D04-4E22-B60A-D2745500A327}"/>
              </a:ext>
            </a:extLst>
          </p:cNvPr>
          <p:cNvSpPr txBox="1"/>
          <p:nvPr/>
        </p:nvSpPr>
        <p:spPr>
          <a:xfrm>
            <a:off x="7702196" y="6069044"/>
            <a:ext cx="4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92DB9D-E338-45DF-9130-BE56879E2D32}"/>
                  </a:ext>
                </a:extLst>
              </p:cNvPr>
              <p:cNvSpPr txBox="1"/>
              <p:nvPr/>
            </p:nvSpPr>
            <p:spPr>
              <a:xfrm>
                <a:off x="1558248" y="5345667"/>
                <a:ext cx="1695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92DB9D-E338-45DF-9130-BE56879E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248" y="5345667"/>
                <a:ext cx="16952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F5901C-6D32-4DD2-94AC-1C1BCB77615E}"/>
                  </a:ext>
                </a:extLst>
              </p:cNvPr>
              <p:cNvSpPr txBox="1"/>
              <p:nvPr/>
            </p:nvSpPr>
            <p:spPr>
              <a:xfrm>
                <a:off x="4994953" y="5345667"/>
                <a:ext cx="1695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F5901C-6D32-4DD2-94AC-1C1BCB776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953" y="5345667"/>
                <a:ext cx="1695236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头: 右 17">
            <a:extLst>
              <a:ext uri="{FF2B5EF4-FFF2-40B4-BE49-F238E27FC236}">
                <a16:creationId xmlns:a16="http://schemas.microsoft.com/office/drawing/2014/main" id="{1241FBCB-86FF-4620-A91F-685699B11277}"/>
              </a:ext>
            </a:extLst>
          </p:cNvPr>
          <p:cNvSpPr/>
          <p:nvPr/>
        </p:nvSpPr>
        <p:spPr>
          <a:xfrm>
            <a:off x="3760342" y="5226095"/>
            <a:ext cx="1289406" cy="608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368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520737" cy="2495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∈{1,…,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we have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𝑑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520737" cy="2495811"/>
              </a:xfrm>
              <a:prstGeom prst="rect">
                <a:avLst/>
              </a:prstGeom>
              <a:blipFill>
                <a:blip r:embed="rId2"/>
                <a:stretch>
                  <a:fillRect l="-869" t="-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1261514-59B1-4702-B8C7-21CFAD7777D8}"/>
              </a:ext>
            </a:extLst>
          </p:cNvPr>
          <p:cNvCxnSpPr>
            <a:cxnSpLocks/>
          </p:cNvCxnSpPr>
          <p:nvPr/>
        </p:nvCxnSpPr>
        <p:spPr>
          <a:xfrm>
            <a:off x="6143947" y="6010381"/>
            <a:ext cx="5255231" cy="1284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E510176-FCD3-4A51-8BF2-C4156D89A519}"/>
              </a:ext>
            </a:extLst>
          </p:cNvPr>
          <p:cNvCxnSpPr>
            <a:cxnSpLocks/>
          </p:cNvCxnSpPr>
          <p:nvPr/>
        </p:nvCxnSpPr>
        <p:spPr>
          <a:xfrm flipV="1">
            <a:off x="6964168" y="4967554"/>
            <a:ext cx="6848" cy="10428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4FDEEBA-1AAF-433B-A5A1-0A499FE05B17}"/>
              </a:ext>
            </a:extLst>
          </p:cNvPr>
          <p:cNvCxnSpPr>
            <a:cxnSpLocks/>
          </p:cNvCxnSpPr>
          <p:nvPr/>
        </p:nvCxnSpPr>
        <p:spPr>
          <a:xfrm flipV="1">
            <a:off x="7928227" y="5383658"/>
            <a:ext cx="0" cy="6267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F0FCB2-C720-4A35-9843-AB4B25B4C836}"/>
                  </a:ext>
                </a:extLst>
              </p:cNvPr>
              <p:cNvSpPr txBox="1"/>
              <p:nvPr/>
            </p:nvSpPr>
            <p:spPr>
              <a:xfrm>
                <a:off x="6768959" y="4621104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3F0FCB2-C720-4A35-9843-AB4B25B4C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959" y="4621104"/>
                <a:ext cx="39041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5C6EF37-CDE2-4522-9165-97104D58EB7A}"/>
                  </a:ext>
                </a:extLst>
              </p:cNvPr>
              <p:cNvSpPr txBox="1"/>
              <p:nvPr/>
            </p:nvSpPr>
            <p:spPr>
              <a:xfrm>
                <a:off x="7733018" y="4965792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5C6EF37-CDE2-4522-9165-97104D58E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018" y="4965792"/>
                <a:ext cx="39041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D3533287-9AE5-4A50-B55B-911618AFFF98}"/>
              </a:ext>
            </a:extLst>
          </p:cNvPr>
          <p:cNvSpPr txBox="1"/>
          <p:nvPr/>
        </p:nvSpPr>
        <p:spPr>
          <a:xfrm>
            <a:off x="6768959" y="6069044"/>
            <a:ext cx="4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E80F67-2D04-4E22-B60A-D2745500A327}"/>
              </a:ext>
            </a:extLst>
          </p:cNvPr>
          <p:cNvSpPr txBox="1"/>
          <p:nvPr/>
        </p:nvSpPr>
        <p:spPr>
          <a:xfrm>
            <a:off x="7702196" y="6069044"/>
            <a:ext cx="4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92DB9D-E338-45DF-9130-BE56879E2D32}"/>
                  </a:ext>
                </a:extLst>
              </p:cNvPr>
              <p:cNvSpPr txBox="1"/>
              <p:nvPr/>
            </p:nvSpPr>
            <p:spPr>
              <a:xfrm>
                <a:off x="1558248" y="5345667"/>
                <a:ext cx="1695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92DB9D-E338-45DF-9130-BE56879E2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248" y="5345667"/>
                <a:ext cx="16952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F5901C-6D32-4DD2-94AC-1C1BCB77615E}"/>
                  </a:ext>
                </a:extLst>
              </p:cNvPr>
              <p:cNvSpPr txBox="1"/>
              <p:nvPr/>
            </p:nvSpPr>
            <p:spPr>
              <a:xfrm>
                <a:off x="4994953" y="5345667"/>
                <a:ext cx="16952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0F5901C-6D32-4DD2-94AC-1C1BCB776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953" y="5345667"/>
                <a:ext cx="1695236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头: 右 17">
            <a:extLst>
              <a:ext uri="{FF2B5EF4-FFF2-40B4-BE49-F238E27FC236}">
                <a16:creationId xmlns:a16="http://schemas.microsoft.com/office/drawing/2014/main" id="{1241FBCB-86FF-4620-A91F-685699B11277}"/>
              </a:ext>
            </a:extLst>
          </p:cNvPr>
          <p:cNvSpPr/>
          <p:nvPr/>
        </p:nvSpPr>
        <p:spPr>
          <a:xfrm>
            <a:off x="3760342" y="5226095"/>
            <a:ext cx="1289406" cy="608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FC4C938-0B9B-46FF-A0B2-CC81CCA502B4}"/>
              </a:ext>
            </a:extLst>
          </p:cNvPr>
          <p:cNvCxnSpPr>
            <a:cxnSpLocks/>
          </p:cNvCxnSpPr>
          <p:nvPr/>
        </p:nvCxnSpPr>
        <p:spPr>
          <a:xfrm flipV="1">
            <a:off x="8743310" y="5396500"/>
            <a:ext cx="0" cy="6267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7E9EE32-7C94-443D-BBDE-53C454FF5834}"/>
              </a:ext>
            </a:extLst>
          </p:cNvPr>
          <p:cNvSpPr txBox="1"/>
          <p:nvPr/>
        </p:nvSpPr>
        <p:spPr>
          <a:xfrm>
            <a:off x="8517279" y="6069044"/>
            <a:ext cx="4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750994D-2C70-4C61-A0B3-22BE5D33EBEC}"/>
                  </a:ext>
                </a:extLst>
              </p:cNvPr>
              <p:cNvSpPr txBox="1"/>
              <p:nvPr/>
            </p:nvSpPr>
            <p:spPr>
              <a:xfrm>
                <a:off x="10117022" y="6069044"/>
                <a:ext cx="763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</m:oMath>
                  </m:oMathPara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750994D-2C70-4C61-A0B3-22BE5D33E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022" y="6069044"/>
                <a:ext cx="76331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A0210D4-2466-4A9F-8A40-0E522D8DC939}"/>
              </a:ext>
            </a:extLst>
          </p:cNvPr>
          <p:cNvCxnSpPr>
            <a:cxnSpLocks/>
          </p:cNvCxnSpPr>
          <p:nvPr/>
        </p:nvCxnSpPr>
        <p:spPr>
          <a:xfrm flipV="1">
            <a:off x="10431696" y="5401637"/>
            <a:ext cx="0" cy="62672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2D95F97-D37A-4BEE-A3FA-14978020C715}"/>
                  </a:ext>
                </a:extLst>
              </p:cNvPr>
              <p:cNvSpPr txBox="1"/>
              <p:nvPr/>
            </p:nvSpPr>
            <p:spPr>
              <a:xfrm>
                <a:off x="8548100" y="4976335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2D95F97-D37A-4BEE-A3FA-14978020C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100" y="4976335"/>
                <a:ext cx="390418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BB65A8A-CFB3-4208-B556-DBB25CCC5B03}"/>
                  </a:ext>
                </a:extLst>
              </p:cNvPr>
              <p:cNvSpPr txBox="1"/>
              <p:nvPr/>
            </p:nvSpPr>
            <p:spPr>
              <a:xfrm>
                <a:off x="10211201" y="5009395"/>
                <a:ext cx="3904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BB65A8A-CFB3-4208-B556-DBB25CCC5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201" y="5009395"/>
                <a:ext cx="390418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801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 Analysis</a:t>
            </a:r>
            <a:endParaRPr lang="zh-CN" altLang="en-US" sz="24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520737" cy="209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Theorem.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GRR satisfies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-LDP</a:t>
                </a: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Ψ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Ψ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𝜖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520737" cy="2098460"/>
              </a:xfrm>
              <a:prstGeom prst="rect">
                <a:avLst/>
              </a:prstGeom>
              <a:blipFill>
                <a:blip r:embed="rId2"/>
                <a:stretch>
                  <a:fillRect l="-869" t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975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816576" cy="1598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to aggregate to have the frequency? Consider the following aggregation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816576" cy="1598451"/>
              </a:xfrm>
              <a:prstGeom prst="rect">
                <a:avLst/>
              </a:prstGeom>
              <a:blipFill>
                <a:blip r:embed="rId2"/>
                <a:stretch>
                  <a:fillRect l="-845" t="-2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841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0816576" cy="2706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this aggregation accurate?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 a simple utility metrics: unbiasedness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0816576" cy="2706447"/>
              </a:xfrm>
              <a:prstGeom prst="rect">
                <a:avLst/>
              </a:prstGeom>
              <a:blipFill>
                <a:blip r:embed="rId2"/>
                <a:stretch>
                  <a:fillRect l="-845" t="-1577" b="-2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874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818202"/>
                <a:ext cx="11361106" cy="2789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Unbiasedness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818202"/>
                <a:ext cx="11361106" cy="2789674"/>
              </a:xfrm>
              <a:prstGeom prst="rect">
                <a:avLst/>
              </a:prstGeom>
              <a:blipFill>
                <a:blip r:embed="rId2"/>
                <a:stretch>
                  <a:fillRect l="-805" t="-1528" b="-2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584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566489"/>
                <a:ext cx="11361106" cy="3159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Unbiasedness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is this bad?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566489"/>
                <a:ext cx="11361106" cy="3159006"/>
              </a:xfrm>
              <a:prstGeom prst="rect">
                <a:avLst/>
              </a:prstGeom>
              <a:blipFill>
                <a:blip r:embed="rId2"/>
                <a:stretch>
                  <a:fillRect l="-805" t="-1351" b="-3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1C35995-4A69-4A6D-A871-D7724AE520CE}"/>
              </a:ext>
            </a:extLst>
          </p:cNvPr>
          <p:cNvSpPr/>
          <p:nvPr/>
        </p:nvSpPr>
        <p:spPr>
          <a:xfrm>
            <a:off x="1759489" y="4845501"/>
            <a:ext cx="554946" cy="15854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3819CC-3B9A-4023-AD09-66B16C739970}"/>
              </a:ext>
            </a:extLst>
          </p:cNvPr>
          <p:cNvSpPr/>
          <p:nvPr/>
        </p:nvSpPr>
        <p:spPr>
          <a:xfrm>
            <a:off x="2314435" y="6385221"/>
            <a:ext cx="554946" cy="457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D8BAF-84C9-4268-86D0-90B80D07A21A}"/>
              </a:ext>
            </a:extLst>
          </p:cNvPr>
          <p:cNvSpPr/>
          <p:nvPr/>
        </p:nvSpPr>
        <p:spPr>
          <a:xfrm>
            <a:off x="2869381" y="6385221"/>
            <a:ext cx="554946" cy="457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18AF9A-6CC9-4171-B234-4917180FE213}"/>
                  </a:ext>
                </a:extLst>
              </p:cNvPr>
              <p:cNvSpPr txBox="1"/>
              <p:nvPr/>
            </p:nvSpPr>
            <p:spPr>
              <a:xfrm>
                <a:off x="1759489" y="6496398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18AF9A-6CC9-4171-B234-4917180FE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489" y="6496398"/>
                <a:ext cx="554946" cy="276999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9BA1B8-B341-4742-869B-055C530FB1D5}"/>
                  </a:ext>
                </a:extLst>
              </p:cNvPr>
              <p:cNvSpPr txBox="1"/>
              <p:nvPr/>
            </p:nvSpPr>
            <p:spPr>
              <a:xfrm>
                <a:off x="2257679" y="6496398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9BA1B8-B341-4742-869B-055C530FB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679" y="6496398"/>
                <a:ext cx="611702" cy="27699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57B5819-9299-4CC9-BA50-8EA749CBA624}"/>
                  </a:ext>
                </a:extLst>
              </p:cNvPr>
              <p:cNvSpPr txBox="1"/>
              <p:nvPr/>
            </p:nvSpPr>
            <p:spPr>
              <a:xfrm>
                <a:off x="2812625" y="6499854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57B5819-9299-4CC9-BA50-8EA749CBA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625" y="6499854"/>
                <a:ext cx="611702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CF789D-1380-4228-87BC-E17A8DAD3B19}"/>
                  </a:ext>
                </a:extLst>
              </p:cNvPr>
              <p:cNvSpPr txBox="1"/>
              <p:nvPr/>
            </p:nvSpPr>
            <p:spPr>
              <a:xfrm>
                <a:off x="1759489" y="4565046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CF789D-1380-4228-87BC-E17A8DAD3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489" y="4565046"/>
                <a:ext cx="55494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DF54AC-5E45-40EE-87AC-080AD589D091}"/>
                  </a:ext>
                </a:extLst>
              </p:cNvPr>
              <p:cNvSpPr txBox="1"/>
              <p:nvPr/>
            </p:nvSpPr>
            <p:spPr>
              <a:xfrm>
                <a:off x="2314435" y="6094471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DF54AC-5E45-40EE-87AC-080AD589D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435" y="6094471"/>
                <a:ext cx="55494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1CB15F-EDA6-4441-975B-C2521CF89E42}"/>
                  </a:ext>
                </a:extLst>
              </p:cNvPr>
              <p:cNvSpPr txBox="1"/>
              <p:nvPr/>
            </p:nvSpPr>
            <p:spPr>
              <a:xfrm>
                <a:off x="2869381" y="6094470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1CB15F-EDA6-4441-975B-C2521CF89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381" y="6094470"/>
                <a:ext cx="55494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431D9948-8834-4294-A0A8-BFF6DB816F74}"/>
              </a:ext>
            </a:extLst>
          </p:cNvPr>
          <p:cNvSpPr/>
          <p:nvPr/>
        </p:nvSpPr>
        <p:spPr>
          <a:xfrm>
            <a:off x="6370873" y="5428860"/>
            <a:ext cx="554946" cy="100207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BD7F40-0B1D-4F08-8E47-2BD0145A6744}"/>
              </a:ext>
            </a:extLst>
          </p:cNvPr>
          <p:cNvSpPr/>
          <p:nvPr/>
        </p:nvSpPr>
        <p:spPr>
          <a:xfrm>
            <a:off x="6925819" y="6094470"/>
            <a:ext cx="554946" cy="3364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AFFFC0-D259-4764-AC27-94489CEDFDBE}"/>
              </a:ext>
            </a:extLst>
          </p:cNvPr>
          <p:cNvSpPr/>
          <p:nvPr/>
        </p:nvSpPr>
        <p:spPr>
          <a:xfrm>
            <a:off x="7480765" y="6094470"/>
            <a:ext cx="554946" cy="33646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C33EF-1205-45DD-B7F5-634C8BF1B7C6}"/>
                  </a:ext>
                </a:extLst>
              </p:cNvPr>
              <p:cNvSpPr txBox="1"/>
              <p:nvPr/>
            </p:nvSpPr>
            <p:spPr>
              <a:xfrm>
                <a:off x="6370873" y="6496397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C33EF-1205-45DD-B7F5-634C8BF1B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873" y="6496397"/>
                <a:ext cx="55494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CC5D2D-E914-4A56-9279-621EA553E963}"/>
                  </a:ext>
                </a:extLst>
              </p:cNvPr>
              <p:cNvSpPr txBox="1"/>
              <p:nvPr/>
            </p:nvSpPr>
            <p:spPr>
              <a:xfrm>
                <a:off x="6869063" y="6496397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CC5D2D-E914-4A56-9279-621EA553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63" y="6496397"/>
                <a:ext cx="611702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0A76B6-1FD1-4B16-B474-91F5B866E768}"/>
                  </a:ext>
                </a:extLst>
              </p:cNvPr>
              <p:cNvSpPr txBox="1"/>
              <p:nvPr/>
            </p:nvSpPr>
            <p:spPr>
              <a:xfrm>
                <a:off x="7424009" y="6499853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0A76B6-1FD1-4B16-B474-91F5B866E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09" y="6499853"/>
                <a:ext cx="611702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EE03E6-676C-4DE1-B062-5B276F4CF659}"/>
                  </a:ext>
                </a:extLst>
              </p:cNvPr>
              <p:cNvSpPr txBox="1"/>
              <p:nvPr/>
            </p:nvSpPr>
            <p:spPr>
              <a:xfrm>
                <a:off x="5882850" y="5283329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</m:oMath>
                  </m:oMathPara>
                </a14:m>
                <a:endParaRPr lang="zh-CN" alt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EE03E6-676C-4DE1-B062-5B276F4CF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850" y="5283329"/>
                <a:ext cx="55494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9FBB11-A64F-40C0-8F94-87D64ED927AE}"/>
                  </a:ext>
                </a:extLst>
              </p:cNvPr>
              <p:cNvSpPr txBox="1"/>
              <p:nvPr/>
            </p:nvSpPr>
            <p:spPr>
              <a:xfrm>
                <a:off x="6925819" y="5810594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9FBB11-A64F-40C0-8F94-87D64ED92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819" y="5810594"/>
                <a:ext cx="55494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E73200C-969F-4A98-AC55-2A7786D86CB1}"/>
                  </a:ext>
                </a:extLst>
              </p:cNvPr>
              <p:cNvSpPr txBox="1"/>
              <p:nvPr/>
            </p:nvSpPr>
            <p:spPr>
              <a:xfrm>
                <a:off x="7480765" y="5824502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E73200C-969F-4A98-AC55-2A7786D86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65" y="5824502"/>
                <a:ext cx="55494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3">
            <a:extLst>
              <a:ext uri="{FF2B5EF4-FFF2-40B4-BE49-F238E27FC236}">
                <a16:creationId xmlns:a16="http://schemas.microsoft.com/office/drawing/2014/main" id="{1D11721F-5AAF-499F-B1CA-38628D50A3BC}"/>
              </a:ext>
            </a:extLst>
          </p:cNvPr>
          <p:cNvSpPr/>
          <p:nvPr/>
        </p:nvSpPr>
        <p:spPr>
          <a:xfrm>
            <a:off x="4078383" y="5421829"/>
            <a:ext cx="1469205" cy="672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GRR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584424-BC0E-411A-BEE5-6043FFDAFA4B}"/>
              </a:ext>
            </a:extLst>
          </p:cNvPr>
          <p:cNvSpPr/>
          <p:nvPr/>
        </p:nvSpPr>
        <p:spPr>
          <a:xfrm>
            <a:off x="6370873" y="4842045"/>
            <a:ext cx="554946" cy="586814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641C4F-DE1A-4130-8280-4D539AD204B0}"/>
              </a:ext>
            </a:extLst>
          </p:cNvPr>
          <p:cNvSpPr txBox="1"/>
          <p:nvPr/>
        </p:nvSpPr>
        <p:spPr>
          <a:xfrm>
            <a:off x="6925819" y="4874862"/>
            <a:ext cx="171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Lose this part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12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1566489"/>
                <a:ext cx="11361106" cy="3159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Unbiasedness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1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𝑗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𝐸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is this bad?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566489"/>
                <a:ext cx="11361106" cy="3159006"/>
              </a:xfrm>
              <a:prstGeom prst="rect">
                <a:avLst/>
              </a:prstGeom>
              <a:blipFill>
                <a:blip r:embed="rId2"/>
                <a:stretch>
                  <a:fillRect l="-805" t="-1351" b="-3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1C35995-4A69-4A6D-A871-D7724AE520CE}"/>
              </a:ext>
            </a:extLst>
          </p:cNvPr>
          <p:cNvSpPr/>
          <p:nvPr/>
        </p:nvSpPr>
        <p:spPr>
          <a:xfrm>
            <a:off x="1759489" y="4845501"/>
            <a:ext cx="554946" cy="15854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3819CC-3B9A-4023-AD09-66B16C739970}"/>
              </a:ext>
            </a:extLst>
          </p:cNvPr>
          <p:cNvSpPr/>
          <p:nvPr/>
        </p:nvSpPr>
        <p:spPr>
          <a:xfrm>
            <a:off x="2314435" y="6385221"/>
            <a:ext cx="554946" cy="457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D8BAF-84C9-4268-86D0-90B80D07A21A}"/>
              </a:ext>
            </a:extLst>
          </p:cNvPr>
          <p:cNvSpPr/>
          <p:nvPr/>
        </p:nvSpPr>
        <p:spPr>
          <a:xfrm>
            <a:off x="2869381" y="6385221"/>
            <a:ext cx="554946" cy="4571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18AF9A-6CC9-4171-B234-4917180FE213}"/>
                  </a:ext>
                </a:extLst>
              </p:cNvPr>
              <p:cNvSpPr txBox="1"/>
              <p:nvPr/>
            </p:nvSpPr>
            <p:spPr>
              <a:xfrm>
                <a:off x="1759489" y="6496398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E18AF9A-6CC9-4171-B234-4917180FE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489" y="6496398"/>
                <a:ext cx="554946" cy="276999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9BA1B8-B341-4742-869B-055C530FB1D5}"/>
                  </a:ext>
                </a:extLst>
              </p:cNvPr>
              <p:cNvSpPr txBox="1"/>
              <p:nvPr/>
            </p:nvSpPr>
            <p:spPr>
              <a:xfrm>
                <a:off x="2257679" y="6496398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A9BA1B8-B341-4742-869B-055C530FB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679" y="6496398"/>
                <a:ext cx="611702" cy="276999"/>
              </a:xfrm>
              <a:prstGeom prst="rect">
                <a:avLst/>
              </a:prstGeom>
              <a:blipFill>
                <a:blip r:embed="rId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57B5819-9299-4CC9-BA50-8EA749CBA624}"/>
                  </a:ext>
                </a:extLst>
              </p:cNvPr>
              <p:cNvSpPr txBox="1"/>
              <p:nvPr/>
            </p:nvSpPr>
            <p:spPr>
              <a:xfrm>
                <a:off x="2812625" y="6499854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57B5819-9299-4CC9-BA50-8EA749CBA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625" y="6499854"/>
                <a:ext cx="611702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CF789D-1380-4228-87BC-E17A8DAD3B19}"/>
                  </a:ext>
                </a:extLst>
              </p:cNvPr>
              <p:cNvSpPr txBox="1"/>
              <p:nvPr/>
            </p:nvSpPr>
            <p:spPr>
              <a:xfrm>
                <a:off x="1759489" y="4565046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CF789D-1380-4228-87BC-E17A8DAD3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489" y="4565046"/>
                <a:ext cx="55494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DF54AC-5E45-40EE-87AC-080AD589D091}"/>
                  </a:ext>
                </a:extLst>
              </p:cNvPr>
              <p:cNvSpPr txBox="1"/>
              <p:nvPr/>
            </p:nvSpPr>
            <p:spPr>
              <a:xfrm>
                <a:off x="2314435" y="6094471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BDF54AC-5E45-40EE-87AC-080AD589D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435" y="6094471"/>
                <a:ext cx="55494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1CB15F-EDA6-4441-975B-C2521CF89E42}"/>
                  </a:ext>
                </a:extLst>
              </p:cNvPr>
              <p:cNvSpPr txBox="1"/>
              <p:nvPr/>
            </p:nvSpPr>
            <p:spPr>
              <a:xfrm>
                <a:off x="2869381" y="6094470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1CB15F-EDA6-4441-975B-C2521CF89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381" y="6094470"/>
                <a:ext cx="554946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431D9948-8834-4294-A0A8-BFF6DB816F74}"/>
              </a:ext>
            </a:extLst>
          </p:cNvPr>
          <p:cNvSpPr/>
          <p:nvPr/>
        </p:nvSpPr>
        <p:spPr>
          <a:xfrm>
            <a:off x="6370873" y="5428860"/>
            <a:ext cx="554946" cy="100207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BD7F40-0B1D-4F08-8E47-2BD0145A6744}"/>
              </a:ext>
            </a:extLst>
          </p:cNvPr>
          <p:cNvSpPr/>
          <p:nvPr/>
        </p:nvSpPr>
        <p:spPr>
          <a:xfrm>
            <a:off x="6925819" y="6094470"/>
            <a:ext cx="554946" cy="3364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AFFFC0-D259-4764-AC27-94489CEDFDBE}"/>
              </a:ext>
            </a:extLst>
          </p:cNvPr>
          <p:cNvSpPr/>
          <p:nvPr/>
        </p:nvSpPr>
        <p:spPr>
          <a:xfrm>
            <a:off x="7480765" y="6094470"/>
            <a:ext cx="554946" cy="33646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C33EF-1205-45DD-B7F5-634C8BF1B7C6}"/>
                  </a:ext>
                </a:extLst>
              </p:cNvPr>
              <p:cNvSpPr txBox="1"/>
              <p:nvPr/>
            </p:nvSpPr>
            <p:spPr>
              <a:xfrm>
                <a:off x="6370873" y="6496397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09C33EF-1205-45DD-B7F5-634C8BF1B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0873" y="6496397"/>
                <a:ext cx="554946" cy="276999"/>
              </a:xfrm>
              <a:prstGeom prst="rect">
                <a:avLst/>
              </a:prstGeom>
              <a:blipFill>
                <a:blip r:embed="rId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CC5D2D-E914-4A56-9279-621EA553E963}"/>
                  </a:ext>
                </a:extLst>
              </p:cNvPr>
              <p:cNvSpPr txBox="1"/>
              <p:nvPr/>
            </p:nvSpPr>
            <p:spPr>
              <a:xfrm>
                <a:off x="6869063" y="6496397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FCC5D2D-E914-4A56-9279-621EA553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063" y="6496397"/>
                <a:ext cx="611702" cy="276999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0A76B6-1FD1-4B16-B474-91F5B866E768}"/>
                  </a:ext>
                </a:extLst>
              </p:cNvPr>
              <p:cNvSpPr txBox="1"/>
              <p:nvPr/>
            </p:nvSpPr>
            <p:spPr>
              <a:xfrm>
                <a:off x="7424009" y="6499853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60A76B6-1FD1-4B16-B474-91F5B866E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009" y="6499853"/>
                <a:ext cx="611702" cy="276999"/>
              </a:xfrm>
              <a:prstGeom prst="rect">
                <a:avLst/>
              </a:prstGeom>
              <a:blipFill>
                <a:blip r:embed="rId1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EE03E6-676C-4DE1-B062-5B276F4CF659}"/>
                  </a:ext>
                </a:extLst>
              </p:cNvPr>
              <p:cNvSpPr txBox="1"/>
              <p:nvPr/>
            </p:nvSpPr>
            <p:spPr>
              <a:xfrm>
                <a:off x="5882850" y="5283329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r>
                        <a:rPr lang="en-US" altLang="zh-CN" sz="12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</m:oMath>
                  </m:oMathPara>
                </a14:m>
                <a:endParaRPr lang="zh-CN" altLang="en-US" sz="12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EE03E6-676C-4DE1-B062-5B276F4CF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850" y="5283329"/>
                <a:ext cx="55494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9FBB11-A64F-40C0-8F94-87D64ED927AE}"/>
                  </a:ext>
                </a:extLst>
              </p:cNvPr>
              <p:cNvSpPr txBox="1"/>
              <p:nvPr/>
            </p:nvSpPr>
            <p:spPr>
              <a:xfrm>
                <a:off x="6925819" y="5810594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009FBB11-A64F-40C0-8F94-87D64ED92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819" y="5810594"/>
                <a:ext cx="55494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E73200C-969F-4A98-AC55-2A7786D86CB1}"/>
                  </a:ext>
                </a:extLst>
              </p:cNvPr>
              <p:cNvSpPr txBox="1"/>
              <p:nvPr/>
            </p:nvSpPr>
            <p:spPr>
              <a:xfrm>
                <a:off x="7480765" y="5824502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𝑛𝑞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E73200C-969F-4A98-AC55-2A7786D86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65" y="5824502"/>
                <a:ext cx="55494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3">
            <a:extLst>
              <a:ext uri="{FF2B5EF4-FFF2-40B4-BE49-F238E27FC236}">
                <a16:creationId xmlns:a16="http://schemas.microsoft.com/office/drawing/2014/main" id="{1D11721F-5AAF-499F-B1CA-38628D50A3BC}"/>
              </a:ext>
            </a:extLst>
          </p:cNvPr>
          <p:cNvSpPr/>
          <p:nvPr/>
        </p:nvSpPr>
        <p:spPr>
          <a:xfrm>
            <a:off x="4078383" y="5421829"/>
            <a:ext cx="1469205" cy="672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GRR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584424-BC0E-411A-BEE5-6043FFDAFA4B}"/>
              </a:ext>
            </a:extLst>
          </p:cNvPr>
          <p:cNvSpPr/>
          <p:nvPr/>
        </p:nvSpPr>
        <p:spPr>
          <a:xfrm>
            <a:off x="6370873" y="4842045"/>
            <a:ext cx="554946" cy="586814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0641C4F-DE1A-4130-8280-4D539AD204B0}"/>
              </a:ext>
            </a:extLst>
          </p:cNvPr>
          <p:cNvSpPr txBox="1"/>
          <p:nvPr/>
        </p:nvSpPr>
        <p:spPr>
          <a:xfrm>
            <a:off x="6925819" y="4874862"/>
            <a:ext cx="171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Lose this part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思想气泡: 云 25">
            <a:extLst>
              <a:ext uri="{FF2B5EF4-FFF2-40B4-BE49-F238E27FC236}">
                <a16:creationId xmlns:a16="http://schemas.microsoft.com/office/drawing/2014/main" id="{353056DD-3DBD-4D25-8D77-440BB02A8A6D}"/>
              </a:ext>
            </a:extLst>
          </p:cNvPr>
          <p:cNvSpPr/>
          <p:nvPr/>
        </p:nvSpPr>
        <p:spPr>
          <a:xfrm>
            <a:off x="8641603" y="4336729"/>
            <a:ext cx="2532579" cy="1085099"/>
          </a:xfrm>
          <a:prstGeom prst="cloudCallout">
            <a:avLst>
              <a:gd name="adj1" fmla="val -44968"/>
              <a:gd name="adj2" fmla="val 669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Needs normalization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386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Random Response (GRR)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313362" y="1566489"/>
                <a:ext cx="11573838" cy="325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Unbiasedness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62" y="1566489"/>
                <a:ext cx="11573838" cy="3256533"/>
              </a:xfrm>
              <a:prstGeom prst="rect">
                <a:avLst/>
              </a:prstGeom>
              <a:blipFill>
                <a:blip r:embed="rId2"/>
                <a:stretch>
                  <a:fillRect l="-790" t="-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860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Utility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Analyze the error between the estimated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ground truth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blipFill>
                <a:blip r:embed="rId2"/>
                <a:stretch>
                  <a:fillRect l="-910" t="-2778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2750576"/>
                <a:ext cx="10520737" cy="139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Metric.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Mean squared error (MSE). We 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Small MSE means better utility.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2750576"/>
                <a:ext cx="10520737" cy="1390317"/>
              </a:xfrm>
              <a:prstGeom prst="rect">
                <a:avLst/>
              </a:prstGeom>
              <a:blipFill>
                <a:blip r:embed="rId3"/>
                <a:stretch>
                  <a:fillRect l="-869" t="-3070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969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Utility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Analyze the error between the estimated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ground truth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blipFill>
                <a:blip r:embed="rId2"/>
                <a:stretch>
                  <a:fillRect l="-910" t="-2778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2750576"/>
                <a:ext cx="10520737" cy="2068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Metric.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Mean squared error (MSE). We calculate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Small MSE means better utility.</a:t>
                </a: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4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CN" sz="24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4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𝑓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2750576"/>
                <a:ext cx="10520737" cy="2068259"/>
              </a:xfrm>
              <a:prstGeom prst="rect">
                <a:avLst/>
              </a:prstGeom>
              <a:blipFill>
                <a:blip r:embed="rId3"/>
                <a:stretch>
                  <a:fillRect l="-869" t="-2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742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Utility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Analyze the error between the estimated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ground truth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blipFill>
                <a:blip r:embed="rId2"/>
                <a:stretch>
                  <a:fillRect l="-910" t="-2778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2447488"/>
                <a:ext cx="10520737" cy="2594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𝑛𝑞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2447488"/>
                <a:ext cx="10520737" cy="2594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990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Utility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Analyze the error between the estimated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ground truth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blipFill>
                <a:blip r:embed="rId2"/>
                <a:stretch>
                  <a:fillRect l="-910" t="-2778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/>
              <p:nvPr/>
            </p:nvSpPr>
            <p:spPr>
              <a:xfrm>
                <a:off x="526094" y="2447488"/>
                <a:ext cx="10520737" cy="3385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𝑛𝑞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b="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≈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−2+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4B57B75-F5C0-4F39-894F-24B39A95B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2447488"/>
                <a:ext cx="10520737" cy="33857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08383107-3254-4BC2-8DDC-C5AB02F67E68}"/>
              </a:ext>
            </a:extLst>
          </p:cNvPr>
          <p:cNvSpPr/>
          <p:nvPr/>
        </p:nvSpPr>
        <p:spPr>
          <a:xfrm>
            <a:off x="5712431" y="4094252"/>
            <a:ext cx="2224356" cy="88357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8ABAD5-C32C-4578-AAFD-4791A4A9EF8F}"/>
                  </a:ext>
                </a:extLst>
              </p:cNvPr>
              <p:cNvSpPr txBox="1"/>
              <p:nvPr/>
            </p:nvSpPr>
            <p:spPr>
              <a:xfrm>
                <a:off x="8399124" y="4489807"/>
                <a:ext cx="28048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Omit this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small</a:t>
                </a:r>
                <a:endParaRPr lang="zh-CN" alt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D8ABAD5-C32C-4578-AAFD-4791A4A9E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124" y="4489807"/>
                <a:ext cx="2804845" cy="369332"/>
              </a:xfrm>
              <a:prstGeom prst="rect">
                <a:avLst/>
              </a:prstGeom>
              <a:blipFill>
                <a:blip r:embed="rId4"/>
                <a:stretch>
                  <a:fillRect l="-1957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187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Utility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Analyze the error between the estimated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the ground truth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881523"/>
              </a:xfrm>
              <a:prstGeom prst="rect">
                <a:avLst/>
              </a:prstGeom>
              <a:blipFill>
                <a:blip r:embed="rId2"/>
                <a:stretch>
                  <a:fillRect l="-910" t="-2778"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E9B00E-61E0-48FC-9A72-150D6822B962}"/>
                  </a:ext>
                </a:extLst>
              </p:cNvPr>
              <p:cNvSpPr txBox="1"/>
              <p:nvPr/>
            </p:nvSpPr>
            <p:spPr>
              <a:xfrm>
                <a:off x="667820" y="2516112"/>
                <a:ext cx="10114908" cy="1589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Error of GRR grows as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increases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  <m: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−2+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E9B00E-61E0-48FC-9A72-150D6822B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20" y="2516112"/>
                <a:ext cx="10114908" cy="1589025"/>
              </a:xfrm>
              <a:prstGeom prst="rect">
                <a:avLst/>
              </a:prstGeom>
              <a:blipFill>
                <a:blip r:embed="rId3"/>
                <a:stretch>
                  <a:fillRect l="-964" t="-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220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857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Insight.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If the LDP output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can </a:t>
                </a:r>
                <a:r>
                  <a:rPr lang="en-US" altLang="zh-CN" sz="2400" i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some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when we receive the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we can use them to estimate frequencies of these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b="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GRR,</a:t>
                </a:r>
                <a:r>
                  <a:rPr lang="en-US" altLang="zh-CN" sz="2400" b="0" dirty="0">
                    <a:solidFill>
                      <a:schemeClr val="dk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 is equal to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 support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can use this insight to design more LDP protocols</a:t>
                </a:r>
                <a:endPara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857531"/>
              </a:xfrm>
              <a:prstGeom prst="rect">
                <a:avLst/>
              </a:prstGeom>
              <a:blipFill>
                <a:blip r:embed="rId2"/>
                <a:stretch>
                  <a:fillRect l="-811" t="-1108" b="-2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901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2905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Pure LDP framework.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 LDP protocol is </a:t>
                </a:r>
                <a:r>
                  <a:rPr lang="en-US" altLang="zh-CN" sz="2400" i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pure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if and only if there exists two probability values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such that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𝑆𝑢𝑝𝑝𝑜𝑟𝑡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2400" b="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𝑆𝑢𝑝𝑝𝑜𝑟𝑡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Satisfying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-LDP requires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2905924"/>
              </a:xfrm>
              <a:prstGeom prst="rect">
                <a:avLst/>
              </a:prstGeom>
              <a:blipFill>
                <a:blip r:embed="rId2"/>
                <a:stretch>
                  <a:fillRect l="-811" t="-1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853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118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𝑠𝑢𝑝𝑝𝑜𝑟𝑡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to design a new frequency estimation protocol?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Define a perturbation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support set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𝑠𝑢𝑝𝑝𝑜𝑟𝑡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the </a:t>
                </a:r>
                <a:r>
                  <a:rPr lang="en-US" altLang="zh-CN" sz="2400" i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118867"/>
              </a:xfrm>
              <a:prstGeom prst="rect">
                <a:avLst/>
              </a:prstGeom>
              <a:blipFill>
                <a:blip r:embed="rId2"/>
                <a:stretch>
                  <a:fillRect l="-811" t="-1370" b="-3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878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666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𝑠𝑢𝑝𝑝𝑜𝑟𝑡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Unbiasedness.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𝑠𝑢𝑝𝑝𝑜𝑟𝑡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𝑠𝑢𝑝𝑝𝑜𝑟𝑡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)=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666196"/>
              </a:xfrm>
              <a:prstGeom prst="rect">
                <a:avLst/>
              </a:prstGeom>
              <a:blipFill>
                <a:blip r:embed="rId2"/>
                <a:stretch>
                  <a:fillRect l="-811" t="-1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923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5312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𝑠𝑢𝑝𝑝𝑜𝑟𝑡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Variance.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𝑠𝑢𝑝𝑝𝑜𝑟𝑡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)=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𝑠𝑢𝑝𝑝𝑜𝑟𝑡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)=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5312480"/>
              </a:xfrm>
              <a:prstGeom prst="rect">
                <a:avLst/>
              </a:prstGeom>
              <a:blipFill>
                <a:blip r:embed="rId2"/>
                <a:stretch>
                  <a:fillRect l="-811" t="-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5169C99D-9841-4F19-8EA0-8B56A5906051}"/>
              </a:ext>
            </a:extLst>
          </p:cNvPr>
          <p:cNvSpPr/>
          <p:nvPr/>
        </p:nvSpPr>
        <p:spPr>
          <a:xfrm>
            <a:off x="6096000" y="5547816"/>
            <a:ext cx="2224356" cy="88357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D251EBE-FFEE-4D3A-B428-EED103870BBA}"/>
                  </a:ext>
                </a:extLst>
              </p:cNvPr>
              <p:cNvSpPr txBox="1"/>
              <p:nvPr/>
            </p:nvSpPr>
            <p:spPr>
              <a:xfrm>
                <a:off x="8782693" y="5943371"/>
                <a:ext cx="28048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Omit this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small</a:t>
                </a:r>
                <a:endParaRPr lang="zh-CN" alt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D251EBE-FFEE-4D3A-B428-EED103870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693" y="5943371"/>
                <a:ext cx="2804845" cy="369332"/>
              </a:xfrm>
              <a:prstGeom prst="rect">
                <a:avLst/>
              </a:prstGeom>
              <a:blipFill>
                <a:blip r:embed="rId3"/>
                <a:stretch>
                  <a:fillRect l="-1957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537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Intuition: Perturbation probability in GRR depends 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OUE avoids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perturbation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938992"/>
              </a:xfrm>
              <a:prstGeom prst="rect">
                <a:avLst/>
              </a:prstGeom>
              <a:blipFill>
                <a:blip r:embed="rId2"/>
                <a:stretch>
                  <a:fillRect l="-811" t="-2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972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Unary Encoding (OUE)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Encoding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E9CE84-6625-44F2-B873-17C56EEE823D}"/>
                  </a:ext>
                </a:extLst>
              </p:cNvPr>
              <p:cNvSpPr txBox="1"/>
              <p:nvPr/>
            </p:nvSpPr>
            <p:spPr>
              <a:xfrm>
                <a:off x="963203" y="3429000"/>
                <a:ext cx="28253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CE9CE84-6625-44F2-B873-17C56EEE8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03" y="3429000"/>
                <a:ext cx="2825393" cy="461665"/>
              </a:xfrm>
              <a:prstGeom prst="rect">
                <a:avLst/>
              </a:prstGeom>
              <a:blipFill>
                <a:blip r:embed="rId2"/>
                <a:stretch>
                  <a:fillRect l="-3240" t="-9333" r="-1080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62A35D18-83F3-406F-B434-57FF295ABC3D}"/>
              </a:ext>
            </a:extLst>
          </p:cNvPr>
          <p:cNvSpPr/>
          <p:nvPr/>
        </p:nvSpPr>
        <p:spPr>
          <a:xfrm>
            <a:off x="6096000" y="354648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F78B23-E4EC-4BD0-B95B-49A8B587C1F9}"/>
              </a:ext>
            </a:extLst>
          </p:cNvPr>
          <p:cNvSpPr/>
          <p:nvPr/>
        </p:nvSpPr>
        <p:spPr>
          <a:xfrm>
            <a:off x="6532652" y="354648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F1BA13-4D40-49A8-893E-85ADA28536B3}"/>
              </a:ext>
            </a:extLst>
          </p:cNvPr>
          <p:cNvSpPr/>
          <p:nvPr/>
        </p:nvSpPr>
        <p:spPr>
          <a:xfrm>
            <a:off x="6969304" y="354648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4A21B6-5309-471F-936E-45B09EB1CFB6}"/>
              </a:ext>
            </a:extLst>
          </p:cNvPr>
          <p:cNvSpPr/>
          <p:nvPr/>
        </p:nvSpPr>
        <p:spPr>
          <a:xfrm>
            <a:off x="7405956" y="354648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15BF8-A0DD-4920-A90B-79D3AC479160}"/>
              </a:ext>
            </a:extLst>
          </p:cNvPr>
          <p:cNvSpPr/>
          <p:nvPr/>
        </p:nvSpPr>
        <p:spPr>
          <a:xfrm>
            <a:off x="7842608" y="354648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AC2DD4-C45E-4798-99F1-9D8CC36A3A8A}"/>
              </a:ext>
            </a:extLst>
          </p:cNvPr>
          <p:cNvSpPr/>
          <p:nvPr/>
        </p:nvSpPr>
        <p:spPr>
          <a:xfrm>
            <a:off x="8279260" y="354648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345B047C-2DC6-46B1-A7A5-C51926BCE685}"/>
              </a:ext>
            </a:extLst>
          </p:cNvPr>
          <p:cNvSpPr/>
          <p:nvPr/>
        </p:nvSpPr>
        <p:spPr>
          <a:xfrm>
            <a:off x="4109663" y="3429000"/>
            <a:ext cx="1510301" cy="513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6589442-819F-4A9B-9640-37E1D54E37DC}"/>
              </a:ext>
            </a:extLst>
          </p:cNvPr>
          <p:cNvCxnSpPr>
            <a:cxnSpLocks/>
          </p:cNvCxnSpPr>
          <p:nvPr/>
        </p:nvCxnSpPr>
        <p:spPr>
          <a:xfrm flipV="1">
            <a:off x="7634556" y="3942708"/>
            <a:ext cx="0" cy="5779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A7357F-2F83-41A8-BB33-014AC8A12102}"/>
                  </a:ext>
                </a:extLst>
              </p:cNvPr>
              <p:cNvSpPr txBox="1"/>
              <p:nvPr/>
            </p:nvSpPr>
            <p:spPr>
              <a:xfrm>
                <a:off x="7292084" y="4472095"/>
                <a:ext cx="6643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A7357F-2F83-41A8-BB33-014AC8A12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084" y="4472095"/>
                <a:ext cx="66439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160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Unary Encoding (OUE)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Perturbation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35D18-83F3-406F-B434-57FF295ABC3D}"/>
              </a:ext>
            </a:extLst>
          </p:cNvPr>
          <p:cNvSpPr/>
          <p:nvPr/>
        </p:nvSpPr>
        <p:spPr>
          <a:xfrm>
            <a:off x="825357" y="347969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F78B23-E4EC-4BD0-B95B-49A8B587C1F9}"/>
              </a:ext>
            </a:extLst>
          </p:cNvPr>
          <p:cNvSpPr/>
          <p:nvPr/>
        </p:nvSpPr>
        <p:spPr>
          <a:xfrm>
            <a:off x="1262009" y="347969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F1BA13-4D40-49A8-893E-85ADA28536B3}"/>
              </a:ext>
            </a:extLst>
          </p:cNvPr>
          <p:cNvSpPr/>
          <p:nvPr/>
        </p:nvSpPr>
        <p:spPr>
          <a:xfrm>
            <a:off x="1698661" y="347969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4A21B6-5309-471F-936E-45B09EB1CFB6}"/>
              </a:ext>
            </a:extLst>
          </p:cNvPr>
          <p:cNvSpPr/>
          <p:nvPr/>
        </p:nvSpPr>
        <p:spPr>
          <a:xfrm>
            <a:off x="2135313" y="347969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15BF8-A0DD-4920-A90B-79D3AC479160}"/>
              </a:ext>
            </a:extLst>
          </p:cNvPr>
          <p:cNvSpPr/>
          <p:nvPr/>
        </p:nvSpPr>
        <p:spPr>
          <a:xfrm>
            <a:off x="2571965" y="347969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AC2DD4-C45E-4798-99F1-9D8CC36A3A8A}"/>
              </a:ext>
            </a:extLst>
          </p:cNvPr>
          <p:cNvSpPr/>
          <p:nvPr/>
        </p:nvSpPr>
        <p:spPr>
          <a:xfrm>
            <a:off x="3008617" y="347969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6589442-819F-4A9B-9640-37E1D54E37DC}"/>
              </a:ext>
            </a:extLst>
          </p:cNvPr>
          <p:cNvCxnSpPr>
            <a:cxnSpLocks/>
          </p:cNvCxnSpPr>
          <p:nvPr/>
        </p:nvCxnSpPr>
        <p:spPr>
          <a:xfrm flipV="1">
            <a:off x="2363913" y="3875926"/>
            <a:ext cx="0" cy="5779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A7357F-2F83-41A8-BB33-014AC8A12102}"/>
                  </a:ext>
                </a:extLst>
              </p:cNvPr>
              <p:cNvSpPr txBox="1"/>
              <p:nvPr/>
            </p:nvSpPr>
            <p:spPr>
              <a:xfrm>
                <a:off x="2021441" y="4405313"/>
                <a:ext cx="6643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9A7357F-2F83-41A8-BB33-014AC8A12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441" y="4405313"/>
                <a:ext cx="66439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ADF6522-064D-4F57-AC2A-0C126CDFD0CD}"/>
              </a:ext>
            </a:extLst>
          </p:cNvPr>
          <p:cNvSpPr/>
          <p:nvPr/>
        </p:nvSpPr>
        <p:spPr>
          <a:xfrm>
            <a:off x="7758701" y="34824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2AFE5A-436A-4E6B-9C92-00BCB1F63C98}"/>
              </a:ext>
            </a:extLst>
          </p:cNvPr>
          <p:cNvSpPr/>
          <p:nvPr/>
        </p:nvSpPr>
        <p:spPr>
          <a:xfrm>
            <a:off x="8195353" y="348240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80A329-F1D8-4075-9864-4AF328B0DD16}"/>
              </a:ext>
            </a:extLst>
          </p:cNvPr>
          <p:cNvSpPr/>
          <p:nvPr/>
        </p:nvSpPr>
        <p:spPr>
          <a:xfrm>
            <a:off x="8632005" y="348240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2A373B-8F01-48BC-ACDB-93B374FE6378}"/>
              </a:ext>
            </a:extLst>
          </p:cNvPr>
          <p:cNvSpPr/>
          <p:nvPr/>
        </p:nvSpPr>
        <p:spPr>
          <a:xfrm>
            <a:off x="9068657" y="34824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F2A37E-C229-4365-B61C-B253019A07DF}"/>
              </a:ext>
            </a:extLst>
          </p:cNvPr>
          <p:cNvSpPr/>
          <p:nvPr/>
        </p:nvSpPr>
        <p:spPr>
          <a:xfrm>
            <a:off x="9505309" y="348240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58DC84-96FA-4693-A59D-445159091840}"/>
              </a:ext>
            </a:extLst>
          </p:cNvPr>
          <p:cNvSpPr/>
          <p:nvPr/>
        </p:nvSpPr>
        <p:spPr>
          <a:xfrm>
            <a:off x="9941961" y="3482400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F79F198-B2BF-4C04-99EE-662CCDC01B0F}"/>
              </a:ext>
            </a:extLst>
          </p:cNvPr>
          <p:cNvCxnSpPr>
            <a:cxnSpLocks/>
          </p:cNvCxnSpPr>
          <p:nvPr/>
        </p:nvCxnSpPr>
        <p:spPr>
          <a:xfrm flipV="1">
            <a:off x="9297257" y="3878628"/>
            <a:ext cx="0" cy="5779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570359C-75E1-487D-B1A6-77B53B0F8F8E}"/>
                  </a:ext>
                </a:extLst>
              </p:cNvPr>
              <p:cNvSpPr txBox="1"/>
              <p:nvPr/>
            </p:nvSpPr>
            <p:spPr>
              <a:xfrm>
                <a:off x="8965059" y="4405312"/>
                <a:ext cx="6643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570359C-75E1-487D-B1A6-77B53B0F8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059" y="4405312"/>
                <a:ext cx="66439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箭头: 右 22">
            <a:extLst>
              <a:ext uri="{FF2B5EF4-FFF2-40B4-BE49-F238E27FC236}">
                <a16:creationId xmlns:a16="http://schemas.microsoft.com/office/drawing/2014/main" id="{F12A7DED-82BB-4C29-9AA5-6808AD037962}"/>
              </a:ext>
            </a:extLst>
          </p:cNvPr>
          <p:cNvSpPr/>
          <p:nvPr/>
        </p:nvSpPr>
        <p:spPr>
          <a:xfrm>
            <a:off x="4909336" y="3374389"/>
            <a:ext cx="1510301" cy="5137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8DB69B-0E08-4C23-8B05-43F07C389EC5}"/>
                  </a:ext>
                </a:extLst>
              </p:cNvPr>
              <p:cNvSpPr txBox="1"/>
              <p:nvPr/>
            </p:nvSpPr>
            <p:spPr>
              <a:xfrm>
                <a:off x="4130211" y="4351106"/>
                <a:ext cx="3241497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98DB69B-0E08-4C23-8B05-43F07C389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211" y="4351106"/>
                <a:ext cx="3241497" cy="710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222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118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Aggregation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𝑠𝑢𝑝𝑝𝑜𝑟𝑡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𝑆𝑢𝑝𝑝𝑜𝑟𝑡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=1}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118867"/>
              </a:xfrm>
              <a:prstGeom prst="rect">
                <a:avLst/>
              </a:prstGeom>
              <a:blipFill>
                <a:blip r:embed="rId2"/>
                <a:stretch>
                  <a:fillRect l="-811" t="-1370" b="-3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DADF6522-064D-4F57-AC2A-0C126CDFD0CD}"/>
              </a:ext>
            </a:extLst>
          </p:cNvPr>
          <p:cNvSpPr/>
          <p:nvPr/>
        </p:nvSpPr>
        <p:spPr>
          <a:xfrm>
            <a:off x="1899409" y="470653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C2AFE5A-436A-4E6B-9C92-00BCB1F63C98}"/>
              </a:ext>
            </a:extLst>
          </p:cNvPr>
          <p:cNvSpPr/>
          <p:nvPr/>
        </p:nvSpPr>
        <p:spPr>
          <a:xfrm>
            <a:off x="2336061" y="470653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80A329-F1D8-4075-9864-4AF328B0DD16}"/>
              </a:ext>
            </a:extLst>
          </p:cNvPr>
          <p:cNvSpPr/>
          <p:nvPr/>
        </p:nvSpPr>
        <p:spPr>
          <a:xfrm>
            <a:off x="2772713" y="470653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2A373B-8F01-48BC-ACDB-93B374FE6378}"/>
              </a:ext>
            </a:extLst>
          </p:cNvPr>
          <p:cNvSpPr/>
          <p:nvPr/>
        </p:nvSpPr>
        <p:spPr>
          <a:xfrm>
            <a:off x="3209365" y="470653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F2A37E-C229-4365-B61C-B253019A07DF}"/>
              </a:ext>
            </a:extLst>
          </p:cNvPr>
          <p:cNvSpPr/>
          <p:nvPr/>
        </p:nvSpPr>
        <p:spPr>
          <a:xfrm>
            <a:off x="3646017" y="470653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58DC84-96FA-4693-A59D-445159091840}"/>
              </a:ext>
            </a:extLst>
          </p:cNvPr>
          <p:cNvSpPr/>
          <p:nvPr/>
        </p:nvSpPr>
        <p:spPr>
          <a:xfrm>
            <a:off x="4082669" y="470653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211743-FBC6-48F7-9A1E-1168C6D4294A}"/>
              </a:ext>
            </a:extLst>
          </p:cNvPr>
          <p:cNvSpPr/>
          <p:nvPr/>
        </p:nvSpPr>
        <p:spPr>
          <a:xfrm>
            <a:off x="1899409" y="505071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78EB60-FFF4-4088-95A6-047855A43385}"/>
              </a:ext>
            </a:extLst>
          </p:cNvPr>
          <p:cNvSpPr/>
          <p:nvPr/>
        </p:nvSpPr>
        <p:spPr>
          <a:xfrm>
            <a:off x="2336061" y="505071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10CDEB-C9B4-4650-B19D-69B0DFCB838C}"/>
              </a:ext>
            </a:extLst>
          </p:cNvPr>
          <p:cNvSpPr/>
          <p:nvPr/>
        </p:nvSpPr>
        <p:spPr>
          <a:xfrm>
            <a:off x="2772713" y="505071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7726A5B-B4BD-436D-9239-567EDC53475C}"/>
              </a:ext>
            </a:extLst>
          </p:cNvPr>
          <p:cNvSpPr/>
          <p:nvPr/>
        </p:nvSpPr>
        <p:spPr>
          <a:xfrm>
            <a:off x="3209365" y="505071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FE733F-D585-406E-A5DC-E72667BF2CBF}"/>
              </a:ext>
            </a:extLst>
          </p:cNvPr>
          <p:cNvSpPr/>
          <p:nvPr/>
        </p:nvSpPr>
        <p:spPr>
          <a:xfrm>
            <a:off x="3646017" y="505071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360574-3E0E-4968-AA18-57F2072772BD}"/>
              </a:ext>
            </a:extLst>
          </p:cNvPr>
          <p:cNvSpPr/>
          <p:nvPr/>
        </p:nvSpPr>
        <p:spPr>
          <a:xfrm>
            <a:off x="4082669" y="505071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62EB6C-0D96-4261-96E7-14226C99C154}"/>
              </a:ext>
            </a:extLst>
          </p:cNvPr>
          <p:cNvSpPr/>
          <p:nvPr/>
        </p:nvSpPr>
        <p:spPr>
          <a:xfrm>
            <a:off x="1899409" y="539490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49B97E-B624-42D0-87C5-D0E379226297}"/>
              </a:ext>
            </a:extLst>
          </p:cNvPr>
          <p:cNvSpPr/>
          <p:nvPr/>
        </p:nvSpPr>
        <p:spPr>
          <a:xfrm>
            <a:off x="2336061" y="53949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EEAEDDF-B7C8-4226-9819-5215428F8A72}"/>
              </a:ext>
            </a:extLst>
          </p:cNvPr>
          <p:cNvSpPr/>
          <p:nvPr/>
        </p:nvSpPr>
        <p:spPr>
          <a:xfrm>
            <a:off x="2772713" y="53949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7C458E-5330-4266-ADFF-5DF9CAB826E7}"/>
              </a:ext>
            </a:extLst>
          </p:cNvPr>
          <p:cNvSpPr/>
          <p:nvPr/>
        </p:nvSpPr>
        <p:spPr>
          <a:xfrm>
            <a:off x="3209365" y="539490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FCEB04-7F95-49F5-A393-4C936DF51922}"/>
              </a:ext>
            </a:extLst>
          </p:cNvPr>
          <p:cNvSpPr/>
          <p:nvPr/>
        </p:nvSpPr>
        <p:spPr>
          <a:xfrm>
            <a:off x="3646017" y="53949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65508E-BA0C-4868-A552-3671AB7758D9}"/>
              </a:ext>
            </a:extLst>
          </p:cNvPr>
          <p:cNvSpPr/>
          <p:nvPr/>
        </p:nvSpPr>
        <p:spPr>
          <a:xfrm>
            <a:off x="4082669" y="53949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1BDCD6-6CBB-4E7F-BD74-D5877B984C50}"/>
              </a:ext>
            </a:extLst>
          </p:cNvPr>
          <p:cNvSpPr/>
          <p:nvPr/>
        </p:nvSpPr>
        <p:spPr>
          <a:xfrm>
            <a:off x="1899409" y="57390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E569E13-CDAD-480C-99F1-6152871E65DB}"/>
              </a:ext>
            </a:extLst>
          </p:cNvPr>
          <p:cNvSpPr/>
          <p:nvPr/>
        </p:nvSpPr>
        <p:spPr>
          <a:xfrm>
            <a:off x="2336061" y="573908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B2A9EB-25FA-4163-AC71-8554C4D5C102}"/>
              </a:ext>
            </a:extLst>
          </p:cNvPr>
          <p:cNvSpPr/>
          <p:nvPr/>
        </p:nvSpPr>
        <p:spPr>
          <a:xfrm>
            <a:off x="2772713" y="573908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2BEA636-C3E0-4514-BA67-8EEFF9566A03}"/>
              </a:ext>
            </a:extLst>
          </p:cNvPr>
          <p:cNvSpPr/>
          <p:nvPr/>
        </p:nvSpPr>
        <p:spPr>
          <a:xfrm>
            <a:off x="3209365" y="57390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39D87E-5A95-452D-9349-5F9A6C6527A0}"/>
              </a:ext>
            </a:extLst>
          </p:cNvPr>
          <p:cNvSpPr/>
          <p:nvPr/>
        </p:nvSpPr>
        <p:spPr>
          <a:xfrm>
            <a:off x="3646017" y="573908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D76CF13-0184-48D0-AC11-591242B9E202}"/>
              </a:ext>
            </a:extLst>
          </p:cNvPr>
          <p:cNvSpPr/>
          <p:nvPr/>
        </p:nvSpPr>
        <p:spPr>
          <a:xfrm>
            <a:off x="4082669" y="573908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2DB4F3-B463-4636-AC83-AFFA2A69A4EF}"/>
                  </a:ext>
                </a:extLst>
              </p:cNvPr>
              <p:cNvSpPr txBox="1"/>
              <p:nvPr/>
            </p:nvSpPr>
            <p:spPr>
              <a:xfrm rot="5400000">
                <a:off x="3074221" y="6127256"/>
                <a:ext cx="4312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32DB4F3-B463-4636-AC83-AFFA2A69A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074221" y="6127256"/>
                <a:ext cx="43124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70AF94-2C17-457B-8F54-A58DC0043276}"/>
              </a:ext>
            </a:extLst>
          </p:cNvPr>
          <p:cNvSpPr/>
          <p:nvPr/>
        </p:nvSpPr>
        <p:spPr>
          <a:xfrm>
            <a:off x="3110047" y="4508873"/>
            <a:ext cx="626723" cy="176201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CEC4DF3-E7B4-4BF4-81F2-4B9252750AC3}"/>
              </a:ext>
            </a:extLst>
          </p:cNvPr>
          <p:cNvSpPr txBox="1"/>
          <p:nvPr/>
        </p:nvSpPr>
        <p:spPr>
          <a:xfrm>
            <a:off x="937062" y="4655031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7D378E7-41A3-499C-ABCC-3E1B1B1863F6}"/>
              </a:ext>
            </a:extLst>
          </p:cNvPr>
          <p:cNvSpPr txBox="1"/>
          <p:nvPr/>
        </p:nvSpPr>
        <p:spPr>
          <a:xfrm>
            <a:off x="937060" y="5050718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080EFA5-17BA-4A07-9571-56AC82C3EDF4}"/>
              </a:ext>
            </a:extLst>
          </p:cNvPr>
          <p:cNvSpPr txBox="1"/>
          <p:nvPr/>
        </p:nvSpPr>
        <p:spPr>
          <a:xfrm>
            <a:off x="937060" y="5389882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B9940D-45C3-474F-BDA2-848B449C20B3}"/>
              </a:ext>
            </a:extLst>
          </p:cNvPr>
          <p:cNvSpPr txBox="1"/>
          <p:nvPr/>
        </p:nvSpPr>
        <p:spPr>
          <a:xfrm>
            <a:off x="950758" y="5739087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340BE0C-DFD5-4CF3-88D9-EE6E1831BE32}"/>
                  </a:ext>
                </a:extLst>
              </p:cNvPr>
              <p:cNvSpPr txBox="1"/>
              <p:nvPr/>
            </p:nvSpPr>
            <p:spPr>
              <a:xfrm>
                <a:off x="6096000" y="4753482"/>
                <a:ext cx="5039475" cy="93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𝑘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=1</m:t>
                                      </m:r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340BE0C-DFD5-4CF3-88D9-EE6E1831B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53482"/>
                <a:ext cx="5039475" cy="9386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5114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4923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Privacy Analysis: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OUE satisfies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1−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1−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-LDP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Ψ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∈[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Pr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⁡[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𝐵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]|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∈[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Pr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⁡[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𝐵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]|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=1|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4923912"/>
              </a:xfrm>
              <a:prstGeom prst="rect">
                <a:avLst/>
              </a:prstGeom>
              <a:blipFill>
                <a:blip r:embed="rId2"/>
                <a:stretch>
                  <a:fillRect l="-811" t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1337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976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Parameter Selection: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We want to minimize the noise variance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𝜖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𝜖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den>
                                  </m:f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𝜖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976923"/>
              </a:xfrm>
              <a:prstGeom prst="rect">
                <a:avLst/>
              </a:prstGeom>
              <a:blipFill>
                <a:blip r:embed="rId2"/>
                <a:stretch>
                  <a:fillRect l="-811" t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79321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5471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Parameter Selection: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We want to minimize the noise variance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en-US" altLang="zh-CN" sz="2400" i="1">
                                                      <a:solidFill>
                                                        <a:schemeClr val="dk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altLang="zh-CN" sz="2400" i="1">
                                                      <a:solidFill>
                                                        <a:schemeClr val="dk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altLang="zh-CN" sz="2400" i="1">
                                                      <a:solidFill>
                                                        <a:schemeClr val="dk1"/>
                                                      </a:solidFill>
                                                      <a:latin typeface="Cambria Math" panose="02040503050406030204" pitchFamily="18" charset="0"/>
                                                      <a:cs typeface="Arial" panose="020B0604020202020204" pitchFamily="34" charset="0"/>
                                                    </a:rPr>
                                                    <m:t>𝜖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+1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𝜖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den>
                                  </m:f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𝜖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</m:t>
                      </m:r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Plugging into variance,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𝜖</m:t>
                                    </m:r>
                                  </m:sup>
                                </m:sSup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5471178"/>
              </a:xfrm>
              <a:prstGeom prst="rect">
                <a:avLst/>
              </a:prstGeom>
              <a:blipFill>
                <a:blip r:embed="rId2"/>
                <a:stretch>
                  <a:fillRect l="-811" t="-780" b="-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203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721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Counterintuitive part: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is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 It means randomly send 0, 1 for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721882"/>
              </a:xfrm>
              <a:prstGeom prst="rect">
                <a:avLst/>
              </a:prstGeom>
              <a:blipFill>
                <a:blip r:embed="rId2"/>
                <a:stretch>
                  <a:fillRect l="-811" t="-2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3916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4568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Counterintuitive part: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Why is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 It means randomly send 0, 1 for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Revisit privacy budget:</a:t>
                </a:r>
                <a:endParaRPr lang="en-US" altLang="zh-CN" sz="240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Sequential composition, view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=0,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4568751"/>
              </a:xfrm>
              <a:prstGeom prst="rect">
                <a:avLst/>
              </a:prstGeom>
              <a:blipFill>
                <a:blip r:embed="rId2"/>
                <a:stretch>
                  <a:fillRect l="-811" t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5F93F6DA-135A-4A5B-A98D-4068ED9659C7}"/>
              </a:ext>
            </a:extLst>
          </p:cNvPr>
          <p:cNvSpPr/>
          <p:nvPr/>
        </p:nvSpPr>
        <p:spPr>
          <a:xfrm>
            <a:off x="8813514" y="621267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134032-260E-49CF-A2BC-D8B5D29A3BE5}"/>
              </a:ext>
            </a:extLst>
          </p:cNvPr>
          <p:cNvSpPr/>
          <p:nvPr/>
        </p:nvSpPr>
        <p:spPr>
          <a:xfrm>
            <a:off x="9250166" y="621267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D03FF7-D8E0-419C-A2B4-D6146FC45D97}"/>
              </a:ext>
            </a:extLst>
          </p:cNvPr>
          <p:cNvSpPr/>
          <p:nvPr/>
        </p:nvSpPr>
        <p:spPr>
          <a:xfrm>
            <a:off x="9686818" y="621267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0E3BBF-8104-4360-A5F2-4E6420B21334}"/>
              </a:ext>
            </a:extLst>
          </p:cNvPr>
          <p:cNvSpPr/>
          <p:nvPr/>
        </p:nvSpPr>
        <p:spPr>
          <a:xfrm>
            <a:off x="10123470" y="621267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694AAF-5CDE-499A-B792-970F5AB024E5}"/>
              </a:ext>
            </a:extLst>
          </p:cNvPr>
          <p:cNvSpPr/>
          <p:nvPr/>
        </p:nvSpPr>
        <p:spPr>
          <a:xfrm>
            <a:off x="10560122" y="621267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F2B304-75FD-4287-8C3B-C7D7B5D9E413}"/>
              </a:ext>
            </a:extLst>
          </p:cNvPr>
          <p:cNvSpPr/>
          <p:nvPr/>
        </p:nvSpPr>
        <p:spPr>
          <a:xfrm>
            <a:off x="10996774" y="621267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517E35-ACB7-4FA5-B15C-06FC358B1CAD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10335802" y="5739087"/>
            <a:ext cx="5994" cy="4735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F99E3B7-CE1C-40BD-8138-998CE8F7DE31}"/>
                  </a:ext>
                </a:extLst>
              </p:cNvPr>
              <p:cNvSpPr txBox="1"/>
              <p:nvPr/>
            </p:nvSpPr>
            <p:spPr>
              <a:xfrm>
                <a:off x="10037774" y="5329906"/>
                <a:ext cx="5960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F99E3B7-CE1C-40BD-8138-998CE8F7D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7774" y="5329906"/>
                <a:ext cx="596056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68DED6-82D5-4114-A943-5DA309427ABA}"/>
                  </a:ext>
                </a:extLst>
              </p:cNvPr>
              <p:cNvSpPr txBox="1"/>
              <p:nvPr/>
            </p:nvSpPr>
            <p:spPr>
              <a:xfrm>
                <a:off x="10692752" y="5304410"/>
                <a:ext cx="5960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568DED6-82D5-4114-A943-5DA309427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752" y="5304410"/>
                <a:ext cx="596056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左大括号 14">
            <a:extLst>
              <a:ext uri="{FF2B5EF4-FFF2-40B4-BE49-F238E27FC236}">
                <a16:creationId xmlns:a16="http://schemas.microsoft.com/office/drawing/2014/main" id="{CCD0378F-0716-45BD-8FE6-826435B8B142}"/>
              </a:ext>
            </a:extLst>
          </p:cNvPr>
          <p:cNvSpPr/>
          <p:nvPr/>
        </p:nvSpPr>
        <p:spPr>
          <a:xfrm rot="5400000">
            <a:off x="9980286" y="4708330"/>
            <a:ext cx="344186" cy="2562092"/>
          </a:xfrm>
          <a:prstGeom prst="leftBrace">
            <a:avLst>
              <a:gd name="adj1" fmla="val 8333"/>
              <a:gd name="adj2" fmla="val 17439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02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Unary Encoding (OUE)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Communication: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Drawback: The communication cost is too large for large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938992"/>
              </a:xfrm>
              <a:prstGeom prst="rect">
                <a:avLst/>
              </a:prstGeom>
              <a:blipFill>
                <a:blip r:embed="rId2"/>
                <a:stretch>
                  <a:fillRect l="-811" t="-2201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294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Local Hashing (OLH)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Intuition: OUE uses one bit to support one item, if we can use one bit to support multiple items, we can save more communication cost!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AEC442-F235-4178-9A4B-0BCA353FB073}"/>
              </a:ext>
            </a:extLst>
          </p:cNvPr>
          <p:cNvSpPr/>
          <p:nvPr/>
        </p:nvSpPr>
        <p:spPr>
          <a:xfrm>
            <a:off x="2155860" y="47948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92F4AB-1D0D-4755-968F-F20C071B2B20}"/>
              </a:ext>
            </a:extLst>
          </p:cNvPr>
          <p:cNvSpPr/>
          <p:nvPr/>
        </p:nvSpPr>
        <p:spPr>
          <a:xfrm>
            <a:off x="2592512" y="47948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67A05-4B72-489D-968B-C7648DA85480}"/>
              </a:ext>
            </a:extLst>
          </p:cNvPr>
          <p:cNvSpPr/>
          <p:nvPr/>
        </p:nvSpPr>
        <p:spPr>
          <a:xfrm>
            <a:off x="3029164" y="47948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DAC2F5-0A75-4F84-9F91-7DCC594B99F8}"/>
              </a:ext>
            </a:extLst>
          </p:cNvPr>
          <p:cNvSpPr/>
          <p:nvPr/>
        </p:nvSpPr>
        <p:spPr>
          <a:xfrm>
            <a:off x="3465816" y="47948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5D8E83-8B16-429A-B525-3213E06E1148}"/>
              </a:ext>
            </a:extLst>
          </p:cNvPr>
          <p:cNvSpPr/>
          <p:nvPr/>
        </p:nvSpPr>
        <p:spPr>
          <a:xfrm>
            <a:off x="3902468" y="47948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769061-3CE3-4883-9334-9D72FD42241A}"/>
              </a:ext>
            </a:extLst>
          </p:cNvPr>
          <p:cNvSpPr/>
          <p:nvPr/>
        </p:nvSpPr>
        <p:spPr>
          <a:xfrm>
            <a:off x="4339120" y="47948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FD077FA-6A2E-4833-B6E8-0F7B0382096F}"/>
                  </a:ext>
                </a:extLst>
              </p:cNvPr>
              <p:cNvSpPr txBox="1"/>
              <p:nvPr/>
            </p:nvSpPr>
            <p:spPr>
              <a:xfrm>
                <a:off x="1543692" y="3556593"/>
                <a:ext cx="3844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{1, 2,…,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FD077FA-6A2E-4833-B6E8-0F7B03820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692" y="3556593"/>
                <a:ext cx="384424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5EDED2E-2742-4D45-8593-65B9F450C711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374186" y="4125075"/>
            <a:ext cx="76201" cy="6697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561C32D-A71C-4759-B429-50EAE14E15A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810838" y="4125075"/>
            <a:ext cx="76201" cy="6697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9F2A1D7-ADC4-470D-B51E-E0CD586EC355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3607941" y="4125075"/>
            <a:ext cx="76201" cy="6697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C2BD3CB-C856-4B25-BACE-C8A609F28875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4405044" y="4178644"/>
            <a:ext cx="152402" cy="6161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FFB8F5A-D71D-480D-8126-B9FE92DBF787}"/>
              </a:ext>
            </a:extLst>
          </p:cNvPr>
          <p:cNvSpPr txBox="1"/>
          <p:nvPr/>
        </p:nvSpPr>
        <p:spPr>
          <a:xfrm>
            <a:off x="592018" y="4553399"/>
            <a:ext cx="1345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OUE Encoding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A47E85-9DB3-492B-BE80-AB9700E16DF5}"/>
              </a:ext>
            </a:extLst>
          </p:cNvPr>
          <p:cNvSpPr txBox="1"/>
          <p:nvPr/>
        </p:nvSpPr>
        <p:spPr>
          <a:xfrm>
            <a:off x="6235955" y="4553399"/>
            <a:ext cx="1345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New Encoding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E96A3B-C8C9-4428-9A20-72E749DB40DB}"/>
              </a:ext>
            </a:extLst>
          </p:cNvPr>
          <p:cNvSpPr/>
          <p:nvPr/>
        </p:nvSpPr>
        <p:spPr>
          <a:xfrm>
            <a:off x="8594731" y="479484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7F60B6-A2F3-4687-8031-D327FA3EB316}"/>
              </a:ext>
            </a:extLst>
          </p:cNvPr>
          <p:cNvSpPr/>
          <p:nvPr/>
        </p:nvSpPr>
        <p:spPr>
          <a:xfrm>
            <a:off x="9031383" y="479484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B28862-28E7-4656-909B-5F61856C9F5D}"/>
              </a:ext>
            </a:extLst>
          </p:cNvPr>
          <p:cNvSpPr/>
          <p:nvPr/>
        </p:nvSpPr>
        <p:spPr>
          <a:xfrm>
            <a:off x="9468035" y="47948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C00132-7D3E-4D9A-985B-EE690404944D}"/>
              </a:ext>
            </a:extLst>
          </p:cNvPr>
          <p:cNvSpPr/>
          <p:nvPr/>
        </p:nvSpPr>
        <p:spPr>
          <a:xfrm>
            <a:off x="9904687" y="479484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0946B84-60DD-459B-936B-9AAC70EB7D28}"/>
                  </a:ext>
                </a:extLst>
              </p:cNvPr>
              <p:cNvSpPr txBox="1"/>
              <p:nvPr/>
            </p:nvSpPr>
            <p:spPr>
              <a:xfrm>
                <a:off x="7545911" y="3556592"/>
                <a:ext cx="38442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{1, 2,…,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0946B84-60DD-459B-936B-9AAC70EB7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911" y="3556592"/>
                <a:ext cx="384424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3A01162-2DA6-487F-93F5-5191F2449BBA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8452607" y="4125075"/>
            <a:ext cx="360450" cy="6697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879608C-2D72-47D4-9A31-84B1BF333CAD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9610160" y="4125074"/>
            <a:ext cx="76201" cy="6697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B79E4A4-B118-4661-90C7-71340B2316AA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9686361" y="4125073"/>
            <a:ext cx="699085" cy="6697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2B66B32-D54D-4479-91BE-F00F50A41544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813057" y="4091129"/>
            <a:ext cx="98018" cy="7037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708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Local Hashing (OLH)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A791891-BDAD-48E3-B82D-AAD91B2462B7}"/>
                  </a:ext>
                </a:extLst>
              </p:cNvPr>
              <p:cNvSpPr txBox="1"/>
              <p:nvPr/>
            </p:nvSpPr>
            <p:spPr>
              <a:xfrm>
                <a:off x="613025" y="3322355"/>
                <a:ext cx="28253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A791891-BDAD-48E3-B82D-AAD91B24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25" y="3322355"/>
                <a:ext cx="2825393" cy="461665"/>
              </a:xfrm>
              <a:prstGeom prst="rect">
                <a:avLst/>
              </a:prstGeom>
              <a:blipFill>
                <a:blip r:embed="rId2"/>
                <a:stretch>
                  <a:fillRect l="-3456" t="-9211" r="-864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7B407A4C-88F2-4E3F-A76F-08A888182A16}"/>
              </a:ext>
            </a:extLst>
          </p:cNvPr>
          <p:cNvSpPr/>
          <p:nvPr/>
        </p:nvSpPr>
        <p:spPr>
          <a:xfrm>
            <a:off x="4082267" y="267548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1BB4A4-69E5-4532-8957-5BA295C5DA95}"/>
              </a:ext>
            </a:extLst>
          </p:cNvPr>
          <p:cNvSpPr/>
          <p:nvPr/>
        </p:nvSpPr>
        <p:spPr>
          <a:xfrm>
            <a:off x="4082267" y="301966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7C9344-050C-4EDC-9B5D-C3E366B082D5}"/>
              </a:ext>
            </a:extLst>
          </p:cNvPr>
          <p:cNvSpPr/>
          <p:nvPr/>
        </p:nvSpPr>
        <p:spPr>
          <a:xfrm>
            <a:off x="4082267" y="336385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/>
              <p:nvPr/>
            </p:nvSpPr>
            <p:spPr>
              <a:xfrm>
                <a:off x="4082267" y="3704795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67" y="3704795"/>
                <a:ext cx="436652" cy="344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FB83EF03-F742-43CE-B993-1D42B4E84583}"/>
              </a:ext>
            </a:extLst>
          </p:cNvPr>
          <p:cNvSpPr/>
          <p:nvPr/>
        </p:nvSpPr>
        <p:spPr>
          <a:xfrm>
            <a:off x="4082267" y="405159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/>
              <p:nvPr/>
            </p:nvSpPr>
            <p:spPr>
              <a:xfrm>
                <a:off x="4082267" y="4395781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267" y="4395781"/>
                <a:ext cx="436652" cy="344185"/>
              </a:xfrm>
              <a:prstGeom prst="rect">
                <a:avLst/>
              </a:prstGeom>
              <a:blipFill>
                <a:blip r:embed="rId4"/>
                <a:stretch>
                  <a:fillRect l="-3947" b="-806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809063C-EB11-4F75-B176-05962AE12285}"/>
              </a:ext>
            </a:extLst>
          </p:cNvPr>
          <p:cNvCxnSpPr>
            <a:cxnSpLocks/>
            <a:stCxn id="41" idx="3"/>
            <a:endCxn id="49" idx="1"/>
          </p:cNvCxnSpPr>
          <p:nvPr/>
        </p:nvCxnSpPr>
        <p:spPr>
          <a:xfrm flipV="1">
            <a:off x="4518919" y="4223689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89049C28-CE1C-4A49-9244-EA169E1A789D}"/>
              </a:ext>
            </a:extLst>
          </p:cNvPr>
          <p:cNvSpPr/>
          <p:nvPr/>
        </p:nvSpPr>
        <p:spPr>
          <a:xfrm>
            <a:off x="6402515" y="301966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991142-BDA5-4CF3-8818-611CB28A1B92}"/>
              </a:ext>
            </a:extLst>
          </p:cNvPr>
          <p:cNvSpPr/>
          <p:nvPr/>
        </p:nvSpPr>
        <p:spPr>
          <a:xfrm>
            <a:off x="6402515" y="336385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/>
              <p:nvPr/>
            </p:nvSpPr>
            <p:spPr>
              <a:xfrm>
                <a:off x="6402515" y="3704795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515" y="3704795"/>
                <a:ext cx="436652" cy="344185"/>
              </a:xfrm>
              <a:prstGeom prst="rect">
                <a:avLst/>
              </a:prstGeom>
              <a:blipFill>
                <a:blip r:embed="rId5"/>
                <a:stretch>
                  <a:fillRect l="-9091" b="-180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/>
              <p:nvPr/>
            </p:nvSpPr>
            <p:spPr>
              <a:xfrm>
                <a:off x="6402515" y="4051596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515" y="4051596"/>
                <a:ext cx="436652" cy="344185"/>
              </a:xfrm>
              <a:prstGeom prst="rect">
                <a:avLst/>
              </a:prstGeom>
              <a:blipFill>
                <a:blip r:embed="rId6"/>
                <a:stretch>
                  <a:fillRect l="-3896" b="-2786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23215F2-39A3-4072-BDF7-A2C8B5984817}"/>
              </a:ext>
            </a:extLst>
          </p:cNvPr>
          <p:cNvCxnSpPr>
            <a:cxnSpLocks/>
            <a:stCxn id="39" idx="3"/>
            <a:endCxn id="48" idx="1"/>
          </p:cNvCxnSpPr>
          <p:nvPr/>
        </p:nvCxnSpPr>
        <p:spPr>
          <a:xfrm>
            <a:off x="4518919" y="3876888"/>
            <a:ext cx="1883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D06EED-635A-40B2-8DE6-AE0276E11AF3}"/>
              </a:ext>
            </a:extLst>
          </p:cNvPr>
          <p:cNvCxnSpPr>
            <a:cxnSpLocks/>
            <a:stCxn id="34" idx="3"/>
            <a:endCxn id="48" idx="1"/>
          </p:cNvCxnSpPr>
          <p:nvPr/>
        </p:nvCxnSpPr>
        <p:spPr>
          <a:xfrm>
            <a:off x="4518919" y="3191759"/>
            <a:ext cx="1883596" cy="685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94CC491-E4DE-471A-9FFE-35E08C1625D5}"/>
              </a:ext>
            </a:extLst>
          </p:cNvPr>
          <p:cNvCxnSpPr>
            <a:cxnSpLocks/>
            <a:stCxn id="31" idx="3"/>
            <a:endCxn id="46" idx="1"/>
          </p:cNvCxnSpPr>
          <p:nvPr/>
        </p:nvCxnSpPr>
        <p:spPr>
          <a:xfrm>
            <a:off x="4518919" y="2847574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C0319D4-6B2A-48C9-B3CB-E944E9DDCD43}"/>
                  </a:ext>
                </a:extLst>
              </p:cNvPr>
              <p:cNvSpPr txBox="1"/>
              <p:nvPr/>
            </p:nvSpPr>
            <p:spPr>
              <a:xfrm>
                <a:off x="4728026" y="4914674"/>
                <a:ext cx="14653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Local Hashing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8C0319D4-6B2A-48C9-B3CB-E944E9DD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026" y="4914674"/>
                <a:ext cx="1465381" cy="707886"/>
              </a:xfrm>
              <a:prstGeom prst="rect">
                <a:avLst/>
              </a:prstGeom>
              <a:blipFill>
                <a:blip r:embed="rId7"/>
                <a:stretch>
                  <a:fillRect l="-1667" t="-3448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5417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 Local Hashing (OLH)</a:t>
            </a:r>
          </a:p>
          <a:p>
            <a:endParaRPr lang="en-US" altLang="zh-CN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Perturbation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A47E85-9DB3-492B-BE80-AB9700E16DF5}"/>
                  </a:ext>
                </a:extLst>
              </p:cNvPr>
              <p:cNvSpPr txBox="1"/>
              <p:nvPr/>
            </p:nvSpPr>
            <p:spPr>
              <a:xfrm>
                <a:off x="1411382" y="4707464"/>
                <a:ext cx="14653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Local Hashing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A47E85-9DB3-492B-BE80-AB9700E16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382" y="4707464"/>
                <a:ext cx="1465381" cy="707886"/>
              </a:xfrm>
              <a:prstGeom prst="rect">
                <a:avLst/>
              </a:prstGeom>
              <a:blipFill>
                <a:blip r:embed="rId2"/>
                <a:stretch>
                  <a:fillRect l="-1667" t="-3448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7B407A4C-88F2-4E3F-A76F-08A888182A16}"/>
              </a:ext>
            </a:extLst>
          </p:cNvPr>
          <p:cNvSpPr/>
          <p:nvPr/>
        </p:nvSpPr>
        <p:spPr>
          <a:xfrm>
            <a:off x="768852" y="264297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1BB4A4-69E5-4532-8957-5BA295C5DA95}"/>
              </a:ext>
            </a:extLst>
          </p:cNvPr>
          <p:cNvSpPr/>
          <p:nvPr/>
        </p:nvSpPr>
        <p:spPr>
          <a:xfrm>
            <a:off x="768852" y="298716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7C9344-050C-4EDC-9B5D-C3E366B082D5}"/>
              </a:ext>
            </a:extLst>
          </p:cNvPr>
          <p:cNvSpPr/>
          <p:nvPr/>
        </p:nvSpPr>
        <p:spPr>
          <a:xfrm>
            <a:off x="768852" y="333134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/>
              <p:nvPr/>
            </p:nvSpPr>
            <p:spPr>
              <a:xfrm>
                <a:off x="768852" y="3672293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52" y="3672293"/>
                <a:ext cx="436652" cy="344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FB83EF03-F742-43CE-B993-1D42B4E84583}"/>
              </a:ext>
            </a:extLst>
          </p:cNvPr>
          <p:cNvSpPr/>
          <p:nvPr/>
        </p:nvSpPr>
        <p:spPr>
          <a:xfrm>
            <a:off x="768852" y="401909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/>
              <p:nvPr/>
            </p:nvSpPr>
            <p:spPr>
              <a:xfrm>
                <a:off x="768852" y="4363279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52" y="4363279"/>
                <a:ext cx="436652" cy="344185"/>
              </a:xfrm>
              <a:prstGeom prst="rect">
                <a:avLst/>
              </a:prstGeom>
              <a:blipFill>
                <a:blip r:embed="rId4"/>
                <a:stretch>
                  <a:fillRect l="-3896" b="-983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809063C-EB11-4F75-B176-05962AE12285}"/>
              </a:ext>
            </a:extLst>
          </p:cNvPr>
          <p:cNvCxnSpPr>
            <a:cxnSpLocks/>
            <a:stCxn id="41" idx="3"/>
            <a:endCxn id="49" idx="1"/>
          </p:cNvCxnSpPr>
          <p:nvPr/>
        </p:nvCxnSpPr>
        <p:spPr>
          <a:xfrm flipV="1">
            <a:off x="1205504" y="4191187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89049C28-CE1C-4A49-9244-EA169E1A789D}"/>
              </a:ext>
            </a:extLst>
          </p:cNvPr>
          <p:cNvSpPr/>
          <p:nvPr/>
        </p:nvSpPr>
        <p:spPr>
          <a:xfrm>
            <a:off x="3089100" y="298716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991142-BDA5-4CF3-8818-611CB28A1B92}"/>
              </a:ext>
            </a:extLst>
          </p:cNvPr>
          <p:cNvSpPr/>
          <p:nvPr/>
        </p:nvSpPr>
        <p:spPr>
          <a:xfrm>
            <a:off x="3089100" y="333134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/>
              <p:nvPr/>
            </p:nvSpPr>
            <p:spPr>
              <a:xfrm>
                <a:off x="3089100" y="3672293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100" y="3672293"/>
                <a:ext cx="436652" cy="344185"/>
              </a:xfrm>
              <a:prstGeom prst="rect">
                <a:avLst/>
              </a:prstGeom>
              <a:blipFill>
                <a:blip r:embed="rId5"/>
                <a:stretch>
                  <a:fillRect l="-10526" b="-17742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/>
              <p:nvPr/>
            </p:nvSpPr>
            <p:spPr>
              <a:xfrm>
                <a:off x="3089100" y="4019094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100" y="4019094"/>
                <a:ext cx="436652" cy="344185"/>
              </a:xfrm>
              <a:prstGeom prst="rect">
                <a:avLst/>
              </a:prstGeom>
              <a:blipFill>
                <a:blip r:embed="rId6"/>
                <a:stretch>
                  <a:fillRect l="-3947" b="-2741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23215F2-39A3-4072-BDF7-A2C8B5984817}"/>
              </a:ext>
            </a:extLst>
          </p:cNvPr>
          <p:cNvCxnSpPr>
            <a:cxnSpLocks/>
            <a:stCxn id="39" idx="3"/>
            <a:endCxn id="48" idx="1"/>
          </p:cNvCxnSpPr>
          <p:nvPr/>
        </p:nvCxnSpPr>
        <p:spPr>
          <a:xfrm>
            <a:off x="1205504" y="3844386"/>
            <a:ext cx="1883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D06EED-635A-40B2-8DE6-AE0276E11AF3}"/>
              </a:ext>
            </a:extLst>
          </p:cNvPr>
          <p:cNvCxnSpPr>
            <a:cxnSpLocks/>
            <a:stCxn id="34" idx="3"/>
            <a:endCxn id="48" idx="1"/>
          </p:cNvCxnSpPr>
          <p:nvPr/>
        </p:nvCxnSpPr>
        <p:spPr>
          <a:xfrm>
            <a:off x="1205504" y="3159257"/>
            <a:ext cx="1883596" cy="685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94CC491-E4DE-471A-9FFE-35E08C1625D5}"/>
              </a:ext>
            </a:extLst>
          </p:cNvPr>
          <p:cNvCxnSpPr>
            <a:cxnSpLocks/>
            <a:stCxn id="31" idx="3"/>
            <a:endCxn id="46" idx="1"/>
          </p:cNvCxnSpPr>
          <p:nvPr/>
        </p:nvCxnSpPr>
        <p:spPr>
          <a:xfrm>
            <a:off x="1205504" y="2815072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右 2">
            <a:extLst>
              <a:ext uri="{FF2B5EF4-FFF2-40B4-BE49-F238E27FC236}">
                <a16:creationId xmlns:a16="http://schemas.microsoft.com/office/drawing/2014/main" id="{EE9927A8-39E3-46F4-B512-47923A13361C}"/>
              </a:ext>
            </a:extLst>
          </p:cNvPr>
          <p:cNvSpPr/>
          <p:nvPr/>
        </p:nvSpPr>
        <p:spPr>
          <a:xfrm>
            <a:off x="3741510" y="2181356"/>
            <a:ext cx="3816846" cy="3109835"/>
          </a:xfrm>
          <a:prstGeom prst="rightArrow">
            <a:avLst>
              <a:gd name="adj1" fmla="val 50000"/>
              <a:gd name="adj2" fmla="val 2092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8E51BFA-3549-4B88-8DB5-3AE6FA33A885}"/>
                  </a:ext>
                </a:extLst>
              </p:cNvPr>
              <p:cNvSpPr txBox="1"/>
              <p:nvPr/>
            </p:nvSpPr>
            <p:spPr>
              <a:xfrm>
                <a:off x="3525752" y="3083050"/>
                <a:ext cx="3935003" cy="1340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8E51BFA-3549-4B88-8DB5-3AE6FA33A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752" y="3083050"/>
                <a:ext cx="3935003" cy="13408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DC483994-40EE-405D-840E-98F7AD515F70}"/>
              </a:ext>
            </a:extLst>
          </p:cNvPr>
          <p:cNvSpPr txBox="1"/>
          <p:nvPr/>
        </p:nvSpPr>
        <p:spPr>
          <a:xfrm>
            <a:off x="4872061" y="4690353"/>
            <a:ext cx="134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GRR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DB5BAC3-11CA-43E9-B1EB-69476DCC7849}"/>
              </a:ext>
            </a:extLst>
          </p:cNvPr>
          <p:cNvCxnSpPr>
            <a:cxnSpLocks/>
          </p:cNvCxnSpPr>
          <p:nvPr/>
        </p:nvCxnSpPr>
        <p:spPr>
          <a:xfrm flipV="1">
            <a:off x="8277548" y="4251837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93AE213-EB80-4E36-AFA3-66224873DA07}"/>
              </a:ext>
            </a:extLst>
          </p:cNvPr>
          <p:cNvCxnSpPr>
            <a:cxnSpLocks/>
          </p:cNvCxnSpPr>
          <p:nvPr/>
        </p:nvCxnSpPr>
        <p:spPr>
          <a:xfrm>
            <a:off x="8277548" y="3905036"/>
            <a:ext cx="1883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A7ABADEA-CDCF-41A9-8A8E-6E666817D812}"/>
              </a:ext>
            </a:extLst>
          </p:cNvPr>
          <p:cNvCxnSpPr>
            <a:cxnSpLocks/>
          </p:cNvCxnSpPr>
          <p:nvPr/>
        </p:nvCxnSpPr>
        <p:spPr>
          <a:xfrm>
            <a:off x="8277548" y="3219907"/>
            <a:ext cx="1883596" cy="685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F50D97C-A1E1-4FE9-B4A9-C4E0546B0DBF}"/>
              </a:ext>
            </a:extLst>
          </p:cNvPr>
          <p:cNvCxnSpPr>
            <a:cxnSpLocks/>
          </p:cNvCxnSpPr>
          <p:nvPr/>
        </p:nvCxnSpPr>
        <p:spPr>
          <a:xfrm>
            <a:off x="8277548" y="2875722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829C7F-0692-4C80-BDAE-1C087D7F661C}"/>
                  </a:ext>
                </a:extLst>
              </p:cNvPr>
              <p:cNvSpPr txBox="1"/>
              <p:nvPr/>
            </p:nvSpPr>
            <p:spPr>
              <a:xfrm>
                <a:off x="10408936" y="3472238"/>
                <a:ext cx="7296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829C7F-0692-4C80-BDAE-1C087D7F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936" y="3472238"/>
                <a:ext cx="729672" cy="400110"/>
              </a:xfrm>
              <a:prstGeom prst="rect">
                <a:avLst/>
              </a:prstGeom>
              <a:blipFill>
                <a:blip r:embed="rId8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左中括号 6">
            <a:extLst>
              <a:ext uri="{FF2B5EF4-FFF2-40B4-BE49-F238E27FC236}">
                <a16:creationId xmlns:a16="http://schemas.microsoft.com/office/drawing/2014/main" id="{54478368-5D60-4810-9C44-CBF0875D9391}"/>
              </a:ext>
            </a:extLst>
          </p:cNvPr>
          <p:cNvSpPr/>
          <p:nvPr/>
        </p:nvSpPr>
        <p:spPr>
          <a:xfrm>
            <a:off x="7920524" y="2642979"/>
            <a:ext cx="385281" cy="2237246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左中括号 31">
            <a:extLst>
              <a:ext uri="{FF2B5EF4-FFF2-40B4-BE49-F238E27FC236}">
                <a16:creationId xmlns:a16="http://schemas.microsoft.com/office/drawing/2014/main" id="{9916FDBD-3360-476E-AD37-B5ECF94C4086}"/>
              </a:ext>
            </a:extLst>
          </p:cNvPr>
          <p:cNvSpPr/>
          <p:nvPr/>
        </p:nvSpPr>
        <p:spPr>
          <a:xfrm rot="10800000">
            <a:off x="11138608" y="2634867"/>
            <a:ext cx="385281" cy="2237246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049D11A-6C88-4AF2-ADD5-BF7BF010313A}"/>
                  </a:ext>
                </a:extLst>
              </p:cNvPr>
              <p:cNvSpPr txBox="1"/>
              <p:nvPr/>
            </p:nvSpPr>
            <p:spPr>
              <a:xfrm>
                <a:off x="8500784" y="4813631"/>
                <a:ext cx="14653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Local Hashing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049D11A-6C88-4AF2-ADD5-BF7BF0103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84" y="4813631"/>
                <a:ext cx="1465381" cy="707886"/>
              </a:xfrm>
              <a:prstGeom prst="rect">
                <a:avLst/>
              </a:prstGeom>
              <a:blipFill>
                <a:blip r:embed="rId9"/>
                <a:stretch>
                  <a:fillRect l="-1245" t="-4310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2AC7A55-7B7B-4A38-B950-CF798982453B}"/>
                  </a:ext>
                </a:extLst>
              </p:cNvPr>
              <p:cNvSpPr txBox="1"/>
              <p:nvPr/>
            </p:nvSpPr>
            <p:spPr>
              <a:xfrm>
                <a:off x="9966165" y="4813631"/>
                <a:ext cx="14653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Perturbed result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2AC7A55-7B7B-4A38-B950-CF7989824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65" y="4813631"/>
                <a:ext cx="1465381" cy="707886"/>
              </a:xfrm>
              <a:prstGeom prst="rect">
                <a:avLst/>
              </a:prstGeom>
              <a:blipFill>
                <a:blip r:embed="rId10"/>
                <a:stretch>
                  <a:fillRect t="-4310" r="-2917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200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491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Local Hashing (OLH)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𝑠𝑢𝑝𝑝𝑜𝑟𝑡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(&lt;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&gt;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491499"/>
              </a:xfrm>
              <a:prstGeom prst="rect">
                <a:avLst/>
              </a:prstGeom>
              <a:blipFill>
                <a:blip r:embed="rId2"/>
                <a:stretch>
                  <a:fillRect l="-811" t="-2869" b="-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7B407A4C-88F2-4E3F-A76F-08A888182A16}"/>
              </a:ext>
            </a:extLst>
          </p:cNvPr>
          <p:cNvSpPr/>
          <p:nvPr/>
        </p:nvSpPr>
        <p:spPr>
          <a:xfrm>
            <a:off x="902416" y="296671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D1BB4A4-69E5-4532-8957-5BA295C5DA95}"/>
              </a:ext>
            </a:extLst>
          </p:cNvPr>
          <p:cNvSpPr/>
          <p:nvPr/>
        </p:nvSpPr>
        <p:spPr>
          <a:xfrm>
            <a:off x="902416" y="33109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97C9344-050C-4EDC-9B5D-C3E366B082D5}"/>
              </a:ext>
            </a:extLst>
          </p:cNvPr>
          <p:cNvSpPr/>
          <p:nvPr/>
        </p:nvSpPr>
        <p:spPr>
          <a:xfrm>
            <a:off x="902416" y="365508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/>
              <p:nvPr/>
            </p:nvSpPr>
            <p:spPr>
              <a:xfrm>
                <a:off x="902416" y="3996030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26BDDE44-C1CF-4CBF-9B64-4BF413B91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16" y="3996030"/>
                <a:ext cx="436652" cy="344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 39">
            <a:extLst>
              <a:ext uri="{FF2B5EF4-FFF2-40B4-BE49-F238E27FC236}">
                <a16:creationId xmlns:a16="http://schemas.microsoft.com/office/drawing/2014/main" id="{FB83EF03-F742-43CE-B993-1D42B4E84583}"/>
              </a:ext>
            </a:extLst>
          </p:cNvPr>
          <p:cNvSpPr/>
          <p:nvPr/>
        </p:nvSpPr>
        <p:spPr>
          <a:xfrm>
            <a:off x="902416" y="434283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/>
              <p:nvPr/>
            </p:nvSpPr>
            <p:spPr>
              <a:xfrm>
                <a:off x="902416" y="4687016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9F697858-2A91-471C-AB6C-7D005F9D81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16" y="4687016"/>
                <a:ext cx="436652" cy="344185"/>
              </a:xfrm>
              <a:prstGeom prst="rect">
                <a:avLst/>
              </a:prstGeom>
              <a:blipFill>
                <a:blip r:embed="rId4"/>
                <a:stretch>
                  <a:fillRect l="-3896" b="-9836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6809063C-EB11-4F75-B176-05962AE12285}"/>
              </a:ext>
            </a:extLst>
          </p:cNvPr>
          <p:cNvCxnSpPr>
            <a:cxnSpLocks/>
            <a:stCxn id="41" idx="3"/>
            <a:endCxn id="49" idx="1"/>
          </p:cNvCxnSpPr>
          <p:nvPr/>
        </p:nvCxnSpPr>
        <p:spPr>
          <a:xfrm flipV="1">
            <a:off x="1339068" y="4514924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89049C28-CE1C-4A49-9244-EA169E1A789D}"/>
              </a:ext>
            </a:extLst>
          </p:cNvPr>
          <p:cNvSpPr/>
          <p:nvPr/>
        </p:nvSpPr>
        <p:spPr>
          <a:xfrm>
            <a:off x="3222664" y="33109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7991142-BDA5-4CF3-8818-611CB28A1B92}"/>
              </a:ext>
            </a:extLst>
          </p:cNvPr>
          <p:cNvSpPr/>
          <p:nvPr/>
        </p:nvSpPr>
        <p:spPr>
          <a:xfrm>
            <a:off x="3222664" y="365508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/>
              <p:nvPr/>
            </p:nvSpPr>
            <p:spPr>
              <a:xfrm>
                <a:off x="3222664" y="3996030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535D55B8-E4DD-4E16-891D-B4156BA0E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64" y="3996030"/>
                <a:ext cx="436652" cy="344185"/>
              </a:xfrm>
              <a:prstGeom prst="rect">
                <a:avLst/>
              </a:prstGeom>
              <a:blipFill>
                <a:blip r:embed="rId5"/>
                <a:stretch>
                  <a:fillRect l="-10526" b="-180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/>
              <p:nvPr/>
            </p:nvSpPr>
            <p:spPr>
              <a:xfrm>
                <a:off x="3222664" y="4342831"/>
                <a:ext cx="436652" cy="34418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4412CDB-846E-4070-B97B-7735C781F4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664" y="4342831"/>
                <a:ext cx="436652" cy="344185"/>
              </a:xfrm>
              <a:prstGeom prst="rect">
                <a:avLst/>
              </a:prstGeom>
              <a:blipFill>
                <a:blip r:embed="rId6"/>
                <a:stretch>
                  <a:fillRect l="-2632" b="-2741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23215F2-39A3-4072-BDF7-A2C8B5984817}"/>
              </a:ext>
            </a:extLst>
          </p:cNvPr>
          <p:cNvCxnSpPr>
            <a:cxnSpLocks/>
            <a:stCxn id="39" idx="3"/>
            <a:endCxn id="48" idx="1"/>
          </p:cNvCxnSpPr>
          <p:nvPr/>
        </p:nvCxnSpPr>
        <p:spPr>
          <a:xfrm>
            <a:off x="1339068" y="4168123"/>
            <a:ext cx="188359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2D06EED-635A-40B2-8DE6-AE0276E11AF3}"/>
              </a:ext>
            </a:extLst>
          </p:cNvPr>
          <p:cNvCxnSpPr>
            <a:cxnSpLocks/>
            <a:stCxn id="34" idx="3"/>
            <a:endCxn id="48" idx="1"/>
          </p:cNvCxnSpPr>
          <p:nvPr/>
        </p:nvCxnSpPr>
        <p:spPr>
          <a:xfrm>
            <a:off x="1339068" y="3482994"/>
            <a:ext cx="1883596" cy="685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B94CC491-E4DE-471A-9FFE-35E08C1625D5}"/>
              </a:ext>
            </a:extLst>
          </p:cNvPr>
          <p:cNvCxnSpPr>
            <a:cxnSpLocks/>
            <a:stCxn id="31" idx="3"/>
            <a:endCxn id="46" idx="1"/>
          </p:cNvCxnSpPr>
          <p:nvPr/>
        </p:nvCxnSpPr>
        <p:spPr>
          <a:xfrm>
            <a:off x="1339068" y="3138809"/>
            <a:ext cx="1883596" cy="3441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6A92B7-6AEF-4245-9829-F5DEDC7B1EF1}"/>
                  </a:ext>
                </a:extLst>
              </p:cNvPr>
              <p:cNvSpPr txBox="1"/>
              <p:nvPr/>
            </p:nvSpPr>
            <p:spPr>
              <a:xfrm>
                <a:off x="3761398" y="3825558"/>
                <a:ext cx="376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𝑠𝑢𝑝𝑝𝑜𝑟𝑡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&lt;</m:t>
                          </m:r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&gt;</m:t>
                          </m:r>
                        </m:e>
                      </m:d>
                      <m:r>
                        <a:rPr lang="en-US" altLang="zh-CN" sz="18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𝑖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e>
                      </m:d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altLang="zh-CN" sz="18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6A92B7-6AEF-4245-9829-F5DEDC7B1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398" y="3825558"/>
                <a:ext cx="3769560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E6D6A35-BFA7-4521-9DAB-D4025BE88E0C}"/>
                  </a:ext>
                </a:extLst>
              </p:cNvPr>
              <p:cNvSpPr txBox="1"/>
              <p:nvPr/>
            </p:nvSpPr>
            <p:spPr>
              <a:xfrm>
                <a:off x="1548175" y="5031201"/>
                <a:ext cx="14653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Local Hashing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</m:oMath>
                </a14:m>
                <a:endParaRPr lang="zh-CN" alt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E6D6A35-BFA7-4521-9DAB-D4025BE88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175" y="5031201"/>
                <a:ext cx="1465381" cy="707886"/>
              </a:xfrm>
              <a:prstGeom prst="rect">
                <a:avLst/>
              </a:prstGeom>
              <a:blipFill>
                <a:blip r:embed="rId8"/>
                <a:stretch>
                  <a:fillRect l="-1250" t="-3448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503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39038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Local Hashing (OLH)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zh-CN" altLang="en-US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𝐼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𝑠𝑢𝑝𝑝𝑜𝑟𝑡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(&lt;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&gt;</m:t>
                            </m:r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𝑆𝑢𝑝𝑝𝑜𝑟𝑡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2400" b="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∀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𝑆𝑢𝑝𝑝𝑜𝑟𝑡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3903826"/>
              </a:xfrm>
              <a:prstGeom prst="rect">
                <a:avLst/>
              </a:prstGeom>
              <a:blipFill>
                <a:blip r:embed="rId2"/>
                <a:stretch>
                  <a:fillRect l="-811" t="-1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914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Local Hashing (OLH)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to choose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 We want to minimize the variance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blipFill>
                <a:blip r:embed="rId2"/>
                <a:stretch>
                  <a:fillRect l="-811" t="-3571" b="-1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/>
              <p:nvPr/>
            </p:nvSpPr>
            <p:spPr>
              <a:xfrm>
                <a:off x="658829" y="2618617"/>
                <a:ext cx="11015429" cy="895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𝑝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𝑛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29" y="2618617"/>
                <a:ext cx="11015429" cy="8956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946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Local Hashing (OLH)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How to choose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𝒈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 We want to minimize the variance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blipFill>
                <a:blip r:embed="rId2"/>
                <a:stretch>
                  <a:fillRect l="-811" t="-3571" b="-1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/>
              <p:nvPr/>
            </p:nvSpPr>
            <p:spPr>
              <a:xfrm>
                <a:off x="658830" y="2618617"/>
                <a:ext cx="11015429" cy="3096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−1+</m:t>
                                          </m:r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×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dk1"/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𝜖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sz="2400" i="1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𝑔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+1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Plugging this into variance:</a:t>
                </a:r>
                <a:r>
                  <a:rPr lang="en-US" altLang="zh-CN" sz="2400" b="0" dirty="0">
                    <a:solidFill>
                      <a:schemeClr val="dk1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𝜖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𝜖</m:t>
                                    </m:r>
                                  </m:sup>
                                </m:sSup>
                                <m:r>
                                  <a:rPr lang="en-US" altLang="zh-CN" sz="24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30" y="2618617"/>
                <a:ext cx="11015429" cy="3096745"/>
              </a:xfrm>
              <a:prstGeom prst="rect">
                <a:avLst/>
              </a:prstGeom>
              <a:blipFill>
                <a:blip r:embed="rId3"/>
                <a:stretch>
                  <a:fillRect l="-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1566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Optimal Local Hashing (OLH)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Communication Cost: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func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268639" cy="1200329"/>
              </a:xfrm>
              <a:prstGeom prst="rect">
                <a:avLst/>
              </a:prstGeom>
              <a:blipFill>
                <a:blip r:embed="rId2"/>
                <a:stretch>
                  <a:fillRect l="-811" t="-3571" b="-117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/>
              <p:nvPr/>
            </p:nvSpPr>
            <p:spPr>
              <a:xfrm>
                <a:off x="658830" y="2618617"/>
                <a:ext cx="11015429" cy="19984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Each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users needs a different local hash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</a:p>
              <a:p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hash functions</a:t>
                </a:r>
              </a:p>
              <a:p>
                <a:endParaRPr lang="en-US" altLang="zh-CN" sz="2400" b="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represent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we need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func>
                      <m:func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31B504-695D-4199-B26A-01ACA3EFD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30" y="2618617"/>
                <a:ext cx="11015429" cy="1998496"/>
              </a:xfrm>
              <a:prstGeom prst="rect">
                <a:avLst/>
              </a:prstGeom>
              <a:blipFill>
                <a:blip r:embed="rId3"/>
                <a:stretch>
                  <a:fillRect l="-830" t="-2446" b="-4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6622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1268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one to use?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6CCCEDC8-440C-4D8D-B85F-56F5C4A98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6582439"/>
                  </p:ext>
                </p:extLst>
              </p:nvPr>
            </p:nvGraphicFramePr>
            <p:xfrm>
              <a:off x="1472058" y="2183733"/>
              <a:ext cx="8128000" cy="1400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4848575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7390418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59162945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124370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GRR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OUE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OLH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619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Variance</a:t>
                          </a:r>
                          <a:endParaRPr lang="zh-CN" alt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f>
                                  <m:fPr>
                                    <m:ctrlPr>
                                      <a:rPr lang="en-US" altLang="zh-C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  <m:r>
                                      <a:rPr lang="en-US" altLang="zh-CN" sz="18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−2+</m:t>
                                    </m:r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18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180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180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𝜖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altLang="zh-CN" sz="180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18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f>
                                  <m:fPr>
                                    <m:ctrlP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𝜖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altLang="zh-C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  <m:f>
                                  <m:fPr>
                                    <m:ctrlP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  <m:sSup>
                                      <m:sSupPr>
                                        <m:ctrlP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𝜖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zh-CN" sz="1800" b="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𝜖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altLang="zh-C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C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43434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Communication</a:t>
                          </a:r>
                          <a:endParaRPr lang="zh-CN" alt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i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𝑑</m:t>
                                    </m:r>
                                  </m:e>
                                </m:func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𝑂</m:t>
                                </m:r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i="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1299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3">
                <a:extLst>
                  <a:ext uri="{FF2B5EF4-FFF2-40B4-BE49-F238E27FC236}">
                    <a16:creationId xmlns:a16="http://schemas.microsoft.com/office/drawing/2014/main" id="{6CCCEDC8-440C-4D8D-B85F-56F5C4A988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6582439"/>
                  </p:ext>
                </p:extLst>
              </p:nvPr>
            </p:nvGraphicFramePr>
            <p:xfrm>
              <a:off x="1472058" y="2183733"/>
              <a:ext cx="8128000" cy="1400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48485756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73904184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59162945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4124370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GRR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OUE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OLH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29619839"/>
                      </a:ext>
                    </a:extLst>
                  </a:tr>
                  <a:tr h="6583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Variance</a:t>
                          </a:r>
                          <a:endParaRPr lang="zh-CN" alt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61111" r="-201502" b="-7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61111" r="-100898" b="-7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61111" r="-1201" b="-70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34342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Communication</a:t>
                          </a:r>
                          <a:endParaRPr lang="zh-CN" alt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01" t="-285246" r="-20150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000" t="-285246" r="-100898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01" t="-285246" r="-1201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1299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F7AC1F-5401-4D83-A116-3CC3A49BE5DE}"/>
                  </a:ext>
                </a:extLst>
              </p:cNvPr>
              <p:cNvSpPr txBox="1"/>
              <p:nvPr/>
            </p:nvSpPr>
            <p:spPr>
              <a:xfrm>
                <a:off x="678094" y="4150760"/>
                <a:ext cx="1054642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&lt;3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𝜖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+2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GRR is better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large, and communication cost is acceptable, choose OUE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large, and communication cost is unacceptable, choose OLH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DF7AC1F-5401-4D83-A116-3CC3A49B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94" y="4150760"/>
                <a:ext cx="10546423" cy="1200329"/>
              </a:xfrm>
              <a:prstGeom prst="rect">
                <a:avLst/>
              </a:prstGeom>
              <a:blipFill>
                <a:blip r:embed="rId3"/>
                <a:stretch>
                  <a:fillRect l="-751" t="-3553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8328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01D9D2-23ED-4D28-87B0-F995F3682864}"/>
              </a:ext>
            </a:extLst>
          </p:cNvPr>
          <p:cNvSpPr txBox="1"/>
          <p:nvPr/>
        </p:nvSpPr>
        <p:spPr>
          <a:xfrm>
            <a:off x="791110" y="440077"/>
            <a:ext cx="9529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DD35AD-90AC-4929-BA69-549EFA36A25F}"/>
              </a:ext>
            </a:extLst>
          </p:cNvPr>
          <p:cNvSpPr txBox="1"/>
          <p:nvPr/>
        </p:nvSpPr>
        <p:spPr>
          <a:xfrm>
            <a:off x="868166" y="1443519"/>
            <a:ext cx="9529281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</a:p>
        </p:txBody>
      </p:sp>
    </p:spTree>
    <p:extLst>
      <p:ext uri="{BB962C8B-B14F-4D97-AF65-F5344CB8AC3E}">
        <p14:creationId xmlns:p14="http://schemas.microsoft.com/office/powerpoint/2010/main" val="31294781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17553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Problem Definition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users and one server, each user possesses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∈[−1,1]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The server wants to estimate the mean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1755352"/>
              </a:xfrm>
              <a:prstGeom prst="rect">
                <a:avLst/>
              </a:prstGeom>
              <a:blipFill>
                <a:blip r:embed="rId2"/>
                <a:stretch>
                  <a:fillRect l="-910" t="-2431" b="-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/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blipFill>
                <a:blip r:embed="rId3"/>
                <a:stretch>
                  <a:fillRect l="-4310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/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blipFill>
                <a:blip r:embed="rId4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/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blipFill>
                <a:blip r:embed="rId5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/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blipFill>
                <a:blip r:embed="rId6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5BC7F9E8-4D1F-4DE4-ABE4-E2AE11CB491C}"/>
              </a:ext>
            </a:extLst>
          </p:cNvPr>
          <p:cNvSpPr/>
          <p:nvPr/>
        </p:nvSpPr>
        <p:spPr>
          <a:xfrm>
            <a:off x="3225410" y="3497515"/>
            <a:ext cx="2029146" cy="28522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LDP Randomizer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C7852A4-7820-459C-952E-0D3CEB17AD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732926" y="3847336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5A54AEF-DC18-4CA9-BA64-5B9CBC74C66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40457" y="4503169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166700-22EA-4D35-857A-D2D8A1725D7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640458" y="5218896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38C2E6-D299-4518-B74C-D2F3A27828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640458" y="593462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/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blipFill>
                <a:blip r:embed="rId7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/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blipFill>
                <a:blip r:embed="rId8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/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blipFill>
                <a:blip r:embed="rId9"/>
                <a:stretch>
                  <a:fillRect l="-728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/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blipFill>
                <a:blip r:embed="rId10"/>
                <a:stretch>
                  <a:fillRect l="-744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8E370D77-7DA3-4B62-9D82-798CF162B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412" y="4199699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A3AD99D-AE22-4599-9A49-967A2AA51D1C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7145680" y="3846030"/>
            <a:ext cx="602732" cy="1049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B2CB7C6-DE51-4F7E-A697-F8AC7B381923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7145677" y="4523896"/>
            <a:ext cx="602735" cy="3711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96D6530-B8C5-4C54-BFA4-A7FEBC3CDEA4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 flipV="1">
            <a:off x="7048074" y="4895062"/>
            <a:ext cx="700338" cy="335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12B7074-D159-416A-ADAC-38C098E5DF11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7058348" y="4895062"/>
            <a:ext cx="690064" cy="10431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01092A51-7EA9-4E02-9D0A-99CE162BD64E}"/>
              </a:ext>
            </a:extLst>
          </p:cNvPr>
          <p:cNvSpPr txBox="1"/>
          <p:nvPr/>
        </p:nvSpPr>
        <p:spPr>
          <a:xfrm>
            <a:off x="7646690" y="5449392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2F326C5B-8986-4AE4-BADF-3BFEC03422BB}"/>
              </a:ext>
            </a:extLst>
          </p:cNvPr>
          <p:cNvSpPr/>
          <p:nvPr/>
        </p:nvSpPr>
        <p:spPr>
          <a:xfrm>
            <a:off x="9120581" y="4626558"/>
            <a:ext cx="815080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42D4DA2-F24B-47E2-8F2B-D0AFC518CB0A}"/>
              </a:ext>
            </a:extLst>
          </p:cNvPr>
          <p:cNvCxnSpPr>
            <a:cxnSpLocks/>
          </p:cNvCxnSpPr>
          <p:nvPr/>
        </p:nvCxnSpPr>
        <p:spPr>
          <a:xfrm>
            <a:off x="5140504" y="3846029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DE5B01E-211D-470A-9A88-1043E6DD8D17}"/>
              </a:ext>
            </a:extLst>
          </p:cNvPr>
          <p:cNvCxnSpPr>
            <a:cxnSpLocks/>
          </p:cNvCxnSpPr>
          <p:nvPr/>
        </p:nvCxnSpPr>
        <p:spPr>
          <a:xfrm>
            <a:off x="5237967" y="4516472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1C4C939-FB02-4398-88A5-89AC80ED284F}"/>
              </a:ext>
            </a:extLst>
          </p:cNvPr>
          <p:cNvCxnSpPr>
            <a:cxnSpLocks/>
          </p:cNvCxnSpPr>
          <p:nvPr/>
        </p:nvCxnSpPr>
        <p:spPr>
          <a:xfrm flipV="1">
            <a:off x="5269388" y="5227579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BE96C2A-384C-40FA-AE5B-6AE10793C9E8}"/>
              </a:ext>
            </a:extLst>
          </p:cNvPr>
          <p:cNvCxnSpPr>
            <a:cxnSpLocks/>
          </p:cNvCxnSpPr>
          <p:nvPr/>
        </p:nvCxnSpPr>
        <p:spPr>
          <a:xfrm flipV="1">
            <a:off x="5129972" y="592397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E041B-200D-4C77-8D6F-42338ACD109C}"/>
                  </a:ext>
                </a:extLst>
              </p:cNvPr>
              <p:cNvSpPr txBox="1"/>
              <p:nvPr/>
            </p:nvSpPr>
            <p:spPr>
              <a:xfrm>
                <a:off x="9935661" y="4790275"/>
                <a:ext cx="9389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E041B-200D-4C77-8D6F-42338ACD1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661" y="4790275"/>
                <a:ext cx="938965" cy="369332"/>
              </a:xfrm>
              <a:prstGeom prst="rect">
                <a:avLst/>
              </a:prstGeom>
              <a:blipFill>
                <a:blip r:embed="rId1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3889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3951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Perturbation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)(1+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)(1−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3951723"/>
              </a:xfrm>
              <a:prstGeom prst="rect">
                <a:avLst/>
              </a:prstGeom>
              <a:blipFill>
                <a:blip r:embed="rId2"/>
                <a:stretch>
                  <a:fillRect l="-910" t="-1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9337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4337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</a:t>
                </a:r>
              </a:p>
              <a:p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observe</a:t>
                </a:r>
                <a:endParaRPr lang="en-US" altLang="zh-CN" sz="2400" b="0" i="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=1×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1+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×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4337341"/>
              </a:xfrm>
              <a:prstGeom prst="rect">
                <a:avLst/>
              </a:prstGeom>
              <a:blipFill>
                <a:blip r:embed="rId2"/>
                <a:stretch>
                  <a:fillRect l="-820" t="-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3783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3130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Aggregation</a:t>
                </a:r>
              </a:p>
              <a:p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𝜇</m:t>
                      </m:r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3130216"/>
              </a:xfrm>
              <a:prstGeom prst="rect">
                <a:avLst/>
              </a:prstGeom>
              <a:blipFill>
                <a:blip r:embed="rId2"/>
                <a:stretch>
                  <a:fillRect l="-820" t="-1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746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2760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 Analysis</a:t>
                </a:r>
                <a:endParaRPr lang="en-US" altLang="zh-CN" sz="2400" b="1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2760884"/>
              </a:xfrm>
              <a:prstGeom prst="rect">
                <a:avLst/>
              </a:prstGeom>
              <a:blipFill>
                <a:blip r:embed="rId2"/>
                <a:stretch>
                  <a:fillRect l="-820" t="-15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9522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5164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 Analysis</a:t>
                </a:r>
                <a:endParaRPr lang="en-US" altLang="zh-CN" sz="2400" b="1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24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)(1+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)(1−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5164362"/>
              </a:xfrm>
              <a:prstGeom prst="rect">
                <a:avLst/>
              </a:prstGeom>
              <a:blipFill>
                <a:blip r:embed="rId2"/>
                <a:stretch>
                  <a:fillRect l="-820" t="-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7162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3916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 Analysis</a:t>
                </a:r>
                <a:endParaRPr lang="en-US" altLang="zh-CN" sz="2400" b="1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24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3916393"/>
              </a:xfrm>
              <a:prstGeom prst="rect">
                <a:avLst/>
              </a:prstGeom>
              <a:blipFill>
                <a:blip r:embed="rId2"/>
                <a:stretch>
                  <a:fillRect l="-820" t="-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3034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3995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 Analysis</a:t>
                </a:r>
                <a:endParaRPr lang="en-US" altLang="zh-CN" sz="2400" b="1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  <m:r>
                        <a:rPr lang="en-US" altLang="zh-CN" sz="24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3995902"/>
              </a:xfrm>
              <a:prstGeom prst="rect">
                <a:avLst/>
              </a:prstGeom>
              <a:blipFill>
                <a:blip r:embed="rId2"/>
                <a:stretch>
                  <a:fillRect l="-820" t="-1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37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1148165" cy="4734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Stochastic Rounding (SR) Mechanism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i="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Variance Analysis</a:t>
                </a:r>
                <a:endParaRPr lang="en-US" altLang="zh-CN" sz="2400" b="1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altLang="zh-CN" sz="2400" b="0" i="0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  <m:r>
                        <a:rPr lang="en-US" altLang="zh-CN" sz="2400" b="0" i="0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𝑉𝑎𝑟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i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error is minimal when all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1 or -1</a:t>
                </a:r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1148165" cy="4734566"/>
              </a:xfrm>
              <a:prstGeom prst="rect">
                <a:avLst/>
              </a:prstGeom>
              <a:blipFill>
                <a:blip r:embed="rId2"/>
                <a:stretch>
                  <a:fillRect l="-820" t="-902" b="-2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1716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01D9D2-23ED-4D28-87B0-F995F3682864}"/>
              </a:ext>
            </a:extLst>
          </p:cNvPr>
          <p:cNvSpPr txBox="1"/>
          <p:nvPr/>
        </p:nvSpPr>
        <p:spPr>
          <a:xfrm>
            <a:off x="791110" y="440077"/>
            <a:ext cx="9529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DD35AD-90AC-4929-BA69-549EFA36A25F}"/>
              </a:ext>
            </a:extLst>
          </p:cNvPr>
          <p:cNvSpPr txBox="1"/>
          <p:nvPr/>
        </p:nvSpPr>
        <p:spPr>
          <a:xfrm>
            <a:off x="868166" y="1443519"/>
            <a:ext cx="9529281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</a:p>
        </p:txBody>
      </p:sp>
    </p:spTree>
    <p:extLst>
      <p:ext uri="{BB962C8B-B14F-4D97-AF65-F5344CB8AC3E}">
        <p14:creationId xmlns:p14="http://schemas.microsoft.com/office/powerpoint/2010/main" val="9741572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Problem Definition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users and one server, each user possesses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∈[0,1]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The server wants to estimate the data distribution.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1569660"/>
              </a:xfrm>
              <a:prstGeom prst="rect">
                <a:avLst/>
              </a:prstGeom>
              <a:blipFill>
                <a:blip r:embed="rId2"/>
                <a:stretch>
                  <a:fillRect l="-910" t="-2724" b="-8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/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0349E6-9F34-4828-A5FF-E34C5568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3616503"/>
                <a:ext cx="2121614" cy="461665"/>
              </a:xfrm>
              <a:prstGeom prst="rect">
                <a:avLst/>
              </a:prstGeom>
              <a:blipFill>
                <a:blip r:embed="rId3"/>
                <a:stretch>
                  <a:fillRect l="-4310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/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913586A-4C60-4855-A9F4-04BF7EC6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1" y="4272336"/>
                <a:ext cx="2029146" cy="461665"/>
              </a:xfrm>
              <a:prstGeom prst="rect">
                <a:avLst/>
              </a:prstGeom>
              <a:blipFill>
                <a:blip r:embed="rId4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/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2791397-A3B7-40C3-B935-0A473C11F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4991527"/>
                <a:ext cx="2029146" cy="461665"/>
              </a:xfrm>
              <a:prstGeom prst="rect">
                <a:avLst/>
              </a:prstGeom>
              <a:blipFill>
                <a:blip r:embed="rId5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/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</m:t>
                    </m:r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AD0F039-AA16-4C55-AB6F-08681BA02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12" y="5714441"/>
                <a:ext cx="2029146" cy="461665"/>
              </a:xfrm>
              <a:prstGeom prst="rect">
                <a:avLst/>
              </a:prstGeom>
              <a:blipFill>
                <a:blip r:embed="rId6"/>
                <a:stretch>
                  <a:fillRect l="-4505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5BC7F9E8-4D1F-4DE4-ABE4-E2AE11CB491C}"/>
              </a:ext>
            </a:extLst>
          </p:cNvPr>
          <p:cNvSpPr/>
          <p:nvPr/>
        </p:nvSpPr>
        <p:spPr>
          <a:xfrm>
            <a:off x="3225410" y="3497515"/>
            <a:ext cx="2029146" cy="28522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LDP Randomizer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C7852A4-7820-459C-952E-0D3CEB17AD7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732926" y="3847336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5A54AEF-DC18-4CA9-BA64-5B9CBC74C66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40457" y="4503169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0166700-22EA-4D35-857A-D2D8A1725D7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640458" y="5218896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38C2E6-D299-4518-B74C-D2F3A2782804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640458" y="593462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/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John: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6AC9163E-8962-42DA-BE1E-B5023CE60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6" y="3615197"/>
                <a:ext cx="1352764" cy="461665"/>
              </a:xfrm>
              <a:prstGeom prst="rect">
                <a:avLst/>
              </a:prstGeom>
              <a:blipFill>
                <a:blip r:embed="rId7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/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4F87B9A-AB37-41D7-A904-4BDF41EE5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4293063"/>
                <a:ext cx="1352764" cy="461665"/>
              </a:xfrm>
              <a:prstGeom prst="rect">
                <a:avLst/>
              </a:prstGeom>
              <a:blipFill>
                <a:blip r:embed="rId8"/>
                <a:stretch>
                  <a:fillRect l="-6757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/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395D6FB-5297-4414-BE1B-89694B448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13" y="5000210"/>
                <a:ext cx="1255161" cy="461665"/>
              </a:xfrm>
              <a:prstGeom prst="rect">
                <a:avLst/>
              </a:prstGeom>
              <a:blipFill>
                <a:blip r:embed="rId9"/>
                <a:stretch>
                  <a:fillRect l="-728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/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Jack: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397FE9A-F3B7-4001-B00D-A6B3C08B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679" y="5707357"/>
                <a:ext cx="1311669" cy="461665"/>
              </a:xfrm>
              <a:prstGeom prst="rect">
                <a:avLst/>
              </a:prstGeom>
              <a:blipFill>
                <a:blip r:embed="rId10"/>
                <a:stretch>
                  <a:fillRect l="-7442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" descr="Server PNG Images, Server Icon Free Download - Free Transparent PNG Logos">
            <a:extLst>
              <a:ext uri="{FF2B5EF4-FFF2-40B4-BE49-F238E27FC236}">
                <a16:creationId xmlns:a16="http://schemas.microsoft.com/office/drawing/2014/main" id="{8E370D77-7DA3-4B62-9D82-798CF162B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412" y="4199699"/>
            <a:ext cx="1390725" cy="13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2A3AD99D-AE22-4599-9A49-967A2AA51D1C}"/>
              </a:ext>
            </a:extLst>
          </p:cNvPr>
          <p:cNvCxnSpPr>
            <a:cxnSpLocks/>
            <a:stCxn id="40" idx="3"/>
            <a:endCxn id="44" idx="1"/>
          </p:cNvCxnSpPr>
          <p:nvPr/>
        </p:nvCxnSpPr>
        <p:spPr>
          <a:xfrm>
            <a:off x="7145680" y="3846030"/>
            <a:ext cx="602732" cy="10490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B2CB7C6-DE51-4F7E-A697-F8AC7B381923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7145677" y="4523896"/>
            <a:ext cx="602735" cy="3711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96D6530-B8C5-4C54-BFA4-A7FEBC3CDEA4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 flipV="1">
            <a:off x="7048074" y="4895062"/>
            <a:ext cx="700338" cy="3359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12B7074-D159-416A-ADAC-38C098E5DF11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7058348" y="4895062"/>
            <a:ext cx="690064" cy="10431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01092A51-7EA9-4E02-9D0A-99CE162BD64E}"/>
              </a:ext>
            </a:extLst>
          </p:cNvPr>
          <p:cNvSpPr txBox="1"/>
          <p:nvPr/>
        </p:nvSpPr>
        <p:spPr>
          <a:xfrm>
            <a:off x="7646690" y="5449392"/>
            <a:ext cx="1602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Untrusted Server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箭头: 右 65">
            <a:extLst>
              <a:ext uri="{FF2B5EF4-FFF2-40B4-BE49-F238E27FC236}">
                <a16:creationId xmlns:a16="http://schemas.microsoft.com/office/drawing/2014/main" id="{2F326C5B-8986-4AE4-BADF-3BFEC03422BB}"/>
              </a:ext>
            </a:extLst>
          </p:cNvPr>
          <p:cNvSpPr/>
          <p:nvPr/>
        </p:nvSpPr>
        <p:spPr>
          <a:xfrm>
            <a:off x="9120581" y="4626558"/>
            <a:ext cx="815080" cy="6967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42D4DA2-F24B-47E2-8F2B-D0AFC518CB0A}"/>
              </a:ext>
            </a:extLst>
          </p:cNvPr>
          <p:cNvCxnSpPr>
            <a:cxnSpLocks/>
          </p:cNvCxnSpPr>
          <p:nvPr/>
        </p:nvCxnSpPr>
        <p:spPr>
          <a:xfrm>
            <a:off x="5140504" y="3846029"/>
            <a:ext cx="5662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DE5B01E-211D-470A-9A88-1043E6DD8D17}"/>
              </a:ext>
            </a:extLst>
          </p:cNvPr>
          <p:cNvCxnSpPr>
            <a:cxnSpLocks/>
          </p:cNvCxnSpPr>
          <p:nvPr/>
        </p:nvCxnSpPr>
        <p:spPr>
          <a:xfrm>
            <a:off x="5237967" y="4516472"/>
            <a:ext cx="587340" cy="3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C1C4C939-FB02-4398-88A5-89AC80ED284F}"/>
              </a:ext>
            </a:extLst>
          </p:cNvPr>
          <p:cNvCxnSpPr>
            <a:cxnSpLocks/>
          </p:cNvCxnSpPr>
          <p:nvPr/>
        </p:nvCxnSpPr>
        <p:spPr>
          <a:xfrm flipV="1">
            <a:off x="5269388" y="5227579"/>
            <a:ext cx="587339" cy="3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BE96C2A-384C-40FA-AE5B-6AE10793C9E8}"/>
              </a:ext>
            </a:extLst>
          </p:cNvPr>
          <p:cNvCxnSpPr>
            <a:cxnSpLocks/>
          </p:cNvCxnSpPr>
          <p:nvPr/>
        </p:nvCxnSpPr>
        <p:spPr>
          <a:xfrm flipV="1">
            <a:off x="5129972" y="5923974"/>
            <a:ext cx="587339" cy="10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4389B318-84D3-480B-88DF-036178FF968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3589" t="9416" r="4277" b="7148"/>
          <a:stretch/>
        </p:blipFill>
        <p:spPr>
          <a:xfrm>
            <a:off x="10009419" y="4176531"/>
            <a:ext cx="1824997" cy="11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715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with frequency estimation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ED58039-5834-4EDF-8C20-EB65F04D83C6}"/>
              </a:ext>
            </a:extLst>
          </p:cNvPr>
          <p:cNvSpPr/>
          <p:nvPr/>
        </p:nvSpPr>
        <p:spPr>
          <a:xfrm>
            <a:off x="1692707" y="4928578"/>
            <a:ext cx="554946" cy="6967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0B9615-7112-41CE-9102-8BA143D01AED}"/>
              </a:ext>
            </a:extLst>
          </p:cNvPr>
          <p:cNvSpPr/>
          <p:nvPr/>
        </p:nvSpPr>
        <p:spPr>
          <a:xfrm>
            <a:off x="2247653" y="4241638"/>
            <a:ext cx="554946" cy="13837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F7032BE-AA07-4E6C-B409-7B5A01A644E4}"/>
              </a:ext>
            </a:extLst>
          </p:cNvPr>
          <p:cNvSpPr/>
          <p:nvPr/>
        </p:nvSpPr>
        <p:spPr>
          <a:xfrm>
            <a:off x="2802599" y="4928578"/>
            <a:ext cx="554946" cy="69676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0B59B4A-489B-4626-8D01-E4B2D7955E3D}"/>
                  </a:ext>
                </a:extLst>
              </p:cNvPr>
              <p:cNvSpPr txBox="1"/>
              <p:nvPr/>
            </p:nvSpPr>
            <p:spPr>
              <a:xfrm>
                <a:off x="1692707" y="5690803"/>
                <a:ext cx="5549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0B59B4A-489B-4626-8D01-E4B2D7955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707" y="5690803"/>
                <a:ext cx="554946" cy="276999"/>
              </a:xfrm>
              <a:prstGeom prst="rect">
                <a:avLst/>
              </a:prstGeom>
              <a:blipFill>
                <a:blip r:embed="rId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69F19F-BCAF-4000-BFBA-91F4D05BFDB4}"/>
                  </a:ext>
                </a:extLst>
              </p:cNvPr>
              <p:cNvSpPr txBox="1"/>
              <p:nvPr/>
            </p:nvSpPr>
            <p:spPr>
              <a:xfrm>
                <a:off x="2190897" y="5690803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4A69F19F-BCAF-4000-BFBA-91F4D05BF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897" y="5690803"/>
                <a:ext cx="611702" cy="276999"/>
              </a:xfrm>
              <a:prstGeom prst="rect">
                <a:avLst/>
              </a:prstGeom>
              <a:blipFill>
                <a:blip r:embed="rId3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120208-3E18-43E2-B1C8-96FE32BCFA09}"/>
                  </a:ext>
                </a:extLst>
              </p:cNvPr>
              <p:cNvSpPr txBox="1"/>
              <p:nvPr/>
            </p:nvSpPr>
            <p:spPr>
              <a:xfrm>
                <a:off x="2745843" y="5694259"/>
                <a:ext cx="61170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𝑗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=3</m:t>
                      </m:r>
                    </m:oMath>
                  </m:oMathPara>
                </a14:m>
                <a:endParaRPr lang="zh-CN" alt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5120208-3E18-43E2-B1C8-96FE32BCF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843" y="5694259"/>
                <a:ext cx="611702" cy="276999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DDE3A4AE-E2B5-42F1-B572-999D93B8CB0F}"/>
              </a:ext>
            </a:extLst>
          </p:cNvPr>
          <p:cNvSpPr txBox="1"/>
          <p:nvPr/>
        </p:nvSpPr>
        <p:spPr>
          <a:xfrm>
            <a:off x="1692707" y="4628528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96CA2EE-2CDC-4374-A288-A4B59AAC08D3}"/>
              </a:ext>
            </a:extLst>
          </p:cNvPr>
          <p:cNvSpPr txBox="1"/>
          <p:nvPr/>
        </p:nvSpPr>
        <p:spPr>
          <a:xfrm>
            <a:off x="2219275" y="3930182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C8B81D-D1A9-4177-9A7F-AE78D8E9F4D3}"/>
              </a:ext>
            </a:extLst>
          </p:cNvPr>
          <p:cNvSpPr txBox="1"/>
          <p:nvPr/>
        </p:nvSpPr>
        <p:spPr>
          <a:xfrm>
            <a:off x="2779663" y="4617122"/>
            <a:ext cx="5549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90B743D-E29F-4804-B452-818B84F87CAE}"/>
                  </a:ext>
                </a:extLst>
              </p:cNvPr>
              <p:cNvSpPr txBox="1"/>
              <p:nvPr/>
            </p:nvSpPr>
            <p:spPr>
              <a:xfrm>
                <a:off x="7270249" y="1917323"/>
                <a:ext cx="4344685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Distribution estimation</a:t>
                </a:r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users and one server, each user possesses a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∈[0,1]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The server wants to estimate the data distribution.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90B743D-E29F-4804-B452-818B84F87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249" y="1917323"/>
                <a:ext cx="4344685" cy="2308324"/>
              </a:xfrm>
              <a:prstGeom prst="rect">
                <a:avLst/>
              </a:prstGeom>
              <a:blipFill>
                <a:blip r:embed="rId5"/>
                <a:stretch>
                  <a:fillRect l="-2247" t="-1852" r="-309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E569672-C0C6-4D4E-BAB1-78F8D7CF8857}"/>
                  </a:ext>
                </a:extLst>
              </p:cNvPr>
              <p:cNvSpPr txBox="1"/>
              <p:nvPr/>
            </p:nvSpPr>
            <p:spPr>
              <a:xfrm>
                <a:off x="526094" y="1917323"/>
                <a:ext cx="4009946" cy="2027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Frequency estimation</a:t>
                </a: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server wants to estimate the count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of each value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∈{1,2,…,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E569672-C0C6-4D4E-BAB1-78F8D7CF8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917323"/>
                <a:ext cx="4009946" cy="2027799"/>
              </a:xfrm>
              <a:prstGeom prst="rect">
                <a:avLst/>
              </a:prstGeom>
              <a:blipFill>
                <a:blip r:embed="rId6"/>
                <a:stretch>
                  <a:fillRect l="-2280" t="-2108" r="-2736" b="-63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左大括号 10">
            <a:extLst>
              <a:ext uri="{FF2B5EF4-FFF2-40B4-BE49-F238E27FC236}">
                <a16:creationId xmlns:a16="http://schemas.microsoft.com/office/drawing/2014/main" id="{68C680B4-D704-402A-8ED5-ED108D95DCE3}"/>
              </a:ext>
            </a:extLst>
          </p:cNvPr>
          <p:cNvSpPr/>
          <p:nvPr/>
        </p:nvSpPr>
        <p:spPr>
          <a:xfrm rot="16200000">
            <a:off x="2358047" y="5349451"/>
            <a:ext cx="277402" cy="151410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66A116-8287-4F59-8F68-9DB35CACFF47}"/>
              </a:ext>
            </a:extLst>
          </p:cNvPr>
          <p:cNvSpPr txBox="1"/>
          <p:nvPr/>
        </p:nvSpPr>
        <p:spPr>
          <a:xfrm>
            <a:off x="882776" y="6344236"/>
            <a:ext cx="3284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 order, exchangeable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DCBC973-B529-4E44-9198-2876044B8C6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3589" t="9416" r="4277" b="7148"/>
          <a:stretch/>
        </p:blipFill>
        <p:spPr>
          <a:xfrm>
            <a:off x="7579636" y="4296095"/>
            <a:ext cx="2509642" cy="1533207"/>
          </a:xfrm>
          <a:prstGeom prst="rect">
            <a:avLst/>
          </a:prstGeom>
        </p:spPr>
      </p:pic>
      <p:sp>
        <p:nvSpPr>
          <p:cNvPr id="49" name="左大括号 48">
            <a:extLst>
              <a:ext uri="{FF2B5EF4-FFF2-40B4-BE49-F238E27FC236}">
                <a16:creationId xmlns:a16="http://schemas.microsoft.com/office/drawing/2014/main" id="{BE4FA24F-7E16-4CF0-96A9-44CE6A035CA9}"/>
              </a:ext>
            </a:extLst>
          </p:cNvPr>
          <p:cNvSpPr/>
          <p:nvPr/>
        </p:nvSpPr>
        <p:spPr>
          <a:xfrm rot="16200000">
            <a:off x="8756180" y="4912106"/>
            <a:ext cx="277402" cy="238879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AC33FFD-F390-435E-A0D6-D4C5EE5445DD}"/>
              </a:ext>
            </a:extLst>
          </p:cNvPr>
          <p:cNvSpPr txBox="1"/>
          <p:nvPr/>
        </p:nvSpPr>
        <p:spPr>
          <a:xfrm>
            <a:off x="7455225" y="6334080"/>
            <a:ext cx="2879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Ordinal, unexchangeable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7146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042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point in LDP protocol for distribution estimation</a:t>
            </a:r>
          </a:p>
          <a:p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Preserve the ordinal information of the data</a:t>
            </a:r>
          </a:p>
        </p:txBody>
      </p:sp>
    </p:spTree>
    <p:extLst>
      <p:ext uri="{BB962C8B-B14F-4D97-AF65-F5344CB8AC3E}">
        <p14:creationId xmlns:p14="http://schemas.microsoft.com/office/powerpoint/2010/main" val="22154073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313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point in LDP protocol for distribution estimation</a:t>
                </a: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Preserve the ordinal information of the data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high probability if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close to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∈[0,1]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∈[−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,1+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&lt;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3132139"/>
              </a:xfrm>
              <a:prstGeom prst="rect">
                <a:avLst/>
              </a:prstGeom>
              <a:blipFill>
                <a:blip r:embed="rId2"/>
                <a:stretch>
                  <a:fillRect l="-910" t="-13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74267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04298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point in LDP protocol for distribution estimation</a:t>
                </a: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Preserve the ordinal information of the data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 high probability if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close to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But….which one is the best?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042989" cy="2308324"/>
              </a:xfrm>
              <a:prstGeom prst="rect">
                <a:avLst/>
              </a:prstGeom>
              <a:blipFill>
                <a:blip r:embed="rId2"/>
                <a:stretch>
                  <a:fillRect l="-910" t="-1852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6E3C1EF-B704-46AB-8D79-E7CDB191575F}"/>
              </a:ext>
            </a:extLst>
          </p:cNvPr>
          <p:cNvCxnSpPr/>
          <p:nvPr/>
        </p:nvCxnSpPr>
        <p:spPr>
          <a:xfrm>
            <a:off x="1412697" y="5357973"/>
            <a:ext cx="2635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7FA51D5-6DBE-4492-BA81-4612B9C0EF9C}"/>
              </a:ext>
            </a:extLst>
          </p:cNvPr>
          <p:cNvCxnSpPr>
            <a:cxnSpLocks/>
          </p:cNvCxnSpPr>
          <p:nvPr/>
        </p:nvCxnSpPr>
        <p:spPr>
          <a:xfrm flipV="1">
            <a:off x="2577101" y="5178175"/>
            <a:ext cx="0" cy="347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351015-9547-4388-8030-D64EA2F32762}"/>
                  </a:ext>
                </a:extLst>
              </p:cNvPr>
              <p:cNvSpPr txBox="1"/>
              <p:nvPr/>
            </p:nvSpPr>
            <p:spPr>
              <a:xfrm>
                <a:off x="2407577" y="5469008"/>
                <a:ext cx="339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351015-9547-4388-8030-D64EA2F32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577" y="5469008"/>
                <a:ext cx="33904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7DDFBB3-1ED3-46F2-A844-C0C7F45431CD}"/>
              </a:ext>
            </a:extLst>
          </p:cNvPr>
          <p:cNvSpPr/>
          <p:nvPr/>
        </p:nvSpPr>
        <p:spPr>
          <a:xfrm>
            <a:off x="1422971" y="3984238"/>
            <a:ext cx="2327096" cy="1178526"/>
          </a:xfrm>
          <a:custGeom>
            <a:avLst/>
            <a:gdLst>
              <a:gd name="connsiteX0" fmla="*/ 0 w 2327096"/>
              <a:gd name="connsiteY0" fmla="*/ 1178526 h 1178526"/>
              <a:gd name="connsiteX1" fmla="*/ 51371 w 2327096"/>
              <a:gd name="connsiteY1" fmla="*/ 1163115 h 1178526"/>
              <a:gd name="connsiteX2" fmla="*/ 77056 w 2327096"/>
              <a:gd name="connsiteY2" fmla="*/ 1152841 h 1178526"/>
              <a:gd name="connsiteX3" fmla="*/ 97604 w 2327096"/>
              <a:gd name="connsiteY3" fmla="*/ 1147704 h 1178526"/>
              <a:gd name="connsiteX4" fmla="*/ 133564 w 2327096"/>
              <a:gd name="connsiteY4" fmla="*/ 1137429 h 1178526"/>
              <a:gd name="connsiteX5" fmla="*/ 169523 w 2327096"/>
              <a:gd name="connsiteY5" fmla="*/ 1106607 h 1178526"/>
              <a:gd name="connsiteX6" fmla="*/ 220894 w 2327096"/>
              <a:gd name="connsiteY6" fmla="*/ 1070647 h 1178526"/>
              <a:gd name="connsiteX7" fmla="*/ 261991 w 2327096"/>
              <a:gd name="connsiteY7" fmla="*/ 1029551 h 1178526"/>
              <a:gd name="connsiteX8" fmla="*/ 308225 w 2327096"/>
              <a:gd name="connsiteY8" fmla="*/ 993591 h 1178526"/>
              <a:gd name="connsiteX9" fmla="*/ 390418 w 2327096"/>
              <a:gd name="connsiteY9" fmla="*/ 921672 h 1178526"/>
              <a:gd name="connsiteX10" fmla="*/ 518845 w 2327096"/>
              <a:gd name="connsiteY10" fmla="*/ 844616 h 1178526"/>
              <a:gd name="connsiteX11" fmla="*/ 575353 w 2327096"/>
              <a:gd name="connsiteY11" fmla="*/ 798382 h 1178526"/>
              <a:gd name="connsiteX12" fmla="*/ 667820 w 2327096"/>
              <a:gd name="connsiteY12" fmla="*/ 685366 h 1178526"/>
              <a:gd name="connsiteX13" fmla="*/ 750013 w 2327096"/>
              <a:gd name="connsiteY13" fmla="*/ 515843 h 1178526"/>
              <a:gd name="connsiteX14" fmla="*/ 791110 w 2327096"/>
              <a:gd name="connsiteY14" fmla="*/ 464472 h 1178526"/>
              <a:gd name="connsiteX15" fmla="*/ 816795 w 2327096"/>
              <a:gd name="connsiteY15" fmla="*/ 402827 h 1178526"/>
              <a:gd name="connsiteX16" fmla="*/ 888714 w 2327096"/>
              <a:gd name="connsiteY16" fmla="*/ 264126 h 1178526"/>
              <a:gd name="connsiteX17" fmla="*/ 914400 w 2327096"/>
              <a:gd name="connsiteY17" fmla="*/ 217892 h 1178526"/>
              <a:gd name="connsiteX18" fmla="*/ 960633 w 2327096"/>
              <a:gd name="connsiteY18" fmla="*/ 125425 h 1178526"/>
              <a:gd name="connsiteX19" fmla="*/ 991456 w 2327096"/>
              <a:gd name="connsiteY19" fmla="*/ 63780 h 1178526"/>
              <a:gd name="connsiteX20" fmla="*/ 1022278 w 2327096"/>
              <a:gd name="connsiteY20" fmla="*/ 38095 h 1178526"/>
              <a:gd name="connsiteX21" fmla="*/ 1104472 w 2327096"/>
              <a:gd name="connsiteY21" fmla="*/ 2135 h 1178526"/>
              <a:gd name="connsiteX22" fmla="*/ 1202076 w 2327096"/>
              <a:gd name="connsiteY22" fmla="*/ 7272 h 1178526"/>
              <a:gd name="connsiteX23" fmla="*/ 1258584 w 2327096"/>
              <a:gd name="connsiteY23" fmla="*/ 74054 h 1178526"/>
              <a:gd name="connsiteX24" fmla="*/ 1273995 w 2327096"/>
              <a:gd name="connsiteY24" fmla="*/ 110014 h 1178526"/>
              <a:gd name="connsiteX25" fmla="*/ 1294544 w 2327096"/>
              <a:gd name="connsiteY25" fmla="*/ 130562 h 1178526"/>
              <a:gd name="connsiteX26" fmla="*/ 1315092 w 2327096"/>
              <a:gd name="connsiteY26" fmla="*/ 161384 h 1178526"/>
              <a:gd name="connsiteX27" fmla="*/ 1345914 w 2327096"/>
              <a:gd name="connsiteY27" fmla="*/ 202481 h 1178526"/>
              <a:gd name="connsiteX28" fmla="*/ 1381874 w 2327096"/>
              <a:gd name="connsiteY28" fmla="*/ 279537 h 1178526"/>
              <a:gd name="connsiteX29" fmla="*/ 1392148 w 2327096"/>
              <a:gd name="connsiteY29" fmla="*/ 300086 h 1178526"/>
              <a:gd name="connsiteX30" fmla="*/ 1412696 w 2327096"/>
              <a:gd name="connsiteY30" fmla="*/ 387416 h 1178526"/>
              <a:gd name="connsiteX31" fmla="*/ 1433245 w 2327096"/>
              <a:gd name="connsiteY31" fmla="*/ 438787 h 1178526"/>
              <a:gd name="connsiteX32" fmla="*/ 1448656 w 2327096"/>
              <a:gd name="connsiteY32" fmla="*/ 485020 h 1178526"/>
              <a:gd name="connsiteX33" fmla="*/ 1510301 w 2327096"/>
              <a:gd name="connsiteY33" fmla="*/ 598036 h 1178526"/>
              <a:gd name="connsiteX34" fmla="*/ 1649002 w 2327096"/>
              <a:gd name="connsiteY34" fmla="*/ 860027 h 1178526"/>
              <a:gd name="connsiteX35" fmla="*/ 1684962 w 2327096"/>
              <a:gd name="connsiteY35" fmla="*/ 895987 h 1178526"/>
              <a:gd name="connsiteX36" fmla="*/ 1705510 w 2327096"/>
              <a:gd name="connsiteY36" fmla="*/ 926809 h 1178526"/>
              <a:gd name="connsiteX37" fmla="*/ 1803114 w 2327096"/>
              <a:gd name="connsiteY37" fmla="*/ 1003865 h 1178526"/>
              <a:gd name="connsiteX38" fmla="*/ 1849348 w 2327096"/>
              <a:gd name="connsiteY38" fmla="*/ 1029551 h 1178526"/>
              <a:gd name="connsiteX39" fmla="*/ 1890445 w 2327096"/>
              <a:gd name="connsiteY39" fmla="*/ 1055236 h 1178526"/>
              <a:gd name="connsiteX40" fmla="*/ 1962364 w 2327096"/>
              <a:gd name="connsiteY40" fmla="*/ 1075784 h 1178526"/>
              <a:gd name="connsiteX41" fmla="*/ 1982912 w 2327096"/>
              <a:gd name="connsiteY41" fmla="*/ 1086059 h 1178526"/>
              <a:gd name="connsiteX42" fmla="*/ 2024009 w 2327096"/>
              <a:gd name="connsiteY42" fmla="*/ 1091196 h 1178526"/>
              <a:gd name="connsiteX43" fmla="*/ 2075380 w 2327096"/>
              <a:gd name="connsiteY43" fmla="*/ 1101470 h 1178526"/>
              <a:gd name="connsiteX44" fmla="*/ 2152436 w 2327096"/>
              <a:gd name="connsiteY44" fmla="*/ 1122018 h 1178526"/>
              <a:gd name="connsiteX45" fmla="*/ 2239766 w 2327096"/>
              <a:gd name="connsiteY45" fmla="*/ 1152841 h 1178526"/>
              <a:gd name="connsiteX46" fmla="*/ 2327096 w 2327096"/>
              <a:gd name="connsiteY46" fmla="*/ 1152841 h 117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2327096" h="1178526">
                <a:moveTo>
                  <a:pt x="0" y="1178526"/>
                </a:moveTo>
                <a:cubicBezTo>
                  <a:pt x="17124" y="1173389"/>
                  <a:pt x="34411" y="1168768"/>
                  <a:pt x="51371" y="1163115"/>
                </a:cubicBezTo>
                <a:cubicBezTo>
                  <a:pt x="60119" y="1160199"/>
                  <a:pt x="68308" y="1155757"/>
                  <a:pt x="77056" y="1152841"/>
                </a:cubicBezTo>
                <a:cubicBezTo>
                  <a:pt x="83754" y="1150608"/>
                  <a:pt x="90793" y="1149562"/>
                  <a:pt x="97604" y="1147704"/>
                </a:cubicBezTo>
                <a:cubicBezTo>
                  <a:pt x="109631" y="1144424"/>
                  <a:pt x="121577" y="1140854"/>
                  <a:pt x="133564" y="1137429"/>
                </a:cubicBezTo>
                <a:cubicBezTo>
                  <a:pt x="145550" y="1127155"/>
                  <a:pt x="156983" y="1116197"/>
                  <a:pt x="169523" y="1106607"/>
                </a:cubicBezTo>
                <a:cubicBezTo>
                  <a:pt x="186127" y="1093910"/>
                  <a:pt x="204836" y="1084028"/>
                  <a:pt x="220894" y="1070647"/>
                </a:cubicBezTo>
                <a:cubicBezTo>
                  <a:pt x="235777" y="1058245"/>
                  <a:pt x="247464" y="1042369"/>
                  <a:pt x="261991" y="1029551"/>
                </a:cubicBezTo>
                <a:cubicBezTo>
                  <a:pt x="276631" y="1016634"/>
                  <a:pt x="293585" y="1006509"/>
                  <a:pt x="308225" y="993591"/>
                </a:cubicBezTo>
                <a:cubicBezTo>
                  <a:pt x="349581" y="957101"/>
                  <a:pt x="344296" y="949345"/>
                  <a:pt x="390418" y="921672"/>
                </a:cubicBezTo>
                <a:cubicBezTo>
                  <a:pt x="505564" y="852585"/>
                  <a:pt x="398662" y="934754"/>
                  <a:pt x="518845" y="844616"/>
                </a:cubicBezTo>
                <a:cubicBezTo>
                  <a:pt x="538315" y="830014"/>
                  <a:pt x="558727" y="816155"/>
                  <a:pt x="575353" y="798382"/>
                </a:cubicBezTo>
                <a:cubicBezTo>
                  <a:pt x="608605" y="762836"/>
                  <a:pt x="667820" y="685366"/>
                  <a:pt x="667820" y="685366"/>
                </a:cubicBezTo>
                <a:cubicBezTo>
                  <a:pt x="689328" y="631596"/>
                  <a:pt x="717265" y="556778"/>
                  <a:pt x="750013" y="515843"/>
                </a:cubicBezTo>
                <a:cubicBezTo>
                  <a:pt x="763712" y="498719"/>
                  <a:pt x="779954" y="483351"/>
                  <a:pt x="791110" y="464472"/>
                </a:cubicBezTo>
                <a:cubicBezTo>
                  <a:pt x="802435" y="445307"/>
                  <a:pt x="807046" y="422839"/>
                  <a:pt x="816795" y="402827"/>
                </a:cubicBezTo>
                <a:cubicBezTo>
                  <a:pt x="839604" y="356008"/>
                  <a:pt x="863422" y="309651"/>
                  <a:pt x="888714" y="264126"/>
                </a:cubicBezTo>
                <a:cubicBezTo>
                  <a:pt x="897276" y="248715"/>
                  <a:pt x="907240" y="234002"/>
                  <a:pt x="914400" y="217892"/>
                </a:cubicBezTo>
                <a:cubicBezTo>
                  <a:pt x="985041" y="58953"/>
                  <a:pt x="864506" y="293648"/>
                  <a:pt x="960633" y="125425"/>
                </a:cubicBezTo>
                <a:cubicBezTo>
                  <a:pt x="972031" y="105478"/>
                  <a:pt x="978207" y="82549"/>
                  <a:pt x="991456" y="63780"/>
                </a:cubicBezTo>
                <a:cubicBezTo>
                  <a:pt x="999168" y="52854"/>
                  <a:pt x="1011462" y="45961"/>
                  <a:pt x="1022278" y="38095"/>
                </a:cubicBezTo>
                <a:cubicBezTo>
                  <a:pt x="1047696" y="19609"/>
                  <a:pt x="1075149" y="11909"/>
                  <a:pt x="1104472" y="2135"/>
                </a:cubicBezTo>
                <a:cubicBezTo>
                  <a:pt x="1137007" y="3847"/>
                  <a:pt x="1172553" y="-6505"/>
                  <a:pt x="1202076" y="7272"/>
                </a:cubicBezTo>
                <a:cubicBezTo>
                  <a:pt x="1228501" y="19604"/>
                  <a:pt x="1258584" y="74054"/>
                  <a:pt x="1258584" y="74054"/>
                </a:cubicBezTo>
                <a:cubicBezTo>
                  <a:pt x="1263721" y="86041"/>
                  <a:pt x="1266994" y="99012"/>
                  <a:pt x="1273995" y="110014"/>
                </a:cubicBezTo>
                <a:cubicBezTo>
                  <a:pt x="1279196" y="118186"/>
                  <a:pt x="1288493" y="122998"/>
                  <a:pt x="1294544" y="130562"/>
                </a:cubicBezTo>
                <a:cubicBezTo>
                  <a:pt x="1302258" y="140204"/>
                  <a:pt x="1307915" y="151336"/>
                  <a:pt x="1315092" y="161384"/>
                </a:cubicBezTo>
                <a:cubicBezTo>
                  <a:pt x="1325045" y="175318"/>
                  <a:pt x="1336416" y="188233"/>
                  <a:pt x="1345914" y="202481"/>
                </a:cubicBezTo>
                <a:cubicBezTo>
                  <a:pt x="1371662" y="241104"/>
                  <a:pt x="1363798" y="236154"/>
                  <a:pt x="1381874" y="279537"/>
                </a:cubicBezTo>
                <a:cubicBezTo>
                  <a:pt x="1384819" y="286606"/>
                  <a:pt x="1389531" y="292889"/>
                  <a:pt x="1392148" y="300086"/>
                </a:cubicBezTo>
                <a:cubicBezTo>
                  <a:pt x="1413788" y="359596"/>
                  <a:pt x="1390776" y="314352"/>
                  <a:pt x="1412696" y="387416"/>
                </a:cubicBezTo>
                <a:cubicBezTo>
                  <a:pt x="1417996" y="405081"/>
                  <a:pt x="1426869" y="421481"/>
                  <a:pt x="1433245" y="438787"/>
                </a:cubicBezTo>
                <a:cubicBezTo>
                  <a:pt x="1438861" y="454030"/>
                  <a:pt x="1441580" y="470397"/>
                  <a:pt x="1448656" y="485020"/>
                </a:cubicBezTo>
                <a:cubicBezTo>
                  <a:pt x="1467347" y="523647"/>
                  <a:pt x="1492748" y="558879"/>
                  <a:pt x="1510301" y="598036"/>
                </a:cubicBezTo>
                <a:cubicBezTo>
                  <a:pt x="1538122" y="660098"/>
                  <a:pt x="1594823" y="805848"/>
                  <a:pt x="1649002" y="860027"/>
                </a:cubicBezTo>
                <a:cubicBezTo>
                  <a:pt x="1660989" y="872014"/>
                  <a:pt x="1674012" y="883046"/>
                  <a:pt x="1684962" y="895987"/>
                </a:cubicBezTo>
                <a:cubicBezTo>
                  <a:pt x="1692938" y="905413"/>
                  <a:pt x="1697135" y="917736"/>
                  <a:pt x="1705510" y="926809"/>
                </a:cubicBezTo>
                <a:cubicBezTo>
                  <a:pt x="1726023" y="949032"/>
                  <a:pt x="1780649" y="989262"/>
                  <a:pt x="1803114" y="1003865"/>
                </a:cubicBezTo>
                <a:cubicBezTo>
                  <a:pt x="1817896" y="1013473"/>
                  <a:pt x="1834152" y="1020612"/>
                  <a:pt x="1849348" y="1029551"/>
                </a:cubicBezTo>
                <a:cubicBezTo>
                  <a:pt x="1863272" y="1037742"/>
                  <a:pt x="1875828" y="1048358"/>
                  <a:pt x="1890445" y="1055236"/>
                </a:cubicBezTo>
                <a:cubicBezTo>
                  <a:pt x="1917310" y="1067878"/>
                  <a:pt x="1935612" y="1070434"/>
                  <a:pt x="1962364" y="1075784"/>
                </a:cubicBezTo>
                <a:cubicBezTo>
                  <a:pt x="1969213" y="1079209"/>
                  <a:pt x="1975483" y="1084202"/>
                  <a:pt x="1982912" y="1086059"/>
                </a:cubicBezTo>
                <a:cubicBezTo>
                  <a:pt x="1996305" y="1089408"/>
                  <a:pt x="2010391" y="1088926"/>
                  <a:pt x="2024009" y="1091196"/>
                </a:cubicBezTo>
                <a:cubicBezTo>
                  <a:pt x="2041234" y="1094067"/>
                  <a:pt x="2058399" y="1097395"/>
                  <a:pt x="2075380" y="1101470"/>
                </a:cubicBezTo>
                <a:cubicBezTo>
                  <a:pt x="2101229" y="1107674"/>
                  <a:pt x="2127063" y="1114089"/>
                  <a:pt x="2152436" y="1122018"/>
                </a:cubicBezTo>
                <a:cubicBezTo>
                  <a:pt x="2181901" y="1131226"/>
                  <a:pt x="2208896" y="1152841"/>
                  <a:pt x="2239766" y="1152841"/>
                </a:cubicBezTo>
                <a:lnTo>
                  <a:pt x="2327096" y="1152841"/>
                </a:lnTo>
              </a:path>
            </a:pathLst>
          </a:cu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9D71302-6D32-42DB-AF30-264B8724A944}"/>
              </a:ext>
            </a:extLst>
          </p:cNvPr>
          <p:cNvCxnSpPr/>
          <p:nvPr/>
        </p:nvCxnSpPr>
        <p:spPr>
          <a:xfrm>
            <a:off x="4637070" y="5345987"/>
            <a:ext cx="2635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9F6FAB6-1B30-4C97-B01B-4DEAD433E91A}"/>
              </a:ext>
            </a:extLst>
          </p:cNvPr>
          <p:cNvCxnSpPr>
            <a:cxnSpLocks/>
          </p:cNvCxnSpPr>
          <p:nvPr/>
        </p:nvCxnSpPr>
        <p:spPr>
          <a:xfrm flipV="1">
            <a:off x="5801474" y="5166189"/>
            <a:ext cx="0" cy="347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0CE8D01-6715-4416-9D5A-F5A196F5068B}"/>
                  </a:ext>
                </a:extLst>
              </p:cNvPr>
              <p:cNvSpPr txBox="1"/>
              <p:nvPr/>
            </p:nvSpPr>
            <p:spPr>
              <a:xfrm>
                <a:off x="5631950" y="5457022"/>
                <a:ext cx="339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0CE8D01-6715-4416-9D5A-F5A196F50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950" y="5457022"/>
                <a:ext cx="33904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841D560-D4C4-43EA-910B-A70F3906804C}"/>
              </a:ext>
            </a:extLst>
          </p:cNvPr>
          <p:cNvSpPr/>
          <p:nvPr/>
        </p:nvSpPr>
        <p:spPr>
          <a:xfrm>
            <a:off x="4741524" y="4171308"/>
            <a:ext cx="2214080" cy="807036"/>
          </a:xfrm>
          <a:custGeom>
            <a:avLst/>
            <a:gdLst>
              <a:gd name="connsiteX0" fmla="*/ 0 w 2214080"/>
              <a:gd name="connsiteY0" fmla="*/ 806521 h 807036"/>
              <a:gd name="connsiteX1" fmla="*/ 210620 w 2214080"/>
              <a:gd name="connsiteY1" fmla="*/ 791110 h 807036"/>
              <a:gd name="connsiteX2" fmla="*/ 446925 w 2214080"/>
              <a:gd name="connsiteY2" fmla="*/ 785973 h 807036"/>
              <a:gd name="connsiteX3" fmla="*/ 544530 w 2214080"/>
              <a:gd name="connsiteY3" fmla="*/ 765425 h 807036"/>
              <a:gd name="connsiteX4" fmla="*/ 559941 w 2214080"/>
              <a:gd name="connsiteY4" fmla="*/ 760288 h 807036"/>
              <a:gd name="connsiteX5" fmla="*/ 590764 w 2214080"/>
              <a:gd name="connsiteY5" fmla="*/ 755150 h 807036"/>
              <a:gd name="connsiteX6" fmla="*/ 585627 w 2214080"/>
              <a:gd name="connsiteY6" fmla="*/ 333910 h 807036"/>
              <a:gd name="connsiteX7" fmla="*/ 590764 w 2214080"/>
              <a:gd name="connsiteY7" fmla="*/ 82193 h 807036"/>
              <a:gd name="connsiteX8" fmla="*/ 595901 w 2214080"/>
              <a:gd name="connsiteY8" fmla="*/ 51371 h 807036"/>
              <a:gd name="connsiteX9" fmla="*/ 616449 w 2214080"/>
              <a:gd name="connsiteY9" fmla="*/ 41096 h 807036"/>
              <a:gd name="connsiteX10" fmla="*/ 662683 w 2214080"/>
              <a:gd name="connsiteY10" fmla="*/ 25685 h 807036"/>
              <a:gd name="connsiteX11" fmla="*/ 698642 w 2214080"/>
              <a:gd name="connsiteY11" fmla="*/ 15411 h 807036"/>
              <a:gd name="connsiteX12" fmla="*/ 755150 w 2214080"/>
              <a:gd name="connsiteY12" fmla="*/ 10274 h 807036"/>
              <a:gd name="connsiteX13" fmla="*/ 1047964 w 2214080"/>
              <a:gd name="connsiteY13" fmla="*/ 0 h 807036"/>
              <a:gd name="connsiteX14" fmla="*/ 1273995 w 2214080"/>
              <a:gd name="connsiteY14" fmla="*/ 5137 h 807036"/>
              <a:gd name="connsiteX15" fmla="*/ 1325366 w 2214080"/>
              <a:gd name="connsiteY15" fmla="*/ 20548 h 807036"/>
              <a:gd name="connsiteX16" fmla="*/ 1402422 w 2214080"/>
              <a:gd name="connsiteY16" fmla="*/ 25685 h 807036"/>
              <a:gd name="connsiteX17" fmla="*/ 1438382 w 2214080"/>
              <a:gd name="connsiteY17" fmla="*/ 30822 h 807036"/>
              <a:gd name="connsiteX18" fmla="*/ 1443519 w 2214080"/>
              <a:gd name="connsiteY18" fmla="*/ 256854 h 807036"/>
              <a:gd name="connsiteX19" fmla="*/ 1453793 w 2214080"/>
              <a:gd name="connsiteY19" fmla="*/ 364732 h 807036"/>
              <a:gd name="connsiteX20" fmla="*/ 1464067 w 2214080"/>
              <a:gd name="connsiteY20" fmla="*/ 508571 h 807036"/>
              <a:gd name="connsiteX21" fmla="*/ 1469204 w 2214080"/>
              <a:gd name="connsiteY21" fmla="*/ 719191 h 807036"/>
              <a:gd name="connsiteX22" fmla="*/ 1474341 w 2214080"/>
              <a:gd name="connsiteY22" fmla="*/ 796247 h 807036"/>
              <a:gd name="connsiteX23" fmla="*/ 1587357 w 2214080"/>
              <a:gd name="connsiteY23" fmla="*/ 785973 h 807036"/>
              <a:gd name="connsiteX24" fmla="*/ 1833937 w 2214080"/>
              <a:gd name="connsiteY24" fmla="*/ 780836 h 807036"/>
              <a:gd name="connsiteX25" fmla="*/ 1988049 w 2214080"/>
              <a:gd name="connsiteY25" fmla="*/ 796247 h 807036"/>
              <a:gd name="connsiteX26" fmla="*/ 2054831 w 2214080"/>
              <a:gd name="connsiteY26" fmla="*/ 801384 h 807036"/>
              <a:gd name="connsiteX27" fmla="*/ 2106202 w 2214080"/>
              <a:gd name="connsiteY27" fmla="*/ 806521 h 807036"/>
              <a:gd name="connsiteX28" fmla="*/ 2214080 w 2214080"/>
              <a:gd name="connsiteY28" fmla="*/ 806521 h 807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214080" h="807036">
                <a:moveTo>
                  <a:pt x="0" y="806521"/>
                </a:moveTo>
                <a:cubicBezTo>
                  <a:pt x="31861" y="803972"/>
                  <a:pt x="164781" y="792589"/>
                  <a:pt x="210620" y="791110"/>
                </a:cubicBezTo>
                <a:cubicBezTo>
                  <a:pt x="289366" y="788570"/>
                  <a:pt x="368157" y="787685"/>
                  <a:pt x="446925" y="785973"/>
                </a:cubicBezTo>
                <a:cubicBezTo>
                  <a:pt x="543895" y="756883"/>
                  <a:pt x="453860" y="780536"/>
                  <a:pt x="544530" y="765425"/>
                </a:cubicBezTo>
                <a:cubicBezTo>
                  <a:pt x="549871" y="764535"/>
                  <a:pt x="554655" y="761463"/>
                  <a:pt x="559941" y="760288"/>
                </a:cubicBezTo>
                <a:cubicBezTo>
                  <a:pt x="570109" y="758028"/>
                  <a:pt x="580490" y="756863"/>
                  <a:pt x="590764" y="755150"/>
                </a:cubicBezTo>
                <a:cubicBezTo>
                  <a:pt x="589052" y="614737"/>
                  <a:pt x="585627" y="474334"/>
                  <a:pt x="585627" y="333910"/>
                </a:cubicBezTo>
                <a:cubicBezTo>
                  <a:pt x="585627" y="249987"/>
                  <a:pt x="587714" y="166061"/>
                  <a:pt x="590764" y="82193"/>
                </a:cubicBezTo>
                <a:cubicBezTo>
                  <a:pt x="591142" y="71784"/>
                  <a:pt x="590381" y="60204"/>
                  <a:pt x="595901" y="51371"/>
                </a:cubicBezTo>
                <a:cubicBezTo>
                  <a:pt x="599960" y="44877"/>
                  <a:pt x="609800" y="44896"/>
                  <a:pt x="616449" y="41096"/>
                </a:cubicBezTo>
                <a:cubicBezTo>
                  <a:pt x="651372" y="21139"/>
                  <a:pt x="607472" y="38426"/>
                  <a:pt x="662683" y="25685"/>
                </a:cubicBezTo>
                <a:cubicBezTo>
                  <a:pt x="674830" y="22882"/>
                  <a:pt x="686346" y="17460"/>
                  <a:pt x="698642" y="15411"/>
                </a:cubicBezTo>
                <a:cubicBezTo>
                  <a:pt x="717298" y="12302"/>
                  <a:pt x="736255" y="11108"/>
                  <a:pt x="755150" y="10274"/>
                </a:cubicBezTo>
                <a:lnTo>
                  <a:pt x="1047964" y="0"/>
                </a:lnTo>
                <a:cubicBezTo>
                  <a:pt x="1123308" y="1712"/>
                  <a:pt x="1198838" y="-430"/>
                  <a:pt x="1273995" y="5137"/>
                </a:cubicBezTo>
                <a:cubicBezTo>
                  <a:pt x="1291824" y="6458"/>
                  <a:pt x="1307713" y="17724"/>
                  <a:pt x="1325366" y="20548"/>
                </a:cubicBezTo>
                <a:cubicBezTo>
                  <a:pt x="1350785" y="24615"/>
                  <a:pt x="1376737" y="23973"/>
                  <a:pt x="1402422" y="25685"/>
                </a:cubicBezTo>
                <a:cubicBezTo>
                  <a:pt x="1414409" y="27397"/>
                  <a:pt x="1436263" y="18901"/>
                  <a:pt x="1438382" y="30822"/>
                </a:cubicBezTo>
                <a:cubicBezTo>
                  <a:pt x="1451573" y="105022"/>
                  <a:pt x="1440044" y="181571"/>
                  <a:pt x="1443519" y="256854"/>
                </a:cubicBezTo>
                <a:cubicBezTo>
                  <a:pt x="1445184" y="292938"/>
                  <a:pt x="1451219" y="328702"/>
                  <a:pt x="1453793" y="364732"/>
                </a:cubicBezTo>
                <a:lnTo>
                  <a:pt x="1464067" y="508571"/>
                </a:lnTo>
                <a:cubicBezTo>
                  <a:pt x="1465779" y="578778"/>
                  <a:pt x="1466698" y="649008"/>
                  <a:pt x="1469204" y="719191"/>
                </a:cubicBezTo>
                <a:cubicBezTo>
                  <a:pt x="1470123" y="744917"/>
                  <a:pt x="1451931" y="783580"/>
                  <a:pt x="1474341" y="796247"/>
                </a:cubicBezTo>
                <a:cubicBezTo>
                  <a:pt x="1507272" y="814860"/>
                  <a:pt x="1549685" y="789398"/>
                  <a:pt x="1587357" y="785973"/>
                </a:cubicBezTo>
                <a:cubicBezTo>
                  <a:pt x="1707611" y="755910"/>
                  <a:pt x="1631608" y="768449"/>
                  <a:pt x="1833937" y="780836"/>
                </a:cubicBezTo>
                <a:cubicBezTo>
                  <a:pt x="1929036" y="786658"/>
                  <a:pt x="1879737" y="785416"/>
                  <a:pt x="1988049" y="796247"/>
                </a:cubicBezTo>
                <a:cubicBezTo>
                  <a:pt x="2010265" y="798469"/>
                  <a:pt x="2032589" y="799450"/>
                  <a:pt x="2054831" y="801384"/>
                </a:cubicBezTo>
                <a:cubicBezTo>
                  <a:pt x="2071975" y="802875"/>
                  <a:pt x="2089002" y="805966"/>
                  <a:pt x="2106202" y="806521"/>
                </a:cubicBezTo>
                <a:cubicBezTo>
                  <a:pt x="2142143" y="807680"/>
                  <a:pt x="2178121" y="806521"/>
                  <a:pt x="2214080" y="806521"/>
                </a:cubicBezTo>
              </a:path>
            </a:pathLst>
          </a:cu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9DF46E9-C762-490B-99B8-D2517270EC4E}"/>
              </a:ext>
            </a:extLst>
          </p:cNvPr>
          <p:cNvCxnSpPr/>
          <p:nvPr/>
        </p:nvCxnSpPr>
        <p:spPr>
          <a:xfrm>
            <a:off x="7861442" y="5345987"/>
            <a:ext cx="26353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42B9EF5-7670-48B2-B7D2-B526F8A2BF5C}"/>
              </a:ext>
            </a:extLst>
          </p:cNvPr>
          <p:cNvCxnSpPr>
            <a:cxnSpLocks/>
          </p:cNvCxnSpPr>
          <p:nvPr/>
        </p:nvCxnSpPr>
        <p:spPr>
          <a:xfrm flipV="1">
            <a:off x="9025846" y="5166189"/>
            <a:ext cx="0" cy="3476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73D072-129E-482D-941C-87D39CAD4538}"/>
                  </a:ext>
                </a:extLst>
              </p:cNvPr>
              <p:cNvSpPr txBox="1"/>
              <p:nvPr/>
            </p:nvSpPr>
            <p:spPr>
              <a:xfrm>
                <a:off x="8856322" y="5457022"/>
                <a:ext cx="3390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B73D072-129E-482D-941C-87D39CAD4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322" y="5457022"/>
                <a:ext cx="33904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8040F41-1872-48E5-8ADC-B7A899EB12F6}"/>
              </a:ext>
            </a:extLst>
          </p:cNvPr>
          <p:cNvSpPr/>
          <p:nvPr/>
        </p:nvSpPr>
        <p:spPr>
          <a:xfrm>
            <a:off x="7931648" y="4150727"/>
            <a:ext cx="2527442" cy="878441"/>
          </a:xfrm>
          <a:custGeom>
            <a:avLst/>
            <a:gdLst>
              <a:gd name="connsiteX0" fmla="*/ 0 w 2527442"/>
              <a:gd name="connsiteY0" fmla="*/ 847618 h 878441"/>
              <a:gd name="connsiteX1" fmla="*/ 385280 w 2527442"/>
              <a:gd name="connsiteY1" fmla="*/ 837344 h 878441"/>
              <a:gd name="connsiteX2" fmla="*/ 616449 w 2527442"/>
              <a:gd name="connsiteY2" fmla="*/ 827070 h 878441"/>
              <a:gd name="connsiteX3" fmla="*/ 636997 w 2527442"/>
              <a:gd name="connsiteY3" fmla="*/ 791111 h 878441"/>
              <a:gd name="connsiteX4" fmla="*/ 657546 w 2527442"/>
              <a:gd name="connsiteY4" fmla="*/ 765425 h 878441"/>
              <a:gd name="connsiteX5" fmla="*/ 688368 w 2527442"/>
              <a:gd name="connsiteY5" fmla="*/ 698643 h 878441"/>
              <a:gd name="connsiteX6" fmla="*/ 714054 w 2527442"/>
              <a:gd name="connsiteY6" fmla="*/ 657547 h 878441"/>
              <a:gd name="connsiteX7" fmla="*/ 785973 w 2527442"/>
              <a:gd name="connsiteY7" fmla="*/ 498297 h 878441"/>
              <a:gd name="connsiteX8" fmla="*/ 811658 w 2527442"/>
              <a:gd name="connsiteY8" fmla="*/ 436652 h 878441"/>
              <a:gd name="connsiteX9" fmla="*/ 847618 w 2527442"/>
              <a:gd name="connsiteY9" fmla="*/ 375007 h 878441"/>
              <a:gd name="connsiteX10" fmla="*/ 909262 w 2527442"/>
              <a:gd name="connsiteY10" fmla="*/ 282540 h 878441"/>
              <a:gd name="connsiteX11" fmla="*/ 950359 w 2527442"/>
              <a:gd name="connsiteY11" fmla="*/ 195209 h 878441"/>
              <a:gd name="connsiteX12" fmla="*/ 970907 w 2527442"/>
              <a:gd name="connsiteY12" fmla="*/ 154113 h 878441"/>
              <a:gd name="connsiteX13" fmla="*/ 1006867 w 2527442"/>
              <a:gd name="connsiteY13" fmla="*/ 97605 h 878441"/>
              <a:gd name="connsiteX14" fmla="*/ 1027415 w 2527442"/>
              <a:gd name="connsiteY14" fmla="*/ 41097 h 878441"/>
              <a:gd name="connsiteX15" fmla="*/ 1042827 w 2527442"/>
              <a:gd name="connsiteY15" fmla="*/ 10275 h 878441"/>
              <a:gd name="connsiteX16" fmla="*/ 1053101 w 2527442"/>
              <a:gd name="connsiteY16" fmla="*/ 0 h 878441"/>
              <a:gd name="connsiteX17" fmla="*/ 1099334 w 2527442"/>
              <a:gd name="connsiteY17" fmla="*/ 51371 h 878441"/>
              <a:gd name="connsiteX18" fmla="*/ 1130157 w 2527442"/>
              <a:gd name="connsiteY18" fmla="*/ 92468 h 878441"/>
              <a:gd name="connsiteX19" fmla="*/ 1186665 w 2527442"/>
              <a:gd name="connsiteY19" fmla="*/ 179798 h 878441"/>
              <a:gd name="connsiteX20" fmla="*/ 1273995 w 2527442"/>
              <a:gd name="connsiteY20" fmla="*/ 282540 h 878441"/>
              <a:gd name="connsiteX21" fmla="*/ 1397285 w 2527442"/>
              <a:gd name="connsiteY21" fmla="*/ 400693 h 878441"/>
              <a:gd name="connsiteX22" fmla="*/ 1448656 w 2527442"/>
              <a:gd name="connsiteY22" fmla="*/ 477749 h 878441"/>
              <a:gd name="connsiteX23" fmla="*/ 1551397 w 2527442"/>
              <a:gd name="connsiteY23" fmla="*/ 606176 h 878441"/>
              <a:gd name="connsiteX24" fmla="*/ 1618179 w 2527442"/>
              <a:gd name="connsiteY24" fmla="*/ 708917 h 878441"/>
              <a:gd name="connsiteX25" fmla="*/ 1684961 w 2527442"/>
              <a:gd name="connsiteY25" fmla="*/ 791111 h 878441"/>
              <a:gd name="connsiteX26" fmla="*/ 1715784 w 2527442"/>
              <a:gd name="connsiteY26" fmla="*/ 842481 h 878441"/>
              <a:gd name="connsiteX27" fmla="*/ 1756880 w 2527442"/>
              <a:gd name="connsiteY27" fmla="*/ 878441 h 878441"/>
              <a:gd name="connsiteX28" fmla="*/ 1767155 w 2527442"/>
              <a:gd name="connsiteY28" fmla="*/ 868167 h 878441"/>
              <a:gd name="connsiteX29" fmla="*/ 1849348 w 2527442"/>
              <a:gd name="connsiteY29" fmla="*/ 852756 h 878441"/>
              <a:gd name="connsiteX30" fmla="*/ 2024009 w 2527442"/>
              <a:gd name="connsiteY30" fmla="*/ 837344 h 878441"/>
              <a:gd name="connsiteX31" fmla="*/ 2527442 w 2527442"/>
              <a:gd name="connsiteY31" fmla="*/ 827070 h 878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27442" h="878441">
                <a:moveTo>
                  <a:pt x="0" y="847618"/>
                </a:moveTo>
                <a:lnTo>
                  <a:pt x="385280" y="837344"/>
                </a:lnTo>
                <a:cubicBezTo>
                  <a:pt x="462370" y="834774"/>
                  <a:pt x="616449" y="827070"/>
                  <a:pt x="616449" y="827070"/>
                </a:cubicBezTo>
                <a:cubicBezTo>
                  <a:pt x="656376" y="787143"/>
                  <a:pt x="611125" y="837680"/>
                  <a:pt x="636997" y="791111"/>
                </a:cubicBezTo>
                <a:cubicBezTo>
                  <a:pt x="642322" y="781526"/>
                  <a:pt x="650696" y="773987"/>
                  <a:pt x="657546" y="765425"/>
                </a:cubicBezTo>
                <a:cubicBezTo>
                  <a:pt x="668936" y="736949"/>
                  <a:pt x="671290" y="729004"/>
                  <a:pt x="688368" y="698643"/>
                </a:cubicBezTo>
                <a:cubicBezTo>
                  <a:pt x="696288" y="684563"/>
                  <a:pt x="706979" y="672070"/>
                  <a:pt x="714054" y="657547"/>
                </a:cubicBezTo>
                <a:cubicBezTo>
                  <a:pt x="739564" y="605185"/>
                  <a:pt x="763571" y="552062"/>
                  <a:pt x="785973" y="498297"/>
                </a:cubicBezTo>
                <a:cubicBezTo>
                  <a:pt x="794535" y="477749"/>
                  <a:pt x="801703" y="456563"/>
                  <a:pt x="811658" y="436652"/>
                </a:cubicBezTo>
                <a:cubicBezTo>
                  <a:pt x="822297" y="415375"/>
                  <a:pt x="834890" y="395104"/>
                  <a:pt x="847618" y="375007"/>
                </a:cubicBezTo>
                <a:cubicBezTo>
                  <a:pt x="867438" y="343712"/>
                  <a:pt x="896255" y="317225"/>
                  <a:pt x="909262" y="282540"/>
                </a:cubicBezTo>
                <a:cubicBezTo>
                  <a:pt x="933974" y="216643"/>
                  <a:pt x="913822" y="264225"/>
                  <a:pt x="950359" y="195209"/>
                </a:cubicBezTo>
                <a:cubicBezTo>
                  <a:pt x="957525" y="181673"/>
                  <a:pt x="963233" y="167367"/>
                  <a:pt x="970907" y="154113"/>
                </a:cubicBezTo>
                <a:cubicBezTo>
                  <a:pt x="982093" y="134791"/>
                  <a:pt x="1006867" y="97605"/>
                  <a:pt x="1006867" y="97605"/>
                </a:cubicBezTo>
                <a:cubicBezTo>
                  <a:pt x="1013760" y="76925"/>
                  <a:pt x="1018480" y="60753"/>
                  <a:pt x="1027415" y="41097"/>
                </a:cubicBezTo>
                <a:cubicBezTo>
                  <a:pt x="1032168" y="30640"/>
                  <a:pt x="1036739" y="20016"/>
                  <a:pt x="1042827" y="10275"/>
                </a:cubicBezTo>
                <a:cubicBezTo>
                  <a:pt x="1045394" y="6168"/>
                  <a:pt x="1049676" y="3425"/>
                  <a:pt x="1053101" y="0"/>
                </a:cubicBezTo>
                <a:cubicBezTo>
                  <a:pt x="1095748" y="25590"/>
                  <a:pt x="1066748" y="2492"/>
                  <a:pt x="1099334" y="51371"/>
                </a:cubicBezTo>
                <a:cubicBezTo>
                  <a:pt x="1108833" y="65619"/>
                  <a:pt x="1120658" y="78220"/>
                  <a:pt x="1130157" y="92468"/>
                </a:cubicBezTo>
                <a:cubicBezTo>
                  <a:pt x="1190902" y="183585"/>
                  <a:pt x="1097629" y="61082"/>
                  <a:pt x="1186665" y="179798"/>
                </a:cubicBezTo>
                <a:cubicBezTo>
                  <a:pt x="1208960" y="209525"/>
                  <a:pt x="1247962" y="256507"/>
                  <a:pt x="1273995" y="282540"/>
                </a:cubicBezTo>
                <a:cubicBezTo>
                  <a:pt x="1314245" y="322790"/>
                  <a:pt x="1365710" y="353332"/>
                  <a:pt x="1397285" y="400693"/>
                </a:cubicBezTo>
                <a:cubicBezTo>
                  <a:pt x="1414409" y="426378"/>
                  <a:pt x="1430134" y="453053"/>
                  <a:pt x="1448656" y="477749"/>
                </a:cubicBezTo>
                <a:cubicBezTo>
                  <a:pt x="1481549" y="521607"/>
                  <a:pt x="1521519" y="560211"/>
                  <a:pt x="1551397" y="606176"/>
                </a:cubicBezTo>
                <a:cubicBezTo>
                  <a:pt x="1573658" y="640423"/>
                  <a:pt x="1591282" y="678177"/>
                  <a:pt x="1618179" y="708917"/>
                </a:cubicBezTo>
                <a:cubicBezTo>
                  <a:pt x="1644712" y="739240"/>
                  <a:pt x="1662693" y="757710"/>
                  <a:pt x="1684961" y="791111"/>
                </a:cubicBezTo>
                <a:cubicBezTo>
                  <a:pt x="1696038" y="807726"/>
                  <a:pt x="1703975" y="826378"/>
                  <a:pt x="1715784" y="842481"/>
                </a:cubicBezTo>
                <a:cubicBezTo>
                  <a:pt x="1730158" y="862082"/>
                  <a:pt x="1739388" y="866780"/>
                  <a:pt x="1756880" y="878441"/>
                </a:cubicBezTo>
                <a:cubicBezTo>
                  <a:pt x="1760305" y="875016"/>
                  <a:pt x="1762823" y="870333"/>
                  <a:pt x="1767155" y="868167"/>
                </a:cubicBezTo>
                <a:cubicBezTo>
                  <a:pt x="1794227" y="854632"/>
                  <a:pt x="1819104" y="855506"/>
                  <a:pt x="1849348" y="852756"/>
                </a:cubicBezTo>
                <a:cubicBezTo>
                  <a:pt x="1907555" y="847464"/>
                  <a:pt x="1965566" y="837966"/>
                  <a:pt x="2024009" y="837344"/>
                </a:cubicBezTo>
                <a:cubicBezTo>
                  <a:pt x="2513954" y="832132"/>
                  <a:pt x="2350729" y="871248"/>
                  <a:pt x="2527442" y="827070"/>
                </a:cubicBezTo>
              </a:path>
            </a:pathLst>
          </a:cu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8242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to distinguish different outputs, we want to make the distributions of two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largest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830997"/>
              </a:xfrm>
              <a:prstGeom prst="rect">
                <a:avLst/>
              </a:prstGeom>
              <a:blipFill>
                <a:blip r:embed="rId2"/>
                <a:stretch>
                  <a:fillRect l="-847" t="-5147" r="-1073" b="-16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8603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to distinguish different outputs, we want to make the distributions of two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largest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Lemma.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 Wasserstein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(1−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Proof. See “Estimating Numerical Distributions under Local Differential Privacy. SIGMOD 2020”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3416320"/>
              </a:xfrm>
              <a:prstGeom prst="rect">
                <a:avLst/>
              </a:prstGeom>
              <a:blipFill>
                <a:blip r:embed="rId2"/>
                <a:stretch>
                  <a:fillRect l="-847" t="-1250" r="-1863" b="-3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2766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4664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to distinguish different outputs, we want to make the distributions of two outputs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largest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Lemma.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 Wasserstein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Ψ</m:t>
                    </m:r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(1−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altLang="zh-CN" sz="24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+1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want the minimal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𝑞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By the definition of distribution,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𝑑𝑥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+2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1+2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𝑞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1+2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1+2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4664739"/>
              </a:xfrm>
              <a:prstGeom prst="rect">
                <a:avLst/>
              </a:prstGeom>
              <a:blipFill>
                <a:blip r:embed="rId2"/>
                <a:stretch>
                  <a:fillRect l="-847" t="-915" r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899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3973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Perturbation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∈[0,1]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∈[−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,1+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Ψ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1+2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&lt;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1+2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if</m:t>
                              </m:r>
                              <m: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question: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What is the best width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3973139"/>
              </a:xfrm>
              <a:prstGeom prst="rect">
                <a:avLst/>
              </a:prstGeom>
              <a:blipFill>
                <a:blip r:embed="rId2"/>
                <a:stretch>
                  <a:fillRect l="-847" t="-1075" b="-2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949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question: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What is the best width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endParaRPr lang="en-US" altLang="zh-CN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Intuition: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make the output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carry as much information about the input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possible.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Solution: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 to use mutual information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3046988"/>
              </a:xfrm>
              <a:prstGeom prst="rect">
                <a:avLst/>
              </a:prstGeom>
              <a:blipFill>
                <a:blip r:embed="rId2"/>
                <a:stretch>
                  <a:fillRect l="-847" t="-1403" r="-1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23478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/>
              <p:nvPr/>
            </p:nvSpPr>
            <p:spPr>
              <a:xfrm>
                <a:off x="526094" y="1118913"/>
                <a:ext cx="10796027" cy="471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question: </a:t>
                </a:r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What is the best width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altLang="zh-CN" sz="2400" dirty="0">
                    <a:solidFill>
                      <a:schemeClr val="dk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endParaRPr lang="en-US" altLang="zh-CN" sz="2400" b="1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b="0" i="1" dirty="0">
                  <a:solidFill>
                    <a:schemeClr val="dk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𝑈</m:t>
                      </m:r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𝑌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Pr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⁡[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](2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𝑏𝑝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func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𝑑𝑥</m:t>
                      </m:r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𝑏𝑝</m:t>
                          </m:r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</m:func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𝑞</m:t>
                          </m:r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</m:func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+1)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𝜖</m:t>
                                      </m:r>
                                    </m:sup>
                                  </m:s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𝜖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𝜖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067D993-858C-4D6D-B1A3-F1CF1AE80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8913"/>
                <a:ext cx="10796027" cy="4718215"/>
              </a:xfrm>
              <a:prstGeom prst="rect">
                <a:avLst/>
              </a:prstGeom>
              <a:blipFill>
                <a:blip r:embed="rId2"/>
                <a:stretch>
                  <a:fillRect l="-847" t="-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6019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79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F14224-18CE-49CC-BE31-8D53D47479C4}"/>
                  </a:ext>
                </a:extLst>
              </p:cNvPr>
              <p:cNvSpPr txBox="1"/>
              <p:nvPr/>
            </p:nvSpPr>
            <p:spPr>
              <a:xfrm>
                <a:off x="526093" y="1769107"/>
                <a:ext cx="11099115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Binning the domain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,1+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,1]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number of values falling in the bin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F14224-18CE-49CC-BE31-8D53D4747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3" y="1769107"/>
                <a:ext cx="11099115" cy="860748"/>
              </a:xfrm>
              <a:prstGeom prst="rect">
                <a:avLst/>
              </a:prstGeom>
              <a:blipFill>
                <a:blip r:embed="rId2"/>
                <a:stretch>
                  <a:fillRect l="-824" t="-5674" r="-879" b="-15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9803D3B-24C0-479C-811D-27C0BFF2AFE8}"/>
              </a:ext>
            </a:extLst>
          </p:cNvPr>
          <p:cNvCxnSpPr/>
          <p:nvPr/>
        </p:nvCxnSpPr>
        <p:spPr>
          <a:xfrm>
            <a:off x="746879" y="5401723"/>
            <a:ext cx="4308558" cy="91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11AB64B-3321-4163-A2FA-2CF3CEFEEFA3}"/>
              </a:ext>
            </a:extLst>
          </p:cNvPr>
          <p:cNvCxnSpPr/>
          <p:nvPr/>
        </p:nvCxnSpPr>
        <p:spPr>
          <a:xfrm flipV="1">
            <a:off x="2042700" y="3508917"/>
            <a:ext cx="12192" cy="2036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EE26E37-7B64-4D19-BFE0-42C18BC3E79F}"/>
              </a:ext>
            </a:extLst>
          </p:cNvPr>
          <p:cNvSpPr txBox="1"/>
          <p:nvPr/>
        </p:nvSpPr>
        <p:spPr>
          <a:xfrm>
            <a:off x="1996783" y="5401725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7E5C62-91A5-487E-BAFD-800ECEC6D66B}"/>
              </a:ext>
            </a:extLst>
          </p:cNvPr>
          <p:cNvSpPr txBox="1"/>
          <p:nvPr/>
        </p:nvSpPr>
        <p:spPr>
          <a:xfrm>
            <a:off x="3443413" y="5392581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52A922E-41A5-4B04-AC56-91C6B3223C70}"/>
              </a:ext>
            </a:extLst>
          </p:cNvPr>
          <p:cNvCxnSpPr/>
          <p:nvPr/>
        </p:nvCxnSpPr>
        <p:spPr>
          <a:xfrm>
            <a:off x="7065685" y="5446035"/>
            <a:ext cx="4117427" cy="105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3AED7E-BAD4-4633-A8F4-DEB8EC264617}"/>
              </a:ext>
            </a:extLst>
          </p:cNvPr>
          <p:cNvCxnSpPr/>
          <p:nvPr/>
        </p:nvCxnSpPr>
        <p:spPr>
          <a:xfrm flipV="1">
            <a:off x="7739107" y="3572925"/>
            <a:ext cx="12192" cy="2036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8EE49261-C959-4F79-B8B8-54D2C83261F0}"/>
              </a:ext>
            </a:extLst>
          </p:cNvPr>
          <p:cNvSpPr txBox="1"/>
          <p:nvPr/>
        </p:nvSpPr>
        <p:spPr>
          <a:xfrm>
            <a:off x="7448365" y="5456589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44E49A4-2D25-46F8-8D2B-3579B55FD770}"/>
              </a:ext>
            </a:extLst>
          </p:cNvPr>
          <p:cNvSpPr txBox="1"/>
          <p:nvPr/>
        </p:nvSpPr>
        <p:spPr>
          <a:xfrm>
            <a:off x="10268606" y="5446035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50EC53-9D4F-4DAC-9AD4-571170948183}"/>
              </a:ext>
            </a:extLst>
          </p:cNvPr>
          <p:cNvSpPr txBox="1"/>
          <p:nvPr/>
        </p:nvSpPr>
        <p:spPr>
          <a:xfrm>
            <a:off x="816564" y="5401725"/>
            <a:ext cx="369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-b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F23AB3-BC6E-4F3E-87F7-E3B71EB2AC08}"/>
              </a:ext>
            </a:extLst>
          </p:cNvPr>
          <p:cNvSpPr txBox="1"/>
          <p:nvPr/>
        </p:nvSpPr>
        <p:spPr>
          <a:xfrm>
            <a:off x="4295172" y="5401725"/>
            <a:ext cx="539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1+b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72FF855-9D2B-4D7C-AFAA-5759DDD66CCB}"/>
                  </a:ext>
                </a:extLst>
              </p:cNvPr>
              <p:cNvSpPr/>
              <p:nvPr/>
            </p:nvSpPr>
            <p:spPr>
              <a:xfrm>
                <a:off x="1001387" y="3929865"/>
                <a:ext cx="510329" cy="14718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72FF855-9D2B-4D7C-AFAA-5759DDD66C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87" y="3929865"/>
                <a:ext cx="510329" cy="14718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5972C2B-69E4-43AB-AD48-934B33A5FB23}"/>
                  </a:ext>
                </a:extLst>
              </p:cNvPr>
              <p:cNvSpPr/>
              <p:nvPr/>
            </p:nvSpPr>
            <p:spPr>
              <a:xfrm>
                <a:off x="1520849" y="4407612"/>
                <a:ext cx="510329" cy="10006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5972C2B-69E4-43AB-AD48-934B33A5FB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849" y="4407612"/>
                <a:ext cx="510329" cy="10006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6A6FA86-286A-4CC0-BAA5-084A4B04589F}"/>
                  </a:ext>
                </a:extLst>
              </p:cNvPr>
              <p:cNvSpPr/>
              <p:nvPr/>
            </p:nvSpPr>
            <p:spPr>
              <a:xfrm>
                <a:off x="2061658" y="4112854"/>
                <a:ext cx="510329" cy="128887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26A6FA86-286A-4CC0-BAA5-084A4B0458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658" y="4112854"/>
                <a:ext cx="510329" cy="12888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C005D37-1C3B-493E-839B-E3C8C3A02950}"/>
                  </a:ext>
                </a:extLst>
              </p:cNvPr>
              <p:cNvSpPr/>
              <p:nvPr/>
            </p:nvSpPr>
            <p:spPr>
              <a:xfrm>
                <a:off x="2562162" y="3653157"/>
                <a:ext cx="510329" cy="175510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C005D37-1C3B-493E-839B-E3C8C3A029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162" y="3653157"/>
                <a:ext cx="510329" cy="1755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06A45CD4-8749-47BA-B2FA-8022E6427FCC}"/>
                  </a:ext>
                </a:extLst>
              </p:cNvPr>
              <p:cNvSpPr/>
              <p:nvPr/>
            </p:nvSpPr>
            <p:spPr>
              <a:xfrm>
                <a:off x="3075481" y="4802033"/>
                <a:ext cx="510329" cy="6042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06A45CD4-8749-47BA-B2FA-8022E6427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81" y="4802033"/>
                <a:ext cx="510329" cy="6042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83287B7-505E-4CE6-99C7-D949EEC5AB2D}"/>
                  </a:ext>
                </a:extLst>
              </p:cNvPr>
              <p:cNvSpPr/>
              <p:nvPr/>
            </p:nvSpPr>
            <p:spPr>
              <a:xfrm>
                <a:off x="3596196" y="4522661"/>
                <a:ext cx="510329" cy="8836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583287B7-505E-4CE6-99C7-D949EEC5A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196" y="4522661"/>
                <a:ext cx="510329" cy="883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A68494E-4CB9-4A4F-9F58-8D3BB2D19405}"/>
                  </a:ext>
                </a:extLst>
              </p:cNvPr>
              <p:cNvSpPr/>
              <p:nvPr/>
            </p:nvSpPr>
            <p:spPr>
              <a:xfrm>
                <a:off x="4106525" y="4228146"/>
                <a:ext cx="510329" cy="117814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A68494E-4CB9-4A4F-9F58-8D3BB2D194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525" y="4228146"/>
                <a:ext cx="510329" cy="11781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6DDDAE1-4971-4B2E-9E9E-622FA81340A9}"/>
                  </a:ext>
                </a:extLst>
              </p:cNvPr>
              <p:cNvSpPr/>
              <p:nvPr/>
            </p:nvSpPr>
            <p:spPr>
              <a:xfrm>
                <a:off x="8129016" y="4585285"/>
                <a:ext cx="375653" cy="8607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6DDDAE1-4971-4B2E-9E9E-622FA8134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016" y="4585285"/>
                <a:ext cx="375653" cy="860748"/>
              </a:xfrm>
              <a:prstGeom prst="rect">
                <a:avLst/>
              </a:prstGeom>
              <a:blipFill>
                <a:blip r:embed="rId10"/>
                <a:stretch>
                  <a:fillRect l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19DFB45-EE89-4B28-80F5-D74D9FBEFCE6}"/>
                  </a:ext>
                </a:extLst>
              </p:cNvPr>
              <p:cNvSpPr/>
              <p:nvPr/>
            </p:nvSpPr>
            <p:spPr>
              <a:xfrm>
                <a:off x="8507952" y="4487708"/>
                <a:ext cx="375653" cy="96627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19DFB45-EE89-4B28-80F5-D74D9FBEFC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952" y="4487708"/>
                <a:ext cx="375653" cy="966272"/>
              </a:xfrm>
              <a:prstGeom prst="rect">
                <a:avLst/>
              </a:prstGeom>
              <a:blipFill>
                <a:blip r:embed="rId11"/>
                <a:stretch>
                  <a:fillRect l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34F096E-6552-4468-8EA2-2C8FD0F41616}"/>
                  </a:ext>
                </a:extLst>
              </p:cNvPr>
              <p:cNvSpPr/>
              <p:nvPr/>
            </p:nvSpPr>
            <p:spPr>
              <a:xfrm>
                <a:off x="8883605" y="4112854"/>
                <a:ext cx="375653" cy="133317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34F096E-6552-4468-8EA2-2C8FD0F41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605" y="4112854"/>
                <a:ext cx="375653" cy="1333179"/>
              </a:xfrm>
              <a:prstGeom prst="rect">
                <a:avLst/>
              </a:prstGeom>
              <a:blipFill>
                <a:blip r:embed="rId12"/>
                <a:stretch>
                  <a:fillRect l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6B8EC7-FA31-442F-9B83-E6616AE5E777}"/>
                  </a:ext>
                </a:extLst>
              </p:cNvPr>
              <p:cNvSpPr/>
              <p:nvPr/>
            </p:nvSpPr>
            <p:spPr>
              <a:xfrm>
                <a:off x="9243034" y="5224409"/>
                <a:ext cx="375653" cy="2245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CC6B8EC7-FA31-442F-9B83-E6616AE5E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034" y="5224409"/>
                <a:ext cx="375653" cy="224578"/>
              </a:xfrm>
              <a:prstGeom prst="rect">
                <a:avLst/>
              </a:prstGeom>
              <a:blipFill>
                <a:blip r:embed="rId13"/>
                <a:stretch>
                  <a:fillRect l="-10938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F713BAD-1795-453D-86D3-2449125EC275}"/>
                  </a:ext>
                </a:extLst>
              </p:cNvPr>
              <p:cNvSpPr/>
              <p:nvPr/>
            </p:nvSpPr>
            <p:spPr>
              <a:xfrm>
                <a:off x="9624415" y="5050026"/>
                <a:ext cx="375653" cy="4013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8F713BAD-1795-453D-86D3-2449125EC2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415" y="5050026"/>
                <a:ext cx="375653" cy="401360"/>
              </a:xfrm>
              <a:prstGeom prst="rect">
                <a:avLst/>
              </a:prstGeom>
              <a:blipFill>
                <a:blip r:embed="rId14"/>
                <a:stretch>
                  <a:fillRect l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68CE00D-C70F-4842-9C8F-567EB488B76A}"/>
                  </a:ext>
                </a:extLst>
              </p:cNvPr>
              <p:cNvSpPr/>
              <p:nvPr/>
            </p:nvSpPr>
            <p:spPr>
              <a:xfrm>
                <a:off x="10003957" y="4722024"/>
                <a:ext cx="375653" cy="72795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768CE00D-C70F-4842-9C8F-567EB488B7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3957" y="4722024"/>
                <a:ext cx="375653" cy="727954"/>
              </a:xfrm>
              <a:prstGeom prst="rect">
                <a:avLst/>
              </a:prstGeom>
              <a:blipFill>
                <a:blip r:embed="rId15"/>
                <a:stretch>
                  <a:fillRect l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DE20C97-218B-4A31-80AA-42FE29271A53}"/>
                  </a:ext>
                </a:extLst>
              </p:cNvPr>
              <p:cNvSpPr/>
              <p:nvPr/>
            </p:nvSpPr>
            <p:spPr>
              <a:xfrm>
                <a:off x="7750080" y="4438965"/>
                <a:ext cx="375653" cy="100847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DE20C97-218B-4A31-80AA-42FE29271A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080" y="4438965"/>
                <a:ext cx="375653" cy="1008478"/>
              </a:xfrm>
              <a:prstGeom prst="rect">
                <a:avLst/>
              </a:prstGeom>
              <a:blipFill>
                <a:blip r:embed="rId16"/>
                <a:stretch>
                  <a:fillRect l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右箭头 52">
            <a:extLst>
              <a:ext uri="{FF2B5EF4-FFF2-40B4-BE49-F238E27FC236}">
                <a16:creationId xmlns:a16="http://schemas.microsoft.com/office/drawing/2014/main" id="{D9ACA038-DB34-4410-A3E9-20CE0829020E}"/>
              </a:ext>
            </a:extLst>
          </p:cNvPr>
          <p:cNvSpPr/>
          <p:nvPr/>
        </p:nvSpPr>
        <p:spPr>
          <a:xfrm>
            <a:off x="5119171" y="4302617"/>
            <a:ext cx="2020824" cy="85039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EMS algorithm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299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67D993-858C-4D6D-B1A3-F1CF1AE80914}"/>
              </a:ext>
            </a:extLst>
          </p:cNvPr>
          <p:cNvSpPr txBox="1"/>
          <p:nvPr/>
        </p:nvSpPr>
        <p:spPr>
          <a:xfrm>
            <a:off x="526094" y="1118913"/>
            <a:ext cx="10796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EMS algorithm:</a:t>
            </a:r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 the maximum likelihood estimate with smoothing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47427BFF-26C0-4914-A521-379EBFC87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16" y="1580578"/>
            <a:ext cx="4263363" cy="3782672"/>
          </a:xfrm>
          <a:prstGeom prst="rect">
            <a:avLst/>
          </a:prstGeom>
        </p:spPr>
      </p:pic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CBFD9606-6469-46D0-ACE4-3952E380B93B}"/>
              </a:ext>
            </a:extLst>
          </p:cNvPr>
          <p:cNvCxnSpPr/>
          <p:nvPr/>
        </p:nvCxnSpPr>
        <p:spPr>
          <a:xfrm>
            <a:off x="4896047" y="3115245"/>
            <a:ext cx="6903720" cy="132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8C9B1DA-C1AC-4C2F-BBFB-C66204122C30}"/>
              </a:ext>
            </a:extLst>
          </p:cNvPr>
          <p:cNvCxnSpPr/>
          <p:nvPr/>
        </p:nvCxnSpPr>
        <p:spPr>
          <a:xfrm flipH="1" flipV="1">
            <a:off x="6970319" y="1580578"/>
            <a:ext cx="2389" cy="17412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58DD48A-8EFA-4273-93C1-9E3891CF0EF2}"/>
              </a:ext>
            </a:extLst>
          </p:cNvPr>
          <p:cNvSpPr txBox="1"/>
          <p:nvPr/>
        </p:nvSpPr>
        <p:spPr>
          <a:xfrm>
            <a:off x="6689928" y="3121378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28FD64E-A294-48E8-91CF-BB0FE36C9AC3}"/>
              </a:ext>
            </a:extLst>
          </p:cNvPr>
          <p:cNvSpPr txBox="1"/>
          <p:nvPr/>
        </p:nvSpPr>
        <p:spPr>
          <a:xfrm>
            <a:off x="9422760" y="3137057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79ACAD0-258D-4397-AC21-EF0D4B1782D0}"/>
              </a:ext>
            </a:extLst>
          </p:cNvPr>
          <p:cNvCxnSpPr/>
          <p:nvPr/>
        </p:nvCxnSpPr>
        <p:spPr>
          <a:xfrm>
            <a:off x="6285924" y="5708915"/>
            <a:ext cx="4117427" cy="105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4F38174-34B6-47AC-AC1D-881DFBB43BD8}"/>
              </a:ext>
            </a:extLst>
          </p:cNvPr>
          <p:cNvCxnSpPr/>
          <p:nvPr/>
        </p:nvCxnSpPr>
        <p:spPr>
          <a:xfrm flipV="1">
            <a:off x="6959346" y="3835805"/>
            <a:ext cx="12192" cy="20360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CED1B5D-985F-491E-BBA6-51EE8587CF9E}"/>
              </a:ext>
            </a:extLst>
          </p:cNvPr>
          <p:cNvSpPr txBox="1"/>
          <p:nvPr/>
        </p:nvSpPr>
        <p:spPr>
          <a:xfrm>
            <a:off x="6668604" y="5719469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EFE2538-46F0-4398-B20E-939957B00B15}"/>
              </a:ext>
            </a:extLst>
          </p:cNvPr>
          <p:cNvSpPr txBox="1"/>
          <p:nvPr/>
        </p:nvSpPr>
        <p:spPr>
          <a:xfrm>
            <a:off x="9488845" y="5708915"/>
            <a:ext cx="320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86E0408-1F69-4BB9-A248-3460F5AEDF16}"/>
                  </a:ext>
                </a:extLst>
              </p:cNvPr>
              <p:cNvSpPr txBox="1"/>
              <p:nvPr/>
            </p:nvSpPr>
            <p:spPr>
              <a:xfrm>
                <a:off x="4987212" y="3107567"/>
                <a:ext cx="36964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186E0408-1F69-4BB9-A248-3460F5AED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212" y="3107567"/>
                <a:ext cx="369648" cy="338554"/>
              </a:xfrm>
              <a:prstGeom prst="rect">
                <a:avLst/>
              </a:prstGeom>
              <a:blipFill>
                <a:blip r:embed="rId3"/>
                <a:stretch>
                  <a:fillRect l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A485CD8-FA4F-498C-9A5E-374E420D4C35}"/>
                  </a:ext>
                </a:extLst>
              </p:cNvPr>
              <p:cNvSpPr txBox="1"/>
              <p:nvPr/>
            </p:nvSpPr>
            <p:spPr>
              <a:xfrm>
                <a:off x="10873890" y="3137057"/>
                <a:ext cx="6952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A485CD8-FA4F-498C-9A5E-374E420D4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890" y="3137057"/>
                <a:ext cx="69525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4FE1768-AB5D-4182-A316-2075F3EFFB2B}"/>
                  </a:ext>
                </a:extLst>
              </p:cNvPr>
              <p:cNvSpPr/>
              <p:nvPr/>
            </p:nvSpPr>
            <p:spPr>
              <a:xfrm>
                <a:off x="6970319" y="1952412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4FE1768-AB5D-4182-A316-2075F3EFF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319" y="1952412"/>
                <a:ext cx="870096" cy="1161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E08D100-E177-479C-B6D7-E1788842152B}"/>
                  </a:ext>
                </a:extLst>
              </p:cNvPr>
              <p:cNvSpPr/>
              <p:nvPr/>
            </p:nvSpPr>
            <p:spPr>
              <a:xfrm>
                <a:off x="7349255" y="4547625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E08D100-E177-479C-B6D7-E17888421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255" y="4547625"/>
                <a:ext cx="375653" cy="1161288"/>
              </a:xfrm>
              <a:prstGeom prst="rect">
                <a:avLst/>
              </a:prstGeom>
              <a:blipFill>
                <a:blip r:embed="rId6"/>
                <a:stretch>
                  <a:fillRect l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74A93D2-3D60-4024-8920-89DDE3FC50B8}"/>
                  </a:ext>
                </a:extLst>
              </p:cNvPr>
              <p:cNvSpPr/>
              <p:nvPr/>
            </p:nvSpPr>
            <p:spPr>
              <a:xfrm>
                <a:off x="7728191" y="4546428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774A93D2-3D60-4024-8920-89DDE3FC50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191" y="4546428"/>
                <a:ext cx="375653" cy="1161288"/>
              </a:xfrm>
              <a:prstGeom prst="rect">
                <a:avLst/>
              </a:prstGeom>
              <a:blipFill>
                <a:blip r:embed="rId7"/>
                <a:stretch>
                  <a:fillRect l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F44149F-03FC-40E3-8A27-9B663674BE91}"/>
                  </a:ext>
                </a:extLst>
              </p:cNvPr>
              <p:cNvSpPr/>
              <p:nvPr/>
            </p:nvSpPr>
            <p:spPr>
              <a:xfrm>
                <a:off x="8103844" y="4547625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F44149F-03FC-40E3-8A27-9B663674B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844" y="4547625"/>
                <a:ext cx="375653" cy="1161288"/>
              </a:xfrm>
              <a:prstGeom prst="rect">
                <a:avLst/>
              </a:prstGeom>
              <a:blipFill>
                <a:blip r:embed="rId8"/>
                <a:stretch>
                  <a:fillRect l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39BBFA6A-D35A-4CD8-9CAA-2BB9D598F4D4}"/>
                  </a:ext>
                </a:extLst>
              </p:cNvPr>
              <p:cNvSpPr/>
              <p:nvPr/>
            </p:nvSpPr>
            <p:spPr>
              <a:xfrm>
                <a:off x="8463273" y="4541435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39BBFA6A-D35A-4CD8-9CAA-2BB9D598F4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273" y="4541435"/>
                <a:ext cx="375653" cy="1161288"/>
              </a:xfrm>
              <a:prstGeom prst="rect">
                <a:avLst/>
              </a:prstGeom>
              <a:blipFill>
                <a:blip r:embed="rId9"/>
                <a:stretch>
                  <a:fillRect l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97424E90-0E7A-43CF-AB24-BFB939D914B5}"/>
                  </a:ext>
                </a:extLst>
              </p:cNvPr>
              <p:cNvSpPr/>
              <p:nvPr/>
            </p:nvSpPr>
            <p:spPr>
              <a:xfrm>
                <a:off x="8844654" y="4543834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97424E90-0E7A-43CF-AB24-BFB939D91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654" y="4543834"/>
                <a:ext cx="375653" cy="1161288"/>
              </a:xfrm>
              <a:prstGeom prst="rect">
                <a:avLst/>
              </a:prstGeom>
              <a:blipFill>
                <a:blip r:embed="rId10"/>
                <a:stretch>
                  <a:fillRect l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64640FD-7501-476A-9186-8426EF81F48C}"/>
                  </a:ext>
                </a:extLst>
              </p:cNvPr>
              <p:cNvSpPr/>
              <p:nvPr/>
            </p:nvSpPr>
            <p:spPr>
              <a:xfrm>
                <a:off x="9224196" y="4542426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F64640FD-7501-476A-9186-8426EF81F4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196" y="4542426"/>
                <a:ext cx="375653" cy="1161288"/>
              </a:xfrm>
              <a:prstGeom prst="rect">
                <a:avLst/>
              </a:prstGeom>
              <a:blipFill>
                <a:blip r:embed="rId11"/>
                <a:stretch>
                  <a:fillRect l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32BA792-3CAA-46E2-A828-21A669DC4B97}"/>
                  </a:ext>
                </a:extLst>
              </p:cNvPr>
              <p:cNvSpPr/>
              <p:nvPr/>
            </p:nvSpPr>
            <p:spPr>
              <a:xfrm>
                <a:off x="6970319" y="4539891"/>
                <a:ext cx="375653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32BA792-3CAA-46E2-A828-21A669DC4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319" y="4539891"/>
                <a:ext cx="375653" cy="1161288"/>
              </a:xfrm>
              <a:prstGeom prst="rect">
                <a:avLst/>
              </a:prstGeom>
              <a:blipFill>
                <a:blip r:embed="rId12"/>
                <a:stretch>
                  <a:fillRect l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C1D135CF-B916-48B8-83C1-3A40BCFC459C}"/>
                  </a:ext>
                </a:extLst>
              </p:cNvPr>
              <p:cNvSpPr/>
              <p:nvPr/>
            </p:nvSpPr>
            <p:spPr>
              <a:xfrm>
                <a:off x="7834427" y="1958017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C1D135CF-B916-48B8-83C1-3A40BCFC45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427" y="1958017"/>
                <a:ext cx="870096" cy="11612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BC2669C-1069-4287-AEF9-B268D86F9BC1}"/>
                  </a:ext>
                </a:extLst>
              </p:cNvPr>
              <p:cNvSpPr/>
              <p:nvPr/>
            </p:nvSpPr>
            <p:spPr>
              <a:xfrm>
                <a:off x="8712684" y="1959563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BC2669C-1069-4287-AEF9-B268D86F9B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684" y="1959563"/>
                <a:ext cx="870096" cy="11612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985B0BD-84F6-4C2E-8295-A95661B9FCEC}"/>
                  </a:ext>
                </a:extLst>
              </p:cNvPr>
              <p:cNvSpPr/>
              <p:nvPr/>
            </p:nvSpPr>
            <p:spPr>
              <a:xfrm>
                <a:off x="6098424" y="1949816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985B0BD-84F6-4C2E-8295-A95661B9F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424" y="1949816"/>
                <a:ext cx="870096" cy="11612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251B7130-8305-47DC-8533-8ECF749DAE04}"/>
                  </a:ext>
                </a:extLst>
              </p:cNvPr>
              <p:cNvSpPr/>
              <p:nvPr/>
            </p:nvSpPr>
            <p:spPr>
              <a:xfrm>
                <a:off x="5220167" y="1946279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251B7130-8305-47DC-8533-8ECF749DA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167" y="1946279"/>
                <a:ext cx="870096" cy="116128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6D9714BD-B37B-4181-A50B-5FB4F5BE64E9}"/>
                  </a:ext>
                </a:extLst>
              </p:cNvPr>
              <p:cNvSpPr/>
              <p:nvPr/>
            </p:nvSpPr>
            <p:spPr>
              <a:xfrm>
                <a:off x="9590941" y="1958017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6D9714BD-B37B-4181-A50B-5FB4F5BE6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0941" y="1958017"/>
                <a:ext cx="870096" cy="116128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ECA7C2E2-EEC6-4B36-AB8D-E3175814A651}"/>
                  </a:ext>
                </a:extLst>
              </p:cNvPr>
              <p:cNvSpPr/>
              <p:nvPr/>
            </p:nvSpPr>
            <p:spPr>
              <a:xfrm>
                <a:off x="10451112" y="1958017"/>
                <a:ext cx="870096" cy="11612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ECA7C2E2-EEC6-4B36-AB8D-E3175814A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1112" y="1958017"/>
                <a:ext cx="870096" cy="116128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067CC52-C3DD-4C12-8EDB-9CEA6F865F8C}"/>
                  </a:ext>
                </a:extLst>
              </p:cNvPr>
              <p:cNvSpPr txBox="1"/>
              <p:nvPr/>
            </p:nvSpPr>
            <p:spPr>
              <a:xfrm>
                <a:off x="8047129" y="5704080"/>
                <a:ext cx="4446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067CC52-C3DD-4C12-8EDB-9CEA6F865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29" y="5704080"/>
                <a:ext cx="44469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6B8B6A1-205F-4B4E-82FA-33402BEEAAC4}"/>
              </a:ext>
            </a:extLst>
          </p:cNvPr>
          <p:cNvCxnSpPr/>
          <p:nvPr/>
        </p:nvCxnSpPr>
        <p:spPr>
          <a:xfrm flipH="1" flipV="1">
            <a:off x="7437616" y="3219110"/>
            <a:ext cx="854054" cy="12972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18236E9-7320-4524-9ED9-50063BCF330B}"/>
                  </a:ext>
                </a:extLst>
              </p:cNvPr>
              <p:cNvSpPr txBox="1"/>
              <p:nvPr/>
            </p:nvSpPr>
            <p:spPr>
              <a:xfrm>
                <a:off x="7787712" y="3645047"/>
                <a:ext cx="783768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3,4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18236E9-7320-4524-9ED9-50063BCF3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712" y="3645047"/>
                <a:ext cx="783768" cy="38151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5631D2D-5D0E-4477-8110-12BBB6BC787E}"/>
                  </a:ext>
                </a:extLst>
              </p:cNvPr>
              <p:cNvSpPr txBox="1"/>
              <p:nvPr/>
            </p:nvSpPr>
            <p:spPr>
              <a:xfrm>
                <a:off x="447028" y="5417553"/>
                <a:ext cx="5254651" cy="1259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probability of the output values falling in bin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given the input value falling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5631D2D-5D0E-4477-8110-12BBB6BC7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28" y="5417553"/>
                <a:ext cx="5254651" cy="1259832"/>
              </a:xfrm>
              <a:prstGeom prst="rect">
                <a:avLst/>
              </a:prstGeom>
              <a:blipFill>
                <a:blip r:embed="rId21"/>
                <a:stretch>
                  <a:fillRect l="-1740" t="-3883" r="-1856" b="-10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2661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01D9D2-23ED-4D28-87B0-F995F3682864}"/>
              </a:ext>
            </a:extLst>
          </p:cNvPr>
          <p:cNvSpPr txBox="1"/>
          <p:nvPr/>
        </p:nvSpPr>
        <p:spPr>
          <a:xfrm>
            <a:off x="791110" y="440077"/>
            <a:ext cx="9529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DD35AD-90AC-4929-BA69-549EFA36A25F}"/>
              </a:ext>
            </a:extLst>
          </p:cNvPr>
          <p:cNvSpPr txBox="1"/>
          <p:nvPr/>
        </p:nvSpPr>
        <p:spPr>
          <a:xfrm>
            <a:off x="868166" y="1443519"/>
            <a:ext cx="9529281" cy="324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Frequency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Mean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Distribution Estimation Protocols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</a:p>
        </p:txBody>
      </p:sp>
    </p:spTree>
    <p:extLst>
      <p:ext uri="{BB962C8B-B14F-4D97-AF65-F5344CB8AC3E}">
        <p14:creationId xmlns:p14="http://schemas.microsoft.com/office/powerpoint/2010/main" val="8328456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B0BC46-9865-410A-8085-208EB7F8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95" y="2785915"/>
            <a:ext cx="10241155" cy="339073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CEACDBB-32EA-4EC6-AFF0-B8DE10AD4911}"/>
              </a:ext>
            </a:extLst>
          </p:cNvPr>
          <p:cNvSpPr txBox="1"/>
          <p:nvPr/>
        </p:nvSpPr>
        <p:spPr>
          <a:xfrm>
            <a:off x="765425" y="1176391"/>
            <a:ext cx="10387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LDP opens a door for attackers to manipulate the report and launch poisoning attack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Robustness: Protocol resilience to the attack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9230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6D7F733-2BAB-49CB-A109-12C0AC722AE3}"/>
              </a:ext>
            </a:extLst>
          </p:cNvPr>
          <p:cNvSpPr/>
          <p:nvPr/>
        </p:nvSpPr>
        <p:spPr>
          <a:xfrm>
            <a:off x="2202497" y="55701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E511818-09D8-42E2-9B75-3DEE84A1B70B}"/>
              </a:ext>
            </a:extLst>
          </p:cNvPr>
          <p:cNvSpPr/>
          <p:nvPr/>
        </p:nvSpPr>
        <p:spPr>
          <a:xfrm>
            <a:off x="2639149" y="55701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933A85-933E-43FA-8F70-6339E8C29DC0}"/>
              </a:ext>
            </a:extLst>
          </p:cNvPr>
          <p:cNvSpPr/>
          <p:nvPr/>
        </p:nvSpPr>
        <p:spPr>
          <a:xfrm>
            <a:off x="3075801" y="55701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1BEB7F-BD18-4611-ADC2-B2BECFF180BC}"/>
              </a:ext>
            </a:extLst>
          </p:cNvPr>
          <p:cNvSpPr/>
          <p:nvPr/>
        </p:nvSpPr>
        <p:spPr>
          <a:xfrm>
            <a:off x="3512453" y="557010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013C84-4C30-45ED-A810-A1CB63AC7179}"/>
              </a:ext>
            </a:extLst>
          </p:cNvPr>
          <p:cNvSpPr/>
          <p:nvPr/>
        </p:nvSpPr>
        <p:spPr>
          <a:xfrm>
            <a:off x="3949105" y="55701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48EEAC-9387-43CE-9E30-7EC352BC80BA}"/>
              </a:ext>
            </a:extLst>
          </p:cNvPr>
          <p:cNvSpPr/>
          <p:nvPr/>
        </p:nvSpPr>
        <p:spPr>
          <a:xfrm>
            <a:off x="4385757" y="5570101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65B26EA-7D8F-4832-A035-3844DAE36FCE}"/>
              </a:ext>
            </a:extLst>
          </p:cNvPr>
          <p:cNvSpPr txBox="1"/>
          <p:nvPr/>
        </p:nvSpPr>
        <p:spPr>
          <a:xfrm>
            <a:off x="1253846" y="5570101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5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0D45336-EA22-4167-A29A-2DD961FF7AFB}"/>
              </a:ext>
            </a:extLst>
          </p:cNvPr>
          <p:cNvSpPr/>
          <p:nvPr/>
        </p:nvSpPr>
        <p:spPr>
          <a:xfrm>
            <a:off x="2204210" y="589941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D1320C-CC0E-47A2-BE3A-233524210044}"/>
              </a:ext>
            </a:extLst>
          </p:cNvPr>
          <p:cNvSpPr/>
          <p:nvPr/>
        </p:nvSpPr>
        <p:spPr>
          <a:xfrm>
            <a:off x="2640862" y="589941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B1440DE-3A47-4D72-A63A-28AC7EA274CE}"/>
              </a:ext>
            </a:extLst>
          </p:cNvPr>
          <p:cNvSpPr/>
          <p:nvPr/>
        </p:nvSpPr>
        <p:spPr>
          <a:xfrm>
            <a:off x="3077514" y="589941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16662D-310E-4912-BC75-16447410E1C0}"/>
              </a:ext>
            </a:extLst>
          </p:cNvPr>
          <p:cNvSpPr/>
          <p:nvPr/>
        </p:nvSpPr>
        <p:spPr>
          <a:xfrm>
            <a:off x="3514166" y="589941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902E75-05A2-4AF7-8976-00674B33A977}"/>
              </a:ext>
            </a:extLst>
          </p:cNvPr>
          <p:cNvSpPr/>
          <p:nvPr/>
        </p:nvSpPr>
        <p:spPr>
          <a:xfrm>
            <a:off x="3950818" y="589941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32BAC02-11A0-4E78-9A6D-DA27E0A07132}"/>
              </a:ext>
            </a:extLst>
          </p:cNvPr>
          <p:cNvSpPr/>
          <p:nvPr/>
        </p:nvSpPr>
        <p:spPr>
          <a:xfrm>
            <a:off x="4387470" y="589941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8FA295-3488-4318-80B3-9DB4C9A651D3}"/>
              </a:ext>
            </a:extLst>
          </p:cNvPr>
          <p:cNvSpPr txBox="1"/>
          <p:nvPr/>
        </p:nvSpPr>
        <p:spPr>
          <a:xfrm>
            <a:off x="1255559" y="5899412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6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EACDBB-32EA-4EC6-AFF0-B8DE10AD4911}"/>
              </a:ext>
            </a:extLst>
          </p:cNvPr>
          <p:cNvSpPr txBox="1"/>
          <p:nvPr/>
        </p:nvSpPr>
        <p:spPr>
          <a:xfrm>
            <a:off x="526094" y="1114746"/>
            <a:ext cx="103871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Poisoning attack to frequency estimation (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USENIX Security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Increase frequency of targeted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Attack to OUE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Attacker wants to promote the 1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and the 2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item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B2E00-A2A1-4288-ADF9-AC5818D5DA2A}"/>
              </a:ext>
            </a:extLst>
          </p:cNvPr>
          <p:cNvSpPr/>
          <p:nvPr/>
        </p:nvSpPr>
        <p:spPr>
          <a:xfrm>
            <a:off x="2202497" y="421337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897484-6423-4148-A155-C61FDFDB0492}"/>
              </a:ext>
            </a:extLst>
          </p:cNvPr>
          <p:cNvSpPr/>
          <p:nvPr/>
        </p:nvSpPr>
        <p:spPr>
          <a:xfrm>
            <a:off x="2639149" y="42133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D09ED3-96D9-4173-89DA-6701C96B2549}"/>
              </a:ext>
            </a:extLst>
          </p:cNvPr>
          <p:cNvSpPr/>
          <p:nvPr/>
        </p:nvSpPr>
        <p:spPr>
          <a:xfrm>
            <a:off x="3075801" y="42133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03EB82-B44A-4248-9FEF-4466D76161DF}"/>
              </a:ext>
            </a:extLst>
          </p:cNvPr>
          <p:cNvSpPr/>
          <p:nvPr/>
        </p:nvSpPr>
        <p:spPr>
          <a:xfrm>
            <a:off x="3512453" y="421337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C30288-7F7C-4D6C-B3D6-AB8A8A97329C}"/>
              </a:ext>
            </a:extLst>
          </p:cNvPr>
          <p:cNvSpPr/>
          <p:nvPr/>
        </p:nvSpPr>
        <p:spPr>
          <a:xfrm>
            <a:off x="3949105" y="42133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5F08B4-F2EB-40C2-B9AE-9EBD9E7B1FA3}"/>
              </a:ext>
            </a:extLst>
          </p:cNvPr>
          <p:cNvSpPr/>
          <p:nvPr/>
        </p:nvSpPr>
        <p:spPr>
          <a:xfrm>
            <a:off x="4385757" y="42133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7B3709-2A5E-4A91-8F4A-38B137BC6D49}"/>
              </a:ext>
            </a:extLst>
          </p:cNvPr>
          <p:cNvSpPr/>
          <p:nvPr/>
        </p:nvSpPr>
        <p:spPr>
          <a:xfrm>
            <a:off x="2202497" y="455755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1D95C6-DBAF-4B55-A7CE-BC36D9E66877}"/>
              </a:ext>
            </a:extLst>
          </p:cNvPr>
          <p:cNvSpPr/>
          <p:nvPr/>
        </p:nvSpPr>
        <p:spPr>
          <a:xfrm>
            <a:off x="2639149" y="45575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5C8542-349B-4C5D-B1C9-4535BEEE1C45}"/>
              </a:ext>
            </a:extLst>
          </p:cNvPr>
          <p:cNvSpPr/>
          <p:nvPr/>
        </p:nvSpPr>
        <p:spPr>
          <a:xfrm>
            <a:off x="3075801" y="45575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6EE079-54ED-46EB-A32E-44899198A37F}"/>
              </a:ext>
            </a:extLst>
          </p:cNvPr>
          <p:cNvSpPr/>
          <p:nvPr/>
        </p:nvSpPr>
        <p:spPr>
          <a:xfrm>
            <a:off x="3512453" y="455755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1FC31F-3053-48ED-966A-B0D9FEFC31A6}"/>
              </a:ext>
            </a:extLst>
          </p:cNvPr>
          <p:cNvSpPr/>
          <p:nvPr/>
        </p:nvSpPr>
        <p:spPr>
          <a:xfrm>
            <a:off x="3949105" y="45575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2BB152-D4DE-4139-B16C-E83CB6577F41}"/>
              </a:ext>
            </a:extLst>
          </p:cNvPr>
          <p:cNvSpPr/>
          <p:nvPr/>
        </p:nvSpPr>
        <p:spPr>
          <a:xfrm>
            <a:off x="4385757" y="45575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3E0484-EFE2-4794-AACA-B349DE8EBC9D}"/>
              </a:ext>
            </a:extLst>
          </p:cNvPr>
          <p:cNvSpPr/>
          <p:nvPr/>
        </p:nvSpPr>
        <p:spPr>
          <a:xfrm>
            <a:off x="2202497" y="49017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54AB2C-7950-42E3-82E9-13E9CCA865EB}"/>
              </a:ext>
            </a:extLst>
          </p:cNvPr>
          <p:cNvSpPr/>
          <p:nvPr/>
        </p:nvSpPr>
        <p:spPr>
          <a:xfrm>
            <a:off x="2639149" y="49017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315BFF-634B-4377-A705-AEE95ECF894D}"/>
              </a:ext>
            </a:extLst>
          </p:cNvPr>
          <p:cNvSpPr/>
          <p:nvPr/>
        </p:nvSpPr>
        <p:spPr>
          <a:xfrm>
            <a:off x="3075801" y="49017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16C217-A75F-4A2D-9320-3E27AAD5C8CE}"/>
              </a:ext>
            </a:extLst>
          </p:cNvPr>
          <p:cNvSpPr/>
          <p:nvPr/>
        </p:nvSpPr>
        <p:spPr>
          <a:xfrm>
            <a:off x="3512453" y="49017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1DC031-D9C2-41E9-B751-BE4FF22C0B25}"/>
              </a:ext>
            </a:extLst>
          </p:cNvPr>
          <p:cNvSpPr/>
          <p:nvPr/>
        </p:nvSpPr>
        <p:spPr>
          <a:xfrm>
            <a:off x="3949105" y="49017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B38D25-474A-46BC-B10A-BE842A0A6A87}"/>
              </a:ext>
            </a:extLst>
          </p:cNvPr>
          <p:cNvSpPr/>
          <p:nvPr/>
        </p:nvSpPr>
        <p:spPr>
          <a:xfrm>
            <a:off x="4385757" y="49017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E05CBC-381D-4D20-AB4F-82667607B7AC}"/>
              </a:ext>
            </a:extLst>
          </p:cNvPr>
          <p:cNvSpPr/>
          <p:nvPr/>
        </p:nvSpPr>
        <p:spPr>
          <a:xfrm>
            <a:off x="2202497" y="524592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7E023B-3521-4C39-81C8-BD46825711F3}"/>
              </a:ext>
            </a:extLst>
          </p:cNvPr>
          <p:cNvSpPr/>
          <p:nvPr/>
        </p:nvSpPr>
        <p:spPr>
          <a:xfrm>
            <a:off x="2639149" y="52459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A222AD-1C88-417B-B108-CE5321094ACB}"/>
              </a:ext>
            </a:extLst>
          </p:cNvPr>
          <p:cNvSpPr/>
          <p:nvPr/>
        </p:nvSpPr>
        <p:spPr>
          <a:xfrm>
            <a:off x="3075801" y="52459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BF8FE9-8EED-44BF-B235-78BC7BE1923C}"/>
              </a:ext>
            </a:extLst>
          </p:cNvPr>
          <p:cNvSpPr/>
          <p:nvPr/>
        </p:nvSpPr>
        <p:spPr>
          <a:xfrm>
            <a:off x="3512453" y="524592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24A4FE-E971-413E-96A9-FFD43C1EA152}"/>
              </a:ext>
            </a:extLst>
          </p:cNvPr>
          <p:cNvSpPr/>
          <p:nvPr/>
        </p:nvSpPr>
        <p:spPr>
          <a:xfrm>
            <a:off x="3949105" y="52459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025ED3-E6B9-4341-A387-CAB4DF147A33}"/>
              </a:ext>
            </a:extLst>
          </p:cNvPr>
          <p:cNvSpPr/>
          <p:nvPr/>
        </p:nvSpPr>
        <p:spPr>
          <a:xfrm>
            <a:off x="4385757" y="52459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D1C014D-74A6-49C2-9F50-AFC045FE9A46}"/>
                  </a:ext>
                </a:extLst>
              </p:cNvPr>
              <p:cNvSpPr txBox="1"/>
              <p:nvPr/>
            </p:nvSpPr>
            <p:spPr>
              <a:xfrm rot="5400000">
                <a:off x="3309336" y="6253535"/>
                <a:ext cx="4312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D1C014D-74A6-49C2-9F50-AFC045FE9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309336" y="6253535"/>
                <a:ext cx="43124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704EE195-36B3-454D-BAF9-110FF4D0A41F}"/>
              </a:ext>
            </a:extLst>
          </p:cNvPr>
          <p:cNvSpPr txBox="1"/>
          <p:nvPr/>
        </p:nvSpPr>
        <p:spPr>
          <a:xfrm>
            <a:off x="1240150" y="4161871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10B89A1-B770-45FF-8514-5FFA2FD1FFCF}"/>
              </a:ext>
            </a:extLst>
          </p:cNvPr>
          <p:cNvSpPr txBox="1"/>
          <p:nvPr/>
        </p:nvSpPr>
        <p:spPr>
          <a:xfrm>
            <a:off x="1240148" y="4557558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8B478F-D521-447A-BC16-6076502FD157}"/>
              </a:ext>
            </a:extLst>
          </p:cNvPr>
          <p:cNvSpPr txBox="1"/>
          <p:nvPr/>
        </p:nvSpPr>
        <p:spPr>
          <a:xfrm>
            <a:off x="1240148" y="4896722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2793D0A-5F38-4C79-8F0F-860A41B3E63C}"/>
              </a:ext>
            </a:extLst>
          </p:cNvPr>
          <p:cNvSpPr txBox="1"/>
          <p:nvPr/>
        </p:nvSpPr>
        <p:spPr>
          <a:xfrm>
            <a:off x="1253846" y="5245927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765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66D7F733-2BAB-49CB-A109-12C0AC722AE3}"/>
              </a:ext>
            </a:extLst>
          </p:cNvPr>
          <p:cNvSpPr/>
          <p:nvPr/>
        </p:nvSpPr>
        <p:spPr>
          <a:xfrm>
            <a:off x="8957755" y="225371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E511818-09D8-42E2-9B75-3DEE84A1B70B}"/>
              </a:ext>
            </a:extLst>
          </p:cNvPr>
          <p:cNvSpPr/>
          <p:nvPr/>
        </p:nvSpPr>
        <p:spPr>
          <a:xfrm>
            <a:off x="9394407" y="225371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933A85-933E-43FA-8F70-6339E8C29DC0}"/>
              </a:ext>
            </a:extLst>
          </p:cNvPr>
          <p:cNvSpPr/>
          <p:nvPr/>
        </p:nvSpPr>
        <p:spPr>
          <a:xfrm>
            <a:off x="9831059" y="225371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1BEB7F-BD18-4611-ADC2-B2BECFF180BC}"/>
              </a:ext>
            </a:extLst>
          </p:cNvPr>
          <p:cNvSpPr/>
          <p:nvPr/>
        </p:nvSpPr>
        <p:spPr>
          <a:xfrm>
            <a:off x="10267711" y="225371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013C84-4C30-45ED-A810-A1CB63AC7179}"/>
              </a:ext>
            </a:extLst>
          </p:cNvPr>
          <p:cNvSpPr/>
          <p:nvPr/>
        </p:nvSpPr>
        <p:spPr>
          <a:xfrm>
            <a:off x="10704363" y="225371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48EEAC-9387-43CE-9E30-7EC352BC80BA}"/>
              </a:ext>
            </a:extLst>
          </p:cNvPr>
          <p:cNvSpPr/>
          <p:nvPr/>
        </p:nvSpPr>
        <p:spPr>
          <a:xfrm>
            <a:off x="11141015" y="2253716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65B26EA-7D8F-4832-A035-3844DAE36FCE}"/>
              </a:ext>
            </a:extLst>
          </p:cNvPr>
          <p:cNvSpPr txBox="1"/>
          <p:nvPr/>
        </p:nvSpPr>
        <p:spPr>
          <a:xfrm>
            <a:off x="8009104" y="2253716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5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0D45336-EA22-4167-A29A-2DD961FF7AFB}"/>
              </a:ext>
            </a:extLst>
          </p:cNvPr>
          <p:cNvSpPr/>
          <p:nvPr/>
        </p:nvSpPr>
        <p:spPr>
          <a:xfrm>
            <a:off x="8959468" y="258302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D1320C-CC0E-47A2-BE3A-233524210044}"/>
              </a:ext>
            </a:extLst>
          </p:cNvPr>
          <p:cNvSpPr/>
          <p:nvPr/>
        </p:nvSpPr>
        <p:spPr>
          <a:xfrm>
            <a:off x="9396120" y="25830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B1440DE-3A47-4D72-A63A-28AC7EA274CE}"/>
              </a:ext>
            </a:extLst>
          </p:cNvPr>
          <p:cNvSpPr/>
          <p:nvPr/>
        </p:nvSpPr>
        <p:spPr>
          <a:xfrm>
            <a:off x="9832772" y="25830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16662D-310E-4912-BC75-16447410E1C0}"/>
              </a:ext>
            </a:extLst>
          </p:cNvPr>
          <p:cNvSpPr/>
          <p:nvPr/>
        </p:nvSpPr>
        <p:spPr>
          <a:xfrm>
            <a:off x="10269424" y="258302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4902E75-05A2-4AF7-8976-00674B33A977}"/>
              </a:ext>
            </a:extLst>
          </p:cNvPr>
          <p:cNvSpPr/>
          <p:nvPr/>
        </p:nvSpPr>
        <p:spPr>
          <a:xfrm>
            <a:off x="10706076" y="25830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32BAC02-11A0-4E78-9A6D-DA27E0A07132}"/>
              </a:ext>
            </a:extLst>
          </p:cNvPr>
          <p:cNvSpPr/>
          <p:nvPr/>
        </p:nvSpPr>
        <p:spPr>
          <a:xfrm>
            <a:off x="11142728" y="258302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8FA295-3488-4318-80B3-9DB4C9A651D3}"/>
              </a:ext>
            </a:extLst>
          </p:cNvPr>
          <p:cNvSpPr txBox="1"/>
          <p:nvPr/>
        </p:nvSpPr>
        <p:spPr>
          <a:xfrm>
            <a:off x="8010817" y="2583027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6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EACDBB-32EA-4EC6-AFF0-B8DE10AD4911}"/>
                  </a:ext>
                </a:extLst>
              </p:cNvPr>
              <p:cNvSpPr txBox="1"/>
              <p:nvPr/>
            </p:nvSpPr>
            <p:spPr>
              <a:xfrm>
                <a:off x="526094" y="1114746"/>
                <a:ext cx="10387173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Poisoning attack to frequency estimation</a:t>
                </a:r>
              </a:p>
              <a:p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Goal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Increase frequency of targeted items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Attack to OUE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Attacker wants to promote the 1</a:t>
                </a:r>
                <a:r>
                  <a:rPr lang="en-US" altLang="zh-CN" sz="24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st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2</a:t>
                </a:r>
                <a:r>
                  <a:rPr lang="en-US" altLang="zh-CN" sz="24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item</a:t>
                </a:r>
              </a:p>
              <a:p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Privacy-security trade-off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High privacy (smaller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leads to low security (better attack efficacy)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EACDBB-32EA-4EC6-AFF0-B8DE10AD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94" y="1114746"/>
                <a:ext cx="10387173" cy="3785652"/>
              </a:xfrm>
              <a:prstGeom prst="rect">
                <a:avLst/>
              </a:prstGeom>
              <a:blipFill>
                <a:blip r:embed="rId2"/>
                <a:stretch>
                  <a:fillRect l="-880" t="-1127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576B2E00-A2A1-4288-ADF9-AC5818D5DA2A}"/>
              </a:ext>
            </a:extLst>
          </p:cNvPr>
          <p:cNvSpPr/>
          <p:nvPr/>
        </p:nvSpPr>
        <p:spPr>
          <a:xfrm>
            <a:off x="8957755" y="89698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897484-6423-4148-A155-C61FDFDB0492}"/>
              </a:ext>
            </a:extLst>
          </p:cNvPr>
          <p:cNvSpPr/>
          <p:nvPr/>
        </p:nvSpPr>
        <p:spPr>
          <a:xfrm>
            <a:off x="9394407" y="8969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D09ED3-96D9-4173-89DA-6701C96B2549}"/>
              </a:ext>
            </a:extLst>
          </p:cNvPr>
          <p:cNvSpPr/>
          <p:nvPr/>
        </p:nvSpPr>
        <p:spPr>
          <a:xfrm>
            <a:off x="9831059" y="8969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03EB82-B44A-4248-9FEF-4466D76161DF}"/>
              </a:ext>
            </a:extLst>
          </p:cNvPr>
          <p:cNvSpPr/>
          <p:nvPr/>
        </p:nvSpPr>
        <p:spPr>
          <a:xfrm>
            <a:off x="10267711" y="896989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C30288-7F7C-4D6C-B3D6-AB8A8A97329C}"/>
              </a:ext>
            </a:extLst>
          </p:cNvPr>
          <p:cNvSpPr/>
          <p:nvPr/>
        </p:nvSpPr>
        <p:spPr>
          <a:xfrm>
            <a:off x="10704363" y="8969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5F08B4-F2EB-40C2-B9AE-9EBD9E7B1FA3}"/>
              </a:ext>
            </a:extLst>
          </p:cNvPr>
          <p:cNvSpPr/>
          <p:nvPr/>
        </p:nvSpPr>
        <p:spPr>
          <a:xfrm>
            <a:off x="11141015" y="89698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7B3709-2A5E-4A91-8F4A-38B137BC6D49}"/>
              </a:ext>
            </a:extLst>
          </p:cNvPr>
          <p:cNvSpPr/>
          <p:nvPr/>
        </p:nvSpPr>
        <p:spPr>
          <a:xfrm>
            <a:off x="8957755" y="124117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1D95C6-DBAF-4B55-A7CE-BC36D9E66877}"/>
              </a:ext>
            </a:extLst>
          </p:cNvPr>
          <p:cNvSpPr/>
          <p:nvPr/>
        </p:nvSpPr>
        <p:spPr>
          <a:xfrm>
            <a:off x="9394407" y="12411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5C8542-349B-4C5D-B1C9-4535BEEE1C45}"/>
              </a:ext>
            </a:extLst>
          </p:cNvPr>
          <p:cNvSpPr/>
          <p:nvPr/>
        </p:nvSpPr>
        <p:spPr>
          <a:xfrm>
            <a:off x="9831059" y="12411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6EE079-54ED-46EB-A32E-44899198A37F}"/>
              </a:ext>
            </a:extLst>
          </p:cNvPr>
          <p:cNvSpPr/>
          <p:nvPr/>
        </p:nvSpPr>
        <p:spPr>
          <a:xfrm>
            <a:off x="10267711" y="1241174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1FC31F-3053-48ED-966A-B0D9FEFC31A6}"/>
              </a:ext>
            </a:extLst>
          </p:cNvPr>
          <p:cNvSpPr/>
          <p:nvPr/>
        </p:nvSpPr>
        <p:spPr>
          <a:xfrm>
            <a:off x="10704363" y="12411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2BB152-D4DE-4139-B16C-E83CB6577F41}"/>
              </a:ext>
            </a:extLst>
          </p:cNvPr>
          <p:cNvSpPr/>
          <p:nvPr/>
        </p:nvSpPr>
        <p:spPr>
          <a:xfrm>
            <a:off x="11141015" y="124117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3E0484-EFE2-4794-AACA-B349DE8EBC9D}"/>
              </a:ext>
            </a:extLst>
          </p:cNvPr>
          <p:cNvSpPr/>
          <p:nvPr/>
        </p:nvSpPr>
        <p:spPr>
          <a:xfrm>
            <a:off x="8957755" y="15853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54AB2C-7950-42E3-82E9-13E9CCA865EB}"/>
              </a:ext>
            </a:extLst>
          </p:cNvPr>
          <p:cNvSpPr/>
          <p:nvPr/>
        </p:nvSpPr>
        <p:spPr>
          <a:xfrm>
            <a:off x="9394407" y="158535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315BFF-634B-4377-A705-AEE95ECF894D}"/>
              </a:ext>
            </a:extLst>
          </p:cNvPr>
          <p:cNvSpPr/>
          <p:nvPr/>
        </p:nvSpPr>
        <p:spPr>
          <a:xfrm>
            <a:off x="9831059" y="158535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16C217-A75F-4A2D-9320-3E27AAD5C8CE}"/>
              </a:ext>
            </a:extLst>
          </p:cNvPr>
          <p:cNvSpPr/>
          <p:nvPr/>
        </p:nvSpPr>
        <p:spPr>
          <a:xfrm>
            <a:off x="10267711" y="1585358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1DC031-D9C2-41E9-B751-BE4FF22C0B25}"/>
              </a:ext>
            </a:extLst>
          </p:cNvPr>
          <p:cNvSpPr/>
          <p:nvPr/>
        </p:nvSpPr>
        <p:spPr>
          <a:xfrm>
            <a:off x="10704363" y="158535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B38D25-474A-46BC-B10A-BE842A0A6A87}"/>
              </a:ext>
            </a:extLst>
          </p:cNvPr>
          <p:cNvSpPr/>
          <p:nvPr/>
        </p:nvSpPr>
        <p:spPr>
          <a:xfrm>
            <a:off x="11141015" y="1585357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E05CBC-381D-4D20-AB4F-82667607B7AC}"/>
              </a:ext>
            </a:extLst>
          </p:cNvPr>
          <p:cNvSpPr/>
          <p:nvPr/>
        </p:nvSpPr>
        <p:spPr>
          <a:xfrm>
            <a:off x="8957755" y="19295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7E023B-3521-4C39-81C8-BD46825711F3}"/>
              </a:ext>
            </a:extLst>
          </p:cNvPr>
          <p:cNvSpPr/>
          <p:nvPr/>
        </p:nvSpPr>
        <p:spPr>
          <a:xfrm>
            <a:off x="9394407" y="19295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A222AD-1C88-417B-B108-CE5321094ACB}"/>
              </a:ext>
            </a:extLst>
          </p:cNvPr>
          <p:cNvSpPr/>
          <p:nvPr/>
        </p:nvSpPr>
        <p:spPr>
          <a:xfrm>
            <a:off x="9831059" y="19295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BF8FE9-8EED-44BF-B235-78BC7BE1923C}"/>
              </a:ext>
            </a:extLst>
          </p:cNvPr>
          <p:cNvSpPr/>
          <p:nvPr/>
        </p:nvSpPr>
        <p:spPr>
          <a:xfrm>
            <a:off x="10267711" y="1929543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24A4FE-E971-413E-96A9-FFD43C1EA152}"/>
              </a:ext>
            </a:extLst>
          </p:cNvPr>
          <p:cNvSpPr/>
          <p:nvPr/>
        </p:nvSpPr>
        <p:spPr>
          <a:xfrm>
            <a:off x="10704363" y="19295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D025ED3-E6B9-4341-A387-CAB4DF147A33}"/>
              </a:ext>
            </a:extLst>
          </p:cNvPr>
          <p:cNvSpPr/>
          <p:nvPr/>
        </p:nvSpPr>
        <p:spPr>
          <a:xfrm>
            <a:off x="11141015" y="1929542"/>
            <a:ext cx="436652" cy="34418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D1C014D-74A6-49C2-9F50-AFC045FE9A46}"/>
                  </a:ext>
                </a:extLst>
              </p:cNvPr>
              <p:cNvSpPr txBox="1"/>
              <p:nvPr/>
            </p:nvSpPr>
            <p:spPr>
              <a:xfrm rot="5400000">
                <a:off x="10064594" y="2937150"/>
                <a:ext cx="4312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D1C014D-74A6-49C2-9F50-AFC045FE9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0064594" y="2937150"/>
                <a:ext cx="43124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704EE195-36B3-454D-BAF9-110FF4D0A41F}"/>
              </a:ext>
            </a:extLst>
          </p:cNvPr>
          <p:cNvSpPr txBox="1"/>
          <p:nvPr/>
        </p:nvSpPr>
        <p:spPr>
          <a:xfrm>
            <a:off x="7995408" y="845486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10B89A1-B770-45FF-8514-5FFA2FD1FFCF}"/>
              </a:ext>
            </a:extLst>
          </p:cNvPr>
          <p:cNvSpPr txBox="1"/>
          <p:nvPr/>
        </p:nvSpPr>
        <p:spPr>
          <a:xfrm>
            <a:off x="7995406" y="1241173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8B478F-D521-447A-BC16-6076502FD157}"/>
              </a:ext>
            </a:extLst>
          </p:cNvPr>
          <p:cNvSpPr txBox="1"/>
          <p:nvPr/>
        </p:nvSpPr>
        <p:spPr>
          <a:xfrm>
            <a:off x="7995406" y="1580337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3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2793D0A-5F38-4C79-8F0F-860A41B3E63C}"/>
              </a:ext>
            </a:extLst>
          </p:cNvPr>
          <p:cNvSpPr txBox="1"/>
          <p:nvPr/>
        </p:nvSpPr>
        <p:spPr>
          <a:xfrm>
            <a:off x="8009104" y="1929542"/>
            <a:ext cx="871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User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D250AF4-ADAC-4656-995C-34B78393102B}"/>
                  </a:ext>
                </a:extLst>
              </p:cNvPr>
              <p:cNvSpPr txBox="1"/>
              <p:nvPr/>
            </p:nvSpPr>
            <p:spPr>
              <a:xfrm>
                <a:off x="2672108" y="5163684"/>
                <a:ext cx="6095144" cy="1170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𝐼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𝑠𝑢𝑝𝑝𝑜𝑟𝑡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𝜖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+1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D250AF4-ADAC-4656-995C-34B783931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108" y="5163684"/>
                <a:ext cx="6095144" cy="1170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549FAA2-AD96-4E9F-98E7-4E91A5359B0A}"/>
              </a:ext>
            </a:extLst>
          </p:cNvPr>
          <p:cNvSpPr/>
          <p:nvPr/>
        </p:nvSpPr>
        <p:spPr>
          <a:xfrm>
            <a:off x="5029198" y="5645650"/>
            <a:ext cx="1797979" cy="688547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A56849E9-861A-4C44-9413-721D65016FFE}"/>
                  </a:ext>
                </a:extLst>
              </p:cNvPr>
              <p:cNvSpPr txBox="1"/>
              <p:nvPr/>
            </p:nvSpPr>
            <p:spPr>
              <a:xfrm>
                <a:off x="7015079" y="5861406"/>
                <a:ext cx="19880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Getting smaller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grows</a:t>
                </a:r>
                <a:endParaRPr lang="zh-CN" altLang="en-US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A56849E9-861A-4C44-9413-721D65016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079" y="5861406"/>
                <a:ext cx="1988049" cy="646331"/>
              </a:xfrm>
              <a:prstGeom prst="rect">
                <a:avLst/>
              </a:prstGeom>
              <a:blipFill>
                <a:blip r:embed="rId5"/>
                <a:stretch>
                  <a:fillRect l="-2761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313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EACDBB-32EA-4EC6-AFF0-B8DE10AD4911}"/>
                  </a:ext>
                </a:extLst>
              </p:cNvPr>
              <p:cNvSpPr txBox="1"/>
              <p:nvPr/>
            </p:nvSpPr>
            <p:spPr>
              <a:xfrm>
                <a:off x="524176" y="961438"/>
                <a:ext cx="1038717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Poisoning attack to mean/variance estimation (USENIX Security’ 23)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Goal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Manipulate mean and variance to targeted values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Privacy-security consistency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High privacy (smaller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𝜖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leads to better security (low attack efficacy)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CEACDBB-32EA-4EC6-AFF0-B8DE10AD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76" y="961438"/>
                <a:ext cx="10387173" cy="1938992"/>
              </a:xfrm>
              <a:prstGeom prst="rect">
                <a:avLst/>
              </a:prstGeom>
              <a:blipFill>
                <a:blip r:embed="rId2"/>
                <a:stretch>
                  <a:fillRect l="-939" t="-2201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图片 50">
            <a:extLst>
              <a:ext uri="{FF2B5EF4-FFF2-40B4-BE49-F238E27FC236}">
                <a16:creationId xmlns:a16="http://schemas.microsoft.com/office/drawing/2014/main" id="{38244360-D53C-4E67-A2E2-0ECD5DF11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293" y="2943546"/>
            <a:ext cx="5781314" cy="3022159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B4EE7BBB-8BE9-4793-A085-90C43415D026}"/>
              </a:ext>
            </a:extLst>
          </p:cNvPr>
          <p:cNvSpPr txBox="1"/>
          <p:nvPr/>
        </p:nvSpPr>
        <p:spPr>
          <a:xfrm>
            <a:off x="441983" y="6115210"/>
            <a:ext cx="10869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Xiaoguang Li,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Ninghui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Li,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Wenhai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Sun, Neil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Zhenqiang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Gong, Hui Li.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Fine-grained Poisoning Attack to Local Differential Privacy Protocols for Mean and Variance Estimation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. USENIX Security 2023.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479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43A3F4-43E1-4A2B-97EC-6BBAA62973ED}"/>
              </a:ext>
            </a:extLst>
          </p:cNvPr>
          <p:cNvSpPr txBox="1"/>
          <p:nvPr/>
        </p:nvSpPr>
        <p:spPr>
          <a:xfrm>
            <a:off x="526094" y="419624"/>
            <a:ext cx="11148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Robustness Analysis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EACDBB-32EA-4EC6-AFF0-B8DE10AD4911}"/>
              </a:ext>
            </a:extLst>
          </p:cNvPr>
          <p:cNvSpPr txBox="1"/>
          <p:nvPr/>
        </p:nvSpPr>
        <p:spPr>
          <a:xfrm>
            <a:off x="524176" y="961438"/>
            <a:ext cx="103871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Poisoning attack to distribution estimation (NDSS’ 25)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Shift the distribution to the right-most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Guideline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SW mechanism is preferable!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Zero-shot detection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Detect forged data without prior knowledge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4EE7BBB-8BE9-4793-A085-90C43415D026}"/>
              </a:ext>
            </a:extLst>
          </p:cNvPr>
          <p:cNvSpPr txBox="1"/>
          <p:nvPr/>
        </p:nvSpPr>
        <p:spPr>
          <a:xfrm>
            <a:off x="441983" y="6115210"/>
            <a:ext cx="10869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Xiaoguang Li,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Zitao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Li,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Ninghui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Li,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Wenhai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Sun. On the Robustness of LDP Protocols for Numerical Attributes under Data Poisoning Attacks. NDSS 2025.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B77931-EB73-4B93-B4E9-2E1369526D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628" b="50209"/>
          <a:stretch/>
        </p:blipFill>
        <p:spPr>
          <a:xfrm>
            <a:off x="524176" y="3725457"/>
            <a:ext cx="5200451" cy="22402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35FB1E-1EFA-42A8-B353-5C2D4A5AD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946" y="3719243"/>
            <a:ext cx="5310732" cy="215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8929</TotalTime>
  <Words>3922</Words>
  <Application>Microsoft Office PowerPoint</Application>
  <PresentationFormat>宽屏</PresentationFormat>
  <Paragraphs>967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89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Xiaoguang Li</dc:creator>
  <cp:lastModifiedBy>Xiaoguang Li</cp:lastModifiedBy>
  <cp:revision>589</cp:revision>
  <dcterms:created xsi:type="dcterms:W3CDTF">2025-09-30T08:18:02Z</dcterms:created>
  <dcterms:modified xsi:type="dcterms:W3CDTF">2025-10-09T05:21:13Z</dcterms:modified>
</cp:coreProperties>
</file>