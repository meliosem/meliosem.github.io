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2" r:id="rId6"/>
    <p:sldId id="263" r:id="rId7"/>
    <p:sldId id="261" r:id="rId8"/>
    <p:sldId id="264" r:id="rId9"/>
    <p:sldId id="341" r:id="rId10"/>
    <p:sldId id="342" r:id="rId11"/>
    <p:sldId id="265" r:id="rId12"/>
    <p:sldId id="260" r:id="rId13"/>
    <p:sldId id="266" r:id="rId14"/>
    <p:sldId id="267" r:id="rId15"/>
    <p:sldId id="268" r:id="rId16"/>
    <p:sldId id="269" r:id="rId17"/>
    <p:sldId id="310" r:id="rId18"/>
    <p:sldId id="270" r:id="rId19"/>
    <p:sldId id="271" r:id="rId20"/>
    <p:sldId id="273" r:id="rId21"/>
    <p:sldId id="274" r:id="rId22"/>
    <p:sldId id="272" r:id="rId23"/>
    <p:sldId id="275" r:id="rId24"/>
    <p:sldId id="276" r:id="rId25"/>
    <p:sldId id="277" r:id="rId26"/>
    <p:sldId id="278" r:id="rId27"/>
    <p:sldId id="280" r:id="rId28"/>
    <p:sldId id="282" r:id="rId29"/>
    <p:sldId id="281" r:id="rId30"/>
    <p:sldId id="283" r:id="rId31"/>
    <p:sldId id="284" r:id="rId32"/>
    <p:sldId id="285" r:id="rId33"/>
    <p:sldId id="286" r:id="rId34"/>
    <p:sldId id="287" r:id="rId35"/>
    <p:sldId id="288" r:id="rId36"/>
    <p:sldId id="289" r:id="rId37"/>
    <p:sldId id="290" r:id="rId38"/>
    <p:sldId id="291" r:id="rId39"/>
    <p:sldId id="292" r:id="rId40"/>
    <p:sldId id="293" r:id="rId41"/>
    <p:sldId id="337" r:id="rId42"/>
    <p:sldId id="295" r:id="rId43"/>
    <p:sldId id="296" r:id="rId44"/>
    <p:sldId id="298" r:id="rId45"/>
    <p:sldId id="297" r:id="rId46"/>
    <p:sldId id="299" r:id="rId47"/>
    <p:sldId id="300" r:id="rId48"/>
    <p:sldId id="302" r:id="rId49"/>
    <p:sldId id="303" r:id="rId50"/>
    <p:sldId id="304" r:id="rId51"/>
    <p:sldId id="305" r:id="rId52"/>
    <p:sldId id="306" r:id="rId53"/>
    <p:sldId id="307" r:id="rId54"/>
    <p:sldId id="308" r:id="rId55"/>
    <p:sldId id="309"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8" r:id="rId80"/>
    <p:sldId id="335" r:id="rId81"/>
    <p:sldId id="336" r:id="rId82"/>
    <p:sldId id="339" r:id="rId83"/>
    <p:sldId id="340" r:id="rId84"/>
    <p:sldId id="279" r:id="rId8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88"/>
    <p:restoredTop sz="94770"/>
  </p:normalViewPr>
  <p:slideViewPr>
    <p:cSldViewPr snapToGrid="0">
      <p:cViewPr varScale="1">
        <p:scale>
          <a:sx n="152" d="100"/>
          <a:sy n="152" d="100"/>
        </p:scale>
        <p:origin x="3570"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3B4C86-ED69-489E-9BF0-876147AC9B3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EB45BD9-29B5-4FD1-8B37-75BB1F5367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928E5C8-E6EA-4C05-99C7-FAEEEDB65E34}"/>
              </a:ext>
            </a:extLst>
          </p:cNvPr>
          <p:cNvSpPr>
            <a:spLocks noGrp="1"/>
          </p:cNvSpPr>
          <p:nvPr>
            <p:ph type="dt" sz="half" idx="10"/>
          </p:nvPr>
        </p:nvSpPr>
        <p:spPr/>
        <p:txBody>
          <a:bodyPr/>
          <a:lstStyle/>
          <a:p>
            <a:fld id="{0266C2A2-841F-4737-9520-2F32BBDB011C}" type="datetimeFigureOut">
              <a:rPr lang="zh-CN" altLang="en-US" smtClean="0"/>
              <a:t>2025/9/22</a:t>
            </a:fld>
            <a:endParaRPr lang="zh-CN" altLang="en-US"/>
          </a:p>
        </p:txBody>
      </p:sp>
      <p:sp>
        <p:nvSpPr>
          <p:cNvPr id="5" name="页脚占位符 4">
            <a:extLst>
              <a:ext uri="{FF2B5EF4-FFF2-40B4-BE49-F238E27FC236}">
                <a16:creationId xmlns:a16="http://schemas.microsoft.com/office/drawing/2014/main" id="{1B328ABD-0066-4B7B-B3C7-A146DAC68CC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2439A84-C260-4CB8-9F63-92D7A78908EB}"/>
              </a:ext>
            </a:extLst>
          </p:cNvPr>
          <p:cNvSpPr>
            <a:spLocks noGrp="1"/>
          </p:cNvSpPr>
          <p:nvPr>
            <p:ph type="sldNum" sz="quarter" idx="12"/>
          </p:nvPr>
        </p:nvSpPr>
        <p:spPr/>
        <p:txBody>
          <a:bodyPr/>
          <a:lstStyle/>
          <a:p>
            <a:fld id="{62679F17-D4A2-4E4E-9E84-003C6B9DE6B8}" type="slidenum">
              <a:rPr lang="zh-CN" altLang="en-US" smtClean="0"/>
              <a:t>‹#›</a:t>
            </a:fld>
            <a:endParaRPr lang="zh-CN" altLang="en-US"/>
          </a:p>
        </p:txBody>
      </p:sp>
    </p:spTree>
    <p:extLst>
      <p:ext uri="{BB962C8B-B14F-4D97-AF65-F5344CB8AC3E}">
        <p14:creationId xmlns:p14="http://schemas.microsoft.com/office/powerpoint/2010/main" val="1487275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143347-E460-48AA-AA5E-87FD4A4EB83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F3DB0BB-D817-40C7-8F1B-7DBF97927EC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FF597A4-E6D6-4184-8439-B5A7740CB583}"/>
              </a:ext>
            </a:extLst>
          </p:cNvPr>
          <p:cNvSpPr>
            <a:spLocks noGrp="1"/>
          </p:cNvSpPr>
          <p:nvPr>
            <p:ph type="dt" sz="half" idx="10"/>
          </p:nvPr>
        </p:nvSpPr>
        <p:spPr/>
        <p:txBody>
          <a:bodyPr/>
          <a:lstStyle/>
          <a:p>
            <a:fld id="{0266C2A2-841F-4737-9520-2F32BBDB011C}" type="datetimeFigureOut">
              <a:rPr lang="zh-CN" altLang="en-US" smtClean="0"/>
              <a:t>2025/9/22</a:t>
            </a:fld>
            <a:endParaRPr lang="zh-CN" altLang="en-US"/>
          </a:p>
        </p:txBody>
      </p:sp>
      <p:sp>
        <p:nvSpPr>
          <p:cNvPr id="5" name="页脚占位符 4">
            <a:extLst>
              <a:ext uri="{FF2B5EF4-FFF2-40B4-BE49-F238E27FC236}">
                <a16:creationId xmlns:a16="http://schemas.microsoft.com/office/drawing/2014/main" id="{356CEF3D-0A3F-424D-8037-3BC9C026B3E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8592A8D-0F18-49E7-8FDE-AD48FA559748}"/>
              </a:ext>
            </a:extLst>
          </p:cNvPr>
          <p:cNvSpPr>
            <a:spLocks noGrp="1"/>
          </p:cNvSpPr>
          <p:nvPr>
            <p:ph type="sldNum" sz="quarter" idx="12"/>
          </p:nvPr>
        </p:nvSpPr>
        <p:spPr/>
        <p:txBody>
          <a:bodyPr/>
          <a:lstStyle/>
          <a:p>
            <a:fld id="{62679F17-D4A2-4E4E-9E84-003C6B9DE6B8}" type="slidenum">
              <a:rPr lang="zh-CN" altLang="en-US" smtClean="0"/>
              <a:t>‹#›</a:t>
            </a:fld>
            <a:endParaRPr lang="zh-CN" altLang="en-US"/>
          </a:p>
        </p:txBody>
      </p:sp>
    </p:spTree>
    <p:extLst>
      <p:ext uri="{BB962C8B-B14F-4D97-AF65-F5344CB8AC3E}">
        <p14:creationId xmlns:p14="http://schemas.microsoft.com/office/powerpoint/2010/main" val="3572951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2A2332-67A5-4471-A580-CDD089F5752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94209FF-A23A-4AD3-9537-A58CEA6EDB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25973DE-64FB-4332-883B-BE9127034C48}"/>
              </a:ext>
            </a:extLst>
          </p:cNvPr>
          <p:cNvSpPr>
            <a:spLocks noGrp="1"/>
          </p:cNvSpPr>
          <p:nvPr>
            <p:ph type="dt" sz="half" idx="10"/>
          </p:nvPr>
        </p:nvSpPr>
        <p:spPr/>
        <p:txBody>
          <a:bodyPr/>
          <a:lstStyle/>
          <a:p>
            <a:fld id="{0266C2A2-841F-4737-9520-2F32BBDB011C}" type="datetimeFigureOut">
              <a:rPr lang="zh-CN" altLang="en-US" smtClean="0"/>
              <a:t>2025/9/22</a:t>
            </a:fld>
            <a:endParaRPr lang="zh-CN" altLang="en-US"/>
          </a:p>
        </p:txBody>
      </p:sp>
      <p:sp>
        <p:nvSpPr>
          <p:cNvPr id="5" name="页脚占位符 4">
            <a:extLst>
              <a:ext uri="{FF2B5EF4-FFF2-40B4-BE49-F238E27FC236}">
                <a16:creationId xmlns:a16="http://schemas.microsoft.com/office/drawing/2014/main" id="{233DD61D-C085-4219-B5AB-3AB3C180B48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DFC1976-A336-4A2C-A4BD-7C822B0A946C}"/>
              </a:ext>
            </a:extLst>
          </p:cNvPr>
          <p:cNvSpPr>
            <a:spLocks noGrp="1"/>
          </p:cNvSpPr>
          <p:nvPr>
            <p:ph type="sldNum" sz="quarter" idx="12"/>
          </p:nvPr>
        </p:nvSpPr>
        <p:spPr/>
        <p:txBody>
          <a:bodyPr/>
          <a:lstStyle/>
          <a:p>
            <a:fld id="{62679F17-D4A2-4E4E-9E84-003C6B9DE6B8}" type="slidenum">
              <a:rPr lang="zh-CN" altLang="en-US" smtClean="0"/>
              <a:t>‹#›</a:t>
            </a:fld>
            <a:endParaRPr lang="zh-CN" altLang="en-US"/>
          </a:p>
        </p:txBody>
      </p:sp>
    </p:spTree>
    <p:extLst>
      <p:ext uri="{BB962C8B-B14F-4D97-AF65-F5344CB8AC3E}">
        <p14:creationId xmlns:p14="http://schemas.microsoft.com/office/powerpoint/2010/main" val="1367681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EB200A-B999-4697-9936-DB1098C2CDB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0948669-789C-4442-844A-0174AE0AFEA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6331F8D-F3FD-4F48-8083-20BC60A8358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29B4A33-3685-4744-889F-13920FE25A38}"/>
              </a:ext>
            </a:extLst>
          </p:cNvPr>
          <p:cNvSpPr>
            <a:spLocks noGrp="1"/>
          </p:cNvSpPr>
          <p:nvPr>
            <p:ph type="dt" sz="half" idx="10"/>
          </p:nvPr>
        </p:nvSpPr>
        <p:spPr/>
        <p:txBody>
          <a:bodyPr/>
          <a:lstStyle/>
          <a:p>
            <a:fld id="{0266C2A2-841F-4737-9520-2F32BBDB011C}" type="datetimeFigureOut">
              <a:rPr lang="zh-CN" altLang="en-US" smtClean="0"/>
              <a:t>2025/9/22</a:t>
            </a:fld>
            <a:endParaRPr lang="zh-CN" altLang="en-US"/>
          </a:p>
        </p:txBody>
      </p:sp>
      <p:sp>
        <p:nvSpPr>
          <p:cNvPr id="6" name="页脚占位符 5">
            <a:extLst>
              <a:ext uri="{FF2B5EF4-FFF2-40B4-BE49-F238E27FC236}">
                <a16:creationId xmlns:a16="http://schemas.microsoft.com/office/drawing/2014/main" id="{9944DC47-1D94-4C82-B342-1F639C398F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9C8A21B-B8F6-41E3-9623-3C01F33FCC2C}"/>
              </a:ext>
            </a:extLst>
          </p:cNvPr>
          <p:cNvSpPr>
            <a:spLocks noGrp="1"/>
          </p:cNvSpPr>
          <p:nvPr>
            <p:ph type="sldNum" sz="quarter" idx="12"/>
          </p:nvPr>
        </p:nvSpPr>
        <p:spPr/>
        <p:txBody>
          <a:bodyPr/>
          <a:lstStyle/>
          <a:p>
            <a:fld id="{62679F17-D4A2-4E4E-9E84-003C6B9DE6B8}" type="slidenum">
              <a:rPr lang="zh-CN" altLang="en-US" smtClean="0"/>
              <a:t>‹#›</a:t>
            </a:fld>
            <a:endParaRPr lang="zh-CN" altLang="en-US"/>
          </a:p>
        </p:txBody>
      </p:sp>
    </p:spTree>
    <p:extLst>
      <p:ext uri="{BB962C8B-B14F-4D97-AF65-F5344CB8AC3E}">
        <p14:creationId xmlns:p14="http://schemas.microsoft.com/office/powerpoint/2010/main" val="943337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1B69E4-E466-46C3-B010-14CF989D0D0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1410178-307A-4FC4-888A-6287936807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276C795-2386-4E76-9106-6053D0AE072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5510FDD-A2DB-4CC3-9118-7509230808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8CFC681-33BD-4676-812D-ED19150E413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6F2C6C6-558D-4C3D-9A8A-4356B15D6185}"/>
              </a:ext>
            </a:extLst>
          </p:cNvPr>
          <p:cNvSpPr>
            <a:spLocks noGrp="1"/>
          </p:cNvSpPr>
          <p:nvPr>
            <p:ph type="dt" sz="half" idx="10"/>
          </p:nvPr>
        </p:nvSpPr>
        <p:spPr/>
        <p:txBody>
          <a:bodyPr/>
          <a:lstStyle/>
          <a:p>
            <a:fld id="{0266C2A2-841F-4737-9520-2F32BBDB011C}" type="datetimeFigureOut">
              <a:rPr lang="zh-CN" altLang="en-US" smtClean="0"/>
              <a:t>2025/9/22</a:t>
            </a:fld>
            <a:endParaRPr lang="zh-CN" altLang="en-US"/>
          </a:p>
        </p:txBody>
      </p:sp>
      <p:sp>
        <p:nvSpPr>
          <p:cNvPr id="8" name="页脚占位符 7">
            <a:extLst>
              <a:ext uri="{FF2B5EF4-FFF2-40B4-BE49-F238E27FC236}">
                <a16:creationId xmlns:a16="http://schemas.microsoft.com/office/drawing/2014/main" id="{06F5AC56-9DAB-4611-BF3E-9578926C6D6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DD68C8C-A5E4-442C-AC23-821FD7970724}"/>
              </a:ext>
            </a:extLst>
          </p:cNvPr>
          <p:cNvSpPr>
            <a:spLocks noGrp="1"/>
          </p:cNvSpPr>
          <p:nvPr>
            <p:ph type="sldNum" sz="quarter" idx="12"/>
          </p:nvPr>
        </p:nvSpPr>
        <p:spPr/>
        <p:txBody>
          <a:bodyPr/>
          <a:lstStyle/>
          <a:p>
            <a:fld id="{62679F17-D4A2-4E4E-9E84-003C6B9DE6B8}" type="slidenum">
              <a:rPr lang="zh-CN" altLang="en-US" smtClean="0"/>
              <a:t>‹#›</a:t>
            </a:fld>
            <a:endParaRPr lang="zh-CN" altLang="en-US"/>
          </a:p>
        </p:txBody>
      </p:sp>
    </p:spTree>
    <p:extLst>
      <p:ext uri="{BB962C8B-B14F-4D97-AF65-F5344CB8AC3E}">
        <p14:creationId xmlns:p14="http://schemas.microsoft.com/office/powerpoint/2010/main" val="2530057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D018F7-9924-4EE6-AC7C-267B331B743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2A07172-AD83-4C1D-B872-92DE9107B237}"/>
              </a:ext>
            </a:extLst>
          </p:cNvPr>
          <p:cNvSpPr>
            <a:spLocks noGrp="1"/>
          </p:cNvSpPr>
          <p:nvPr>
            <p:ph type="dt" sz="half" idx="10"/>
          </p:nvPr>
        </p:nvSpPr>
        <p:spPr/>
        <p:txBody>
          <a:bodyPr/>
          <a:lstStyle/>
          <a:p>
            <a:fld id="{0266C2A2-841F-4737-9520-2F32BBDB011C}" type="datetimeFigureOut">
              <a:rPr lang="zh-CN" altLang="en-US" smtClean="0"/>
              <a:t>2025/9/22</a:t>
            </a:fld>
            <a:endParaRPr lang="zh-CN" altLang="en-US"/>
          </a:p>
        </p:txBody>
      </p:sp>
      <p:sp>
        <p:nvSpPr>
          <p:cNvPr id="4" name="页脚占位符 3">
            <a:extLst>
              <a:ext uri="{FF2B5EF4-FFF2-40B4-BE49-F238E27FC236}">
                <a16:creationId xmlns:a16="http://schemas.microsoft.com/office/drawing/2014/main" id="{31BE87F2-1CFB-40D6-8E30-664E77E63C3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ADD8C31-1CFC-40F5-B999-D8563FCB080D}"/>
              </a:ext>
            </a:extLst>
          </p:cNvPr>
          <p:cNvSpPr>
            <a:spLocks noGrp="1"/>
          </p:cNvSpPr>
          <p:nvPr>
            <p:ph type="sldNum" sz="quarter" idx="12"/>
          </p:nvPr>
        </p:nvSpPr>
        <p:spPr/>
        <p:txBody>
          <a:bodyPr/>
          <a:lstStyle/>
          <a:p>
            <a:fld id="{62679F17-D4A2-4E4E-9E84-003C6B9DE6B8}" type="slidenum">
              <a:rPr lang="zh-CN" altLang="en-US" smtClean="0"/>
              <a:t>‹#›</a:t>
            </a:fld>
            <a:endParaRPr lang="zh-CN" altLang="en-US"/>
          </a:p>
        </p:txBody>
      </p:sp>
    </p:spTree>
    <p:extLst>
      <p:ext uri="{BB962C8B-B14F-4D97-AF65-F5344CB8AC3E}">
        <p14:creationId xmlns:p14="http://schemas.microsoft.com/office/powerpoint/2010/main" val="354154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3F023E-4665-4B92-AA0C-F08DFE9BBFB1}"/>
              </a:ext>
            </a:extLst>
          </p:cNvPr>
          <p:cNvSpPr>
            <a:spLocks noGrp="1"/>
          </p:cNvSpPr>
          <p:nvPr>
            <p:ph type="dt" sz="half" idx="10"/>
          </p:nvPr>
        </p:nvSpPr>
        <p:spPr/>
        <p:txBody>
          <a:bodyPr/>
          <a:lstStyle/>
          <a:p>
            <a:fld id="{0266C2A2-841F-4737-9520-2F32BBDB011C}" type="datetimeFigureOut">
              <a:rPr lang="zh-CN" altLang="en-US" smtClean="0"/>
              <a:t>2025/9/22</a:t>
            </a:fld>
            <a:endParaRPr lang="zh-CN" altLang="en-US"/>
          </a:p>
        </p:txBody>
      </p:sp>
      <p:sp>
        <p:nvSpPr>
          <p:cNvPr id="3" name="页脚占位符 2">
            <a:extLst>
              <a:ext uri="{FF2B5EF4-FFF2-40B4-BE49-F238E27FC236}">
                <a16:creationId xmlns:a16="http://schemas.microsoft.com/office/drawing/2014/main" id="{864A8E17-2970-4D2B-BD18-638AE924D30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4BD7EDD-DCCB-47FE-9C02-0BD72334CA58}"/>
              </a:ext>
            </a:extLst>
          </p:cNvPr>
          <p:cNvSpPr>
            <a:spLocks noGrp="1"/>
          </p:cNvSpPr>
          <p:nvPr>
            <p:ph type="sldNum" sz="quarter" idx="12"/>
          </p:nvPr>
        </p:nvSpPr>
        <p:spPr/>
        <p:txBody>
          <a:bodyPr/>
          <a:lstStyle/>
          <a:p>
            <a:fld id="{62679F17-D4A2-4E4E-9E84-003C6B9DE6B8}" type="slidenum">
              <a:rPr lang="zh-CN" altLang="en-US" smtClean="0"/>
              <a:t>‹#›</a:t>
            </a:fld>
            <a:endParaRPr lang="zh-CN" altLang="en-US"/>
          </a:p>
        </p:txBody>
      </p:sp>
    </p:spTree>
    <p:extLst>
      <p:ext uri="{BB962C8B-B14F-4D97-AF65-F5344CB8AC3E}">
        <p14:creationId xmlns:p14="http://schemas.microsoft.com/office/powerpoint/2010/main" val="3004941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0E1BFD-DC48-4F62-9B61-D18836B13AD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7E37AEA-B19A-4C34-B435-78AAFAB2DB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74FF94A-0769-487D-ABDD-DD75772356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FDC4739-11EF-47DC-8623-66E7B212B5C7}"/>
              </a:ext>
            </a:extLst>
          </p:cNvPr>
          <p:cNvSpPr>
            <a:spLocks noGrp="1"/>
          </p:cNvSpPr>
          <p:nvPr>
            <p:ph type="dt" sz="half" idx="10"/>
          </p:nvPr>
        </p:nvSpPr>
        <p:spPr/>
        <p:txBody>
          <a:bodyPr/>
          <a:lstStyle/>
          <a:p>
            <a:fld id="{0266C2A2-841F-4737-9520-2F32BBDB011C}" type="datetimeFigureOut">
              <a:rPr lang="zh-CN" altLang="en-US" smtClean="0"/>
              <a:t>2025/9/22</a:t>
            </a:fld>
            <a:endParaRPr lang="zh-CN" altLang="en-US"/>
          </a:p>
        </p:txBody>
      </p:sp>
      <p:sp>
        <p:nvSpPr>
          <p:cNvPr id="6" name="页脚占位符 5">
            <a:extLst>
              <a:ext uri="{FF2B5EF4-FFF2-40B4-BE49-F238E27FC236}">
                <a16:creationId xmlns:a16="http://schemas.microsoft.com/office/drawing/2014/main" id="{54D2AB80-A24E-447A-9722-3DD0810D4A1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DDE2805-A712-4D0A-8FFD-54015165103B}"/>
              </a:ext>
            </a:extLst>
          </p:cNvPr>
          <p:cNvSpPr>
            <a:spLocks noGrp="1"/>
          </p:cNvSpPr>
          <p:nvPr>
            <p:ph type="sldNum" sz="quarter" idx="12"/>
          </p:nvPr>
        </p:nvSpPr>
        <p:spPr/>
        <p:txBody>
          <a:bodyPr/>
          <a:lstStyle/>
          <a:p>
            <a:fld id="{62679F17-D4A2-4E4E-9E84-003C6B9DE6B8}" type="slidenum">
              <a:rPr lang="zh-CN" altLang="en-US" smtClean="0"/>
              <a:t>‹#›</a:t>
            </a:fld>
            <a:endParaRPr lang="zh-CN" altLang="en-US"/>
          </a:p>
        </p:txBody>
      </p:sp>
    </p:spTree>
    <p:extLst>
      <p:ext uri="{BB962C8B-B14F-4D97-AF65-F5344CB8AC3E}">
        <p14:creationId xmlns:p14="http://schemas.microsoft.com/office/powerpoint/2010/main" val="2633010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5A47D3-C34B-4745-80C7-00FBEE28A41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5250C9E-93C7-4BB7-9BDE-6768F100C6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FE01491-7C89-4623-AE94-0098ECC948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D57A8F4-5DA7-4B9E-8D6B-0D6CADA3B8D7}"/>
              </a:ext>
            </a:extLst>
          </p:cNvPr>
          <p:cNvSpPr>
            <a:spLocks noGrp="1"/>
          </p:cNvSpPr>
          <p:nvPr>
            <p:ph type="dt" sz="half" idx="10"/>
          </p:nvPr>
        </p:nvSpPr>
        <p:spPr/>
        <p:txBody>
          <a:bodyPr/>
          <a:lstStyle/>
          <a:p>
            <a:fld id="{0266C2A2-841F-4737-9520-2F32BBDB011C}" type="datetimeFigureOut">
              <a:rPr lang="zh-CN" altLang="en-US" smtClean="0"/>
              <a:t>2025/9/22</a:t>
            </a:fld>
            <a:endParaRPr lang="zh-CN" altLang="en-US"/>
          </a:p>
        </p:txBody>
      </p:sp>
      <p:sp>
        <p:nvSpPr>
          <p:cNvPr id="6" name="页脚占位符 5">
            <a:extLst>
              <a:ext uri="{FF2B5EF4-FFF2-40B4-BE49-F238E27FC236}">
                <a16:creationId xmlns:a16="http://schemas.microsoft.com/office/drawing/2014/main" id="{4A00508B-6FC7-487E-8CE2-C00A9A2AEB5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833B2D9-2F14-4EEB-ADF0-719A7F4EF24A}"/>
              </a:ext>
            </a:extLst>
          </p:cNvPr>
          <p:cNvSpPr>
            <a:spLocks noGrp="1"/>
          </p:cNvSpPr>
          <p:nvPr>
            <p:ph type="sldNum" sz="quarter" idx="12"/>
          </p:nvPr>
        </p:nvSpPr>
        <p:spPr/>
        <p:txBody>
          <a:bodyPr/>
          <a:lstStyle/>
          <a:p>
            <a:fld id="{62679F17-D4A2-4E4E-9E84-003C6B9DE6B8}" type="slidenum">
              <a:rPr lang="zh-CN" altLang="en-US" smtClean="0"/>
              <a:t>‹#›</a:t>
            </a:fld>
            <a:endParaRPr lang="zh-CN" altLang="en-US"/>
          </a:p>
        </p:txBody>
      </p:sp>
    </p:spTree>
    <p:extLst>
      <p:ext uri="{BB962C8B-B14F-4D97-AF65-F5344CB8AC3E}">
        <p14:creationId xmlns:p14="http://schemas.microsoft.com/office/powerpoint/2010/main" val="3201429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49B06F-4E09-498D-82B2-907ACF6EA1C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AB8358F-58D6-4C87-97AD-A33EF4CFECB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27A1DB6-6EEE-4B9A-B431-46DB30EEC4D1}"/>
              </a:ext>
            </a:extLst>
          </p:cNvPr>
          <p:cNvSpPr>
            <a:spLocks noGrp="1"/>
          </p:cNvSpPr>
          <p:nvPr>
            <p:ph type="dt" sz="half" idx="10"/>
          </p:nvPr>
        </p:nvSpPr>
        <p:spPr/>
        <p:txBody>
          <a:bodyPr/>
          <a:lstStyle/>
          <a:p>
            <a:fld id="{0266C2A2-841F-4737-9520-2F32BBDB011C}" type="datetimeFigureOut">
              <a:rPr lang="zh-CN" altLang="en-US" smtClean="0"/>
              <a:t>2025/9/22</a:t>
            </a:fld>
            <a:endParaRPr lang="zh-CN" altLang="en-US"/>
          </a:p>
        </p:txBody>
      </p:sp>
      <p:sp>
        <p:nvSpPr>
          <p:cNvPr id="5" name="页脚占位符 4">
            <a:extLst>
              <a:ext uri="{FF2B5EF4-FFF2-40B4-BE49-F238E27FC236}">
                <a16:creationId xmlns:a16="http://schemas.microsoft.com/office/drawing/2014/main" id="{22C57C36-F3A6-4EBB-BA32-DFA4FDE1C5E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3AABAC1-9026-4DAD-825B-CBDA1DB53FA5}"/>
              </a:ext>
            </a:extLst>
          </p:cNvPr>
          <p:cNvSpPr>
            <a:spLocks noGrp="1"/>
          </p:cNvSpPr>
          <p:nvPr>
            <p:ph type="sldNum" sz="quarter" idx="12"/>
          </p:nvPr>
        </p:nvSpPr>
        <p:spPr/>
        <p:txBody>
          <a:bodyPr/>
          <a:lstStyle/>
          <a:p>
            <a:fld id="{62679F17-D4A2-4E4E-9E84-003C6B9DE6B8}" type="slidenum">
              <a:rPr lang="zh-CN" altLang="en-US" smtClean="0"/>
              <a:t>‹#›</a:t>
            </a:fld>
            <a:endParaRPr lang="zh-CN" altLang="en-US"/>
          </a:p>
        </p:txBody>
      </p:sp>
    </p:spTree>
    <p:extLst>
      <p:ext uri="{BB962C8B-B14F-4D97-AF65-F5344CB8AC3E}">
        <p14:creationId xmlns:p14="http://schemas.microsoft.com/office/powerpoint/2010/main" val="113253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F77725E-5595-4F66-BE40-BF7EFA9437E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2B77B7D-C381-4CD4-A164-122F3F12573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9B98DFC-4C18-4C3D-A03A-26B3555B89D2}"/>
              </a:ext>
            </a:extLst>
          </p:cNvPr>
          <p:cNvSpPr>
            <a:spLocks noGrp="1"/>
          </p:cNvSpPr>
          <p:nvPr>
            <p:ph type="dt" sz="half" idx="10"/>
          </p:nvPr>
        </p:nvSpPr>
        <p:spPr/>
        <p:txBody>
          <a:bodyPr/>
          <a:lstStyle/>
          <a:p>
            <a:fld id="{0266C2A2-841F-4737-9520-2F32BBDB011C}" type="datetimeFigureOut">
              <a:rPr lang="zh-CN" altLang="en-US" smtClean="0"/>
              <a:t>2025/9/22</a:t>
            </a:fld>
            <a:endParaRPr lang="zh-CN" altLang="en-US"/>
          </a:p>
        </p:txBody>
      </p:sp>
      <p:sp>
        <p:nvSpPr>
          <p:cNvPr id="5" name="页脚占位符 4">
            <a:extLst>
              <a:ext uri="{FF2B5EF4-FFF2-40B4-BE49-F238E27FC236}">
                <a16:creationId xmlns:a16="http://schemas.microsoft.com/office/drawing/2014/main" id="{6EAF3118-4E09-4B6C-99AA-C429BE8F55F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27C864-7E43-4D64-AC34-B25C8ED3F5C2}"/>
              </a:ext>
            </a:extLst>
          </p:cNvPr>
          <p:cNvSpPr>
            <a:spLocks noGrp="1"/>
          </p:cNvSpPr>
          <p:nvPr>
            <p:ph type="sldNum" sz="quarter" idx="12"/>
          </p:nvPr>
        </p:nvSpPr>
        <p:spPr/>
        <p:txBody>
          <a:bodyPr/>
          <a:lstStyle/>
          <a:p>
            <a:fld id="{62679F17-D4A2-4E4E-9E84-003C6B9DE6B8}" type="slidenum">
              <a:rPr lang="zh-CN" altLang="en-US" smtClean="0"/>
              <a:t>‹#›</a:t>
            </a:fld>
            <a:endParaRPr lang="zh-CN" altLang="en-US"/>
          </a:p>
        </p:txBody>
      </p:sp>
    </p:spTree>
    <p:extLst>
      <p:ext uri="{BB962C8B-B14F-4D97-AF65-F5344CB8AC3E}">
        <p14:creationId xmlns:p14="http://schemas.microsoft.com/office/powerpoint/2010/main" val="108775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D0270AE-5123-48FD-BDA3-E9ED23963F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E32292-BBDF-4E7E-BCDD-868BD1AFFC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E2B4D39-B21A-47CD-A498-9AF89F445D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66C2A2-841F-4737-9520-2F32BBDB011C}" type="datetimeFigureOut">
              <a:rPr lang="zh-CN" altLang="en-US" smtClean="0"/>
              <a:t>2025/9/22</a:t>
            </a:fld>
            <a:endParaRPr lang="zh-CN" altLang="en-US"/>
          </a:p>
        </p:txBody>
      </p:sp>
      <p:sp>
        <p:nvSpPr>
          <p:cNvPr id="5" name="页脚占位符 4">
            <a:extLst>
              <a:ext uri="{FF2B5EF4-FFF2-40B4-BE49-F238E27FC236}">
                <a16:creationId xmlns:a16="http://schemas.microsoft.com/office/drawing/2014/main" id="{7B45B16F-B2C5-4907-87C6-0E4DBD27D1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3DF2B97-4893-4D88-92FE-992AF0353F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679F17-D4A2-4E4E-9E84-003C6B9DE6B8}" type="slidenum">
              <a:rPr lang="zh-CN" altLang="en-US" smtClean="0"/>
              <a:t>‹#›</a:t>
            </a:fld>
            <a:endParaRPr lang="zh-CN" altLang="en-US"/>
          </a:p>
        </p:txBody>
      </p:sp>
    </p:spTree>
    <p:extLst>
      <p:ext uri="{BB962C8B-B14F-4D97-AF65-F5344CB8AC3E}">
        <p14:creationId xmlns:p14="http://schemas.microsoft.com/office/powerpoint/2010/main" val="1863639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4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4.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54.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9" Type="http://schemas.openxmlformats.org/officeDocument/2006/relationships/image" Target="../media/image82.png"/></Relationships>
</file>

<file path=ppt/slides/_rels/slide55.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9" Type="http://schemas.openxmlformats.org/officeDocument/2006/relationships/image" Target="../media/image82.png"/></Relationships>
</file>

<file path=ppt/slides/_rels/slide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6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6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6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CE7E4A5-459F-4843-8425-18E3417C8C2C}"/>
              </a:ext>
            </a:extLst>
          </p:cNvPr>
          <p:cNvSpPr txBox="1"/>
          <p:nvPr/>
        </p:nvSpPr>
        <p:spPr>
          <a:xfrm>
            <a:off x="1195227" y="2070242"/>
            <a:ext cx="9801546" cy="1692771"/>
          </a:xfrm>
          <a:prstGeom prst="rect">
            <a:avLst/>
          </a:prstGeom>
          <a:noFill/>
        </p:spPr>
        <p:txBody>
          <a:bodyPr wrap="square" rtlCol="0">
            <a:spAutoFit/>
          </a:bodyPr>
          <a:lstStyle/>
          <a:p>
            <a:pPr algn="ctr"/>
            <a:r>
              <a:rPr lang="en-US" altLang="zh-CN" sz="4000" b="1" dirty="0">
                <a:latin typeface="Arial" panose="020B0604020202020204" pitchFamily="34" charset="0"/>
                <a:cs typeface="Arial" panose="020B0604020202020204" pitchFamily="34" charset="0"/>
              </a:rPr>
              <a:t>Differential Privacy Tutorial</a:t>
            </a:r>
          </a:p>
          <a:p>
            <a:pPr algn="ctr"/>
            <a:endParaRPr lang="en-US" altLang="zh-CN" sz="3200" dirty="0">
              <a:latin typeface="Arial" panose="020B0604020202020204" pitchFamily="34" charset="0"/>
              <a:cs typeface="Arial" panose="020B0604020202020204" pitchFamily="34" charset="0"/>
            </a:endParaRPr>
          </a:p>
          <a:p>
            <a:pPr algn="ctr"/>
            <a:r>
              <a:rPr lang="en-US" altLang="zh-CN" sz="3200" dirty="0">
                <a:latin typeface="Arial" panose="020B0604020202020204" pitchFamily="34" charset="0"/>
                <a:cs typeface="Arial" panose="020B0604020202020204" pitchFamily="34" charset="0"/>
              </a:rPr>
              <a:t>Xiaoguang Li </a:t>
            </a:r>
            <a:endParaRPr lang="zh-CN" alt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2873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9147ED0-3207-423F-BC90-D6F8B15C959D}"/>
              </a:ext>
            </a:extLst>
          </p:cNvPr>
          <p:cNvSpPr txBox="1"/>
          <p:nvPr/>
        </p:nvSpPr>
        <p:spPr>
          <a:xfrm>
            <a:off x="868166" y="1443519"/>
            <a:ext cx="9529281" cy="389048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Intuition and Definition</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Common DP Mechanisms</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Properties</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Numerical Query</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Other Composition Theorems</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Hierarchy Technique</a:t>
            </a:r>
          </a:p>
        </p:txBody>
      </p:sp>
      <p:sp>
        <p:nvSpPr>
          <p:cNvPr id="5" name="文本框 4">
            <a:extLst>
              <a:ext uri="{FF2B5EF4-FFF2-40B4-BE49-F238E27FC236}">
                <a16:creationId xmlns:a16="http://schemas.microsoft.com/office/drawing/2014/main" id="{FB015B40-4C34-413F-A0EC-2229EFC09CAA}"/>
              </a:ext>
            </a:extLst>
          </p:cNvPr>
          <p:cNvSpPr txBox="1"/>
          <p:nvPr/>
        </p:nvSpPr>
        <p:spPr>
          <a:xfrm>
            <a:off x="791110" y="440077"/>
            <a:ext cx="9529281" cy="584775"/>
          </a:xfrm>
          <a:prstGeom prst="rect">
            <a:avLst/>
          </a:prstGeom>
          <a:noFill/>
        </p:spPr>
        <p:txBody>
          <a:bodyPr wrap="square" rtlCol="0">
            <a:spAutoFit/>
          </a:bodyPr>
          <a:lstStyle/>
          <a:p>
            <a:r>
              <a:rPr lang="en-US" altLang="zh-CN" sz="3200" b="1" dirty="0">
                <a:latin typeface="Arial" panose="020B0604020202020204" pitchFamily="34" charset="0"/>
                <a:cs typeface="Arial" panose="020B0604020202020204" pitchFamily="34" charset="0"/>
              </a:rPr>
              <a:t>Contents</a:t>
            </a:r>
            <a:endParaRPr lang="zh-CN" altLang="en-US"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4511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E43A3F4-43E1-4A2B-97EC-6BBAA62973ED}"/>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Intuition and Definition</a:t>
            </a:r>
            <a:endParaRPr lang="zh-CN" altLang="en-US" sz="2400" b="1" dirty="0">
              <a:latin typeface="Arial" panose="020B0604020202020204" pitchFamily="34" charset="0"/>
              <a:cs typeface="Arial" panose="020B0604020202020204" pitchFamily="34" charset="0"/>
            </a:endParaRPr>
          </a:p>
        </p:txBody>
      </p:sp>
      <p:sp>
        <p:nvSpPr>
          <p:cNvPr id="5" name="文本框 4">
            <a:extLst>
              <a:ext uri="{FF2B5EF4-FFF2-40B4-BE49-F238E27FC236}">
                <a16:creationId xmlns:a16="http://schemas.microsoft.com/office/drawing/2014/main" id="{735D7CC9-EDC5-4262-8DE2-C6647F82B84F}"/>
              </a:ext>
            </a:extLst>
          </p:cNvPr>
          <p:cNvSpPr txBox="1"/>
          <p:nvPr/>
        </p:nvSpPr>
        <p:spPr>
          <a:xfrm>
            <a:off x="526094" y="1014685"/>
            <a:ext cx="10878855" cy="1015663"/>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What is privacy?</a:t>
            </a:r>
          </a:p>
          <a:p>
            <a:endParaRPr lang="en-US" altLang="zh-CN" sz="2000" dirty="0">
              <a:latin typeface="Arial" panose="020B0604020202020204" pitchFamily="34" charset="0"/>
              <a:cs typeface="Arial" panose="020B0604020202020204" pitchFamily="34" charset="0"/>
            </a:endParaRPr>
          </a:p>
          <a:p>
            <a:r>
              <a:rPr lang="en-US" altLang="zh-CN" sz="2000" dirty="0">
                <a:latin typeface="Arial" panose="020B0604020202020204" pitchFamily="34" charset="0"/>
                <a:cs typeface="Arial" panose="020B0604020202020204" pitchFamily="34" charset="0"/>
              </a:rPr>
              <a:t>Answer: Intuitively, people may consider the privacy as “secret”.</a:t>
            </a:r>
            <a:endParaRPr lang="zh-CN" altLang="en-US" sz="2000" dirty="0">
              <a:latin typeface="Arial" panose="020B0604020202020204" pitchFamily="34" charset="0"/>
              <a:cs typeface="Arial" panose="020B0604020202020204" pitchFamily="34" charset="0"/>
            </a:endParaRPr>
          </a:p>
        </p:txBody>
      </p:sp>
      <p:pic>
        <p:nvPicPr>
          <p:cNvPr id="1026" name="Picture 2" descr="Can hospital design improve our mental health too?, Health News, ET  HealthWorld">
            <a:extLst>
              <a:ext uri="{FF2B5EF4-FFF2-40B4-BE49-F238E27FC236}">
                <a16:creationId xmlns:a16="http://schemas.microsoft.com/office/drawing/2014/main" id="{A05FA678-A973-49DB-9B8F-D83ACA50D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3579" y="3964677"/>
            <a:ext cx="2355992" cy="128076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moking Icon - Free PNG &amp; SVG 39979 - Noun Project">
            <a:extLst>
              <a:ext uri="{FF2B5EF4-FFF2-40B4-BE49-F238E27FC236}">
                <a16:creationId xmlns:a16="http://schemas.microsoft.com/office/drawing/2014/main" id="{7941A064-4C86-4423-8478-29A45D223B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3132" y="3742336"/>
            <a:ext cx="1503101" cy="1503101"/>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3E89F5B3-5D3B-4BA1-81ED-911DA4B26843}"/>
              </a:ext>
            </a:extLst>
          </p:cNvPr>
          <p:cNvSpPr txBox="1"/>
          <p:nvPr/>
        </p:nvSpPr>
        <p:spPr>
          <a:xfrm>
            <a:off x="2693098" y="5323747"/>
            <a:ext cx="1553228"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Hospital</a:t>
            </a:r>
            <a:endParaRPr lang="zh-CN" altLang="en-US"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10686FEA-3E13-4D4C-ABF2-0635A242A427}"/>
              </a:ext>
            </a:extLst>
          </p:cNvPr>
          <p:cNvSpPr txBox="1"/>
          <p:nvPr/>
        </p:nvSpPr>
        <p:spPr>
          <a:xfrm>
            <a:off x="7427938" y="5323747"/>
            <a:ext cx="1377863"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Alice</a:t>
            </a:r>
            <a:endParaRPr lang="zh-CN" altLang="en-US" dirty="0">
              <a:latin typeface="Arial" panose="020B0604020202020204" pitchFamily="34" charset="0"/>
              <a:cs typeface="Arial" panose="020B0604020202020204" pitchFamily="34" charset="0"/>
            </a:endParaRPr>
          </a:p>
        </p:txBody>
      </p:sp>
      <p:sp>
        <p:nvSpPr>
          <p:cNvPr id="8" name="思想气泡: 云 7">
            <a:extLst>
              <a:ext uri="{FF2B5EF4-FFF2-40B4-BE49-F238E27FC236}">
                <a16:creationId xmlns:a16="http://schemas.microsoft.com/office/drawing/2014/main" id="{2896E2FF-402C-478D-9E69-BEC6B1A215B7}"/>
              </a:ext>
            </a:extLst>
          </p:cNvPr>
          <p:cNvSpPr/>
          <p:nvPr/>
        </p:nvSpPr>
        <p:spPr>
          <a:xfrm>
            <a:off x="7991608" y="2163744"/>
            <a:ext cx="2843409" cy="1503101"/>
          </a:xfrm>
          <a:prstGeom prst="cloudCallout">
            <a:avLst>
              <a:gd name="adj1" fmla="val -42249"/>
              <a:gd name="adj2" fmla="val 6153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If the hospital reveals the analysis: smoking may lead to cancer, my premium may raise</a:t>
            </a:r>
            <a:endParaRPr lang="zh-CN" altLang="en-US" sz="1400" dirty="0">
              <a:solidFill>
                <a:schemeClr val="tx1"/>
              </a:solidFill>
              <a:latin typeface="Arial" panose="020B0604020202020204" pitchFamily="34" charset="0"/>
              <a:cs typeface="Arial" panose="020B0604020202020204" pitchFamily="34" charset="0"/>
            </a:endParaRPr>
          </a:p>
        </p:txBody>
      </p:sp>
      <p:sp>
        <p:nvSpPr>
          <p:cNvPr id="11" name="思想气泡: 云 10">
            <a:extLst>
              <a:ext uri="{FF2B5EF4-FFF2-40B4-BE49-F238E27FC236}">
                <a16:creationId xmlns:a16="http://schemas.microsoft.com/office/drawing/2014/main" id="{7B766583-F7C7-42EB-857D-E14A4EED73C1}"/>
              </a:ext>
            </a:extLst>
          </p:cNvPr>
          <p:cNvSpPr/>
          <p:nvPr/>
        </p:nvSpPr>
        <p:spPr>
          <a:xfrm>
            <a:off x="3647164" y="2163744"/>
            <a:ext cx="2843409" cy="1503101"/>
          </a:xfrm>
          <a:prstGeom prst="cloudCallout">
            <a:avLst>
              <a:gd name="adj1" fmla="val -42249"/>
              <a:gd name="adj2" fmla="val 6153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 found smoking leads to lung cancer with high probability</a:t>
            </a:r>
            <a:endParaRPr lang="zh-CN" altLang="en-US"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1269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E43A3F4-43E1-4A2B-97EC-6BBAA62973ED}"/>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Intuition and Definition</a:t>
            </a:r>
            <a:endParaRPr lang="zh-CN" altLang="en-US" sz="2400" b="1" dirty="0">
              <a:latin typeface="Arial" panose="020B0604020202020204" pitchFamily="34" charset="0"/>
              <a:cs typeface="Arial" panose="020B0604020202020204" pitchFamily="34" charset="0"/>
            </a:endParaRPr>
          </a:p>
        </p:txBody>
      </p:sp>
      <p:sp>
        <p:nvSpPr>
          <p:cNvPr id="5" name="文本框 4">
            <a:extLst>
              <a:ext uri="{FF2B5EF4-FFF2-40B4-BE49-F238E27FC236}">
                <a16:creationId xmlns:a16="http://schemas.microsoft.com/office/drawing/2014/main" id="{735D7CC9-EDC5-4262-8DE2-C6647F82B84F}"/>
              </a:ext>
            </a:extLst>
          </p:cNvPr>
          <p:cNvSpPr txBox="1"/>
          <p:nvPr/>
        </p:nvSpPr>
        <p:spPr>
          <a:xfrm>
            <a:off x="526094" y="1050004"/>
            <a:ext cx="10878855" cy="1015663"/>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What is privacy?</a:t>
            </a:r>
          </a:p>
          <a:p>
            <a:endParaRPr lang="en-US" altLang="zh-CN" sz="2000" dirty="0">
              <a:latin typeface="Arial" panose="020B0604020202020204" pitchFamily="34" charset="0"/>
              <a:cs typeface="Arial" panose="020B0604020202020204" pitchFamily="34" charset="0"/>
            </a:endParaRPr>
          </a:p>
          <a:p>
            <a:r>
              <a:rPr lang="en-US" altLang="zh-CN" sz="2000" dirty="0">
                <a:latin typeface="Arial" panose="020B0604020202020204" pitchFamily="34" charset="0"/>
                <a:cs typeface="Arial" panose="020B0604020202020204" pitchFamily="34" charset="0"/>
              </a:rPr>
              <a:t>Answer: Intuitively, people may consider the privacy as “secret”.</a:t>
            </a:r>
            <a:endParaRPr lang="zh-CN" altLang="en-US" sz="2000" dirty="0">
              <a:latin typeface="Arial" panose="020B0604020202020204" pitchFamily="34" charset="0"/>
              <a:cs typeface="Arial" panose="020B0604020202020204" pitchFamily="34" charset="0"/>
            </a:endParaRPr>
          </a:p>
        </p:txBody>
      </p:sp>
      <p:pic>
        <p:nvPicPr>
          <p:cNvPr id="1026" name="Picture 2" descr="Can hospital design improve our mental health too?, Health News, ET  HealthWorld">
            <a:extLst>
              <a:ext uri="{FF2B5EF4-FFF2-40B4-BE49-F238E27FC236}">
                <a16:creationId xmlns:a16="http://schemas.microsoft.com/office/drawing/2014/main" id="{A05FA678-A973-49DB-9B8F-D83ACA50D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3579" y="3964677"/>
            <a:ext cx="2355992" cy="128076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moking Icon - Free PNG &amp; SVG 39979 - Noun Project">
            <a:extLst>
              <a:ext uri="{FF2B5EF4-FFF2-40B4-BE49-F238E27FC236}">
                <a16:creationId xmlns:a16="http://schemas.microsoft.com/office/drawing/2014/main" id="{7941A064-4C86-4423-8478-29A45D223B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3132" y="3742336"/>
            <a:ext cx="1503101" cy="1503101"/>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3E89F5B3-5D3B-4BA1-81ED-911DA4B26843}"/>
              </a:ext>
            </a:extLst>
          </p:cNvPr>
          <p:cNvSpPr txBox="1"/>
          <p:nvPr/>
        </p:nvSpPr>
        <p:spPr>
          <a:xfrm>
            <a:off x="2693098" y="5323747"/>
            <a:ext cx="1553228"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Hospital</a:t>
            </a:r>
            <a:endParaRPr lang="zh-CN" altLang="en-US"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10686FEA-3E13-4D4C-ABF2-0635A242A427}"/>
              </a:ext>
            </a:extLst>
          </p:cNvPr>
          <p:cNvSpPr txBox="1"/>
          <p:nvPr/>
        </p:nvSpPr>
        <p:spPr>
          <a:xfrm>
            <a:off x="7427938" y="5323747"/>
            <a:ext cx="1377863"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Alice</a:t>
            </a:r>
            <a:endParaRPr lang="zh-CN" altLang="en-US" dirty="0">
              <a:latin typeface="Arial" panose="020B0604020202020204" pitchFamily="34" charset="0"/>
              <a:cs typeface="Arial" panose="020B0604020202020204" pitchFamily="34" charset="0"/>
            </a:endParaRPr>
          </a:p>
        </p:txBody>
      </p:sp>
      <p:sp>
        <p:nvSpPr>
          <p:cNvPr id="8" name="思想气泡: 云 7">
            <a:extLst>
              <a:ext uri="{FF2B5EF4-FFF2-40B4-BE49-F238E27FC236}">
                <a16:creationId xmlns:a16="http://schemas.microsoft.com/office/drawing/2014/main" id="{2896E2FF-402C-478D-9E69-BEC6B1A215B7}"/>
              </a:ext>
            </a:extLst>
          </p:cNvPr>
          <p:cNvSpPr/>
          <p:nvPr/>
        </p:nvSpPr>
        <p:spPr>
          <a:xfrm>
            <a:off x="7991608" y="2163744"/>
            <a:ext cx="2843409" cy="1503101"/>
          </a:xfrm>
          <a:prstGeom prst="cloudCallout">
            <a:avLst>
              <a:gd name="adj1" fmla="val -42249"/>
              <a:gd name="adj2" fmla="val 6153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If the hospital reveals the analysis: smoking may lead to cancer, my premium may raise</a:t>
            </a:r>
            <a:endParaRPr lang="zh-CN" altLang="en-US" sz="1400" dirty="0">
              <a:solidFill>
                <a:schemeClr val="tx1"/>
              </a:solidFill>
              <a:latin typeface="Arial" panose="020B0604020202020204" pitchFamily="34" charset="0"/>
              <a:cs typeface="Arial" panose="020B0604020202020204" pitchFamily="34" charset="0"/>
            </a:endParaRPr>
          </a:p>
        </p:txBody>
      </p:sp>
      <p:sp>
        <p:nvSpPr>
          <p:cNvPr id="11" name="思想气泡: 云 10">
            <a:extLst>
              <a:ext uri="{FF2B5EF4-FFF2-40B4-BE49-F238E27FC236}">
                <a16:creationId xmlns:a16="http://schemas.microsoft.com/office/drawing/2014/main" id="{7B766583-F7C7-42EB-857D-E14A4EED73C1}"/>
              </a:ext>
            </a:extLst>
          </p:cNvPr>
          <p:cNvSpPr/>
          <p:nvPr/>
        </p:nvSpPr>
        <p:spPr>
          <a:xfrm>
            <a:off x="3647164" y="2163744"/>
            <a:ext cx="2843409" cy="1503101"/>
          </a:xfrm>
          <a:prstGeom prst="cloudCallout">
            <a:avLst>
              <a:gd name="adj1" fmla="val -42249"/>
              <a:gd name="adj2" fmla="val 6153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 found smoking leads to lung cancer with high probability</a:t>
            </a:r>
            <a:endParaRPr lang="zh-CN" altLang="en-US" sz="1400" dirty="0">
              <a:solidFill>
                <a:schemeClr val="tx1"/>
              </a:solidFill>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2D45F435-69FD-450E-B640-AD6D05BC04A9}"/>
              </a:ext>
            </a:extLst>
          </p:cNvPr>
          <p:cNvSpPr txBox="1"/>
          <p:nvPr/>
        </p:nvSpPr>
        <p:spPr>
          <a:xfrm>
            <a:off x="638831" y="5889233"/>
            <a:ext cx="10465495"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Question: Does this hospital violate this smoker’s privacy?</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5888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E43A3F4-43E1-4A2B-97EC-6BBAA62973ED}"/>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Intuition and Definition</a:t>
            </a:r>
            <a:endParaRPr lang="zh-CN" altLang="en-US" sz="2400" b="1" dirty="0">
              <a:latin typeface="Arial" panose="020B0604020202020204" pitchFamily="34" charset="0"/>
              <a:cs typeface="Arial" panose="020B0604020202020204" pitchFamily="34" charset="0"/>
            </a:endParaRPr>
          </a:p>
        </p:txBody>
      </p:sp>
      <p:sp>
        <p:nvSpPr>
          <p:cNvPr id="5" name="文本框 4">
            <a:extLst>
              <a:ext uri="{FF2B5EF4-FFF2-40B4-BE49-F238E27FC236}">
                <a16:creationId xmlns:a16="http://schemas.microsoft.com/office/drawing/2014/main" id="{735D7CC9-EDC5-4262-8DE2-C6647F82B84F}"/>
              </a:ext>
            </a:extLst>
          </p:cNvPr>
          <p:cNvSpPr txBox="1"/>
          <p:nvPr/>
        </p:nvSpPr>
        <p:spPr>
          <a:xfrm>
            <a:off x="526094" y="1050004"/>
            <a:ext cx="10878855" cy="1015663"/>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What is privacy?</a:t>
            </a:r>
          </a:p>
          <a:p>
            <a:endParaRPr lang="en-US" altLang="zh-CN" sz="2000" dirty="0">
              <a:latin typeface="Arial" panose="020B0604020202020204" pitchFamily="34" charset="0"/>
              <a:cs typeface="Arial" panose="020B0604020202020204" pitchFamily="34" charset="0"/>
            </a:endParaRPr>
          </a:p>
          <a:p>
            <a:r>
              <a:rPr lang="en-US" altLang="zh-CN" sz="2000" dirty="0">
                <a:latin typeface="Arial" panose="020B0604020202020204" pitchFamily="34" charset="0"/>
                <a:cs typeface="Arial" panose="020B0604020202020204" pitchFamily="34" charset="0"/>
              </a:rPr>
              <a:t>Answer: Intuitively, people may consider the privacy as “secret”.</a:t>
            </a:r>
            <a:endParaRPr lang="zh-CN" altLang="en-US" sz="2000" dirty="0">
              <a:latin typeface="Arial" panose="020B0604020202020204" pitchFamily="34" charset="0"/>
              <a:cs typeface="Arial" panose="020B0604020202020204" pitchFamily="34" charset="0"/>
            </a:endParaRPr>
          </a:p>
        </p:txBody>
      </p:sp>
      <p:pic>
        <p:nvPicPr>
          <p:cNvPr id="1026" name="Picture 2" descr="Can hospital design improve our mental health too?, Health News, ET  HealthWorld">
            <a:extLst>
              <a:ext uri="{FF2B5EF4-FFF2-40B4-BE49-F238E27FC236}">
                <a16:creationId xmlns:a16="http://schemas.microsoft.com/office/drawing/2014/main" id="{A05FA678-A973-49DB-9B8F-D83ACA50D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3579" y="3964677"/>
            <a:ext cx="2355992" cy="128076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moking Icon - Free PNG &amp; SVG 39979 - Noun Project">
            <a:extLst>
              <a:ext uri="{FF2B5EF4-FFF2-40B4-BE49-F238E27FC236}">
                <a16:creationId xmlns:a16="http://schemas.microsoft.com/office/drawing/2014/main" id="{7941A064-4C86-4423-8478-29A45D223B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3132" y="3742336"/>
            <a:ext cx="1503101" cy="1503101"/>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3E89F5B3-5D3B-4BA1-81ED-911DA4B26843}"/>
              </a:ext>
            </a:extLst>
          </p:cNvPr>
          <p:cNvSpPr txBox="1"/>
          <p:nvPr/>
        </p:nvSpPr>
        <p:spPr>
          <a:xfrm>
            <a:off x="2693098" y="5323747"/>
            <a:ext cx="1553228"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Hospital</a:t>
            </a:r>
            <a:endParaRPr lang="zh-CN" altLang="en-US"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10686FEA-3E13-4D4C-ABF2-0635A242A427}"/>
              </a:ext>
            </a:extLst>
          </p:cNvPr>
          <p:cNvSpPr txBox="1"/>
          <p:nvPr/>
        </p:nvSpPr>
        <p:spPr>
          <a:xfrm>
            <a:off x="7427938" y="5323747"/>
            <a:ext cx="1377863"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Alice</a:t>
            </a:r>
            <a:endParaRPr lang="zh-CN" altLang="en-US" dirty="0">
              <a:latin typeface="Arial" panose="020B0604020202020204" pitchFamily="34" charset="0"/>
              <a:cs typeface="Arial" panose="020B0604020202020204" pitchFamily="34" charset="0"/>
            </a:endParaRPr>
          </a:p>
        </p:txBody>
      </p:sp>
      <p:sp>
        <p:nvSpPr>
          <p:cNvPr id="8" name="思想气泡: 云 7">
            <a:extLst>
              <a:ext uri="{FF2B5EF4-FFF2-40B4-BE49-F238E27FC236}">
                <a16:creationId xmlns:a16="http://schemas.microsoft.com/office/drawing/2014/main" id="{2896E2FF-402C-478D-9E69-BEC6B1A215B7}"/>
              </a:ext>
            </a:extLst>
          </p:cNvPr>
          <p:cNvSpPr/>
          <p:nvPr/>
        </p:nvSpPr>
        <p:spPr>
          <a:xfrm>
            <a:off x="7991608" y="2163744"/>
            <a:ext cx="2843409" cy="1503101"/>
          </a:xfrm>
          <a:prstGeom prst="cloudCallout">
            <a:avLst>
              <a:gd name="adj1" fmla="val -42249"/>
              <a:gd name="adj2" fmla="val 6153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If the hospital reveals the analysis: smoking may lead to cancer, my premium may raise</a:t>
            </a:r>
            <a:endParaRPr lang="zh-CN" altLang="en-US" sz="1400" dirty="0">
              <a:solidFill>
                <a:schemeClr val="tx1"/>
              </a:solidFill>
              <a:latin typeface="Arial" panose="020B0604020202020204" pitchFamily="34" charset="0"/>
              <a:cs typeface="Arial" panose="020B0604020202020204" pitchFamily="34" charset="0"/>
            </a:endParaRPr>
          </a:p>
        </p:txBody>
      </p:sp>
      <p:sp>
        <p:nvSpPr>
          <p:cNvPr id="11" name="思想气泡: 云 10">
            <a:extLst>
              <a:ext uri="{FF2B5EF4-FFF2-40B4-BE49-F238E27FC236}">
                <a16:creationId xmlns:a16="http://schemas.microsoft.com/office/drawing/2014/main" id="{7B766583-F7C7-42EB-857D-E14A4EED73C1}"/>
              </a:ext>
            </a:extLst>
          </p:cNvPr>
          <p:cNvSpPr/>
          <p:nvPr/>
        </p:nvSpPr>
        <p:spPr>
          <a:xfrm>
            <a:off x="3647164" y="2163744"/>
            <a:ext cx="2843409" cy="1503101"/>
          </a:xfrm>
          <a:prstGeom prst="cloudCallout">
            <a:avLst>
              <a:gd name="adj1" fmla="val -42249"/>
              <a:gd name="adj2" fmla="val 6153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 found smoking leads to lung cancer with high probability</a:t>
            </a:r>
            <a:endParaRPr lang="zh-CN" altLang="en-US" sz="1400" dirty="0">
              <a:solidFill>
                <a:schemeClr val="tx1"/>
              </a:solidFill>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2D45F435-69FD-450E-B640-AD6D05BC04A9}"/>
              </a:ext>
            </a:extLst>
          </p:cNvPr>
          <p:cNvSpPr txBox="1"/>
          <p:nvPr/>
        </p:nvSpPr>
        <p:spPr>
          <a:xfrm>
            <a:off x="638831" y="5889233"/>
            <a:ext cx="10465495"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If we define “privacy” as this way, </a:t>
            </a:r>
            <a:r>
              <a:rPr lang="en-US" altLang="zh-CN" sz="2000" dirty="0">
                <a:solidFill>
                  <a:srgbClr val="FF0000"/>
                </a:solidFill>
                <a:latin typeface="Arial" panose="020B0604020202020204" pitchFamily="34" charset="0"/>
                <a:cs typeface="Arial" panose="020B0604020202020204" pitchFamily="34" charset="0"/>
              </a:rPr>
              <a:t>no information can be released</a:t>
            </a:r>
            <a:endParaRPr lang="zh-CN" altLang="en-US" sz="20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2407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E43A3F4-43E1-4A2B-97EC-6BBAA62973ED}"/>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Intuition and Definition</a:t>
            </a:r>
            <a:endParaRPr lang="zh-CN" altLang="en-US" sz="2400" b="1" dirty="0">
              <a:latin typeface="Arial" panose="020B0604020202020204" pitchFamily="34" charset="0"/>
              <a:cs typeface="Arial" panose="020B0604020202020204" pitchFamily="34" charset="0"/>
            </a:endParaRPr>
          </a:p>
        </p:txBody>
      </p:sp>
      <p:sp>
        <p:nvSpPr>
          <p:cNvPr id="5" name="文本框 4">
            <a:extLst>
              <a:ext uri="{FF2B5EF4-FFF2-40B4-BE49-F238E27FC236}">
                <a16:creationId xmlns:a16="http://schemas.microsoft.com/office/drawing/2014/main" id="{735D7CC9-EDC5-4262-8DE2-C6647F82B84F}"/>
              </a:ext>
            </a:extLst>
          </p:cNvPr>
          <p:cNvSpPr txBox="1"/>
          <p:nvPr/>
        </p:nvSpPr>
        <p:spPr>
          <a:xfrm>
            <a:off x="526094" y="1050004"/>
            <a:ext cx="10878855" cy="1323439"/>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What is privacy?</a:t>
            </a:r>
          </a:p>
          <a:p>
            <a:endParaRPr lang="en-US" altLang="zh-CN" sz="2000" dirty="0">
              <a:latin typeface="Arial" panose="020B0604020202020204" pitchFamily="34" charset="0"/>
              <a:cs typeface="Arial" panose="020B0604020202020204" pitchFamily="34" charset="0"/>
            </a:endParaRPr>
          </a:p>
          <a:p>
            <a:r>
              <a:rPr lang="en-US" altLang="zh-CN" sz="2000" dirty="0" err="1">
                <a:latin typeface="Arial" panose="020B0604020202020204" pitchFamily="34" charset="0"/>
                <a:cs typeface="Arial" panose="020B0604020202020204" pitchFamily="34" charset="0"/>
              </a:rPr>
              <a:t>Dwork</a:t>
            </a:r>
            <a:r>
              <a:rPr lang="en-US" altLang="zh-CN" sz="2000" dirty="0">
                <a:latin typeface="Arial" panose="020B0604020202020204" pitchFamily="34" charset="0"/>
                <a:cs typeface="Arial" panose="020B0604020202020204" pitchFamily="34" charset="0"/>
              </a:rPr>
              <a:t>: Privacy is defined as “opting-out”. The most one can do to protect his privacy is to remove his data out of the dataset.</a:t>
            </a:r>
            <a:endParaRPr lang="zh-CN" altLang="en-US" sz="2000" dirty="0">
              <a:latin typeface="Arial" panose="020B0604020202020204" pitchFamily="34" charset="0"/>
              <a:cs typeface="Arial" panose="020B0604020202020204" pitchFamily="34" charset="0"/>
            </a:endParaRPr>
          </a:p>
        </p:txBody>
      </p:sp>
      <p:pic>
        <p:nvPicPr>
          <p:cNvPr id="1026" name="Picture 2" descr="Can hospital design improve our mental health too?, Health News, ET  HealthWorld">
            <a:extLst>
              <a:ext uri="{FF2B5EF4-FFF2-40B4-BE49-F238E27FC236}">
                <a16:creationId xmlns:a16="http://schemas.microsoft.com/office/drawing/2014/main" id="{A05FA678-A973-49DB-9B8F-D83ACA50D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3579" y="3964677"/>
            <a:ext cx="2355992" cy="128076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moking Icon - Free PNG &amp; SVG 39979 - Noun Project">
            <a:extLst>
              <a:ext uri="{FF2B5EF4-FFF2-40B4-BE49-F238E27FC236}">
                <a16:creationId xmlns:a16="http://schemas.microsoft.com/office/drawing/2014/main" id="{7941A064-4C86-4423-8478-29A45D223B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3132" y="3742336"/>
            <a:ext cx="1503101" cy="1503101"/>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3E89F5B3-5D3B-4BA1-81ED-911DA4B26843}"/>
              </a:ext>
            </a:extLst>
          </p:cNvPr>
          <p:cNvSpPr txBox="1"/>
          <p:nvPr/>
        </p:nvSpPr>
        <p:spPr>
          <a:xfrm>
            <a:off x="2693098" y="5323747"/>
            <a:ext cx="1553228"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Hospital</a:t>
            </a:r>
            <a:endParaRPr lang="zh-CN" altLang="en-US"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10686FEA-3E13-4D4C-ABF2-0635A242A427}"/>
              </a:ext>
            </a:extLst>
          </p:cNvPr>
          <p:cNvSpPr txBox="1"/>
          <p:nvPr/>
        </p:nvSpPr>
        <p:spPr>
          <a:xfrm>
            <a:off x="7427938" y="5323747"/>
            <a:ext cx="1377863"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Alice</a:t>
            </a:r>
            <a:endParaRPr lang="zh-CN" altLang="en-US" dirty="0">
              <a:latin typeface="Arial" panose="020B0604020202020204" pitchFamily="34" charset="0"/>
              <a:cs typeface="Arial" panose="020B0604020202020204" pitchFamily="34" charset="0"/>
            </a:endParaRPr>
          </a:p>
        </p:txBody>
      </p:sp>
      <p:sp>
        <p:nvSpPr>
          <p:cNvPr id="8" name="思想气泡: 云 7">
            <a:extLst>
              <a:ext uri="{FF2B5EF4-FFF2-40B4-BE49-F238E27FC236}">
                <a16:creationId xmlns:a16="http://schemas.microsoft.com/office/drawing/2014/main" id="{2896E2FF-402C-478D-9E69-BEC6B1A215B7}"/>
              </a:ext>
            </a:extLst>
          </p:cNvPr>
          <p:cNvSpPr/>
          <p:nvPr/>
        </p:nvSpPr>
        <p:spPr>
          <a:xfrm>
            <a:off x="7991608" y="2163744"/>
            <a:ext cx="2843409" cy="1503101"/>
          </a:xfrm>
          <a:prstGeom prst="cloudCallout">
            <a:avLst>
              <a:gd name="adj1" fmla="val -42249"/>
              <a:gd name="adj2" fmla="val 6153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If the hospital reveals the analysis: smoking may lead to cancer, my premium may raise</a:t>
            </a:r>
            <a:endParaRPr lang="zh-CN" altLang="en-US" sz="1400" dirty="0">
              <a:solidFill>
                <a:schemeClr val="tx1"/>
              </a:solidFill>
              <a:latin typeface="Arial" panose="020B0604020202020204" pitchFamily="34" charset="0"/>
              <a:cs typeface="Arial" panose="020B0604020202020204" pitchFamily="34" charset="0"/>
            </a:endParaRPr>
          </a:p>
        </p:txBody>
      </p:sp>
      <p:sp>
        <p:nvSpPr>
          <p:cNvPr id="11" name="思想气泡: 云 10">
            <a:extLst>
              <a:ext uri="{FF2B5EF4-FFF2-40B4-BE49-F238E27FC236}">
                <a16:creationId xmlns:a16="http://schemas.microsoft.com/office/drawing/2014/main" id="{7B766583-F7C7-42EB-857D-E14A4EED73C1}"/>
              </a:ext>
            </a:extLst>
          </p:cNvPr>
          <p:cNvSpPr/>
          <p:nvPr/>
        </p:nvSpPr>
        <p:spPr>
          <a:xfrm>
            <a:off x="3647164" y="2163744"/>
            <a:ext cx="2843409" cy="1503101"/>
          </a:xfrm>
          <a:prstGeom prst="cloudCallout">
            <a:avLst>
              <a:gd name="adj1" fmla="val -42249"/>
              <a:gd name="adj2" fmla="val 6153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 found smoking leads to lung cancer with high probability</a:t>
            </a:r>
            <a:endParaRPr lang="zh-CN" altLang="en-US"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8379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an hospital design improve our mental health too?, Health News, ET  HealthWorld">
            <a:extLst>
              <a:ext uri="{FF2B5EF4-FFF2-40B4-BE49-F238E27FC236}">
                <a16:creationId xmlns:a16="http://schemas.microsoft.com/office/drawing/2014/main" id="{A05FA678-A973-49DB-9B8F-D83ACA50D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3579" y="4123584"/>
            <a:ext cx="2355992" cy="1280764"/>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3E89F5B3-5D3B-4BA1-81ED-911DA4B26843}"/>
              </a:ext>
            </a:extLst>
          </p:cNvPr>
          <p:cNvSpPr txBox="1"/>
          <p:nvPr/>
        </p:nvSpPr>
        <p:spPr>
          <a:xfrm>
            <a:off x="2693098" y="5482654"/>
            <a:ext cx="1553228"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Hospital</a:t>
            </a:r>
            <a:endParaRPr lang="zh-CN" altLang="en-US"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10686FEA-3E13-4D4C-ABF2-0635A242A427}"/>
              </a:ext>
            </a:extLst>
          </p:cNvPr>
          <p:cNvSpPr txBox="1"/>
          <p:nvPr/>
        </p:nvSpPr>
        <p:spPr>
          <a:xfrm>
            <a:off x="6889317" y="5482657"/>
            <a:ext cx="2455103"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Alice</a:t>
            </a:r>
            <a:endParaRPr lang="zh-CN" altLang="en-US" dirty="0">
              <a:latin typeface="Arial" panose="020B0604020202020204" pitchFamily="34" charset="0"/>
              <a:cs typeface="Arial" panose="020B0604020202020204" pitchFamily="34" charset="0"/>
            </a:endParaRPr>
          </a:p>
        </p:txBody>
      </p:sp>
      <p:sp>
        <p:nvSpPr>
          <p:cNvPr id="8" name="思想气泡: 云 7">
            <a:extLst>
              <a:ext uri="{FF2B5EF4-FFF2-40B4-BE49-F238E27FC236}">
                <a16:creationId xmlns:a16="http://schemas.microsoft.com/office/drawing/2014/main" id="{2896E2FF-402C-478D-9E69-BEC6B1A215B7}"/>
              </a:ext>
            </a:extLst>
          </p:cNvPr>
          <p:cNvSpPr/>
          <p:nvPr/>
        </p:nvSpPr>
        <p:spPr>
          <a:xfrm>
            <a:off x="7991608" y="2322650"/>
            <a:ext cx="2843409" cy="1503101"/>
          </a:xfrm>
          <a:prstGeom prst="cloudCallout">
            <a:avLst>
              <a:gd name="adj1" fmla="val -42249"/>
              <a:gd name="adj2" fmla="val 6153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If the hospital reveals the analysis: smoking may lead to cancer, my premium may raise</a:t>
            </a:r>
            <a:endParaRPr lang="zh-CN" altLang="en-US" sz="1400" dirty="0">
              <a:solidFill>
                <a:schemeClr val="tx1"/>
              </a:solidFill>
              <a:latin typeface="Arial" panose="020B0604020202020204" pitchFamily="34" charset="0"/>
              <a:cs typeface="Arial" panose="020B0604020202020204" pitchFamily="34" charset="0"/>
            </a:endParaRPr>
          </a:p>
        </p:txBody>
      </p:sp>
      <p:sp>
        <p:nvSpPr>
          <p:cNvPr id="11" name="思想气泡: 云 10">
            <a:extLst>
              <a:ext uri="{FF2B5EF4-FFF2-40B4-BE49-F238E27FC236}">
                <a16:creationId xmlns:a16="http://schemas.microsoft.com/office/drawing/2014/main" id="{7B766583-F7C7-42EB-857D-E14A4EED73C1}"/>
              </a:ext>
            </a:extLst>
          </p:cNvPr>
          <p:cNvSpPr/>
          <p:nvPr/>
        </p:nvSpPr>
        <p:spPr>
          <a:xfrm>
            <a:off x="3647164" y="2322650"/>
            <a:ext cx="2843409" cy="1503101"/>
          </a:xfrm>
          <a:prstGeom prst="cloudCallout">
            <a:avLst>
              <a:gd name="adj1" fmla="val -42249"/>
              <a:gd name="adj2" fmla="val 6153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 found smoking leads to lung cancer with high probability</a:t>
            </a:r>
            <a:endParaRPr lang="zh-CN" altLang="en-US" sz="1400" dirty="0">
              <a:solidFill>
                <a:schemeClr val="tx1"/>
              </a:solidFill>
              <a:latin typeface="Arial" panose="020B060402020202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BC2387BB-E1C3-4115-A425-689624EDC5A7}"/>
              </a:ext>
            </a:extLst>
          </p:cNvPr>
          <p:cNvSpPr txBox="1"/>
          <p:nvPr/>
        </p:nvSpPr>
        <p:spPr>
          <a:xfrm>
            <a:off x="604628" y="5976595"/>
            <a:ext cx="10465495" cy="400110"/>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Revisit: Does this hospital violate this smoker’s privacy?</a:t>
            </a:r>
          </a:p>
        </p:txBody>
      </p:sp>
      <p:sp>
        <p:nvSpPr>
          <p:cNvPr id="12" name="文本框 11">
            <a:extLst>
              <a:ext uri="{FF2B5EF4-FFF2-40B4-BE49-F238E27FC236}">
                <a16:creationId xmlns:a16="http://schemas.microsoft.com/office/drawing/2014/main" id="{42148FC2-C710-4A35-9D06-6E67545AEDB9}"/>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Intuition and Definition</a:t>
            </a:r>
            <a:endParaRPr lang="zh-CN" altLang="en-US" sz="2400" b="1" dirty="0">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19F15CF6-DD31-4396-AC95-FBFDF88850E3}"/>
              </a:ext>
            </a:extLst>
          </p:cNvPr>
          <p:cNvSpPr txBox="1"/>
          <p:nvPr/>
        </p:nvSpPr>
        <p:spPr>
          <a:xfrm>
            <a:off x="526094" y="1050004"/>
            <a:ext cx="10878855" cy="1323439"/>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What is privacy?</a:t>
            </a:r>
          </a:p>
          <a:p>
            <a:endParaRPr lang="en-US" altLang="zh-CN" sz="2000" dirty="0">
              <a:latin typeface="Arial" panose="020B0604020202020204" pitchFamily="34" charset="0"/>
              <a:cs typeface="Arial" panose="020B0604020202020204" pitchFamily="34" charset="0"/>
            </a:endParaRPr>
          </a:p>
          <a:p>
            <a:r>
              <a:rPr lang="en-US" altLang="zh-CN" sz="2000" dirty="0" err="1">
                <a:latin typeface="Arial" panose="020B0604020202020204" pitchFamily="34" charset="0"/>
                <a:cs typeface="Arial" panose="020B0604020202020204" pitchFamily="34" charset="0"/>
              </a:rPr>
              <a:t>Dwork</a:t>
            </a:r>
            <a:r>
              <a:rPr lang="en-US" altLang="zh-CN" sz="2000" dirty="0">
                <a:latin typeface="Arial" panose="020B0604020202020204" pitchFamily="34" charset="0"/>
                <a:cs typeface="Arial" panose="020B0604020202020204" pitchFamily="34" charset="0"/>
              </a:rPr>
              <a:t>: Privacy is defined as “opting-out”. The most one can do to protect his privacy is to remove his data out of the dataset.</a:t>
            </a:r>
            <a:endParaRPr lang="zh-CN" altLang="en-US" sz="2000" dirty="0">
              <a:latin typeface="Arial" panose="020B0604020202020204" pitchFamily="34" charset="0"/>
              <a:cs typeface="Arial" panose="020B0604020202020204" pitchFamily="34" charset="0"/>
            </a:endParaRPr>
          </a:p>
        </p:txBody>
      </p:sp>
      <p:pic>
        <p:nvPicPr>
          <p:cNvPr id="15" name="Picture 4" descr="Smoking Icon - Free PNG &amp; SVG 39979 - Noun Project">
            <a:extLst>
              <a:ext uri="{FF2B5EF4-FFF2-40B4-BE49-F238E27FC236}">
                <a16:creationId xmlns:a16="http://schemas.microsoft.com/office/drawing/2014/main" id="{A5C48B9F-2808-49BE-BF09-81B6E03FF4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3132" y="4082870"/>
            <a:ext cx="1503101" cy="1503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9289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an hospital design improve our mental health too?, Health News, ET  HealthWorld">
            <a:extLst>
              <a:ext uri="{FF2B5EF4-FFF2-40B4-BE49-F238E27FC236}">
                <a16:creationId xmlns:a16="http://schemas.microsoft.com/office/drawing/2014/main" id="{A05FA678-A973-49DB-9B8F-D83ACA50D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3579" y="3814580"/>
            <a:ext cx="2355992" cy="1280764"/>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3E89F5B3-5D3B-4BA1-81ED-911DA4B26843}"/>
              </a:ext>
            </a:extLst>
          </p:cNvPr>
          <p:cNvSpPr txBox="1"/>
          <p:nvPr/>
        </p:nvSpPr>
        <p:spPr>
          <a:xfrm>
            <a:off x="2693098" y="5173650"/>
            <a:ext cx="1553228"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Hospital</a:t>
            </a:r>
            <a:endParaRPr lang="zh-CN" altLang="en-US"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10686FEA-3E13-4D4C-ABF2-0635A242A427}"/>
              </a:ext>
            </a:extLst>
          </p:cNvPr>
          <p:cNvSpPr txBox="1"/>
          <p:nvPr/>
        </p:nvSpPr>
        <p:spPr>
          <a:xfrm>
            <a:off x="6889317" y="5173653"/>
            <a:ext cx="2455103"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Any random individual</a:t>
            </a:r>
            <a:endParaRPr lang="zh-CN" altLang="en-US" dirty="0">
              <a:latin typeface="Arial" panose="020B0604020202020204" pitchFamily="34" charset="0"/>
              <a:cs typeface="Arial" panose="020B0604020202020204" pitchFamily="34" charset="0"/>
            </a:endParaRPr>
          </a:p>
        </p:txBody>
      </p:sp>
      <p:sp>
        <p:nvSpPr>
          <p:cNvPr id="8" name="思想气泡: 云 7">
            <a:extLst>
              <a:ext uri="{FF2B5EF4-FFF2-40B4-BE49-F238E27FC236}">
                <a16:creationId xmlns:a16="http://schemas.microsoft.com/office/drawing/2014/main" id="{2896E2FF-402C-478D-9E69-BEC6B1A215B7}"/>
              </a:ext>
            </a:extLst>
          </p:cNvPr>
          <p:cNvSpPr/>
          <p:nvPr/>
        </p:nvSpPr>
        <p:spPr>
          <a:xfrm>
            <a:off x="7991608" y="2114544"/>
            <a:ext cx="2843409" cy="1503101"/>
          </a:xfrm>
          <a:prstGeom prst="cloudCallout">
            <a:avLst>
              <a:gd name="adj1" fmla="val -42249"/>
              <a:gd name="adj2" fmla="val 6153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If the hospital reveals the analysis: smoking may lead to cancer, my premium may raise</a:t>
            </a:r>
            <a:endParaRPr lang="zh-CN" altLang="en-US" sz="1400" dirty="0">
              <a:solidFill>
                <a:schemeClr val="tx1"/>
              </a:solidFill>
              <a:latin typeface="Arial" panose="020B0604020202020204" pitchFamily="34" charset="0"/>
              <a:cs typeface="Arial" panose="020B0604020202020204" pitchFamily="34" charset="0"/>
            </a:endParaRPr>
          </a:p>
        </p:txBody>
      </p:sp>
      <p:sp>
        <p:nvSpPr>
          <p:cNvPr id="11" name="思想气泡: 云 10">
            <a:extLst>
              <a:ext uri="{FF2B5EF4-FFF2-40B4-BE49-F238E27FC236}">
                <a16:creationId xmlns:a16="http://schemas.microsoft.com/office/drawing/2014/main" id="{7B766583-F7C7-42EB-857D-E14A4EED73C1}"/>
              </a:ext>
            </a:extLst>
          </p:cNvPr>
          <p:cNvSpPr/>
          <p:nvPr/>
        </p:nvSpPr>
        <p:spPr>
          <a:xfrm>
            <a:off x="4415670" y="2098055"/>
            <a:ext cx="2843409" cy="1503101"/>
          </a:xfrm>
          <a:prstGeom prst="cloudCallout">
            <a:avLst>
              <a:gd name="adj1" fmla="val -42249"/>
              <a:gd name="adj2" fmla="val 6153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 found smoking leads to lung cancer with high probability</a:t>
            </a:r>
            <a:endParaRPr lang="zh-CN" altLang="en-US" sz="1400" dirty="0">
              <a:solidFill>
                <a:schemeClr val="tx1"/>
              </a:solidFill>
              <a:latin typeface="Arial" panose="020B060402020202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BC2387BB-E1C3-4115-A425-689624EDC5A7}"/>
              </a:ext>
            </a:extLst>
          </p:cNvPr>
          <p:cNvSpPr txBox="1"/>
          <p:nvPr/>
        </p:nvSpPr>
        <p:spPr>
          <a:xfrm>
            <a:off x="604628" y="5518436"/>
            <a:ext cx="10465495" cy="1323439"/>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Revisit: Does this hospital violate this smoker’s privacy?</a:t>
            </a:r>
          </a:p>
          <a:p>
            <a:endParaRPr lang="en-US" altLang="zh-CN" sz="2000" dirty="0">
              <a:latin typeface="Arial" panose="020B0604020202020204" pitchFamily="34" charset="0"/>
              <a:cs typeface="Arial" panose="020B0604020202020204" pitchFamily="34" charset="0"/>
            </a:endParaRPr>
          </a:p>
          <a:p>
            <a:r>
              <a:rPr lang="en-US" altLang="zh-CN" sz="2000" dirty="0" err="1">
                <a:latin typeface="Arial" panose="020B0604020202020204" pitchFamily="34" charset="0"/>
                <a:cs typeface="Arial" panose="020B0604020202020204" pitchFamily="34" charset="0"/>
              </a:rPr>
              <a:t>Dwork</a:t>
            </a:r>
            <a:r>
              <a:rPr lang="en-US" altLang="zh-CN" sz="2000" dirty="0">
                <a:latin typeface="Arial" panose="020B0604020202020204" pitchFamily="34" charset="0"/>
                <a:cs typeface="Arial" panose="020B0604020202020204" pitchFamily="34" charset="0"/>
              </a:rPr>
              <a:t>: No, the conclusion does not change if the smoker is replaced with any other individual. Thus, the hospital </a:t>
            </a:r>
            <a:r>
              <a:rPr lang="en-US" altLang="zh-CN" sz="2000" dirty="0">
                <a:solidFill>
                  <a:srgbClr val="FF0000"/>
                </a:solidFill>
                <a:latin typeface="Arial" panose="020B0604020202020204" pitchFamily="34" charset="0"/>
                <a:cs typeface="Arial" panose="020B0604020202020204" pitchFamily="34" charset="0"/>
              </a:rPr>
              <a:t>reveals the information about </a:t>
            </a:r>
            <a:r>
              <a:rPr lang="en-US" altLang="zh-CN" sz="2000" b="1" dirty="0">
                <a:solidFill>
                  <a:srgbClr val="FF0000"/>
                </a:solidFill>
                <a:latin typeface="Arial" panose="020B0604020202020204" pitchFamily="34" charset="0"/>
                <a:cs typeface="Arial" panose="020B0604020202020204" pitchFamily="34" charset="0"/>
              </a:rPr>
              <a:t>people</a:t>
            </a:r>
            <a:r>
              <a:rPr lang="en-US" altLang="zh-CN" sz="2000" dirty="0">
                <a:solidFill>
                  <a:srgbClr val="FF0000"/>
                </a:solidFill>
                <a:latin typeface="Arial" panose="020B0604020202020204" pitchFamily="34" charset="0"/>
                <a:cs typeface="Arial" panose="020B0604020202020204" pitchFamily="34" charset="0"/>
              </a:rPr>
              <a:t>, but not about the </a:t>
            </a:r>
            <a:r>
              <a:rPr lang="en-US" altLang="zh-CN" sz="2000" b="1" dirty="0">
                <a:solidFill>
                  <a:srgbClr val="FF0000"/>
                </a:solidFill>
                <a:latin typeface="Arial" panose="020B0604020202020204" pitchFamily="34" charset="0"/>
                <a:cs typeface="Arial" panose="020B0604020202020204" pitchFamily="34" charset="0"/>
              </a:rPr>
              <a:t>Alice</a:t>
            </a:r>
            <a:endParaRPr lang="zh-CN" altLang="en-US" sz="2000" b="1" dirty="0">
              <a:solidFill>
                <a:srgbClr val="FF0000"/>
              </a:solidFill>
              <a:latin typeface="Arial" panose="020B0604020202020204" pitchFamily="34" charset="0"/>
              <a:cs typeface="Arial" panose="020B0604020202020204" pitchFamily="34" charset="0"/>
            </a:endParaRPr>
          </a:p>
        </p:txBody>
      </p:sp>
      <p:pic>
        <p:nvPicPr>
          <p:cNvPr id="2050" name="Picture 2" descr="Dice - Free entertainment icons">
            <a:extLst>
              <a:ext uri="{FF2B5EF4-FFF2-40B4-BE49-F238E27FC236}">
                <a16:creationId xmlns:a16="http://schemas.microsoft.com/office/drawing/2014/main" id="{632F83FD-5795-4BF5-95D8-C59E39B6E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9961" y="3939839"/>
            <a:ext cx="1233815" cy="1233815"/>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42148FC2-C710-4A35-9D06-6E67545AEDB9}"/>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Intuition and Definition</a:t>
            </a:r>
            <a:endParaRPr lang="zh-CN" altLang="en-US" sz="2400" b="1" dirty="0">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19F15CF6-DD31-4396-AC95-FBFDF88850E3}"/>
              </a:ext>
            </a:extLst>
          </p:cNvPr>
          <p:cNvSpPr txBox="1"/>
          <p:nvPr/>
        </p:nvSpPr>
        <p:spPr>
          <a:xfrm>
            <a:off x="526094" y="1050004"/>
            <a:ext cx="10878855" cy="1323439"/>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What is privacy?</a:t>
            </a:r>
          </a:p>
          <a:p>
            <a:endParaRPr lang="en-US" altLang="zh-CN" sz="2000" dirty="0">
              <a:latin typeface="Arial" panose="020B0604020202020204" pitchFamily="34" charset="0"/>
              <a:cs typeface="Arial" panose="020B0604020202020204" pitchFamily="34" charset="0"/>
            </a:endParaRPr>
          </a:p>
          <a:p>
            <a:r>
              <a:rPr lang="en-US" altLang="zh-CN" sz="2000" dirty="0" err="1">
                <a:latin typeface="Arial" panose="020B0604020202020204" pitchFamily="34" charset="0"/>
                <a:cs typeface="Arial" panose="020B0604020202020204" pitchFamily="34" charset="0"/>
              </a:rPr>
              <a:t>Dwork</a:t>
            </a:r>
            <a:r>
              <a:rPr lang="en-US" altLang="zh-CN" sz="2000" dirty="0">
                <a:latin typeface="Arial" panose="020B0604020202020204" pitchFamily="34" charset="0"/>
                <a:cs typeface="Arial" panose="020B0604020202020204" pitchFamily="34" charset="0"/>
              </a:rPr>
              <a:t>: Privacy is defined as “opting-out”. The most one can do to protect his privacy is to remove his data out of the dataset.</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3668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42148FC2-C710-4A35-9D06-6E67545AEDB9}"/>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Intuition and Definition</a:t>
            </a:r>
            <a:endParaRPr lang="zh-CN" altLang="en-US" sz="2400" b="1" dirty="0">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19F15CF6-DD31-4396-AC95-FBFDF88850E3}"/>
              </a:ext>
            </a:extLst>
          </p:cNvPr>
          <p:cNvSpPr txBox="1"/>
          <p:nvPr/>
        </p:nvSpPr>
        <p:spPr>
          <a:xfrm>
            <a:off x="526094" y="1050004"/>
            <a:ext cx="10878855" cy="707886"/>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Revisit: Why is Alice violated even if DP provide privacy guarantee?</a:t>
            </a:r>
          </a:p>
          <a:p>
            <a:endParaRPr lang="en-US" altLang="zh-CN" sz="2000" dirty="0">
              <a:latin typeface="Arial" panose="020B0604020202020204" pitchFamily="34" charset="0"/>
              <a:cs typeface="Arial" panose="020B0604020202020204" pitchFamily="34" charset="0"/>
            </a:endParaRPr>
          </a:p>
        </p:txBody>
      </p:sp>
      <p:pic>
        <p:nvPicPr>
          <p:cNvPr id="13" name="Picture 2" descr="Can hospital design improve our mental health too?, Health News, ET  HealthWorld">
            <a:extLst>
              <a:ext uri="{FF2B5EF4-FFF2-40B4-BE49-F238E27FC236}">
                <a16:creationId xmlns:a16="http://schemas.microsoft.com/office/drawing/2014/main" id="{D3512B76-AA53-4B1C-87FC-4C84A3A3E2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3579" y="4123584"/>
            <a:ext cx="2355992" cy="1280764"/>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68998BE2-8A87-49DE-9EDE-5E0AC3337802}"/>
              </a:ext>
            </a:extLst>
          </p:cNvPr>
          <p:cNvSpPr txBox="1"/>
          <p:nvPr/>
        </p:nvSpPr>
        <p:spPr>
          <a:xfrm>
            <a:off x="2693098" y="5482654"/>
            <a:ext cx="1553228"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Hospital</a:t>
            </a:r>
            <a:endParaRPr lang="zh-CN" altLang="en-US" dirty="0">
              <a:latin typeface="Arial" panose="020B0604020202020204" pitchFamily="34" charset="0"/>
              <a:cs typeface="Arial" panose="020B0604020202020204" pitchFamily="34" charset="0"/>
            </a:endParaRPr>
          </a:p>
        </p:txBody>
      </p:sp>
      <p:sp>
        <p:nvSpPr>
          <p:cNvPr id="17" name="文本框 16">
            <a:extLst>
              <a:ext uri="{FF2B5EF4-FFF2-40B4-BE49-F238E27FC236}">
                <a16:creationId xmlns:a16="http://schemas.microsoft.com/office/drawing/2014/main" id="{C420AFC1-9EA0-4C71-92A8-5DF51F7A9FC2}"/>
              </a:ext>
            </a:extLst>
          </p:cNvPr>
          <p:cNvSpPr txBox="1"/>
          <p:nvPr/>
        </p:nvSpPr>
        <p:spPr>
          <a:xfrm>
            <a:off x="6889317" y="5482657"/>
            <a:ext cx="2455103"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Alice</a:t>
            </a:r>
            <a:endParaRPr lang="zh-CN" altLang="en-US" dirty="0">
              <a:latin typeface="Arial" panose="020B0604020202020204" pitchFamily="34" charset="0"/>
              <a:cs typeface="Arial" panose="020B0604020202020204" pitchFamily="34" charset="0"/>
            </a:endParaRPr>
          </a:p>
        </p:txBody>
      </p:sp>
      <p:sp>
        <p:nvSpPr>
          <p:cNvPr id="18" name="思想气泡: 云 17">
            <a:extLst>
              <a:ext uri="{FF2B5EF4-FFF2-40B4-BE49-F238E27FC236}">
                <a16:creationId xmlns:a16="http://schemas.microsoft.com/office/drawing/2014/main" id="{F1C5991B-B763-4A96-BBC1-C16078F7ABF3}"/>
              </a:ext>
            </a:extLst>
          </p:cNvPr>
          <p:cNvSpPr/>
          <p:nvPr/>
        </p:nvSpPr>
        <p:spPr>
          <a:xfrm>
            <a:off x="7991608" y="2322650"/>
            <a:ext cx="2843409" cy="1503101"/>
          </a:xfrm>
          <a:prstGeom prst="cloudCallout">
            <a:avLst>
              <a:gd name="adj1" fmla="val -42249"/>
              <a:gd name="adj2" fmla="val 6153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If the hospital reveals the analysis: smoking may lead to cancer, </a:t>
            </a:r>
            <a:r>
              <a:rPr lang="en-US" altLang="zh-CN" sz="1400" dirty="0">
                <a:solidFill>
                  <a:srgbClr val="C00000"/>
                </a:solidFill>
                <a:latin typeface="Arial" panose="020B0604020202020204" pitchFamily="34" charset="0"/>
                <a:cs typeface="Arial" panose="020B0604020202020204" pitchFamily="34" charset="0"/>
              </a:rPr>
              <a:t>my premium may raise</a:t>
            </a:r>
            <a:endParaRPr lang="zh-CN" altLang="en-US" sz="1400" dirty="0">
              <a:solidFill>
                <a:srgbClr val="C00000"/>
              </a:solidFill>
              <a:latin typeface="Arial" panose="020B0604020202020204" pitchFamily="34" charset="0"/>
              <a:cs typeface="Arial" panose="020B0604020202020204" pitchFamily="34" charset="0"/>
            </a:endParaRPr>
          </a:p>
        </p:txBody>
      </p:sp>
      <p:sp>
        <p:nvSpPr>
          <p:cNvPr id="19" name="思想气泡: 云 18">
            <a:extLst>
              <a:ext uri="{FF2B5EF4-FFF2-40B4-BE49-F238E27FC236}">
                <a16:creationId xmlns:a16="http://schemas.microsoft.com/office/drawing/2014/main" id="{AF0D1D6A-D0FC-4123-B73C-A58133B9D9DC}"/>
              </a:ext>
            </a:extLst>
          </p:cNvPr>
          <p:cNvSpPr/>
          <p:nvPr/>
        </p:nvSpPr>
        <p:spPr>
          <a:xfrm>
            <a:off x="3647164" y="2322650"/>
            <a:ext cx="2843409" cy="1503101"/>
          </a:xfrm>
          <a:prstGeom prst="cloudCallout">
            <a:avLst>
              <a:gd name="adj1" fmla="val -42249"/>
              <a:gd name="adj2" fmla="val 61530"/>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rial" panose="020B0604020202020204" pitchFamily="34" charset="0"/>
                <a:cs typeface="Arial" panose="020B0604020202020204" pitchFamily="34" charset="0"/>
              </a:rPr>
              <a:t>I found smoking leads to lung cancer with high probability</a:t>
            </a:r>
            <a:endParaRPr lang="zh-CN" altLang="en-US" sz="1400" dirty="0">
              <a:solidFill>
                <a:schemeClr val="tx1"/>
              </a:solidFill>
              <a:latin typeface="Arial" panose="020B0604020202020204" pitchFamily="34" charset="0"/>
              <a:cs typeface="Arial" panose="020B0604020202020204" pitchFamily="34" charset="0"/>
            </a:endParaRPr>
          </a:p>
        </p:txBody>
      </p:sp>
      <p:pic>
        <p:nvPicPr>
          <p:cNvPr id="20" name="Picture 4" descr="Smoking Icon - Free PNG &amp; SVG 39979 - Noun Project">
            <a:extLst>
              <a:ext uri="{FF2B5EF4-FFF2-40B4-BE49-F238E27FC236}">
                <a16:creationId xmlns:a16="http://schemas.microsoft.com/office/drawing/2014/main" id="{4F66DC67-51BA-4006-96B1-181BC39ED1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3132" y="4082870"/>
            <a:ext cx="1503101" cy="1503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4698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42148FC2-C710-4A35-9D06-6E67545AEDB9}"/>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Intuition and Definition</a:t>
            </a:r>
            <a:endParaRPr lang="zh-CN" altLang="en-US" sz="2400" b="1" dirty="0">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19F15CF6-DD31-4396-AC95-FBFDF88850E3}"/>
              </a:ext>
            </a:extLst>
          </p:cNvPr>
          <p:cNvSpPr txBox="1"/>
          <p:nvPr/>
        </p:nvSpPr>
        <p:spPr>
          <a:xfrm>
            <a:off x="526094" y="1050004"/>
            <a:ext cx="10878855" cy="1574214"/>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Revisit: Why is Alice violated even if DP provide privacy guarantee?</a:t>
            </a:r>
          </a:p>
          <a:p>
            <a:endParaRPr lang="en-US" altLang="zh-CN" sz="20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altLang="zh-CN" sz="2000" dirty="0">
                <a:latin typeface="Arial" panose="020B0604020202020204" pitchFamily="34" charset="0"/>
                <a:cs typeface="Arial" panose="020B0604020202020204" pitchFamily="34" charset="0"/>
              </a:rPr>
              <a:t>DP </a:t>
            </a:r>
            <a:r>
              <a:rPr lang="en-US" altLang="zh-CN" sz="2000" dirty="0">
                <a:solidFill>
                  <a:srgbClr val="00B050"/>
                </a:solidFill>
                <a:latin typeface="Arial" panose="020B0604020202020204" pitchFamily="34" charset="0"/>
                <a:cs typeface="Arial" panose="020B0604020202020204" pitchFamily="34" charset="0"/>
              </a:rPr>
              <a:t>can</a:t>
            </a:r>
            <a:r>
              <a:rPr lang="en-US" altLang="zh-CN" sz="2000" dirty="0">
                <a:latin typeface="Arial" panose="020B0604020202020204" pitchFamily="34" charset="0"/>
                <a:cs typeface="Arial" panose="020B0604020202020204" pitchFamily="34" charset="0"/>
              </a:rPr>
              <a:t> prevent harm from </a:t>
            </a:r>
            <a:r>
              <a:rPr lang="en-US" altLang="zh-CN" sz="2000" i="1" dirty="0">
                <a:latin typeface="Arial" panose="020B0604020202020204" pitchFamily="34" charset="0"/>
                <a:cs typeface="Arial" panose="020B0604020202020204" pitchFamily="34" charset="0"/>
              </a:rPr>
              <a:t>participation</a:t>
            </a:r>
          </a:p>
          <a:p>
            <a:pPr marL="342900" indent="-342900">
              <a:lnSpc>
                <a:spcPct val="150000"/>
              </a:lnSpc>
              <a:buFont typeface="Arial" panose="020B0604020202020204" pitchFamily="34" charset="0"/>
              <a:buChar char="•"/>
            </a:pPr>
            <a:r>
              <a:rPr lang="en-US" altLang="zh-CN" sz="2000" dirty="0">
                <a:latin typeface="Arial" panose="020B0604020202020204" pitchFamily="34" charset="0"/>
                <a:cs typeface="Arial" panose="020B0604020202020204" pitchFamily="34" charset="0"/>
              </a:rPr>
              <a:t>DP </a:t>
            </a:r>
            <a:r>
              <a:rPr lang="en-US" altLang="zh-CN" sz="2000" dirty="0">
                <a:solidFill>
                  <a:srgbClr val="C00000"/>
                </a:solidFill>
                <a:latin typeface="Arial" panose="020B0604020202020204" pitchFamily="34" charset="0"/>
                <a:cs typeface="Arial" panose="020B0604020202020204" pitchFamily="34" charset="0"/>
              </a:rPr>
              <a:t>cannot</a:t>
            </a:r>
            <a:r>
              <a:rPr lang="en-US" altLang="zh-CN" sz="2000" dirty="0">
                <a:latin typeface="Arial" panose="020B0604020202020204" pitchFamily="34" charset="0"/>
                <a:cs typeface="Arial" panose="020B0604020202020204" pitchFamily="34" charset="0"/>
              </a:rPr>
              <a:t> prevent harm from </a:t>
            </a:r>
            <a:r>
              <a:rPr lang="en-US" altLang="zh-CN" sz="2000" i="1" dirty="0">
                <a:latin typeface="Arial" panose="020B0604020202020204" pitchFamily="34" charset="0"/>
                <a:cs typeface="Arial" panose="020B0604020202020204" pitchFamily="34" charset="0"/>
              </a:rPr>
              <a:t>teaching</a:t>
            </a:r>
          </a:p>
        </p:txBody>
      </p:sp>
    </p:spTree>
    <p:extLst>
      <p:ext uri="{BB962C8B-B14F-4D97-AF65-F5344CB8AC3E}">
        <p14:creationId xmlns:p14="http://schemas.microsoft.com/office/powerpoint/2010/main" val="2762734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35D7CC9-EDC5-4262-8DE2-C6647F82B84F}"/>
                  </a:ext>
                </a:extLst>
              </p:cNvPr>
              <p:cNvSpPr txBox="1"/>
              <p:nvPr/>
            </p:nvSpPr>
            <p:spPr>
              <a:xfrm>
                <a:off x="526094" y="1196074"/>
                <a:ext cx="10878855" cy="1323439"/>
              </a:xfrm>
              <a:prstGeom prst="rect">
                <a:avLst/>
              </a:prstGeom>
              <a:noFill/>
            </p:spPr>
            <p:txBody>
              <a:bodyPr wrap="square" rtlCol="0">
                <a:spAutoFit/>
              </a:bodyPr>
              <a:lstStyle/>
              <a:p>
                <a:r>
                  <a:rPr lang="en-US" altLang="zh-CN" sz="2000" b="1" dirty="0">
                    <a:latin typeface="Arial" panose="020B0604020202020204" pitchFamily="34" charset="0"/>
                    <a:cs typeface="Arial" panose="020B0604020202020204" pitchFamily="34" charset="0"/>
                  </a:rPr>
                  <a:t>DP Intuition:</a:t>
                </a:r>
                <a:r>
                  <a:rPr lang="zh-CN" altLang="en-US" sz="2000" b="1"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When</a:t>
                </a:r>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publishing</a:t>
                </a:r>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the</a:t>
                </a:r>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analysis result about the dataset </a:t>
                </a:r>
                <a14:m>
                  <m:oMath xmlns:m="http://schemas.openxmlformats.org/officeDocument/2006/math">
                    <m:r>
                      <a:rPr lang="en-US" altLang="zh-CN" sz="2000" i="1">
                        <a:latin typeface="Cambria Math" panose="02040503050406030204" pitchFamily="18" charset="0"/>
                        <a:cs typeface="Arial" panose="020B0604020202020204" pitchFamily="34" charset="0"/>
                      </a:rPr>
                      <m:t>𝐷</m:t>
                    </m:r>
                  </m:oMath>
                </a14:m>
                <a:r>
                  <a:rPr lang="en-US" altLang="zh-CN" sz="2000" dirty="0">
                    <a:latin typeface="Arial" panose="020B0604020202020204" pitchFamily="34" charset="0"/>
                    <a:cs typeface="Arial" panose="020B0604020202020204" pitchFamily="34" charset="0"/>
                  </a:rPr>
                  <a:t>, data owner can remove individual’s data from the dataset to protect his privacy. However, this is infeasible since we need to protect everyone’s privacy and remove all of the data. DP approximates the “opting-out” effect in the dataset to protect privacy.</a:t>
                </a:r>
              </a:p>
            </p:txBody>
          </p:sp>
        </mc:Choice>
        <mc:Fallback xmlns="">
          <p:sp>
            <p:nvSpPr>
              <p:cNvPr id="5" name="文本框 4">
                <a:extLst>
                  <a:ext uri="{FF2B5EF4-FFF2-40B4-BE49-F238E27FC236}">
                    <a16:creationId xmlns:a16="http://schemas.microsoft.com/office/drawing/2014/main" id="{735D7CC9-EDC5-4262-8DE2-C6647F82B84F}"/>
                  </a:ext>
                </a:extLst>
              </p:cNvPr>
              <p:cNvSpPr txBox="1">
                <a:spLocks noRot="1" noChangeAspect="1" noMove="1" noResize="1" noEditPoints="1" noAdjustHandles="1" noChangeArrowheads="1" noChangeShapeType="1" noTextEdit="1"/>
              </p:cNvSpPr>
              <p:nvPr/>
            </p:nvSpPr>
            <p:spPr>
              <a:xfrm>
                <a:off x="526094" y="1196074"/>
                <a:ext cx="10878855" cy="1323439"/>
              </a:xfrm>
              <a:prstGeom prst="rect">
                <a:avLst/>
              </a:prstGeom>
              <a:blipFill>
                <a:blip r:embed="rId2"/>
                <a:stretch>
                  <a:fillRect l="-560" t="-1843" r="-1569" b="-7834"/>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A0FECABC-E4EB-4693-A895-1097D621EE25}"/>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Intuition and Definition</a:t>
            </a:r>
            <a:endParaRPr lang="zh-CN"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1654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B444453-17B0-49C6-B472-68B6ABF24C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3143" y="2688184"/>
            <a:ext cx="6485714" cy="3676190"/>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D80F78B-014F-45E5-B624-7EAAD853B370}"/>
                  </a:ext>
                </a:extLst>
              </p:cNvPr>
              <p:cNvSpPr txBox="1"/>
              <p:nvPr/>
            </p:nvSpPr>
            <p:spPr>
              <a:xfrm>
                <a:off x="526094" y="1276905"/>
                <a:ext cx="10878855" cy="1015663"/>
              </a:xfrm>
              <a:prstGeom prst="rect">
                <a:avLst/>
              </a:prstGeom>
              <a:noFill/>
            </p:spPr>
            <p:txBody>
              <a:bodyPr wrap="square" rtlCol="0">
                <a:spAutoFit/>
              </a:bodyPr>
              <a:lstStyle/>
              <a:p>
                <a14:m>
                  <m:oMath xmlns:m="http://schemas.openxmlformats.org/officeDocument/2006/math">
                    <m:r>
                      <a:rPr lang="en-US" altLang="zh-CN" sz="2000" b="1" i="1" smtClean="0">
                        <a:latin typeface="Cambria Math" panose="02040503050406030204" pitchFamily="18" charset="0"/>
                        <a:cs typeface="Arial" panose="020B0604020202020204" pitchFamily="34" charset="0"/>
                      </a:rPr>
                      <m:t>𝝐</m:t>
                    </m:r>
                  </m:oMath>
                </a14:m>
                <a:r>
                  <a:rPr lang="en-US" altLang="zh-CN" sz="2000" b="1" dirty="0">
                    <a:latin typeface="Arial" panose="020B0604020202020204" pitchFamily="34" charset="0"/>
                    <a:cs typeface="Arial" panose="020B0604020202020204" pitchFamily="34" charset="0"/>
                  </a:rPr>
                  <a:t>-Differential Privacy</a:t>
                </a:r>
                <a:r>
                  <a:rPr lang="en-US" altLang="zh-CN" sz="2000" dirty="0">
                    <a:latin typeface="Arial" panose="020B0604020202020204" pitchFamily="34" charset="0"/>
                    <a:cs typeface="Arial" panose="020B0604020202020204" pitchFamily="34" charset="0"/>
                  </a:rPr>
                  <a:t>: A randomized algorithm </a:t>
                </a:r>
                <a14:m>
                  <m:oMath xmlns:m="http://schemas.openxmlformats.org/officeDocument/2006/math">
                    <m:r>
                      <a:rPr lang="en-US" altLang="zh-CN" sz="2000" i="1">
                        <a:latin typeface="Cambria Math" panose="02040503050406030204" pitchFamily="18" charset="0"/>
                        <a:cs typeface="Arial" panose="020B0604020202020204" pitchFamily="34" charset="0"/>
                      </a:rPr>
                      <m:t>𝑀</m:t>
                    </m:r>
                  </m:oMath>
                </a14:m>
                <a:r>
                  <a:rPr lang="en-US" altLang="zh-CN" sz="2000" dirty="0">
                    <a:latin typeface="Arial" panose="020B0604020202020204" pitchFamily="34" charset="0"/>
                    <a:cs typeface="Arial" panose="020B0604020202020204" pitchFamily="34" charset="0"/>
                  </a:rPr>
                  <a:t> is </a:t>
                </a:r>
                <a14:m>
                  <m:oMath xmlns:m="http://schemas.openxmlformats.org/officeDocument/2006/math">
                    <m:r>
                      <a:rPr lang="en-US" altLang="zh-CN" sz="2000" i="1">
                        <a:latin typeface="Cambria Math" panose="02040503050406030204" pitchFamily="18" charset="0"/>
                        <a:cs typeface="Arial" panose="020B0604020202020204" pitchFamily="34" charset="0"/>
                      </a:rPr>
                      <m:t>𝜖</m:t>
                    </m:r>
                  </m:oMath>
                </a14:m>
                <a:r>
                  <a:rPr lang="en-US" altLang="zh-CN" sz="2000" dirty="0">
                    <a:latin typeface="Arial" panose="020B0604020202020204" pitchFamily="34" charset="0"/>
                    <a:cs typeface="Arial" panose="020B0604020202020204" pitchFamily="34" charset="0"/>
                  </a:rPr>
                  <a:t>-DP if and only if </a:t>
                </a:r>
              </a:p>
              <a:p>
                <a:pPr/>
                <a14:m>
                  <m:oMathPara xmlns:m="http://schemas.openxmlformats.org/officeDocument/2006/math">
                    <m:oMathParaPr>
                      <m:jc m:val="centerGroup"/>
                    </m:oMathParaPr>
                    <m:oMath xmlns:m="http://schemas.openxmlformats.org/officeDocument/2006/math">
                      <m:func>
                        <m:funcPr>
                          <m:ctrlPr>
                            <a:rPr lang="en-US" altLang="zh-CN" sz="2000" i="1">
                              <a:latin typeface="Cambria Math" panose="02040503050406030204" pitchFamily="18" charset="0"/>
                              <a:cs typeface="Arial" panose="020B0604020202020204" pitchFamily="34" charset="0"/>
                            </a:rPr>
                          </m:ctrlPr>
                        </m:funcPr>
                        <m:fName>
                          <m:r>
                            <m:rPr>
                              <m:sty m:val="p"/>
                            </m:rPr>
                            <a:rPr lang="en-US" altLang="zh-CN" sz="2000">
                              <a:latin typeface="Cambria Math" panose="02040503050406030204" pitchFamily="18" charset="0"/>
                              <a:cs typeface="Arial" panose="020B0604020202020204" pitchFamily="34" charset="0"/>
                            </a:rPr>
                            <m:t>Pr</m:t>
                          </m:r>
                        </m:fName>
                        <m:e>
                          <m:d>
                            <m:dPr>
                              <m:begChr m:val="["/>
                              <m:endChr m:val="]"/>
                              <m:ctrlPr>
                                <a:rPr lang="en-US" altLang="zh-CN" sz="2000" i="1">
                                  <a:latin typeface="Cambria Math" panose="02040503050406030204" pitchFamily="18" charset="0"/>
                                  <a:cs typeface="Arial" panose="020B0604020202020204" pitchFamily="34" charset="0"/>
                                </a:rPr>
                              </m:ctrlPr>
                            </m:dPr>
                            <m:e>
                              <m:r>
                                <a:rPr lang="en-US" altLang="zh-CN" sz="2000" i="1">
                                  <a:latin typeface="Cambria Math" panose="02040503050406030204" pitchFamily="18" charset="0"/>
                                  <a:cs typeface="Arial" panose="020B0604020202020204" pitchFamily="34" charset="0"/>
                                </a:rPr>
                                <m:t>𝑀</m:t>
                              </m:r>
                              <m:d>
                                <m:dPr>
                                  <m:ctrlPr>
                                    <a:rPr lang="en-US" altLang="zh-CN" sz="2000" i="1">
                                      <a:latin typeface="Cambria Math" panose="02040503050406030204" pitchFamily="18" charset="0"/>
                                      <a:cs typeface="Arial" panose="020B0604020202020204" pitchFamily="34" charset="0"/>
                                    </a:rPr>
                                  </m:ctrlPr>
                                </m:dPr>
                                <m:e>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1</m:t>
                                      </m:r>
                                    </m:sub>
                                  </m:sSub>
                                </m:e>
                              </m:d>
                              <m:r>
                                <a:rPr lang="en-US" altLang="zh-CN" sz="2000" i="1">
                                  <a:latin typeface="Cambria Math" panose="02040503050406030204" pitchFamily="18" charset="0"/>
                                  <a:cs typeface="Arial" panose="020B0604020202020204" pitchFamily="34" charset="0"/>
                                </a:rPr>
                                <m:t>=</m:t>
                              </m:r>
                              <m:r>
                                <a:rPr lang="en-US" altLang="zh-CN" sz="2000" i="1">
                                  <a:latin typeface="Cambria Math" panose="02040503050406030204" pitchFamily="18" charset="0"/>
                                  <a:cs typeface="Arial" panose="020B0604020202020204" pitchFamily="34" charset="0"/>
                                </a:rPr>
                                <m:t>𝑡</m:t>
                              </m:r>
                            </m:e>
                          </m:d>
                          <m:r>
                            <a:rPr lang="en-US" altLang="zh-CN" sz="2000" i="1">
                              <a:latin typeface="Cambria Math" panose="02040503050406030204" pitchFamily="18" charset="0"/>
                              <a:cs typeface="Arial" panose="020B0604020202020204" pitchFamily="34" charset="0"/>
                            </a:rPr>
                            <m:t>≤</m:t>
                          </m:r>
                          <m:sSup>
                            <m:sSupPr>
                              <m:ctrlPr>
                                <a:rPr lang="en-US" altLang="zh-CN" sz="2000" i="1">
                                  <a:latin typeface="Cambria Math" panose="02040503050406030204" pitchFamily="18" charset="0"/>
                                  <a:cs typeface="Arial" panose="020B0604020202020204" pitchFamily="34" charset="0"/>
                                </a:rPr>
                              </m:ctrlPr>
                            </m:sSupPr>
                            <m:e>
                              <m:r>
                                <a:rPr lang="en-US" altLang="zh-CN" sz="2000" i="1">
                                  <a:latin typeface="Cambria Math" panose="02040503050406030204" pitchFamily="18" charset="0"/>
                                  <a:cs typeface="Arial" panose="020B0604020202020204" pitchFamily="34" charset="0"/>
                                </a:rPr>
                                <m:t>𝑒</m:t>
                              </m:r>
                            </m:e>
                            <m:sup>
                              <m:r>
                                <a:rPr lang="en-US" altLang="zh-CN" sz="2000" i="1">
                                  <a:latin typeface="Cambria Math" panose="02040503050406030204" pitchFamily="18" charset="0"/>
                                  <a:cs typeface="Arial" panose="020B0604020202020204" pitchFamily="34" charset="0"/>
                                </a:rPr>
                                <m:t>𝜖</m:t>
                              </m:r>
                            </m:sup>
                          </m:sSup>
                        </m:e>
                      </m:func>
                      <m:func>
                        <m:funcPr>
                          <m:ctrlPr>
                            <a:rPr lang="en-US" altLang="zh-CN" sz="2000" i="1">
                              <a:latin typeface="Cambria Math" panose="02040503050406030204" pitchFamily="18" charset="0"/>
                              <a:cs typeface="Arial" panose="020B0604020202020204" pitchFamily="34" charset="0"/>
                            </a:rPr>
                          </m:ctrlPr>
                        </m:funcPr>
                        <m:fName>
                          <m:r>
                            <m:rPr>
                              <m:sty m:val="p"/>
                            </m:rPr>
                            <a:rPr lang="en-US" altLang="zh-CN" sz="2000">
                              <a:latin typeface="Cambria Math" panose="02040503050406030204" pitchFamily="18" charset="0"/>
                              <a:cs typeface="Arial" panose="020B0604020202020204" pitchFamily="34" charset="0"/>
                            </a:rPr>
                            <m:t>Pr</m:t>
                          </m:r>
                        </m:fName>
                        <m:e>
                          <m:r>
                            <a:rPr lang="en-US" altLang="zh-CN" sz="2000" i="1">
                              <a:latin typeface="Cambria Math" panose="02040503050406030204" pitchFamily="18" charset="0"/>
                              <a:cs typeface="Arial" panose="020B0604020202020204" pitchFamily="34" charset="0"/>
                            </a:rPr>
                            <m:t>[</m:t>
                          </m:r>
                          <m:r>
                            <a:rPr lang="en-US" altLang="zh-CN" sz="2000" i="1">
                              <a:latin typeface="Cambria Math" panose="02040503050406030204" pitchFamily="18" charset="0"/>
                              <a:cs typeface="Arial" panose="020B0604020202020204" pitchFamily="34" charset="0"/>
                            </a:rPr>
                            <m:t>𝑀</m:t>
                          </m:r>
                          <m:d>
                            <m:dPr>
                              <m:ctrlPr>
                                <a:rPr lang="en-US" altLang="zh-CN" sz="2000" i="1">
                                  <a:latin typeface="Cambria Math" panose="02040503050406030204" pitchFamily="18" charset="0"/>
                                  <a:cs typeface="Arial" panose="020B0604020202020204" pitchFamily="34" charset="0"/>
                                </a:rPr>
                              </m:ctrlPr>
                            </m:dPr>
                            <m:e>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2</m:t>
                                  </m:r>
                                </m:sub>
                              </m:sSub>
                            </m:e>
                          </m:d>
                          <m:r>
                            <a:rPr lang="en-US" altLang="zh-CN" sz="2000" i="1">
                              <a:latin typeface="Cambria Math" panose="02040503050406030204" pitchFamily="18" charset="0"/>
                              <a:cs typeface="Arial" panose="020B0604020202020204" pitchFamily="34" charset="0"/>
                            </a:rPr>
                            <m:t>=</m:t>
                          </m:r>
                          <m:r>
                            <a:rPr lang="en-US" altLang="zh-CN" sz="2000" i="1">
                              <a:latin typeface="Cambria Math" panose="02040503050406030204" pitchFamily="18" charset="0"/>
                              <a:cs typeface="Arial" panose="020B0604020202020204" pitchFamily="34" charset="0"/>
                            </a:rPr>
                            <m:t>𝑡</m:t>
                          </m:r>
                          <m:r>
                            <a:rPr lang="en-US" altLang="zh-CN" sz="2000" i="1">
                              <a:latin typeface="Cambria Math" panose="02040503050406030204" pitchFamily="18" charset="0"/>
                              <a:cs typeface="Arial" panose="020B0604020202020204" pitchFamily="34" charset="0"/>
                            </a:rPr>
                            <m:t>]</m:t>
                          </m:r>
                        </m:e>
                      </m:func>
                    </m:oMath>
                  </m:oMathPara>
                </a14:m>
                <a:endParaRPr lang="en-US" altLang="zh-CN" sz="2000" dirty="0">
                  <a:latin typeface="Arial" panose="020B0604020202020204" pitchFamily="34" charset="0"/>
                  <a:cs typeface="Arial" panose="020B0604020202020204" pitchFamily="34" charset="0"/>
                </a:endParaRPr>
              </a:p>
              <a:p>
                <a:r>
                  <a:rPr lang="en-US" altLang="zh-CN" sz="2000" dirty="0">
                    <a:latin typeface="Arial" panose="020B0604020202020204" pitchFamily="34" charset="0"/>
                    <a:cs typeface="Arial" panose="020B0604020202020204" pitchFamily="34" charset="0"/>
                  </a:rPr>
                  <a:t>where </a:t>
                </a:r>
                <a14:m>
                  <m:oMath xmlns:m="http://schemas.openxmlformats.org/officeDocument/2006/math">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1</m:t>
                        </m:r>
                      </m:sub>
                    </m:sSub>
                  </m:oMath>
                </a14:m>
                <a:r>
                  <a:rPr lang="en-US" altLang="zh-CN" sz="2000"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2</m:t>
                        </m:r>
                      </m:sub>
                    </m:sSub>
                  </m:oMath>
                </a14:m>
                <a:r>
                  <a:rPr lang="en-US" altLang="zh-CN" sz="2000" dirty="0">
                    <a:latin typeface="Arial" panose="020B0604020202020204" pitchFamily="34" charset="0"/>
                    <a:cs typeface="Arial" panose="020B0604020202020204" pitchFamily="34" charset="0"/>
                  </a:rPr>
                  <a:t> is a pair of neighbor datasets that only differ on one individual.</a:t>
                </a:r>
              </a:p>
            </p:txBody>
          </p:sp>
        </mc:Choice>
        <mc:Fallback xmlns="">
          <p:sp>
            <p:nvSpPr>
              <p:cNvPr id="5" name="文本框 4">
                <a:extLst>
                  <a:ext uri="{FF2B5EF4-FFF2-40B4-BE49-F238E27FC236}">
                    <a16:creationId xmlns:a16="http://schemas.microsoft.com/office/drawing/2014/main" id="{BD80F78B-014F-45E5-B624-7EAAD853B370}"/>
                  </a:ext>
                </a:extLst>
              </p:cNvPr>
              <p:cNvSpPr txBox="1">
                <a:spLocks noRot="1" noChangeAspect="1" noMove="1" noResize="1" noEditPoints="1" noAdjustHandles="1" noChangeArrowheads="1" noChangeShapeType="1" noTextEdit="1"/>
              </p:cNvSpPr>
              <p:nvPr/>
            </p:nvSpPr>
            <p:spPr>
              <a:xfrm>
                <a:off x="526094" y="1276905"/>
                <a:ext cx="10878855" cy="1015663"/>
              </a:xfrm>
              <a:prstGeom prst="rect">
                <a:avLst/>
              </a:prstGeom>
              <a:blipFill>
                <a:blip r:embed="rId3"/>
                <a:stretch>
                  <a:fillRect l="-560" t="-2395" b="-10180"/>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Intuition and Definition</a:t>
            </a:r>
            <a:endParaRPr lang="zh-CN"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5345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D80F78B-014F-45E5-B624-7EAAD853B370}"/>
                  </a:ext>
                </a:extLst>
              </p:cNvPr>
              <p:cNvSpPr txBox="1"/>
              <p:nvPr/>
            </p:nvSpPr>
            <p:spPr>
              <a:xfrm>
                <a:off x="526094" y="1276905"/>
                <a:ext cx="10878855" cy="1015663"/>
              </a:xfrm>
              <a:prstGeom prst="rect">
                <a:avLst/>
              </a:prstGeom>
              <a:noFill/>
            </p:spPr>
            <p:txBody>
              <a:bodyPr wrap="square" rtlCol="0">
                <a:spAutoFit/>
              </a:bodyPr>
              <a:lstStyle/>
              <a:p>
                <a14:m>
                  <m:oMath xmlns:m="http://schemas.openxmlformats.org/officeDocument/2006/math">
                    <m:r>
                      <a:rPr lang="en-US" altLang="zh-CN" sz="2000" b="1" i="1" smtClean="0">
                        <a:latin typeface="Cambria Math" panose="02040503050406030204" pitchFamily="18" charset="0"/>
                        <a:cs typeface="Arial" panose="020B0604020202020204" pitchFamily="34" charset="0"/>
                      </a:rPr>
                      <m:t>𝝐</m:t>
                    </m:r>
                  </m:oMath>
                </a14:m>
                <a:r>
                  <a:rPr lang="en-US" altLang="zh-CN" sz="2000" b="1" dirty="0">
                    <a:latin typeface="Arial" panose="020B0604020202020204" pitchFamily="34" charset="0"/>
                    <a:cs typeface="Arial" panose="020B0604020202020204" pitchFamily="34" charset="0"/>
                  </a:rPr>
                  <a:t>-Differential Privacy</a:t>
                </a:r>
                <a:r>
                  <a:rPr lang="en-US" altLang="zh-CN" sz="2000" dirty="0">
                    <a:latin typeface="Arial" panose="020B0604020202020204" pitchFamily="34" charset="0"/>
                    <a:cs typeface="Arial" panose="020B0604020202020204" pitchFamily="34" charset="0"/>
                  </a:rPr>
                  <a:t>: A randomized algorithm </a:t>
                </a:r>
                <a14:m>
                  <m:oMath xmlns:m="http://schemas.openxmlformats.org/officeDocument/2006/math">
                    <m:r>
                      <a:rPr lang="en-US" altLang="zh-CN" sz="2000" i="1">
                        <a:latin typeface="Cambria Math" panose="02040503050406030204" pitchFamily="18" charset="0"/>
                        <a:cs typeface="Arial" panose="020B0604020202020204" pitchFamily="34" charset="0"/>
                      </a:rPr>
                      <m:t>𝑀</m:t>
                    </m:r>
                  </m:oMath>
                </a14:m>
                <a:r>
                  <a:rPr lang="en-US" altLang="zh-CN" sz="2000" dirty="0">
                    <a:latin typeface="Arial" panose="020B0604020202020204" pitchFamily="34" charset="0"/>
                    <a:cs typeface="Arial" panose="020B0604020202020204" pitchFamily="34" charset="0"/>
                  </a:rPr>
                  <a:t> is </a:t>
                </a:r>
                <a14:m>
                  <m:oMath xmlns:m="http://schemas.openxmlformats.org/officeDocument/2006/math">
                    <m:r>
                      <a:rPr lang="en-US" altLang="zh-CN" sz="2000" i="1">
                        <a:latin typeface="Cambria Math" panose="02040503050406030204" pitchFamily="18" charset="0"/>
                        <a:cs typeface="Arial" panose="020B0604020202020204" pitchFamily="34" charset="0"/>
                      </a:rPr>
                      <m:t>𝜖</m:t>
                    </m:r>
                  </m:oMath>
                </a14:m>
                <a:r>
                  <a:rPr lang="en-US" altLang="zh-CN" sz="2000" dirty="0">
                    <a:latin typeface="Arial" panose="020B0604020202020204" pitchFamily="34" charset="0"/>
                    <a:cs typeface="Arial" panose="020B0604020202020204" pitchFamily="34" charset="0"/>
                  </a:rPr>
                  <a:t>-DP if and only if </a:t>
                </a:r>
              </a:p>
              <a:p>
                <a:pPr/>
                <a14:m>
                  <m:oMathPara xmlns:m="http://schemas.openxmlformats.org/officeDocument/2006/math">
                    <m:oMathParaPr>
                      <m:jc m:val="centerGroup"/>
                    </m:oMathParaPr>
                    <m:oMath xmlns:m="http://schemas.openxmlformats.org/officeDocument/2006/math">
                      <m:func>
                        <m:funcPr>
                          <m:ctrlPr>
                            <a:rPr lang="en-US" altLang="zh-CN" sz="2000" i="1">
                              <a:latin typeface="Cambria Math" panose="02040503050406030204" pitchFamily="18" charset="0"/>
                              <a:cs typeface="Arial" panose="020B0604020202020204" pitchFamily="34" charset="0"/>
                            </a:rPr>
                          </m:ctrlPr>
                        </m:funcPr>
                        <m:fName>
                          <m:r>
                            <m:rPr>
                              <m:sty m:val="p"/>
                            </m:rPr>
                            <a:rPr lang="en-US" altLang="zh-CN" sz="2000">
                              <a:latin typeface="Cambria Math" panose="02040503050406030204" pitchFamily="18" charset="0"/>
                              <a:cs typeface="Arial" panose="020B0604020202020204" pitchFamily="34" charset="0"/>
                            </a:rPr>
                            <m:t>Pr</m:t>
                          </m:r>
                        </m:fName>
                        <m:e>
                          <m:d>
                            <m:dPr>
                              <m:begChr m:val="["/>
                              <m:endChr m:val="]"/>
                              <m:ctrlPr>
                                <a:rPr lang="en-US" altLang="zh-CN" sz="2000" i="1">
                                  <a:latin typeface="Cambria Math" panose="02040503050406030204" pitchFamily="18" charset="0"/>
                                  <a:cs typeface="Arial" panose="020B0604020202020204" pitchFamily="34" charset="0"/>
                                </a:rPr>
                              </m:ctrlPr>
                            </m:dPr>
                            <m:e>
                              <m:r>
                                <a:rPr lang="en-US" altLang="zh-CN" sz="2000" i="1">
                                  <a:latin typeface="Cambria Math" panose="02040503050406030204" pitchFamily="18" charset="0"/>
                                  <a:cs typeface="Arial" panose="020B0604020202020204" pitchFamily="34" charset="0"/>
                                </a:rPr>
                                <m:t>𝑀</m:t>
                              </m:r>
                              <m:d>
                                <m:dPr>
                                  <m:ctrlPr>
                                    <a:rPr lang="en-US" altLang="zh-CN" sz="2000" i="1">
                                      <a:latin typeface="Cambria Math" panose="02040503050406030204" pitchFamily="18" charset="0"/>
                                      <a:cs typeface="Arial" panose="020B0604020202020204" pitchFamily="34" charset="0"/>
                                    </a:rPr>
                                  </m:ctrlPr>
                                </m:dPr>
                                <m:e>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1</m:t>
                                      </m:r>
                                    </m:sub>
                                  </m:sSub>
                                </m:e>
                              </m:d>
                              <m:r>
                                <a:rPr lang="en-US" altLang="zh-CN" sz="2000" i="1">
                                  <a:latin typeface="Cambria Math" panose="02040503050406030204" pitchFamily="18" charset="0"/>
                                  <a:cs typeface="Arial" panose="020B0604020202020204" pitchFamily="34" charset="0"/>
                                </a:rPr>
                                <m:t>=</m:t>
                              </m:r>
                              <m:r>
                                <a:rPr lang="en-US" altLang="zh-CN" sz="2000" i="1">
                                  <a:latin typeface="Cambria Math" panose="02040503050406030204" pitchFamily="18" charset="0"/>
                                  <a:cs typeface="Arial" panose="020B0604020202020204" pitchFamily="34" charset="0"/>
                                </a:rPr>
                                <m:t>𝑡</m:t>
                              </m:r>
                            </m:e>
                          </m:d>
                          <m:r>
                            <a:rPr lang="en-US" altLang="zh-CN" sz="2000" i="1">
                              <a:latin typeface="Cambria Math" panose="02040503050406030204" pitchFamily="18" charset="0"/>
                              <a:cs typeface="Arial" panose="020B0604020202020204" pitchFamily="34" charset="0"/>
                            </a:rPr>
                            <m:t>≤</m:t>
                          </m:r>
                          <m:sSup>
                            <m:sSupPr>
                              <m:ctrlPr>
                                <a:rPr lang="en-US" altLang="zh-CN" sz="2000" i="1">
                                  <a:latin typeface="Cambria Math" panose="02040503050406030204" pitchFamily="18" charset="0"/>
                                  <a:cs typeface="Arial" panose="020B0604020202020204" pitchFamily="34" charset="0"/>
                                </a:rPr>
                              </m:ctrlPr>
                            </m:sSupPr>
                            <m:e>
                              <m:r>
                                <a:rPr lang="en-US" altLang="zh-CN" sz="2000" i="1">
                                  <a:latin typeface="Cambria Math" panose="02040503050406030204" pitchFamily="18" charset="0"/>
                                  <a:cs typeface="Arial" panose="020B0604020202020204" pitchFamily="34" charset="0"/>
                                </a:rPr>
                                <m:t>𝑒</m:t>
                              </m:r>
                            </m:e>
                            <m:sup>
                              <m:r>
                                <a:rPr lang="en-US" altLang="zh-CN" sz="2000" i="1">
                                  <a:latin typeface="Cambria Math" panose="02040503050406030204" pitchFamily="18" charset="0"/>
                                  <a:cs typeface="Arial" panose="020B0604020202020204" pitchFamily="34" charset="0"/>
                                </a:rPr>
                                <m:t>𝜖</m:t>
                              </m:r>
                            </m:sup>
                          </m:sSup>
                        </m:e>
                      </m:func>
                      <m:func>
                        <m:funcPr>
                          <m:ctrlPr>
                            <a:rPr lang="en-US" altLang="zh-CN" sz="2000" i="1">
                              <a:latin typeface="Cambria Math" panose="02040503050406030204" pitchFamily="18" charset="0"/>
                              <a:cs typeface="Arial" panose="020B0604020202020204" pitchFamily="34" charset="0"/>
                            </a:rPr>
                          </m:ctrlPr>
                        </m:funcPr>
                        <m:fName>
                          <m:r>
                            <m:rPr>
                              <m:sty m:val="p"/>
                            </m:rPr>
                            <a:rPr lang="en-US" altLang="zh-CN" sz="2000">
                              <a:latin typeface="Cambria Math" panose="02040503050406030204" pitchFamily="18" charset="0"/>
                              <a:cs typeface="Arial" panose="020B0604020202020204" pitchFamily="34" charset="0"/>
                            </a:rPr>
                            <m:t>Pr</m:t>
                          </m:r>
                        </m:fName>
                        <m:e>
                          <m:r>
                            <a:rPr lang="en-US" altLang="zh-CN" sz="2000" i="1">
                              <a:latin typeface="Cambria Math" panose="02040503050406030204" pitchFamily="18" charset="0"/>
                              <a:cs typeface="Arial" panose="020B0604020202020204" pitchFamily="34" charset="0"/>
                            </a:rPr>
                            <m:t>[</m:t>
                          </m:r>
                          <m:r>
                            <a:rPr lang="en-US" altLang="zh-CN" sz="2000" i="1">
                              <a:latin typeface="Cambria Math" panose="02040503050406030204" pitchFamily="18" charset="0"/>
                              <a:cs typeface="Arial" panose="020B0604020202020204" pitchFamily="34" charset="0"/>
                            </a:rPr>
                            <m:t>𝑀</m:t>
                          </m:r>
                          <m:d>
                            <m:dPr>
                              <m:ctrlPr>
                                <a:rPr lang="en-US" altLang="zh-CN" sz="2000" i="1">
                                  <a:latin typeface="Cambria Math" panose="02040503050406030204" pitchFamily="18" charset="0"/>
                                  <a:cs typeface="Arial" panose="020B0604020202020204" pitchFamily="34" charset="0"/>
                                </a:rPr>
                              </m:ctrlPr>
                            </m:dPr>
                            <m:e>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2</m:t>
                                  </m:r>
                                </m:sub>
                              </m:sSub>
                            </m:e>
                          </m:d>
                          <m:r>
                            <a:rPr lang="en-US" altLang="zh-CN" sz="2000" i="1">
                              <a:latin typeface="Cambria Math" panose="02040503050406030204" pitchFamily="18" charset="0"/>
                              <a:cs typeface="Arial" panose="020B0604020202020204" pitchFamily="34" charset="0"/>
                            </a:rPr>
                            <m:t>=</m:t>
                          </m:r>
                          <m:r>
                            <a:rPr lang="en-US" altLang="zh-CN" sz="2000" i="1">
                              <a:latin typeface="Cambria Math" panose="02040503050406030204" pitchFamily="18" charset="0"/>
                              <a:cs typeface="Arial" panose="020B0604020202020204" pitchFamily="34" charset="0"/>
                            </a:rPr>
                            <m:t>𝑡</m:t>
                          </m:r>
                          <m:r>
                            <a:rPr lang="en-US" altLang="zh-CN" sz="2000" i="1">
                              <a:latin typeface="Cambria Math" panose="02040503050406030204" pitchFamily="18" charset="0"/>
                              <a:cs typeface="Arial" panose="020B0604020202020204" pitchFamily="34" charset="0"/>
                            </a:rPr>
                            <m:t>]</m:t>
                          </m:r>
                        </m:e>
                      </m:func>
                    </m:oMath>
                  </m:oMathPara>
                </a14:m>
                <a:endParaRPr lang="en-US" altLang="zh-CN" sz="2000" dirty="0">
                  <a:latin typeface="Arial" panose="020B0604020202020204" pitchFamily="34" charset="0"/>
                  <a:cs typeface="Arial" panose="020B0604020202020204" pitchFamily="34" charset="0"/>
                </a:endParaRPr>
              </a:p>
              <a:p>
                <a:r>
                  <a:rPr lang="en-US" altLang="zh-CN" sz="2000" dirty="0">
                    <a:latin typeface="Arial" panose="020B0604020202020204" pitchFamily="34" charset="0"/>
                    <a:cs typeface="Arial" panose="020B0604020202020204" pitchFamily="34" charset="0"/>
                  </a:rPr>
                  <a:t>where </a:t>
                </a:r>
                <a14:m>
                  <m:oMath xmlns:m="http://schemas.openxmlformats.org/officeDocument/2006/math">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1</m:t>
                        </m:r>
                      </m:sub>
                    </m:sSub>
                  </m:oMath>
                </a14:m>
                <a:r>
                  <a:rPr lang="en-US" altLang="zh-CN" sz="2000"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2</m:t>
                        </m:r>
                      </m:sub>
                    </m:sSub>
                  </m:oMath>
                </a14:m>
                <a:r>
                  <a:rPr lang="en-US" altLang="zh-CN" sz="2000" dirty="0">
                    <a:latin typeface="Arial" panose="020B0604020202020204" pitchFamily="34" charset="0"/>
                    <a:cs typeface="Arial" panose="020B0604020202020204" pitchFamily="34" charset="0"/>
                  </a:rPr>
                  <a:t> is a pair of neighbor datasets that only differ on one individual.</a:t>
                </a:r>
              </a:p>
            </p:txBody>
          </p:sp>
        </mc:Choice>
        <mc:Fallback xmlns="">
          <p:sp>
            <p:nvSpPr>
              <p:cNvPr id="5" name="文本框 4">
                <a:extLst>
                  <a:ext uri="{FF2B5EF4-FFF2-40B4-BE49-F238E27FC236}">
                    <a16:creationId xmlns:a16="http://schemas.microsoft.com/office/drawing/2014/main" id="{BD80F78B-014F-45E5-B624-7EAAD853B370}"/>
                  </a:ext>
                </a:extLst>
              </p:cNvPr>
              <p:cNvSpPr txBox="1">
                <a:spLocks noRot="1" noChangeAspect="1" noMove="1" noResize="1" noEditPoints="1" noAdjustHandles="1" noChangeArrowheads="1" noChangeShapeType="1" noTextEdit="1"/>
              </p:cNvSpPr>
              <p:nvPr/>
            </p:nvSpPr>
            <p:spPr>
              <a:xfrm>
                <a:off x="526094" y="1276905"/>
                <a:ext cx="10878855" cy="1015663"/>
              </a:xfrm>
              <a:prstGeom prst="rect">
                <a:avLst/>
              </a:prstGeom>
              <a:blipFill>
                <a:blip r:embed="rId2"/>
                <a:stretch>
                  <a:fillRect l="-560" t="-2395" b="-10180"/>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Intuition and Definition</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D152FC3-F075-4ACA-AD84-4F37CB857C7C}"/>
                  </a:ext>
                </a:extLst>
              </p:cNvPr>
              <p:cNvSpPr txBox="1"/>
              <p:nvPr/>
            </p:nvSpPr>
            <p:spPr>
              <a:xfrm>
                <a:off x="526094" y="3143382"/>
                <a:ext cx="10499834" cy="1508105"/>
              </a:xfrm>
              <a:prstGeom prst="rect">
                <a:avLst/>
              </a:prstGeom>
              <a:noFill/>
            </p:spPr>
            <p:txBody>
              <a:bodyPr wrap="square" rtlCol="0">
                <a:spAutoFit/>
              </a:bodyPr>
              <a:lstStyle/>
              <a:p>
                <a:r>
                  <a:rPr lang="en-US" altLang="zh-CN" sz="2000" b="1" dirty="0">
                    <a:latin typeface="Arial" panose="020B0604020202020204" pitchFamily="34" charset="0"/>
                    <a:cs typeface="Arial" panose="020B0604020202020204" pitchFamily="34" charset="0"/>
                  </a:rPr>
                  <a:t>Two types of neighbor dataset</a:t>
                </a:r>
              </a:p>
              <a:p>
                <a:endParaRPr lang="en-US" altLang="zh-CN" b="1"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1. Remove/add one element from/to </a:t>
                </a:r>
                <a14:m>
                  <m:oMath xmlns:m="http://schemas.openxmlformats.org/officeDocument/2006/math">
                    <m:sSub>
                      <m:sSubPr>
                        <m:ctrlPr>
                          <a:rPr lang="en-US" altLang="zh-CN" sz="1800" i="1" smtClean="0">
                            <a:latin typeface="Cambria Math" panose="02040503050406030204" pitchFamily="18" charset="0"/>
                            <a:cs typeface="Arial" panose="020B0604020202020204" pitchFamily="34" charset="0"/>
                          </a:rPr>
                        </m:ctrlPr>
                      </m:sSubPr>
                      <m:e>
                        <m:r>
                          <a:rPr lang="en-US" altLang="zh-CN" sz="1800" i="1">
                            <a:latin typeface="Cambria Math" panose="02040503050406030204" pitchFamily="18" charset="0"/>
                            <a:cs typeface="Arial" panose="020B0604020202020204" pitchFamily="34" charset="0"/>
                          </a:rPr>
                          <m:t>𝐷</m:t>
                        </m:r>
                      </m:e>
                      <m:sub>
                        <m:r>
                          <a:rPr lang="en-US" altLang="zh-CN" sz="1800" i="1">
                            <a:latin typeface="Cambria Math" panose="02040503050406030204" pitchFamily="18" charset="0"/>
                            <a:cs typeface="Arial" panose="020B0604020202020204" pitchFamily="34" charset="0"/>
                          </a:rPr>
                          <m:t>1</m:t>
                        </m:r>
                      </m:sub>
                    </m:sSub>
                  </m:oMath>
                </a14:m>
                <a:r>
                  <a:rPr lang="en-US" altLang="zh-CN" sz="1800" dirty="0">
                    <a:latin typeface="Arial" panose="020B0604020202020204" pitchFamily="34" charset="0"/>
                    <a:cs typeface="Arial" panose="020B0604020202020204" pitchFamily="34" charset="0"/>
                  </a:rPr>
                  <a:t> to generate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 (unbounded DP).</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2. Replace one element in </a:t>
                </a:r>
                <a14:m>
                  <m:oMath xmlns:m="http://schemas.openxmlformats.org/officeDocument/2006/math">
                    <m:sSub>
                      <m:sSubPr>
                        <m:ctrlPr>
                          <a:rPr lang="en-US" altLang="zh-CN" sz="1800" i="1" smtClean="0">
                            <a:latin typeface="Cambria Math" panose="02040503050406030204" pitchFamily="18" charset="0"/>
                            <a:cs typeface="Arial" panose="020B0604020202020204" pitchFamily="34" charset="0"/>
                          </a:rPr>
                        </m:ctrlPr>
                      </m:sSubPr>
                      <m:e>
                        <m:r>
                          <a:rPr lang="en-US" altLang="zh-CN" sz="1800" i="1">
                            <a:latin typeface="Cambria Math" panose="02040503050406030204" pitchFamily="18" charset="0"/>
                            <a:cs typeface="Arial" panose="020B0604020202020204" pitchFamily="34" charset="0"/>
                          </a:rPr>
                          <m:t>𝐷</m:t>
                        </m:r>
                      </m:e>
                      <m:sub>
                        <m:r>
                          <a:rPr lang="en-US" altLang="zh-CN" sz="1800" i="1">
                            <a:latin typeface="Cambria Math" panose="02040503050406030204" pitchFamily="18" charset="0"/>
                            <a:cs typeface="Arial" panose="020B0604020202020204" pitchFamily="34" charset="0"/>
                          </a:rPr>
                          <m:t>1</m:t>
                        </m:r>
                      </m:sub>
                    </m:sSub>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with another element to generate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(bounded DP).</a:t>
                </a:r>
                <a:endParaRPr lang="zh-CN" altLang="en-US" dirty="0">
                  <a:latin typeface="Arial" panose="020B0604020202020204" pitchFamily="34" charset="0"/>
                  <a:cs typeface="Arial" panose="020B0604020202020204" pitchFamily="34" charset="0"/>
                </a:endParaRPr>
              </a:p>
            </p:txBody>
          </p:sp>
        </mc:Choice>
        <mc:Fallback xmlns="">
          <p:sp>
            <p:nvSpPr>
              <p:cNvPr id="2" name="文本框 1">
                <a:extLst>
                  <a:ext uri="{FF2B5EF4-FFF2-40B4-BE49-F238E27FC236}">
                    <a16:creationId xmlns:a16="http://schemas.microsoft.com/office/drawing/2014/main" id="{6D152FC3-F075-4ACA-AD84-4F37CB857C7C}"/>
                  </a:ext>
                </a:extLst>
              </p:cNvPr>
              <p:cNvSpPr txBox="1">
                <a:spLocks noRot="1" noChangeAspect="1" noMove="1" noResize="1" noEditPoints="1" noAdjustHandles="1" noChangeArrowheads="1" noChangeShapeType="1" noTextEdit="1"/>
              </p:cNvSpPr>
              <p:nvPr/>
            </p:nvSpPr>
            <p:spPr>
              <a:xfrm>
                <a:off x="526094" y="3143382"/>
                <a:ext cx="10499834" cy="1508105"/>
              </a:xfrm>
              <a:prstGeom prst="rect">
                <a:avLst/>
              </a:prstGeom>
              <a:blipFill>
                <a:blip r:embed="rId3"/>
                <a:stretch>
                  <a:fillRect l="-580" t="-2024" b="-56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73465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D80F78B-014F-45E5-B624-7EAAD853B370}"/>
              </a:ext>
            </a:extLst>
          </p:cNvPr>
          <p:cNvSpPr txBox="1"/>
          <p:nvPr/>
        </p:nvSpPr>
        <p:spPr>
          <a:xfrm>
            <a:off x="526094" y="1276905"/>
            <a:ext cx="10878855" cy="400110"/>
          </a:xfrm>
          <a:prstGeom prst="rect">
            <a:avLst/>
          </a:prstGeom>
          <a:noFill/>
        </p:spPr>
        <p:txBody>
          <a:bodyPr wrap="square" rtlCol="0">
            <a:spAutoFit/>
          </a:bodyPr>
          <a:lstStyle/>
          <a:p>
            <a:r>
              <a:rPr lang="en-US" altLang="zh-CN" sz="2000" b="1" dirty="0">
                <a:latin typeface="Arial" panose="020B0604020202020204" pitchFamily="34" charset="0"/>
                <a:cs typeface="Arial" panose="020B0604020202020204" pitchFamily="34" charset="0"/>
              </a:rPr>
              <a:t>Which definition should we use?</a:t>
            </a:r>
          </a:p>
        </p:txBody>
      </p:sp>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Intuition and Definition</a:t>
            </a:r>
            <a:endParaRPr lang="zh-CN" altLang="en-US" sz="2400" b="1" dirty="0">
              <a:latin typeface="Arial" panose="020B0604020202020204" pitchFamily="34" charset="0"/>
              <a:cs typeface="Arial" panose="020B0604020202020204" pitchFamily="34" charset="0"/>
            </a:endParaRPr>
          </a:p>
        </p:txBody>
      </p:sp>
      <p:sp>
        <p:nvSpPr>
          <p:cNvPr id="2" name="文本框 1">
            <a:extLst>
              <a:ext uri="{FF2B5EF4-FFF2-40B4-BE49-F238E27FC236}">
                <a16:creationId xmlns:a16="http://schemas.microsoft.com/office/drawing/2014/main" id="{6D152FC3-F075-4ACA-AD84-4F37CB857C7C}"/>
              </a:ext>
            </a:extLst>
          </p:cNvPr>
          <p:cNvSpPr txBox="1"/>
          <p:nvPr/>
        </p:nvSpPr>
        <p:spPr>
          <a:xfrm>
            <a:off x="526093" y="1887965"/>
            <a:ext cx="10878855" cy="646331"/>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Unbounded DP is a more “fine-grained” definition than bounded DP, since </a:t>
            </a:r>
            <a:r>
              <a:rPr lang="en-US" altLang="zh-CN" i="1" dirty="0">
                <a:latin typeface="Arial" panose="020B0604020202020204" pitchFamily="34" charset="0"/>
                <a:cs typeface="Arial" panose="020B0604020202020204" pitchFamily="34" charset="0"/>
              </a:rPr>
              <a:t>replacing </a:t>
            </a:r>
            <a:r>
              <a:rPr lang="en-US" altLang="zh-CN" dirty="0">
                <a:latin typeface="Arial" panose="020B0604020202020204" pitchFamily="34" charset="0"/>
                <a:cs typeface="Arial" panose="020B0604020202020204" pitchFamily="34" charset="0"/>
              </a:rPr>
              <a:t>can be achieved by first </a:t>
            </a:r>
            <a:r>
              <a:rPr lang="en-US" altLang="zh-CN" i="1" dirty="0">
                <a:latin typeface="Arial" panose="020B0604020202020204" pitchFamily="34" charset="0"/>
                <a:cs typeface="Arial" panose="020B0604020202020204" pitchFamily="34" charset="0"/>
              </a:rPr>
              <a:t>removing</a:t>
            </a:r>
            <a:r>
              <a:rPr lang="en-US" altLang="zh-CN" dirty="0">
                <a:latin typeface="Arial" panose="020B0604020202020204" pitchFamily="34" charset="0"/>
                <a:cs typeface="Arial" panose="020B0604020202020204" pitchFamily="34" charset="0"/>
              </a:rPr>
              <a:t> and then </a:t>
            </a:r>
            <a:r>
              <a:rPr lang="en-US" altLang="zh-CN" i="1" dirty="0">
                <a:latin typeface="Arial" panose="020B0604020202020204" pitchFamily="34" charset="0"/>
                <a:cs typeface="Arial" panose="020B0604020202020204" pitchFamily="34" charset="0"/>
              </a:rPr>
              <a:t>adding</a:t>
            </a:r>
            <a:r>
              <a:rPr lang="en-US" altLang="zh-CN" dirty="0">
                <a:latin typeface="Arial" panose="020B0604020202020204" pitchFamily="34" charset="0"/>
                <a:cs typeface="Arial" panose="020B0604020202020204" pitchFamily="34" charset="0"/>
              </a:rPr>
              <a:t>, but not vice versa.</a:t>
            </a:r>
            <a:endParaRPr lang="zh-CN" altLang="en-US" i="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3" name="表格 3">
                <a:extLst>
                  <a:ext uri="{FF2B5EF4-FFF2-40B4-BE49-F238E27FC236}">
                    <a16:creationId xmlns:a16="http://schemas.microsoft.com/office/drawing/2014/main" id="{0DAA8573-027F-4DB8-9C9E-67A91CE8935B}"/>
                  </a:ext>
                </a:extLst>
              </p:cNvPr>
              <p:cNvGraphicFramePr>
                <a:graphicFrameLocks noGrp="1"/>
              </p:cNvGraphicFramePr>
              <p:nvPr>
                <p:extLst>
                  <p:ext uri="{D42A27DB-BD31-4B8C-83A1-F6EECF244321}">
                    <p14:modId xmlns:p14="http://schemas.microsoft.com/office/powerpoint/2010/main" val="726899371"/>
                  </p:ext>
                </p:extLst>
              </p:nvPr>
            </p:nvGraphicFramePr>
            <p:xfrm>
              <a:off x="3627470" y="2745246"/>
              <a:ext cx="831018" cy="1854200"/>
            </p:xfrm>
            <a:graphic>
              <a:graphicData uri="http://schemas.openxmlformats.org/drawingml/2006/table">
                <a:tbl>
                  <a:tblPr firstRow="1" bandRow="1">
                    <a:tableStyleId>{10A1B5D5-9B99-4C35-A422-299274C87663}</a:tableStyleId>
                  </a:tblPr>
                  <a:tblGrid>
                    <a:gridCol w="831018">
                      <a:extLst>
                        <a:ext uri="{9D8B030D-6E8A-4147-A177-3AD203B41FA5}">
                          <a16:colId xmlns:a16="http://schemas.microsoft.com/office/drawing/2014/main" val="712402070"/>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smtClean="0">
                                        <a:solidFill>
                                          <a:schemeClr val="tx1"/>
                                        </a:solidFill>
                                        <a:latin typeface="Cambria Math" panose="02040503050406030204" pitchFamily="18" charset="0"/>
                                      </a:rPr>
                                      <m:t>𝑫</m:t>
                                    </m:r>
                                  </m:e>
                                  <m:sub>
                                    <m:r>
                                      <a:rPr lang="en-US" altLang="zh-CN" b="1" smtClean="0">
                                        <a:solidFill>
                                          <a:schemeClr val="tx1"/>
                                        </a:solidFill>
                                        <a:latin typeface="Cambria Math" panose="02040503050406030204" pitchFamily="18" charset="0"/>
                                      </a:rPr>
                                      <m:t>𝟏</m:t>
                                    </m:r>
                                  </m:sub>
                                </m:sSub>
                              </m:oMath>
                            </m:oMathPara>
                          </a14:m>
                          <a:endParaRPr lang="zh-CN" altLang="en-US" dirty="0"/>
                        </a:p>
                      </a:txBody>
                      <a:tcPr/>
                    </a:tc>
                    <a:extLst>
                      <a:ext uri="{0D108BD9-81ED-4DB2-BD59-A6C34878D82A}">
                        <a16:rowId xmlns:a16="http://schemas.microsoft.com/office/drawing/2014/main" val="3195493497"/>
                      </a:ext>
                    </a:extLst>
                  </a:tr>
                  <a:tr h="370840">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768481959"/>
                      </a:ext>
                    </a:extLst>
                  </a:tr>
                  <a:tr h="370840">
                    <a:tc>
                      <a:txBody>
                        <a:bodyPr/>
                        <a:lstStyle/>
                        <a:p>
                          <a:pPr algn="ctr"/>
                          <a:r>
                            <a:rPr lang="en-US" altLang="zh-CN" dirty="0">
                              <a:latin typeface="Arial" panose="020B0604020202020204" pitchFamily="34" charset="0"/>
                              <a:cs typeface="Arial" panose="020B0604020202020204" pitchFamily="34" charset="0"/>
                            </a:rPr>
                            <a:t>2</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304609237"/>
                      </a:ext>
                    </a:extLst>
                  </a:tr>
                  <a:tr h="370840">
                    <a:tc>
                      <a:txBody>
                        <a:bodyPr/>
                        <a:lstStyle/>
                        <a:p>
                          <a:pPr algn="ctr"/>
                          <a:r>
                            <a:rPr lang="en-US" altLang="zh-CN" dirty="0">
                              <a:latin typeface="Arial" panose="020B0604020202020204" pitchFamily="34" charset="0"/>
                              <a:cs typeface="Arial" panose="020B0604020202020204" pitchFamily="34" charset="0"/>
                            </a:rPr>
                            <a:t>3</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40073973"/>
                      </a:ext>
                    </a:extLst>
                  </a:tr>
                  <a:tr h="370840">
                    <a:tc>
                      <a:txBody>
                        <a:bodyPr/>
                        <a:lstStyle/>
                        <a:p>
                          <a:pPr algn="ctr"/>
                          <a:r>
                            <a:rPr lang="en-US" altLang="zh-CN" dirty="0">
                              <a:latin typeface="Arial" panose="020B0604020202020204" pitchFamily="34" charset="0"/>
                              <a:cs typeface="Arial" panose="020B0604020202020204" pitchFamily="34" charset="0"/>
                            </a:rPr>
                            <a:t>4</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105765596"/>
                      </a:ext>
                    </a:extLst>
                  </a:tr>
                </a:tbl>
              </a:graphicData>
            </a:graphic>
          </p:graphicFrame>
        </mc:Choice>
        <mc:Fallback xmlns="">
          <p:graphicFrame>
            <p:nvGraphicFramePr>
              <p:cNvPr id="3" name="表格 3">
                <a:extLst>
                  <a:ext uri="{FF2B5EF4-FFF2-40B4-BE49-F238E27FC236}">
                    <a16:creationId xmlns:a16="http://schemas.microsoft.com/office/drawing/2014/main" id="{0DAA8573-027F-4DB8-9C9E-67A91CE8935B}"/>
                  </a:ext>
                </a:extLst>
              </p:cNvPr>
              <p:cNvGraphicFramePr>
                <a:graphicFrameLocks noGrp="1"/>
              </p:cNvGraphicFramePr>
              <p:nvPr>
                <p:extLst>
                  <p:ext uri="{D42A27DB-BD31-4B8C-83A1-F6EECF244321}">
                    <p14:modId xmlns:p14="http://schemas.microsoft.com/office/powerpoint/2010/main" val="726899371"/>
                  </p:ext>
                </p:extLst>
              </p:nvPr>
            </p:nvGraphicFramePr>
            <p:xfrm>
              <a:off x="3627470" y="2745246"/>
              <a:ext cx="831018" cy="1854200"/>
            </p:xfrm>
            <a:graphic>
              <a:graphicData uri="http://schemas.openxmlformats.org/drawingml/2006/table">
                <a:tbl>
                  <a:tblPr firstRow="1" bandRow="1">
                    <a:tableStyleId>{10A1B5D5-9B99-4C35-A422-299274C87663}</a:tableStyleId>
                  </a:tblPr>
                  <a:tblGrid>
                    <a:gridCol w="831018">
                      <a:extLst>
                        <a:ext uri="{9D8B030D-6E8A-4147-A177-3AD203B41FA5}">
                          <a16:colId xmlns:a16="http://schemas.microsoft.com/office/drawing/2014/main" val="712402070"/>
                        </a:ext>
                      </a:extLst>
                    </a:gridCol>
                  </a:tblGrid>
                  <a:tr h="370840">
                    <a:tc>
                      <a:txBody>
                        <a:bodyPr/>
                        <a:lstStyle/>
                        <a:p>
                          <a:endParaRPr lang="zh-CN"/>
                        </a:p>
                      </a:txBody>
                      <a:tcPr>
                        <a:blipFill>
                          <a:blip r:embed="rId2"/>
                          <a:stretch>
                            <a:fillRect l="-730" t="-1639" r="-1460" b="-424590"/>
                          </a:stretch>
                        </a:blipFill>
                      </a:tcPr>
                    </a:tc>
                    <a:extLst>
                      <a:ext uri="{0D108BD9-81ED-4DB2-BD59-A6C34878D82A}">
                        <a16:rowId xmlns:a16="http://schemas.microsoft.com/office/drawing/2014/main" val="3195493497"/>
                      </a:ext>
                    </a:extLst>
                  </a:tr>
                  <a:tr h="370840">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768481959"/>
                      </a:ext>
                    </a:extLst>
                  </a:tr>
                  <a:tr h="370840">
                    <a:tc>
                      <a:txBody>
                        <a:bodyPr/>
                        <a:lstStyle/>
                        <a:p>
                          <a:pPr algn="ctr"/>
                          <a:r>
                            <a:rPr lang="en-US" altLang="zh-CN" dirty="0">
                              <a:latin typeface="Arial" panose="020B0604020202020204" pitchFamily="34" charset="0"/>
                              <a:cs typeface="Arial" panose="020B0604020202020204" pitchFamily="34" charset="0"/>
                            </a:rPr>
                            <a:t>2</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304609237"/>
                      </a:ext>
                    </a:extLst>
                  </a:tr>
                  <a:tr h="370840">
                    <a:tc>
                      <a:txBody>
                        <a:bodyPr/>
                        <a:lstStyle/>
                        <a:p>
                          <a:pPr algn="ctr"/>
                          <a:r>
                            <a:rPr lang="en-US" altLang="zh-CN" dirty="0">
                              <a:latin typeface="Arial" panose="020B0604020202020204" pitchFamily="34" charset="0"/>
                              <a:cs typeface="Arial" panose="020B0604020202020204" pitchFamily="34" charset="0"/>
                            </a:rPr>
                            <a:t>3</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40073973"/>
                      </a:ext>
                    </a:extLst>
                  </a:tr>
                  <a:tr h="370840">
                    <a:tc>
                      <a:txBody>
                        <a:bodyPr/>
                        <a:lstStyle/>
                        <a:p>
                          <a:pPr algn="ctr"/>
                          <a:r>
                            <a:rPr lang="en-US" altLang="zh-CN" dirty="0">
                              <a:latin typeface="Arial" panose="020B0604020202020204" pitchFamily="34" charset="0"/>
                              <a:cs typeface="Arial" panose="020B0604020202020204" pitchFamily="34" charset="0"/>
                            </a:rPr>
                            <a:t>4</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10576559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表格 3">
                <a:extLst>
                  <a:ext uri="{FF2B5EF4-FFF2-40B4-BE49-F238E27FC236}">
                    <a16:creationId xmlns:a16="http://schemas.microsoft.com/office/drawing/2014/main" id="{5C679D3C-8965-4CD9-A054-3F44CBFAD528}"/>
                  </a:ext>
                </a:extLst>
              </p:cNvPr>
              <p:cNvGraphicFramePr>
                <a:graphicFrameLocks noGrp="1"/>
              </p:cNvGraphicFramePr>
              <p:nvPr>
                <p:extLst>
                  <p:ext uri="{D42A27DB-BD31-4B8C-83A1-F6EECF244321}">
                    <p14:modId xmlns:p14="http://schemas.microsoft.com/office/powerpoint/2010/main" val="197350582"/>
                  </p:ext>
                </p:extLst>
              </p:nvPr>
            </p:nvGraphicFramePr>
            <p:xfrm>
              <a:off x="6661806" y="2745246"/>
              <a:ext cx="831018" cy="1854200"/>
            </p:xfrm>
            <a:graphic>
              <a:graphicData uri="http://schemas.openxmlformats.org/drawingml/2006/table">
                <a:tbl>
                  <a:tblPr firstRow="1" bandRow="1">
                    <a:tableStyleId>{10A1B5D5-9B99-4C35-A422-299274C87663}</a:tableStyleId>
                  </a:tblPr>
                  <a:tblGrid>
                    <a:gridCol w="831018">
                      <a:extLst>
                        <a:ext uri="{9D8B030D-6E8A-4147-A177-3AD203B41FA5}">
                          <a16:colId xmlns:a16="http://schemas.microsoft.com/office/drawing/2014/main" val="712402070"/>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smtClean="0">
                                        <a:solidFill>
                                          <a:schemeClr val="tx1"/>
                                        </a:solidFill>
                                        <a:latin typeface="Cambria Math" panose="02040503050406030204" pitchFamily="18" charset="0"/>
                                      </a:rPr>
                                      <m:t>𝑫</m:t>
                                    </m:r>
                                  </m:e>
                                  <m:sub>
                                    <m:r>
                                      <a:rPr lang="en-US" altLang="zh-CN" b="1" i="0" smtClean="0">
                                        <a:solidFill>
                                          <a:schemeClr val="tx1"/>
                                        </a:solidFill>
                                        <a:latin typeface="Cambria Math" panose="02040503050406030204" pitchFamily="18" charset="0"/>
                                      </a:rPr>
                                      <m:t>𝟑</m:t>
                                    </m:r>
                                  </m:sub>
                                </m:sSub>
                              </m:oMath>
                            </m:oMathPara>
                          </a14:m>
                          <a:endParaRPr lang="zh-CN" altLang="en-US" dirty="0"/>
                        </a:p>
                      </a:txBody>
                      <a:tcPr/>
                    </a:tc>
                    <a:extLst>
                      <a:ext uri="{0D108BD9-81ED-4DB2-BD59-A6C34878D82A}">
                        <a16:rowId xmlns:a16="http://schemas.microsoft.com/office/drawing/2014/main" val="3195493497"/>
                      </a:ext>
                    </a:extLst>
                  </a:tr>
                  <a:tr h="370840">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768481959"/>
                      </a:ext>
                    </a:extLst>
                  </a:tr>
                  <a:tr h="370840">
                    <a:tc>
                      <a:txBody>
                        <a:bodyPr/>
                        <a:lstStyle/>
                        <a:p>
                          <a:pPr algn="ctr"/>
                          <a:r>
                            <a:rPr lang="en-US" altLang="zh-CN" dirty="0">
                              <a:latin typeface="Arial" panose="020B0604020202020204" pitchFamily="34" charset="0"/>
                              <a:cs typeface="Arial" panose="020B0604020202020204" pitchFamily="34" charset="0"/>
                            </a:rPr>
                            <a:t>2</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304609237"/>
                      </a:ext>
                    </a:extLst>
                  </a:tr>
                  <a:tr h="370840">
                    <a:tc>
                      <a:txBody>
                        <a:bodyPr/>
                        <a:lstStyle/>
                        <a:p>
                          <a:pPr algn="ctr"/>
                          <a:r>
                            <a:rPr lang="en-US" altLang="zh-CN" dirty="0">
                              <a:latin typeface="Arial" panose="020B0604020202020204" pitchFamily="34" charset="0"/>
                              <a:cs typeface="Arial" panose="020B0604020202020204" pitchFamily="34" charset="0"/>
                            </a:rPr>
                            <a:t>3</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40073973"/>
                      </a:ext>
                    </a:extLst>
                  </a:tr>
                  <a:tr h="370840">
                    <a:tc>
                      <a:txBody>
                        <a:bodyPr/>
                        <a:lstStyle/>
                        <a:p>
                          <a:pPr algn="ctr"/>
                          <a:r>
                            <a:rPr lang="en-US" altLang="zh-CN" dirty="0">
                              <a:latin typeface="Arial" panose="020B0604020202020204" pitchFamily="34" charset="0"/>
                              <a:cs typeface="Arial" panose="020B0604020202020204" pitchFamily="34" charset="0"/>
                            </a:rPr>
                            <a:t>10</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105765596"/>
                      </a:ext>
                    </a:extLst>
                  </a:tr>
                </a:tbl>
              </a:graphicData>
            </a:graphic>
          </p:graphicFrame>
        </mc:Choice>
        <mc:Fallback xmlns="">
          <p:graphicFrame>
            <p:nvGraphicFramePr>
              <p:cNvPr id="7" name="表格 3">
                <a:extLst>
                  <a:ext uri="{FF2B5EF4-FFF2-40B4-BE49-F238E27FC236}">
                    <a16:creationId xmlns:a16="http://schemas.microsoft.com/office/drawing/2014/main" id="{5C679D3C-8965-4CD9-A054-3F44CBFAD528}"/>
                  </a:ext>
                </a:extLst>
              </p:cNvPr>
              <p:cNvGraphicFramePr>
                <a:graphicFrameLocks noGrp="1"/>
              </p:cNvGraphicFramePr>
              <p:nvPr>
                <p:extLst>
                  <p:ext uri="{D42A27DB-BD31-4B8C-83A1-F6EECF244321}">
                    <p14:modId xmlns:p14="http://schemas.microsoft.com/office/powerpoint/2010/main" val="197350582"/>
                  </p:ext>
                </p:extLst>
              </p:nvPr>
            </p:nvGraphicFramePr>
            <p:xfrm>
              <a:off x="6661806" y="2745246"/>
              <a:ext cx="831018" cy="1854200"/>
            </p:xfrm>
            <a:graphic>
              <a:graphicData uri="http://schemas.openxmlformats.org/drawingml/2006/table">
                <a:tbl>
                  <a:tblPr firstRow="1" bandRow="1">
                    <a:tableStyleId>{10A1B5D5-9B99-4C35-A422-299274C87663}</a:tableStyleId>
                  </a:tblPr>
                  <a:tblGrid>
                    <a:gridCol w="831018">
                      <a:extLst>
                        <a:ext uri="{9D8B030D-6E8A-4147-A177-3AD203B41FA5}">
                          <a16:colId xmlns:a16="http://schemas.microsoft.com/office/drawing/2014/main" val="712402070"/>
                        </a:ext>
                      </a:extLst>
                    </a:gridCol>
                  </a:tblGrid>
                  <a:tr h="370840">
                    <a:tc>
                      <a:txBody>
                        <a:bodyPr/>
                        <a:lstStyle/>
                        <a:p>
                          <a:endParaRPr lang="zh-CN"/>
                        </a:p>
                      </a:txBody>
                      <a:tcPr>
                        <a:blipFill>
                          <a:blip r:embed="rId3"/>
                          <a:stretch>
                            <a:fillRect l="-725" t="-1639" r="-1449" b="-424590"/>
                          </a:stretch>
                        </a:blipFill>
                      </a:tcPr>
                    </a:tc>
                    <a:extLst>
                      <a:ext uri="{0D108BD9-81ED-4DB2-BD59-A6C34878D82A}">
                        <a16:rowId xmlns:a16="http://schemas.microsoft.com/office/drawing/2014/main" val="3195493497"/>
                      </a:ext>
                    </a:extLst>
                  </a:tr>
                  <a:tr h="370840">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768481959"/>
                      </a:ext>
                    </a:extLst>
                  </a:tr>
                  <a:tr h="370840">
                    <a:tc>
                      <a:txBody>
                        <a:bodyPr/>
                        <a:lstStyle/>
                        <a:p>
                          <a:pPr algn="ctr"/>
                          <a:r>
                            <a:rPr lang="en-US" altLang="zh-CN" dirty="0">
                              <a:latin typeface="Arial" panose="020B0604020202020204" pitchFamily="34" charset="0"/>
                              <a:cs typeface="Arial" panose="020B0604020202020204" pitchFamily="34" charset="0"/>
                            </a:rPr>
                            <a:t>2</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304609237"/>
                      </a:ext>
                    </a:extLst>
                  </a:tr>
                  <a:tr h="370840">
                    <a:tc>
                      <a:txBody>
                        <a:bodyPr/>
                        <a:lstStyle/>
                        <a:p>
                          <a:pPr algn="ctr"/>
                          <a:r>
                            <a:rPr lang="en-US" altLang="zh-CN" dirty="0">
                              <a:latin typeface="Arial" panose="020B0604020202020204" pitchFamily="34" charset="0"/>
                              <a:cs typeface="Arial" panose="020B0604020202020204" pitchFamily="34" charset="0"/>
                            </a:rPr>
                            <a:t>3</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40073973"/>
                      </a:ext>
                    </a:extLst>
                  </a:tr>
                  <a:tr h="370840">
                    <a:tc>
                      <a:txBody>
                        <a:bodyPr/>
                        <a:lstStyle/>
                        <a:p>
                          <a:pPr algn="ctr"/>
                          <a:r>
                            <a:rPr lang="en-US" altLang="zh-CN" dirty="0">
                              <a:latin typeface="Arial" panose="020B0604020202020204" pitchFamily="34" charset="0"/>
                              <a:cs typeface="Arial" panose="020B0604020202020204" pitchFamily="34" charset="0"/>
                            </a:rPr>
                            <a:t>10</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105765596"/>
                      </a:ext>
                    </a:extLst>
                  </a:tr>
                </a:tbl>
              </a:graphicData>
            </a:graphic>
          </p:graphicFrame>
        </mc:Fallback>
      </mc:AlternateContent>
      <p:cxnSp>
        <p:nvCxnSpPr>
          <p:cNvPr id="8" name="直接箭头连接符 7">
            <a:extLst>
              <a:ext uri="{FF2B5EF4-FFF2-40B4-BE49-F238E27FC236}">
                <a16:creationId xmlns:a16="http://schemas.microsoft.com/office/drawing/2014/main" id="{E790E93C-D373-4698-B0A3-EDAF55FB2FB6}"/>
              </a:ext>
            </a:extLst>
          </p:cNvPr>
          <p:cNvCxnSpPr/>
          <p:nvPr/>
        </p:nvCxnSpPr>
        <p:spPr>
          <a:xfrm>
            <a:off x="4660287" y="3672346"/>
            <a:ext cx="175943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79DAF378-D706-4B1C-8F06-3B62111C0AC7}"/>
              </a:ext>
            </a:extLst>
          </p:cNvPr>
          <p:cNvSpPr txBox="1"/>
          <p:nvPr/>
        </p:nvSpPr>
        <p:spPr>
          <a:xfrm>
            <a:off x="4868392" y="3216166"/>
            <a:ext cx="1336916"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replace</a:t>
            </a:r>
            <a:endParaRPr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10" name="表格 3">
                <a:extLst>
                  <a:ext uri="{FF2B5EF4-FFF2-40B4-BE49-F238E27FC236}">
                    <a16:creationId xmlns:a16="http://schemas.microsoft.com/office/drawing/2014/main" id="{FF577944-0039-4F23-A2FA-0907B25BFF29}"/>
                  </a:ext>
                </a:extLst>
              </p:cNvPr>
              <p:cNvGraphicFramePr>
                <a:graphicFrameLocks noGrp="1"/>
              </p:cNvGraphicFramePr>
              <p:nvPr>
                <p:extLst>
                  <p:ext uri="{D42A27DB-BD31-4B8C-83A1-F6EECF244321}">
                    <p14:modId xmlns:p14="http://schemas.microsoft.com/office/powerpoint/2010/main" val="3221749081"/>
                  </p:ext>
                </p:extLst>
              </p:nvPr>
            </p:nvGraphicFramePr>
            <p:xfrm>
              <a:off x="2089807" y="4751845"/>
              <a:ext cx="831018" cy="1854200"/>
            </p:xfrm>
            <a:graphic>
              <a:graphicData uri="http://schemas.openxmlformats.org/drawingml/2006/table">
                <a:tbl>
                  <a:tblPr firstRow="1" bandRow="1">
                    <a:tableStyleId>{10A1B5D5-9B99-4C35-A422-299274C87663}</a:tableStyleId>
                  </a:tblPr>
                  <a:tblGrid>
                    <a:gridCol w="831018">
                      <a:extLst>
                        <a:ext uri="{9D8B030D-6E8A-4147-A177-3AD203B41FA5}">
                          <a16:colId xmlns:a16="http://schemas.microsoft.com/office/drawing/2014/main" val="712402070"/>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smtClean="0">
                                        <a:solidFill>
                                          <a:schemeClr val="tx1"/>
                                        </a:solidFill>
                                        <a:latin typeface="Cambria Math" panose="02040503050406030204" pitchFamily="18" charset="0"/>
                                      </a:rPr>
                                      <m:t>𝑫</m:t>
                                    </m:r>
                                  </m:e>
                                  <m:sub>
                                    <m:r>
                                      <a:rPr lang="en-US" altLang="zh-CN" b="1" smtClean="0">
                                        <a:solidFill>
                                          <a:schemeClr val="tx1"/>
                                        </a:solidFill>
                                        <a:latin typeface="Cambria Math" panose="02040503050406030204" pitchFamily="18" charset="0"/>
                                      </a:rPr>
                                      <m:t>𝟏</m:t>
                                    </m:r>
                                  </m:sub>
                                </m:sSub>
                              </m:oMath>
                            </m:oMathPara>
                          </a14:m>
                          <a:endParaRPr lang="zh-CN" altLang="en-US" dirty="0"/>
                        </a:p>
                      </a:txBody>
                      <a:tcPr/>
                    </a:tc>
                    <a:extLst>
                      <a:ext uri="{0D108BD9-81ED-4DB2-BD59-A6C34878D82A}">
                        <a16:rowId xmlns:a16="http://schemas.microsoft.com/office/drawing/2014/main" val="3195493497"/>
                      </a:ext>
                    </a:extLst>
                  </a:tr>
                  <a:tr h="370840">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768481959"/>
                      </a:ext>
                    </a:extLst>
                  </a:tr>
                  <a:tr h="370840">
                    <a:tc>
                      <a:txBody>
                        <a:bodyPr/>
                        <a:lstStyle/>
                        <a:p>
                          <a:pPr algn="ctr"/>
                          <a:r>
                            <a:rPr lang="en-US" altLang="zh-CN" dirty="0">
                              <a:latin typeface="Arial" panose="020B0604020202020204" pitchFamily="34" charset="0"/>
                              <a:cs typeface="Arial" panose="020B0604020202020204" pitchFamily="34" charset="0"/>
                            </a:rPr>
                            <a:t>2</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304609237"/>
                      </a:ext>
                    </a:extLst>
                  </a:tr>
                  <a:tr h="370840">
                    <a:tc>
                      <a:txBody>
                        <a:bodyPr/>
                        <a:lstStyle/>
                        <a:p>
                          <a:pPr algn="ctr"/>
                          <a:r>
                            <a:rPr lang="en-US" altLang="zh-CN" dirty="0">
                              <a:latin typeface="Arial" panose="020B0604020202020204" pitchFamily="34" charset="0"/>
                              <a:cs typeface="Arial" panose="020B0604020202020204" pitchFamily="34" charset="0"/>
                            </a:rPr>
                            <a:t>3</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40073973"/>
                      </a:ext>
                    </a:extLst>
                  </a:tr>
                  <a:tr h="370840">
                    <a:tc>
                      <a:txBody>
                        <a:bodyPr/>
                        <a:lstStyle/>
                        <a:p>
                          <a:pPr algn="ctr"/>
                          <a:r>
                            <a:rPr lang="en-US" altLang="zh-CN" dirty="0">
                              <a:latin typeface="Arial" panose="020B0604020202020204" pitchFamily="34" charset="0"/>
                              <a:cs typeface="Arial" panose="020B0604020202020204" pitchFamily="34" charset="0"/>
                            </a:rPr>
                            <a:t>4</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105765596"/>
                      </a:ext>
                    </a:extLst>
                  </a:tr>
                </a:tbl>
              </a:graphicData>
            </a:graphic>
          </p:graphicFrame>
        </mc:Choice>
        <mc:Fallback xmlns="">
          <p:graphicFrame>
            <p:nvGraphicFramePr>
              <p:cNvPr id="10" name="表格 3">
                <a:extLst>
                  <a:ext uri="{FF2B5EF4-FFF2-40B4-BE49-F238E27FC236}">
                    <a16:creationId xmlns:a16="http://schemas.microsoft.com/office/drawing/2014/main" id="{FF577944-0039-4F23-A2FA-0907B25BFF29}"/>
                  </a:ext>
                </a:extLst>
              </p:cNvPr>
              <p:cNvGraphicFramePr>
                <a:graphicFrameLocks noGrp="1"/>
              </p:cNvGraphicFramePr>
              <p:nvPr>
                <p:extLst>
                  <p:ext uri="{D42A27DB-BD31-4B8C-83A1-F6EECF244321}">
                    <p14:modId xmlns:p14="http://schemas.microsoft.com/office/powerpoint/2010/main" val="3221749081"/>
                  </p:ext>
                </p:extLst>
              </p:nvPr>
            </p:nvGraphicFramePr>
            <p:xfrm>
              <a:off x="2089807" y="4751845"/>
              <a:ext cx="831018" cy="1854200"/>
            </p:xfrm>
            <a:graphic>
              <a:graphicData uri="http://schemas.openxmlformats.org/drawingml/2006/table">
                <a:tbl>
                  <a:tblPr firstRow="1" bandRow="1">
                    <a:tableStyleId>{10A1B5D5-9B99-4C35-A422-299274C87663}</a:tableStyleId>
                  </a:tblPr>
                  <a:tblGrid>
                    <a:gridCol w="831018">
                      <a:extLst>
                        <a:ext uri="{9D8B030D-6E8A-4147-A177-3AD203B41FA5}">
                          <a16:colId xmlns:a16="http://schemas.microsoft.com/office/drawing/2014/main" val="712402070"/>
                        </a:ext>
                      </a:extLst>
                    </a:gridCol>
                  </a:tblGrid>
                  <a:tr h="370840">
                    <a:tc>
                      <a:txBody>
                        <a:bodyPr/>
                        <a:lstStyle/>
                        <a:p>
                          <a:endParaRPr lang="zh-CN"/>
                        </a:p>
                      </a:txBody>
                      <a:tcPr>
                        <a:blipFill>
                          <a:blip r:embed="rId4"/>
                          <a:stretch>
                            <a:fillRect l="-725" t="-1639" r="-1449" b="-424590"/>
                          </a:stretch>
                        </a:blipFill>
                      </a:tcPr>
                    </a:tc>
                    <a:extLst>
                      <a:ext uri="{0D108BD9-81ED-4DB2-BD59-A6C34878D82A}">
                        <a16:rowId xmlns:a16="http://schemas.microsoft.com/office/drawing/2014/main" val="3195493497"/>
                      </a:ext>
                    </a:extLst>
                  </a:tr>
                  <a:tr h="370840">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768481959"/>
                      </a:ext>
                    </a:extLst>
                  </a:tr>
                  <a:tr h="370840">
                    <a:tc>
                      <a:txBody>
                        <a:bodyPr/>
                        <a:lstStyle/>
                        <a:p>
                          <a:pPr algn="ctr"/>
                          <a:r>
                            <a:rPr lang="en-US" altLang="zh-CN" dirty="0">
                              <a:latin typeface="Arial" panose="020B0604020202020204" pitchFamily="34" charset="0"/>
                              <a:cs typeface="Arial" panose="020B0604020202020204" pitchFamily="34" charset="0"/>
                            </a:rPr>
                            <a:t>2</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304609237"/>
                      </a:ext>
                    </a:extLst>
                  </a:tr>
                  <a:tr h="370840">
                    <a:tc>
                      <a:txBody>
                        <a:bodyPr/>
                        <a:lstStyle/>
                        <a:p>
                          <a:pPr algn="ctr"/>
                          <a:r>
                            <a:rPr lang="en-US" altLang="zh-CN" dirty="0">
                              <a:latin typeface="Arial" panose="020B0604020202020204" pitchFamily="34" charset="0"/>
                              <a:cs typeface="Arial" panose="020B0604020202020204" pitchFamily="34" charset="0"/>
                            </a:rPr>
                            <a:t>3</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40073973"/>
                      </a:ext>
                    </a:extLst>
                  </a:tr>
                  <a:tr h="370840">
                    <a:tc>
                      <a:txBody>
                        <a:bodyPr/>
                        <a:lstStyle/>
                        <a:p>
                          <a:pPr algn="ctr"/>
                          <a:r>
                            <a:rPr lang="en-US" altLang="zh-CN" dirty="0">
                              <a:latin typeface="Arial" panose="020B0604020202020204" pitchFamily="34" charset="0"/>
                              <a:cs typeface="Arial" panose="020B0604020202020204" pitchFamily="34" charset="0"/>
                            </a:rPr>
                            <a:t>4</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10576559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 name="表格 3">
                <a:extLst>
                  <a:ext uri="{FF2B5EF4-FFF2-40B4-BE49-F238E27FC236}">
                    <a16:creationId xmlns:a16="http://schemas.microsoft.com/office/drawing/2014/main" id="{3B9446C0-FB01-4615-8AF8-1AFE61C92889}"/>
                  </a:ext>
                </a:extLst>
              </p:cNvPr>
              <p:cNvGraphicFramePr>
                <a:graphicFrameLocks noGrp="1"/>
              </p:cNvGraphicFramePr>
              <p:nvPr>
                <p:extLst>
                  <p:ext uri="{D42A27DB-BD31-4B8C-83A1-F6EECF244321}">
                    <p14:modId xmlns:p14="http://schemas.microsoft.com/office/powerpoint/2010/main" val="2651594907"/>
                  </p:ext>
                </p:extLst>
              </p:nvPr>
            </p:nvGraphicFramePr>
            <p:xfrm>
              <a:off x="5124143" y="4751845"/>
              <a:ext cx="831018" cy="1854200"/>
            </p:xfrm>
            <a:graphic>
              <a:graphicData uri="http://schemas.openxmlformats.org/drawingml/2006/table">
                <a:tbl>
                  <a:tblPr firstRow="1" bandRow="1">
                    <a:tableStyleId>{10A1B5D5-9B99-4C35-A422-299274C87663}</a:tableStyleId>
                  </a:tblPr>
                  <a:tblGrid>
                    <a:gridCol w="831018">
                      <a:extLst>
                        <a:ext uri="{9D8B030D-6E8A-4147-A177-3AD203B41FA5}">
                          <a16:colId xmlns:a16="http://schemas.microsoft.com/office/drawing/2014/main" val="712402070"/>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smtClean="0">
                                        <a:solidFill>
                                          <a:schemeClr val="tx1"/>
                                        </a:solidFill>
                                        <a:latin typeface="Cambria Math" panose="02040503050406030204" pitchFamily="18" charset="0"/>
                                      </a:rPr>
                                      <m:t>𝑫</m:t>
                                    </m:r>
                                  </m:e>
                                  <m:sub>
                                    <m:r>
                                      <a:rPr lang="en-US" altLang="zh-CN" b="1" i="0" smtClean="0">
                                        <a:solidFill>
                                          <a:schemeClr val="tx1"/>
                                        </a:solidFill>
                                        <a:latin typeface="Cambria Math" panose="02040503050406030204" pitchFamily="18" charset="0"/>
                                      </a:rPr>
                                      <m:t>𝟐</m:t>
                                    </m:r>
                                  </m:sub>
                                </m:sSub>
                              </m:oMath>
                            </m:oMathPara>
                          </a14:m>
                          <a:endParaRPr lang="zh-CN" altLang="en-US" dirty="0"/>
                        </a:p>
                      </a:txBody>
                      <a:tcPr/>
                    </a:tc>
                    <a:extLst>
                      <a:ext uri="{0D108BD9-81ED-4DB2-BD59-A6C34878D82A}">
                        <a16:rowId xmlns:a16="http://schemas.microsoft.com/office/drawing/2014/main" val="3195493497"/>
                      </a:ext>
                    </a:extLst>
                  </a:tr>
                  <a:tr h="370840">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768481959"/>
                      </a:ext>
                    </a:extLst>
                  </a:tr>
                  <a:tr h="370840">
                    <a:tc>
                      <a:txBody>
                        <a:bodyPr/>
                        <a:lstStyle/>
                        <a:p>
                          <a:pPr algn="ctr"/>
                          <a:r>
                            <a:rPr lang="en-US" altLang="zh-CN" dirty="0">
                              <a:latin typeface="Arial" panose="020B0604020202020204" pitchFamily="34" charset="0"/>
                              <a:cs typeface="Arial" panose="020B0604020202020204" pitchFamily="34" charset="0"/>
                            </a:rPr>
                            <a:t>2</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304609237"/>
                      </a:ext>
                    </a:extLst>
                  </a:tr>
                  <a:tr h="370840">
                    <a:tc>
                      <a:txBody>
                        <a:bodyPr/>
                        <a:lstStyle/>
                        <a:p>
                          <a:pPr algn="ctr"/>
                          <a:r>
                            <a:rPr lang="en-US" altLang="zh-CN" dirty="0">
                              <a:latin typeface="Arial" panose="020B0604020202020204" pitchFamily="34" charset="0"/>
                              <a:cs typeface="Arial" panose="020B0604020202020204" pitchFamily="34" charset="0"/>
                            </a:rPr>
                            <a:t>3</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40073973"/>
                      </a:ext>
                    </a:extLst>
                  </a:tr>
                  <a:tr h="370840">
                    <a:tc>
                      <a:txBody>
                        <a:bodyPr/>
                        <a:lstStyle/>
                        <a:p>
                          <a:pPr algn="ct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105765596"/>
                      </a:ext>
                    </a:extLst>
                  </a:tr>
                </a:tbl>
              </a:graphicData>
            </a:graphic>
          </p:graphicFrame>
        </mc:Choice>
        <mc:Fallback xmlns="">
          <p:graphicFrame>
            <p:nvGraphicFramePr>
              <p:cNvPr id="11" name="表格 3">
                <a:extLst>
                  <a:ext uri="{FF2B5EF4-FFF2-40B4-BE49-F238E27FC236}">
                    <a16:creationId xmlns:a16="http://schemas.microsoft.com/office/drawing/2014/main" id="{3B9446C0-FB01-4615-8AF8-1AFE61C92889}"/>
                  </a:ext>
                </a:extLst>
              </p:cNvPr>
              <p:cNvGraphicFramePr>
                <a:graphicFrameLocks noGrp="1"/>
              </p:cNvGraphicFramePr>
              <p:nvPr>
                <p:extLst>
                  <p:ext uri="{D42A27DB-BD31-4B8C-83A1-F6EECF244321}">
                    <p14:modId xmlns:p14="http://schemas.microsoft.com/office/powerpoint/2010/main" val="2651594907"/>
                  </p:ext>
                </p:extLst>
              </p:nvPr>
            </p:nvGraphicFramePr>
            <p:xfrm>
              <a:off x="5124143" y="4751845"/>
              <a:ext cx="831018" cy="1854200"/>
            </p:xfrm>
            <a:graphic>
              <a:graphicData uri="http://schemas.openxmlformats.org/drawingml/2006/table">
                <a:tbl>
                  <a:tblPr firstRow="1" bandRow="1">
                    <a:tableStyleId>{10A1B5D5-9B99-4C35-A422-299274C87663}</a:tableStyleId>
                  </a:tblPr>
                  <a:tblGrid>
                    <a:gridCol w="831018">
                      <a:extLst>
                        <a:ext uri="{9D8B030D-6E8A-4147-A177-3AD203B41FA5}">
                          <a16:colId xmlns:a16="http://schemas.microsoft.com/office/drawing/2014/main" val="712402070"/>
                        </a:ext>
                      </a:extLst>
                    </a:gridCol>
                  </a:tblGrid>
                  <a:tr h="370840">
                    <a:tc>
                      <a:txBody>
                        <a:bodyPr/>
                        <a:lstStyle/>
                        <a:p>
                          <a:endParaRPr lang="zh-CN"/>
                        </a:p>
                      </a:txBody>
                      <a:tcPr>
                        <a:blipFill>
                          <a:blip r:embed="rId5"/>
                          <a:stretch>
                            <a:fillRect l="-730" t="-1639" r="-1460" b="-403279"/>
                          </a:stretch>
                        </a:blipFill>
                      </a:tcPr>
                    </a:tc>
                    <a:extLst>
                      <a:ext uri="{0D108BD9-81ED-4DB2-BD59-A6C34878D82A}">
                        <a16:rowId xmlns:a16="http://schemas.microsoft.com/office/drawing/2014/main" val="3195493497"/>
                      </a:ext>
                    </a:extLst>
                  </a:tr>
                  <a:tr h="370840">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768481959"/>
                      </a:ext>
                    </a:extLst>
                  </a:tr>
                  <a:tr h="370840">
                    <a:tc>
                      <a:txBody>
                        <a:bodyPr/>
                        <a:lstStyle/>
                        <a:p>
                          <a:pPr algn="ctr"/>
                          <a:r>
                            <a:rPr lang="en-US" altLang="zh-CN" dirty="0">
                              <a:latin typeface="Arial" panose="020B0604020202020204" pitchFamily="34" charset="0"/>
                              <a:cs typeface="Arial" panose="020B0604020202020204" pitchFamily="34" charset="0"/>
                            </a:rPr>
                            <a:t>2</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304609237"/>
                      </a:ext>
                    </a:extLst>
                  </a:tr>
                  <a:tr h="370840">
                    <a:tc>
                      <a:txBody>
                        <a:bodyPr/>
                        <a:lstStyle/>
                        <a:p>
                          <a:pPr algn="ctr"/>
                          <a:r>
                            <a:rPr lang="en-US" altLang="zh-CN" dirty="0">
                              <a:latin typeface="Arial" panose="020B0604020202020204" pitchFamily="34" charset="0"/>
                              <a:cs typeface="Arial" panose="020B0604020202020204" pitchFamily="34" charset="0"/>
                            </a:rPr>
                            <a:t>3</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40073973"/>
                      </a:ext>
                    </a:extLst>
                  </a:tr>
                  <a:tr h="370840">
                    <a:tc>
                      <a:txBody>
                        <a:bodyPr/>
                        <a:lstStyle/>
                        <a:p>
                          <a:pPr algn="ct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105765596"/>
                      </a:ext>
                    </a:extLst>
                  </a:tr>
                </a:tbl>
              </a:graphicData>
            </a:graphic>
          </p:graphicFrame>
        </mc:Fallback>
      </mc:AlternateContent>
      <p:cxnSp>
        <p:nvCxnSpPr>
          <p:cNvPr id="12" name="直接箭头连接符 11">
            <a:extLst>
              <a:ext uri="{FF2B5EF4-FFF2-40B4-BE49-F238E27FC236}">
                <a16:creationId xmlns:a16="http://schemas.microsoft.com/office/drawing/2014/main" id="{80F21038-B680-4B15-8AF0-4165DC10EC66}"/>
              </a:ext>
            </a:extLst>
          </p:cNvPr>
          <p:cNvCxnSpPr/>
          <p:nvPr/>
        </p:nvCxnSpPr>
        <p:spPr>
          <a:xfrm>
            <a:off x="3122624" y="5678945"/>
            <a:ext cx="175943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63BF9659-1054-44F9-8791-73C016137F41}"/>
              </a:ext>
            </a:extLst>
          </p:cNvPr>
          <p:cNvSpPr txBox="1"/>
          <p:nvPr/>
        </p:nvSpPr>
        <p:spPr>
          <a:xfrm>
            <a:off x="3330729" y="5222765"/>
            <a:ext cx="1336916"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remove</a:t>
            </a:r>
            <a:endParaRPr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14" name="表格 3">
                <a:extLst>
                  <a:ext uri="{FF2B5EF4-FFF2-40B4-BE49-F238E27FC236}">
                    <a16:creationId xmlns:a16="http://schemas.microsoft.com/office/drawing/2014/main" id="{5F28E35D-0ACA-4B2C-8E9B-9DE785361A2F}"/>
                  </a:ext>
                </a:extLst>
              </p:cNvPr>
              <p:cNvGraphicFramePr>
                <a:graphicFrameLocks noGrp="1"/>
              </p:cNvGraphicFramePr>
              <p:nvPr>
                <p:extLst>
                  <p:ext uri="{D42A27DB-BD31-4B8C-83A1-F6EECF244321}">
                    <p14:modId xmlns:p14="http://schemas.microsoft.com/office/powerpoint/2010/main" val="4012857859"/>
                  </p:ext>
                </p:extLst>
              </p:nvPr>
            </p:nvGraphicFramePr>
            <p:xfrm>
              <a:off x="8259379" y="4751845"/>
              <a:ext cx="831018" cy="1854200"/>
            </p:xfrm>
            <a:graphic>
              <a:graphicData uri="http://schemas.openxmlformats.org/drawingml/2006/table">
                <a:tbl>
                  <a:tblPr firstRow="1" bandRow="1">
                    <a:tableStyleId>{10A1B5D5-9B99-4C35-A422-299274C87663}</a:tableStyleId>
                  </a:tblPr>
                  <a:tblGrid>
                    <a:gridCol w="831018">
                      <a:extLst>
                        <a:ext uri="{9D8B030D-6E8A-4147-A177-3AD203B41FA5}">
                          <a16:colId xmlns:a16="http://schemas.microsoft.com/office/drawing/2014/main" val="712402070"/>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𝑫</m:t>
                                    </m:r>
                                  </m:e>
                                  <m:sub>
                                    <m:r>
                                      <a:rPr lang="en-US" altLang="zh-CN" b="1" i="1" smtClean="0">
                                        <a:solidFill>
                                          <a:schemeClr val="tx1"/>
                                        </a:solidFill>
                                        <a:latin typeface="Cambria Math" panose="02040503050406030204" pitchFamily="18" charset="0"/>
                                      </a:rPr>
                                      <m:t>𝟑</m:t>
                                    </m:r>
                                  </m:sub>
                                </m:sSub>
                              </m:oMath>
                            </m:oMathPara>
                          </a14:m>
                          <a:endParaRPr lang="zh-CN" altLang="en-US" i="1" dirty="0"/>
                        </a:p>
                      </a:txBody>
                      <a:tcPr/>
                    </a:tc>
                    <a:extLst>
                      <a:ext uri="{0D108BD9-81ED-4DB2-BD59-A6C34878D82A}">
                        <a16:rowId xmlns:a16="http://schemas.microsoft.com/office/drawing/2014/main" val="3195493497"/>
                      </a:ext>
                    </a:extLst>
                  </a:tr>
                  <a:tr h="370840">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768481959"/>
                      </a:ext>
                    </a:extLst>
                  </a:tr>
                  <a:tr h="370840">
                    <a:tc>
                      <a:txBody>
                        <a:bodyPr/>
                        <a:lstStyle/>
                        <a:p>
                          <a:pPr algn="ctr"/>
                          <a:r>
                            <a:rPr lang="en-US" altLang="zh-CN" dirty="0">
                              <a:latin typeface="Arial" panose="020B0604020202020204" pitchFamily="34" charset="0"/>
                              <a:cs typeface="Arial" panose="020B0604020202020204" pitchFamily="34" charset="0"/>
                            </a:rPr>
                            <a:t>2</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304609237"/>
                      </a:ext>
                    </a:extLst>
                  </a:tr>
                  <a:tr h="370840">
                    <a:tc>
                      <a:txBody>
                        <a:bodyPr/>
                        <a:lstStyle/>
                        <a:p>
                          <a:pPr algn="ctr"/>
                          <a:r>
                            <a:rPr lang="en-US" altLang="zh-CN" dirty="0">
                              <a:latin typeface="Arial" panose="020B0604020202020204" pitchFamily="34" charset="0"/>
                              <a:cs typeface="Arial" panose="020B0604020202020204" pitchFamily="34" charset="0"/>
                            </a:rPr>
                            <a:t>3</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40073973"/>
                      </a:ext>
                    </a:extLst>
                  </a:tr>
                  <a:tr h="370840">
                    <a:tc>
                      <a:txBody>
                        <a:bodyPr/>
                        <a:lstStyle/>
                        <a:p>
                          <a:pPr algn="ctr"/>
                          <a:r>
                            <a:rPr lang="en-US" altLang="zh-CN" dirty="0">
                              <a:latin typeface="Arial" panose="020B0604020202020204" pitchFamily="34" charset="0"/>
                              <a:cs typeface="Arial" panose="020B0604020202020204" pitchFamily="34" charset="0"/>
                            </a:rPr>
                            <a:t>10</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105765596"/>
                      </a:ext>
                    </a:extLst>
                  </a:tr>
                </a:tbl>
              </a:graphicData>
            </a:graphic>
          </p:graphicFrame>
        </mc:Choice>
        <mc:Fallback xmlns="">
          <p:graphicFrame>
            <p:nvGraphicFramePr>
              <p:cNvPr id="14" name="表格 3">
                <a:extLst>
                  <a:ext uri="{FF2B5EF4-FFF2-40B4-BE49-F238E27FC236}">
                    <a16:creationId xmlns:a16="http://schemas.microsoft.com/office/drawing/2014/main" id="{5F28E35D-0ACA-4B2C-8E9B-9DE785361A2F}"/>
                  </a:ext>
                </a:extLst>
              </p:cNvPr>
              <p:cNvGraphicFramePr>
                <a:graphicFrameLocks noGrp="1"/>
              </p:cNvGraphicFramePr>
              <p:nvPr>
                <p:extLst>
                  <p:ext uri="{D42A27DB-BD31-4B8C-83A1-F6EECF244321}">
                    <p14:modId xmlns:p14="http://schemas.microsoft.com/office/powerpoint/2010/main" val="4012857859"/>
                  </p:ext>
                </p:extLst>
              </p:nvPr>
            </p:nvGraphicFramePr>
            <p:xfrm>
              <a:off x="8259379" y="4751845"/>
              <a:ext cx="831018" cy="1854200"/>
            </p:xfrm>
            <a:graphic>
              <a:graphicData uri="http://schemas.openxmlformats.org/drawingml/2006/table">
                <a:tbl>
                  <a:tblPr firstRow="1" bandRow="1">
                    <a:tableStyleId>{10A1B5D5-9B99-4C35-A422-299274C87663}</a:tableStyleId>
                  </a:tblPr>
                  <a:tblGrid>
                    <a:gridCol w="831018">
                      <a:extLst>
                        <a:ext uri="{9D8B030D-6E8A-4147-A177-3AD203B41FA5}">
                          <a16:colId xmlns:a16="http://schemas.microsoft.com/office/drawing/2014/main" val="712402070"/>
                        </a:ext>
                      </a:extLst>
                    </a:gridCol>
                  </a:tblGrid>
                  <a:tr h="370840">
                    <a:tc>
                      <a:txBody>
                        <a:bodyPr/>
                        <a:lstStyle/>
                        <a:p>
                          <a:endParaRPr lang="zh-CN"/>
                        </a:p>
                      </a:txBody>
                      <a:tcPr>
                        <a:blipFill>
                          <a:blip r:embed="rId6"/>
                          <a:stretch>
                            <a:fillRect l="-725" t="-1639" r="-1449" b="-424590"/>
                          </a:stretch>
                        </a:blipFill>
                      </a:tcPr>
                    </a:tc>
                    <a:extLst>
                      <a:ext uri="{0D108BD9-81ED-4DB2-BD59-A6C34878D82A}">
                        <a16:rowId xmlns:a16="http://schemas.microsoft.com/office/drawing/2014/main" val="3195493497"/>
                      </a:ext>
                    </a:extLst>
                  </a:tr>
                  <a:tr h="370840">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768481959"/>
                      </a:ext>
                    </a:extLst>
                  </a:tr>
                  <a:tr h="370840">
                    <a:tc>
                      <a:txBody>
                        <a:bodyPr/>
                        <a:lstStyle/>
                        <a:p>
                          <a:pPr algn="ctr"/>
                          <a:r>
                            <a:rPr lang="en-US" altLang="zh-CN" dirty="0">
                              <a:latin typeface="Arial" panose="020B0604020202020204" pitchFamily="34" charset="0"/>
                              <a:cs typeface="Arial" panose="020B0604020202020204" pitchFamily="34" charset="0"/>
                            </a:rPr>
                            <a:t>2</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304609237"/>
                      </a:ext>
                    </a:extLst>
                  </a:tr>
                  <a:tr h="370840">
                    <a:tc>
                      <a:txBody>
                        <a:bodyPr/>
                        <a:lstStyle/>
                        <a:p>
                          <a:pPr algn="ctr"/>
                          <a:r>
                            <a:rPr lang="en-US" altLang="zh-CN" dirty="0">
                              <a:latin typeface="Arial" panose="020B0604020202020204" pitchFamily="34" charset="0"/>
                              <a:cs typeface="Arial" panose="020B0604020202020204" pitchFamily="34" charset="0"/>
                            </a:rPr>
                            <a:t>3</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40073973"/>
                      </a:ext>
                    </a:extLst>
                  </a:tr>
                  <a:tr h="370840">
                    <a:tc>
                      <a:txBody>
                        <a:bodyPr/>
                        <a:lstStyle/>
                        <a:p>
                          <a:pPr algn="ctr"/>
                          <a:r>
                            <a:rPr lang="en-US" altLang="zh-CN" dirty="0">
                              <a:latin typeface="Arial" panose="020B0604020202020204" pitchFamily="34" charset="0"/>
                              <a:cs typeface="Arial" panose="020B0604020202020204" pitchFamily="34" charset="0"/>
                            </a:rPr>
                            <a:t>10</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105765596"/>
                      </a:ext>
                    </a:extLst>
                  </a:tr>
                </a:tbl>
              </a:graphicData>
            </a:graphic>
          </p:graphicFrame>
        </mc:Fallback>
      </mc:AlternateContent>
      <p:cxnSp>
        <p:nvCxnSpPr>
          <p:cNvPr id="15" name="直接箭头连接符 14">
            <a:extLst>
              <a:ext uri="{FF2B5EF4-FFF2-40B4-BE49-F238E27FC236}">
                <a16:creationId xmlns:a16="http://schemas.microsoft.com/office/drawing/2014/main" id="{92E10FB8-3DFE-4F2B-AF1F-864BF13206EF}"/>
              </a:ext>
            </a:extLst>
          </p:cNvPr>
          <p:cNvCxnSpPr/>
          <p:nvPr/>
        </p:nvCxnSpPr>
        <p:spPr>
          <a:xfrm>
            <a:off x="6270473" y="5678945"/>
            <a:ext cx="175943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B9EEBD7E-F91F-4301-BE33-498CA2708ACA}"/>
              </a:ext>
            </a:extLst>
          </p:cNvPr>
          <p:cNvSpPr txBox="1"/>
          <p:nvPr/>
        </p:nvSpPr>
        <p:spPr>
          <a:xfrm>
            <a:off x="6481731" y="5222765"/>
            <a:ext cx="1336916" cy="369332"/>
          </a:xfrm>
          <a:prstGeom prst="rect">
            <a:avLst/>
          </a:prstGeom>
          <a:noFill/>
        </p:spPr>
        <p:txBody>
          <a:bodyPr wrap="square" rtlCol="0">
            <a:spAutoFit/>
          </a:bodyPr>
          <a:lstStyle/>
          <a:p>
            <a:pPr algn="ctr"/>
            <a:r>
              <a:rPr lang="en-US" altLang="zh-CN" dirty="0">
                <a:latin typeface="Arial" panose="020B0604020202020204" pitchFamily="34" charset="0"/>
                <a:cs typeface="Arial" panose="020B0604020202020204" pitchFamily="34" charset="0"/>
              </a:rPr>
              <a:t>add</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1959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D80F78B-014F-45E5-B624-7EAAD853B370}"/>
              </a:ext>
            </a:extLst>
          </p:cNvPr>
          <p:cNvSpPr txBox="1"/>
          <p:nvPr/>
        </p:nvSpPr>
        <p:spPr>
          <a:xfrm>
            <a:off x="526094" y="1276905"/>
            <a:ext cx="10878855" cy="400110"/>
          </a:xfrm>
          <a:prstGeom prst="rect">
            <a:avLst/>
          </a:prstGeom>
          <a:noFill/>
        </p:spPr>
        <p:txBody>
          <a:bodyPr wrap="square" rtlCol="0">
            <a:spAutoFit/>
          </a:bodyPr>
          <a:lstStyle/>
          <a:p>
            <a:r>
              <a:rPr lang="en-US" altLang="zh-CN" sz="2000" b="1" dirty="0">
                <a:latin typeface="Arial" panose="020B0604020202020204" pitchFamily="34" charset="0"/>
                <a:cs typeface="Arial" panose="020B0604020202020204" pitchFamily="34" charset="0"/>
              </a:rPr>
              <a:t>Which definition should we use?</a:t>
            </a:r>
          </a:p>
        </p:txBody>
      </p:sp>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Intuition and Definition</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D152FC3-F075-4ACA-AD84-4F37CB857C7C}"/>
                  </a:ext>
                </a:extLst>
              </p:cNvPr>
              <p:cNvSpPr txBox="1"/>
              <p:nvPr/>
            </p:nvSpPr>
            <p:spPr>
              <a:xfrm>
                <a:off x="526093" y="1887965"/>
                <a:ext cx="10878855"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Theorem 1.</a:t>
                </a:r>
                <a:r>
                  <a:rPr lang="en-US" altLang="zh-CN" dirty="0">
                    <a:latin typeface="Arial" panose="020B0604020202020204" pitchFamily="34" charset="0"/>
                    <a:cs typeface="Arial" panose="020B0604020202020204" pitchFamily="34" charset="0"/>
                  </a:rPr>
                  <a:t> Any algorithm </a:t>
                </a:r>
                <a14:m>
                  <m:oMath xmlns:m="http://schemas.openxmlformats.org/officeDocument/2006/math">
                    <m:r>
                      <a:rPr lang="en-US" altLang="zh-CN" b="0" i="1" smtClean="0">
                        <a:latin typeface="Cambria Math" panose="02040503050406030204" pitchFamily="18" charset="0"/>
                        <a:cs typeface="Arial" panose="020B0604020202020204" pitchFamily="34" charset="0"/>
                      </a:rPr>
                      <m:t>𝑀</m:t>
                    </m:r>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satisfies </a:t>
                </a:r>
                <a14:m>
                  <m:oMath xmlns:m="http://schemas.openxmlformats.org/officeDocument/2006/math">
                    <m:r>
                      <a:rPr lang="en-US" altLang="zh-CN" b="0" i="1">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-unbounded DP, it also satisfies </a:t>
                </a:r>
                <a14:m>
                  <m:oMath xmlns:m="http://schemas.openxmlformats.org/officeDocument/2006/math">
                    <m:r>
                      <a:rPr lang="en-US" altLang="zh-CN" b="0" i="0" smtClean="0">
                        <a:latin typeface="Cambria Math" panose="02040503050406030204" pitchFamily="18" charset="0"/>
                        <a:cs typeface="Arial" panose="020B0604020202020204" pitchFamily="34" charset="0"/>
                      </a:rPr>
                      <m:t>2</m:t>
                    </m:r>
                    <m:r>
                      <a:rPr lang="en-US" altLang="zh-CN" i="1">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-bounded DP</a:t>
                </a:r>
                <a:endParaRPr lang="zh-CN" altLang="en-US" dirty="0">
                  <a:latin typeface="Arial" panose="020B0604020202020204" pitchFamily="34" charset="0"/>
                  <a:cs typeface="Arial" panose="020B0604020202020204" pitchFamily="34" charset="0"/>
                </a:endParaRPr>
              </a:p>
            </p:txBody>
          </p:sp>
        </mc:Choice>
        <mc:Fallback xmlns="">
          <p:sp>
            <p:nvSpPr>
              <p:cNvPr id="2" name="文本框 1">
                <a:extLst>
                  <a:ext uri="{FF2B5EF4-FFF2-40B4-BE49-F238E27FC236}">
                    <a16:creationId xmlns:a16="http://schemas.microsoft.com/office/drawing/2014/main" id="{6D152FC3-F075-4ACA-AD84-4F37CB857C7C}"/>
                  </a:ext>
                </a:extLst>
              </p:cNvPr>
              <p:cNvSpPr txBox="1">
                <a:spLocks noRot="1" noChangeAspect="1" noMove="1" noResize="1" noEditPoints="1" noAdjustHandles="1" noChangeArrowheads="1" noChangeShapeType="1" noTextEdit="1"/>
              </p:cNvSpPr>
              <p:nvPr/>
            </p:nvSpPr>
            <p:spPr>
              <a:xfrm>
                <a:off x="526093" y="1887965"/>
                <a:ext cx="10878855" cy="369332"/>
              </a:xfrm>
              <a:prstGeom prst="rect">
                <a:avLst/>
              </a:prstGeom>
              <a:blipFill>
                <a:blip r:embed="rId2"/>
                <a:stretch>
                  <a:fillRect l="-448" t="-10000" b="-2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1102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D80F78B-014F-45E5-B624-7EAAD853B370}"/>
              </a:ext>
            </a:extLst>
          </p:cNvPr>
          <p:cNvSpPr txBox="1"/>
          <p:nvPr/>
        </p:nvSpPr>
        <p:spPr>
          <a:xfrm>
            <a:off x="526094" y="1276905"/>
            <a:ext cx="10878855" cy="400110"/>
          </a:xfrm>
          <a:prstGeom prst="rect">
            <a:avLst/>
          </a:prstGeom>
          <a:noFill/>
        </p:spPr>
        <p:txBody>
          <a:bodyPr wrap="square" rtlCol="0">
            <a:spAutoFit/>
          </a:bodyPr>
          <a:lstStyle/>
          <a:p>
            <a:r>
              <a:rPr lang="en-US" altLang="zh-CN" sz="2000" b="1" dirty="0">
                <a:latin typeface="Arial" panose="020B0604020202020204" pitchFamily="34" charset="0"/>
                <a:cs typeface="Arial" panose="020B0604020202020204" pitchFamily="34" charset="0"/>
              </a:rPr>
              <a:t>Which definition should we use?</a:t>
            </a:r>
          </a:p>
        </p:txBody>
      </p:sp>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Intuition and Definition</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D152FC3-F075-4ACA-AD84-4F37CB857C7C}"/>
                  </a:ext>
                </a:extLst>
              </p:cNvPr>
              <p:cNvSpPr txBox="1"/>
              <p:nvPr/>
            </p:nvSpPr>
            <p:spPr>
              <a:xfrm>
                <a:off x="526093" y="1887965"/>
                <a:ext cx="10878855"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Theorem 1.</a:t>
                </a:r>
                <a:r>
                  <a:rPr lang="en-US" altLang="zh-CN" dirty="0">
                    <a:latin typeface="Arial" panose="020B0604020202020204" pitchFamily="34" charset="0"/>
                    <a:cs typeface="Arial" panose="020B0604020202020204" pitchFamily="34" charset="0"/>
                  </a:rPr>
                  <a:t> Any algorithm </a:t>
                </a:r>
                <a14:m>
                  <m:oMath xmlns:m="http://schemas.openxmlformats.org/officeDocument/2006/math">
                    <m:r>
                      <a:rPr lang="en-US" altLang="zh-CN" b="0" i="1" smtClean="0">
                        <a:latin typeface="Cambria Math" panose="02040503050406030204" pitchFamily="18" charset="0"/>
                        <a:cs typeface="Arial" panose="020B0604020202020204" pitchFamily="34" charset="0"/>
                      </a:rPr>
                      <m:t>𝑀</m:t>
                    </m:r>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satisfies </a:t>
                </a:r>
                <a14:m>
                  <m:oMath xmlns:m="http://schemas.openxmlformats.org/officeDocument/2006/math">
                    <m:r>
                      <a:rPr lang="en-US" altLang="zh-CN" b="0" i="1">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-unbounded DP, it also satisfies </a:t>
                </a:r>
                <a14:m>
                  <m:oMath xmlns:m="http://schemas.openxmlformats.org/officeDocument/2006/math">
                    <m:r>
                      <a:rPr lang="en-US" altLang="zh-CN" b="0" i="0" smtClean="0">
                        <a:latin typeface="Cambria Math" panose="02040503050406030204" pitchFamily="18" charset="0"/>
                        <a:cs typeface="Arial" panose="020B0604020202020204" pitchFamily="34" charset="0"/>
                      </a:rPr>
                      <m:t>2</m:t>
                    </m:r>
                    <m:r>
                      <a:rPr lang="en-US" altLang="zh-CN" i="1">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-bounded DP</a:t>
                </a:r>
                <a:endParaRPr lang="zh-CN" altLang="en-US" dirty="0">
                  <a:latin typeface="Arial" panose="020B0604020202020204" pitchFamily="34" charset="0"/>
                  <a:cs typeface="Arial" panose="020B0604020202020204" pitchFamily="34" charset="0"/>
                </a:endParaRPr>
              </a:p>
            </p:txBody>
          </p:sp>
        </mc:Choice>
        <mc:Fallback xmlns="">
          <p:sp>
            <p:nvSpPr>
              <p:cNvPr id="2" name="文本框 1">
                <a:extLst>
                  <a:ext uri="{FF2B5EF4-FFF2-40B4-BE49-F238E27FC236}">
                    <a16:creationId xmlns:a16="http://schemas.microsoft.com/office/drawing/2014/main" id="{6D152FC3-F075-4ACA-AD84-4F37CB857C7C}"/>
                  </a:ext>
                </a:extLst>
              </p:cNvPr>
              <p:cNvSpPr txBox="1">
                <a:spLocks noRot="1" noChangeAspect="1" noMove="1" noResize="1" noEditPoints="1" noAdjustHandles="1" noChangeArrowheads="1" noChangeShapeType="1" noTextEdit="1"/>
              </p:cNvSpPr>
              <p:nvPr/>
            </p:nvSpPr>
            <p:spPr>
              <a:xfrm>
                <a:off x="526093" y="1887965"/>
                <a:ext cx="10878855" cy="369332"/>
              </a:xfrm>
              <a:prstGeom prst="rect">
                <a:avLst/>
              </a:prstGeom>
              <a:blipFill>
                <a:blip r:embed="rId2"/>
                <a:stretch>
                  <a:fillRect l="-448"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73A8004-A641-4C8B-8A65-94335C26CC86}"/>
                  </a:ext>
                </a:extLst>
              </p:cNvPr>
              <p:cNvSpPr txBox="1"/>
              <p:nvPr/>
            </p:nvSpPr>
            <p:spPr>
              <a:xfrm>
                <a:off x="630621" y="2522483"/>
                <a:ext cx="10953881" cy="1501308"/>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Proof. Under unbounded DP, suppose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𝑟</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3</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𝑠</m:t>
                    </m:r>
                    <m:r>
                      <a:rPr lang="en-US" altLang="zh-CN" i="1">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we have</a:t>
                </a:r>
              </a:p>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3</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oMath>
                  </m:oMathPara>
                </a14:m>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Combine them together,</a:t>
                </a:r>
              </a:p>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3</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2</m:t>
                          </m:r>
                          <m:r>
                            <a:rPr lang="en-US" altLang="zh-CN" i="1">
                              <a:latin typeface="Cambria Math" panose="02040503050406030204" pitchFamily="18" charset="0"/>
                              <a:cs typeface="Arial" panose="020B0604020202020204" pitchFamily="34" charset="0"/>
                            </a:rPr>
                            <m:t>𝜖</m:t>
                          </m:r>
                        </m:sup>
                      </m:sSup>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𝑀</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3</m:t>
                                      </m:r>
                                    </m:sub>
                                  </m:sSub>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oMath>
                  </m:oMathPara>
                </a14:m>
                <a:endParaRPr lang="zh-CN" altLang="en-US" dirty="0">
                  <a:latin typeface="Arial" panose="020B0604020202020204" pitchFamily="34" charset="0"/>
                  <a:cs typeface="Arial" panose="020B0604020202020204" pitchFamily="34" charset="0"/>
                </a:endParaRPr>
              </a:p>
            </p:txBody>
          </p:sp>
        </mc:Choice>
        <mc:Fallback xmlns="">
          <p:sp>
            <p:nvSpPr>
              <p:cNvPr id="3" name="文本框 2">
                <a:extLst>
                  <a:ext uri="{FF2B5EF4-FFF2-40B4-BE49-F238E27FC236}">
                    <a16:creationId xmlns:a16="http://schemas.microsoft.com/office/drawing/2014/main" id="{A73A8004-A641-4C8B-8A65-94335C26CC86}"/>
                  </a:ext>
                </a:extLst>
              </p:cNvPr>
              <p:cNvSpPr txBox="1">
                <a:spLocks noRot="1" noChangeAspect="1" noMove="1" noResize="1" noEditPoints="1" noAdjustHandles="1" noChangeArrowheads="1" noChangeShapeType="1" noTextEdit="1"/>
              </p:cNvSpPr>
              <p:nvPr/>
            </p:nvSpPr>
            <p:spPr>
              <a:xfrm>
                <a:off x="630621" y="2522483"/>
                <a:ext cx="10953881" cy="1501308"/>
              </a:xfrm>
              <a:prstGeom prst="rect">
                <a:avLst/>
              </a:prstGeom>
              <a:blipFill>
                <a:blip r:embed="rId3"/>
                <a:stretch>
                  <a:fillRect l="-445" t="-24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1778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D80F78B-014F-45E5-B624-7EAAD853B370}"/>
              </a:ext>
            </a:extLst>
          </p:cNvPr>
          <p:cNvSpPr txBox="1"/>
          <p:nvPr/>
        </p:nvSpPr>
        <p:spPr>
          <a:xfrm>
            <a:off x="526094" y="1276905"/>
            <a:ext cx="10878855" cy="400110"/>
          </a:xfrm>
          <a:prstGeom prst="rect">
            <a:avLst/>
          </a:prstGeom>
          <a:noFill/>
        </p:spPr>
        <p:txBody>
          <a:bodyPr wrap="square" rtlCol="0">
            <a:spAutoFit/>
          </a:bodyPr>
          <a:lstStyle/>
          <a:p>
            <a:r>
              <a:rPr lang="en-US" altLang="zh-CN" sz="2000" b="1" dirty="0">
                <a:latin typeface="Arial" panose="020B0604020202020204" pitchFamily="34" charset="0"/>
                <a:cs typeface="Arial" panose="020B0604020202020204" pitchFamily="34" charset="0"/>
              </a:rPr>
              <a:t>Which definition should we use?</a:t>
            </a:r>
          </a:p>
        </p:txBody>
      </p:sp>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Intuition and Definition</a:t>
            </a:r>
            <a:endParaRPr lang="zh-CN" altLang="en-US" sz="2400" b="1" dirty="0">
              <a:latin typeface="Arial" panose="020B0604020202020204" pitchFamily="34" charset="0"/>
              <a:cs typeface="Arial" panose="020B0604020202020204" pitchFamily="34" charset="0"/>
            </a:endParaRPr>
          </a:p>
        </p:txBody>
      </p:sp>
      <p:sp>
        <p:nvSpPr>
          <p:cNvPr id="2" name="文本框 1">
            <a:extLst>
              <a:ext uri="{FF2B5EF4-FFF2-40B4-BE49-F238E27FC236}">
                <a16:creationId xmlns:a16="http://schemas.microsoft.com/office/drawing/2014/main" id="{6D152FC3-F075-4ACA-AD84-4F37CB857C7C}"/>
              </a:ext>
            </a:extLst>
          </p:cNvPr>
          <p:cNvSpPr txBox="1"/>
          <p:nvPr/>
        </p:nvSpPr>
        <p:spPr>
          <a:xfrm>
            <a:off x="526093" y="1887965"/>
            <a:ext cx="10878855"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Theorem 2.</a:t>
            </a:r>
            <a:r>
              <a:rPr lang="en-US" altLang="zh-CN" dirty="0">
                <a:latin typeface="Arial" panose="020B0604020202020204" pitchFamily="34" charset="0"/>
                <a:cs typeface="Arial" panose="020B0604020202020204" pitchFamily="34" charset="0"/>
              </a:rPr>
              <a:t> Parallel composition does not hold for bounded DP</a:t>
            </a:r>
            <a:endParaRPr lang="zh-CN" altLang="en-US" dirty="0">
              <a:latin typeface="Arial" panose="020B060402020202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A73A8004-A641-4C8B-8A65-94335C26CC86}"/>
              </a:ext>
            </a:extLst>
          </p:cNvPr>
          <p:cNvSpPr txBox="1"/>
          <p:nvPr/>
        </p:nvSpPr>
        <p:spPr>
          <a:xfrm>
            <a:off x="630621" y="2522483"/>
            <a:ext cx="10953881" cy="36933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Proof. See it later…</a:t>
            </a:r>
            <a:endParaRPr lang="zh-CN"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0340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B015B40-4C34-413F-A0EC-2229EFC09CAA}"/>
              </a:ext>
            </a:extLst>
          </p:cNvPr>
          <p:cNvSpPr txBox="1"/>
          <p:nvPr/>
        </p:nvSpPr>
        <p:spPr>
          <a:xfrm>
            <a:off x="791110" y="440077"/>
            <a:ext cx="9529281" cy="584775"/>
          </a:xfrm>
          <a:prstGeom prst="rect">
            <a:avLst/>
          </a:prstGeom>
          <a:noFill/>
        </p:spPr>
        <p:txBody>
          <a:bodyPr wrap="square" rtlCol="0">
            <a:spAutoFit/>
          </a:bodyPr>
          <a:lstStyle/>
          <a:p>
            <a:r>
              <a:rPr lang="en-US" altLang="zh-CN" sz="3200" b="1" dirty="0">
                <a:latin typeface="Arial" panose="020B0604020202020204" pitchFamily="34" charset="0"/>
                <a:cs typeface="Arial" panose="020B0604020202020204" pitchFamily="34" charset="0"/>
              </a:rPr>
              <a:t>Contents</a:t>
            </a:r>
            <a:endParaRPr lang="zh-CN" altLang="en-US" sz="3200" b="1" dirty="0">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CC470D65-0FD5-4A94-8F24-7424D3E983D8}"/>
              </a:ext>
            </a:extLst>
          </p:cNvPr>
          <p:cNvSpPr txBox="1"/>
          <p:nvPr/>
        </p:nvSpPr>
        <p:spPr>
          <a:xfrm>
            <a:off x="868166" y="1443519"/>
            <a:ext cx="9529281" cy="389048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Intuition and Definition</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Common DP Mechanisms</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Properties</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Numerical Query</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Other Composition Theorems</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Hierarchy Technique</a:t>
            </a:r>
          </a:p>
        </p:txBody>
      </p:sp>
    </p:spTree>
    <p:extLst>
      <p:ext uri="{BB962C8B-B14F-4D97-AF65-F5344CB8AC3E}">
        <p14:creationId xmlns:p14="http://schemas.microsoft.com/office/powerpoint/2010/main" val="2887458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Laplace mechanism</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956224"/>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Goal: Publish numerical data analysis result </a:t>
                </a:r>
                <a14:m>
                  <m:oMath xmlns:m="http://schemas.openxmlformats.org/officeDocument/2006/math">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in DP manner.</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Detail: To achieve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 publish </a:t>
                </a:r>
                <a14:m>
                  <m:oMath xmlns:m="http://schemas.openxmlformats.org/officeDocument/2006/math">
                    <m:acc>
                      <m:accPr>
                        <m:chr m:val="̃"/>
                        <m:ctrlPr>
                          <a:rPr lang="en-US" altLang="zh-CN" i="1" dirty="0" smtClean="0">
                            <a:latin typeface="Cambria Math" panose="02040503050406030204" pitchFamily="18" charset="0"/>
                            <a:cs typeface="Arial" panose="020B0604020202020204" pitchFamily="34" charset="0"/>
                          </a:rPr>
                        </m:ctrlPr>
                      </m:accPr>
                      <m:e>
                        <m:r>
                          <a:rPr lang="en-US" altLang="zh-CN" b="0" i="1" dirty="0" smtClean="0">
                            <a:latin typeface="Cambria Math" panose="02040503050406030204" pitchFamily="18" charset="0"/>
                            <a:cs typeface="Arial" panose="020B0604020202020204" pitchFamily="34" charset="0"/>
                          </a:rPr>
                          <m:t>𝑓</m:t>
                        </m:r>
                      </m:e>
                    </m:acc>
                    <m:d>
                      <m:dPr>
                        <m:ctrlPr>
                          <a:rPr lang="en-US" altLang="zh-CN" b="0" i="1" dirty="0" smtClean="0">
                            <a:latin typeface="Cambria Math" panose="02040503050406030204" pitchFamily="18" charset="0"/>
                            <a:cs typeface="Arial" panose="020B0604020202020204" pitchFamily="34" charset="0"/>
                          </a:rPr>
                        </m:ctrlPr>
                      </m:dPr>
                      <m:e>
                        <m:r>
                          <a:rPr lang="en-US" altLang="zh-CN" b="0" i="1" dirty="0" smtClean="0">
                            <a:latin typeface="Cambria Math" panose="02040503050406030204" pitchFamily="18" charset="0"/>
                            <a:cs typeface="Arial" panose="020B0604020202020204" pitchFamily="34" charset="0"/>
                          </a:rPr>
                          <m:t>𝐷</m:t>
                        </m:r>
                      </m:e>
                    </m:d>
                    <m:r>
                      <a:rPr lang="en-US" altLang="zh-CN" b="0" i="1" dirty="0"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𝑛𝑜𝑖𝑠𝑒</m:t>
                    </m:r>
                  </m:oMath>
                </a14:m>
                <a:r>
                  <a:rPr lang="en-US" altLang="zh-CN" dirty="0">
                    <a:latin typeface="Arial" panose="020B0604020202020204" pitchFamily="34" charset="0"/>
                    <a:cs typeface="Arial" panose="020B0604020202020204" pitchFamily="34" charset="0"/>
                  </a:rPr>
                  <a:t>. Formally,</a:t>
                </a:r>
                <a14:m>
                  <m:oMath xmlns:m="http://schemas.openxmlformats.org/officeDocument/2006/math">
                    <m:acc>
                      <m:accPr>
                        <m:chr m:val="̃"/>
                        <m:ctrlPr>
                          <a:rPr lang="en-US" altLang="zh-CN" i="1" dirty="0">
                            <a:latin typeface="Cambria Math" panose="02040503050406030204" pitchFamily="18" charset="0"/>
                            <a:cs typeface="Arial" panose="020B0604020202020204" pitchFamily="34" charset="0"/>
                          </a:rPr>
                        </m:ctrlPr>
                      </m:accPr>
                      <m:e>
                        <m:r>
                          <a:rPr lang="en-US" altLang="zh-CN" i="1" dirty="0">
                            <a:latin typeface="Cambria Math" panose="02040503050406030204" pitchFamily="18" charset="0"/>
                            <a:cs typeface="Arial" panose="020B0604020202020204" pitchFamily="34" charset="0"/>
                          </a:rPr>
                          <m:t>𝑓</m:t>
                        </m:r>
                      </m:e>
                    </m:acc>
                    <m:d>
                      <m:dPr>
                        <m:ctrlPr>
                          <a:rPr lang="en-US" altLang="zh-CN" i="1" dirty="0">
                            <a:latin typeface="Cambria Math" panose="02040503050406030204" pitchFamily="18" charset="0"/>
                            <a:cs typeface="Arial" panose="020B0604020202020204" pitchFamily="34" charset="0"/>
                          </a:rPr>
                        </m:ctrlPr>
                      </m:dPr>
                      <m:e>
                        <m:r>
                          <a:rPr lang="en-US" altLang="zh-CN" i="1" dirty="0">
                            <a:latin typeface="Cambria Math" panose="02040503050406030204" pitchFamily="18" charset="0"/>
                            <a:cs typeface="Arial" panose="020B0604020202020204" pitchFamily="34" charset="0"/>
                          </a:rPr>
                          <m:t>𝐷</m:t>
                        </m:r>
                      </m:e>
                    </m:d>
                    <m:r>
                      <a:rPr lang="en-US" altLang="zh-CN" b="0" i="1" dirty="0"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𝐿𝑎𝑝</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𝜇</m:t>
                    </m:r>
                    <m:r>
                      <a:rPr lang="en-US" altLang="zh-CN" i="1">
                        <a:latin typeface="Cambria Math" panose="02040503050406030204" pitchFamily="18" charset="0"/>
                        <a:cs typeface="Arial" panose="020B0604020202020204" pitchFamily="34" charset="0"/>
                      </a:rPr>
                      <m:t>=0,</m:t>
                    </m:r>
                    <m:r>
                      <a:rPr lang="en-US" altLang="zh-CN" i="1">
                        <a:latin typeface="Cambria Math" panose="02040503050406030204" pitchFamily="18" charset="0"/>
                        <a:cs typeface="Arial" panose="020B0604020202020204" pitchFamily="34" charset="0"/>
                      </a:rPr>
                      <m:t>𝛽</m:t>
                    </m:r>
                    <m:r>
                      <a:rPr lang="en-US" altLang="zh-CN" i="1">
                        <a:latin typeface="Cambria Math" panose="02040503050406030204" pitchFamily="18" charset="0"/>
                        <a:cs typeface="Arial" panose="020B0604020202020204" pitchFamily="34" charset="0"/>
                      </a:rPr>
                      <m:t>)</m:t>
                    </m:r>
                    <m:r>
                      <m:rPr>
                        <m:nor/>
                      </m:rPr>
                      <a:rPr lang="en-US" altLang="zh-CN" dirty="0">
                        <a:latin typeface="Arial" panose="020B0604020202020204" pitchFamily="34" charset="0"/>
                        <a:cs typeface="Arial" panose="020B0604020202020204" pitchFamily="34" charset="0"/>
                      </a:rPr>
                      <m:t>.</m:t>
                    </m:r>
                  </m:oMath>
                </a14:m>
                <a:endParaRPr lang="zh-CN" altLang="en-US" dirty="0">
                  <a:latin typeface="Arial" panose="020B0604020202020204" pitchFamily="34" charset="0"/>
                  <a:cs typeface="Arial" panose="020B0604020202020204" pitchFamily="34" charset="0"/>
                </a:endParaRPr>
              </a:p>
            </p:txBody>
          </p:sp>
        </mc:Choice>
        <mc:Fallback>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6" y="1179261"/>
                <a:ext cx="10380016" cy="956224"/>
              </a:xfrm>
              <a:prstGeom prst="rect">
                <a:avLst/>
              </a:prstGeom>
              <a:blipFill>
                <a:blip r:embed="rId2"/>
                <a:stretch>
                  <a:fillRect l="-529" t="-3185" b="-70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33382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Laplace mechanism</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93519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Goal: Publish numerical data analysis result </a:t>
                </a:r>
                <a14:m>
                  <m:oMath xmlns:m="http://schemas.openxmlformats.org/officeDocument/2006/math">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in DP manner.</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Detail: To achieve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 publish </a:t>
                </a:r>
                <a14:m>
                  <m:oMath xmlns:m="http://schemas.openxmlformats.org/officeDocument/2006/math">
                    <m:acc>
                      <m:accPr>
                        <m:chr m:val="̃"/>
                        <m:ctrlPr>
                          <a:rPr lang="en-US" altLang="zh-CN" i="1" dirty="0" smtClean="0">
                            <a:latin typeface="Cambria Math" panose="02040503050406030204" pitchFamily="18" charset="0"/>
                            <a:cs typeface="Arial" panose="020B0604020202020204" pitchFamily="34" charset="0"/>
                          </a:rPr>
                        </m:ctrlPr>
                      </m:accPr>
                      <m:e>
                        <m:r>
                          <a:rPr lang="en-US" altLang="zh-CN" b="0" i="1" dirty="0" smtClean="0">
                            <a:latin typeface="Cambria Math" panose="02040503050406030204" pitchFamily="18" charset="0"/>
                            <a:cs typeface="Arial" panose="020B0604020202020204" pitchFamily="34" charset="0"/>
                          </a:rPr>
                          <m:t>𝑓</m:t>
                        </m:r>
                      </m:e>
                    </m:acc>
                    <m:d>
                      <m:dPr>
                        <m:ctrlPr>
                          <a:rPr lang="en-US" altLang="zh-CN" b="0" i="1" dirty="0" smtClean="0">
                            <a:latin typeface="Cambria Math" panose="02040503050406030204" pitchFamily="18" charset="0"/>
                            <a:cs typeface="Arial" panose="020B0604020202020204" pitchFamily="34" charset="0"/>
                          </a:rPr>
                        </m:ctrlPr>
                      </m:dPr>
                      <m:e>
                        <m:r>
                          <a:rPr lang="en-US" altLang="zh-CN" b="0" i="1" dirty="0" smtClean="0">
                            <a:latin typeface="Cambria Math" panose="02040503050406030204" pitchFamily="18" charset="0"/>
                            <a:cs typeface="Arial" panose="020B0604020202020204" pitchFamily="34" charset="0"/>
                          </a:rPr>
                          <m:t>𝐷</m:t>
                        </m:r>
                      </m:e>
                    </m:d>
                    <m:r>
                      <a:rPr lang="en-US" altLang="zh-CN" b="0" i="1" dirty="0"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𝑛𝑜𝑖𝑠𝑒</m:t>
                    </m:r>
                  </m:oMath>
                </a14:m>
                <a:r>
                  <a:rPr lang="en-US" altLang="zh-CN" dirty="0">
                    <a:latin typeface="Arial" panose="020B0604020202020204" pitchFamily="34" charset="0"/>
                    <a:cs typeface="Arial" panose="020B0604020202020204" pitchFamily="34" charset="0"/>
                  </a:rPr>
                  <a:t>. Formally,</a:t>
                </a:r>
                <a14:m>
                  <m:oMath xmlns:m="http://schemas.openxmlformats.org/officeDocument/2006/math">
                    <m:acc>
                      <m:accPr>
                        <m:chr m:val="̃"/>
                        <m:ctrlPr>
                          <a:rPr lang="en-US" altLang="zh-CN" i="1" dirty="0">
                            <a:latin typeface="Cambria Math" panose="02040503050406030204" pitchFamily="18" charset="0"/>
                            <a:cs typeface="Arial" panose="020B0604020202020204" pitchFamily="34" charset="0"/>
                          </a:rPr>
                        </m:ctrlPr>
                      </m:accPr>
                      <m:e>
                        <m:r>
                          <a:rPr lang="en-US" altLang="zh-CN" i="1" dirty="0">
                            <a:latin typeface="Cambria Math" panose="02040503050406030204" pitchFamily="18" charset="0"/>
                            <a:cs typeface="Arial" panose="020B0604020202020204" pitchFamily="34" charset="0"/>
                          </a:rPr>
                          <m:t>𝑓</m:t>
                        </m:r>
                      </m:e>
                    </m:acc>
                    <m:d>
                      <m:dPr>
                        <m:ctrlPr>
                          <a:rPr lang="en-US" altLang="zh-CN" i="1" dirty="0">
                            <a:latin typeface="Cambria Math" panose="02040503050406030204" pitchFamily="18" charset="0"/>
                            <a:cs typeface="Arial" panose="020B0604020202020204" pitchFamily="34" charset="0"/>
                          </a:rPr>
                        </m:ctrlPr>
                      </m:dPr>
                      <m:e>
                        <m:r>
                          <a:rPr lang="en-US" altLang="zh-CN" i="1" dirty="0">
                            <a:latin typeface="Cambria Math" panose="02040503050406030204" pitchFamily="18" charset="0"/>
                            <a:cs typeface="Arial" panose="020B0604020202020204" pitchFamily="34" charset="0"/>
                          </a:rPr>
                          <m:t>𝐷</m:t>
                        </m:r>
                      </m:e>
                    </m:d>
                    <m:r>
                      <a:rPr lang="en-US" altLang="zh-CN" b="0" i="1" dirty="0"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𝐿𝑎𝑝</m:t>
                    </m:r>
                    <m:r>
                      <a:rPr lang="en-US" altLang="zh-CN" i="1">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𝜇</m:t>
                    </m:r>
                    <m:r>
                      <a:rPr lang="en-US" altLang="zh-CN" b="0" i="1" smtClean="0">
                        <a:latin typeface="Cambria Math" panose="02040503050406030204" pitchFamily="18" charset="0"/>
                        <a:cs typeface="Arial" panose="020B0604020202020204" pitchFamily="34" charset="0"/>
                      </a:rPr>
                      <m:t>=0,</m:t>
                    </m:r>
                    <m:r>
                      <a:rPr lang="en-US" altLang="zh-CN" i="1">
                        <a:latin typeface="Cambria Math" panose="02040503050406030204" pitchFamily="18" charset="0"/>
                        <a:cs typeface="Arial" panose="020B0604020202020204" pitchFamily="34" charset="0"/>
                      </a:rPr>
                      <m:t>𝛽</m:t>
                    </m:r>
                    <m:r>
                      <a:rPr lang="en-US" altLang="zh-CN" i="1">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a:t>
                </a:r>
              </a:p>
            </p:txBody>
          </p:sp>
        </mc:Choice>
        <mc:Fallback>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6" y="1179261"/>
                <a:ext cx="10380016" cy="935192"/>
              </a:xfrm>
              <a:prstGeom prst="rect">
                <a:avLst/>
              </a:prstGeom>
              <a:blipFill>
                <a:blip r:embed="rId2"/>
                <a:stretch>
                  <a:fillRect l="-529" t="-3247" b="-9091"/>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BF2C3A83-DF4C-4A06-922F-655D28BFC4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3169" y="2295459"/>
            <a:ext cx="7011912" cy="3944201"/>
          </a:xfrm>
          <a:prstGeom prst="rect">
            <a:avLst/>
          </a:prstGeom>
        </p:spPr>
      </p:pic>
    </p:spTree>
    <p:extLst>
      <p:ext uri="{BB962C8B-B14F-4D97-AF65-F5344CB8AC3E}">
        <p14:creationId xmlns:p14="http://schemas.microsoft.com/office/powerpoint/2010/main" val="2702589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Laplace mechanism</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1489190"/>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Goal: Publish numerical data analysis result </a:t>
                </a:r>
                <a14:m>
                  <m:oMath xmlns:m="http://schemas.openxmlformats.org/officeDocument/2006/math">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in DP manner.</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Detail: To achieve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 publish </a:t>
                </a:r>
                <a14:m>
                  <m:oMath xmlns:m="http://schemas.openxmlformats.org/officeDocument/2006/math">
                    <m:acc>
                      <m:accPr>
                        <m:chr m:val="̃"/>
                        <m:ctrlPr>
                          <a:rPr lang="en-US" altLang="zh-CN" i="1" dirty="0" smtClean="0">
                            <a:latin typeface="Cambria Math" panose="02040503050406030204" pitchFamily="18" charset="0"/>
                            <a:cs typeface="Arial" panose="020B0604020202020204" pitchFamily="34" charset="0"/>
                          </a:rPr>
                        </m:ctrlPr>
                      </m:accPr>
                      <m:e>
                        <m:r>
                          <a:rPr lang="en-US" altLang="zh-CN" b="0" i="1" dirty="0" smtClean="0">
                            <a:latin typeface="Cambria Math" panose="02040503050406030204" pitchFamily="18" charset="0"/>
                            <a:cs typeface="Arial" panose="020B0604020202020204" pitchFamily="34" charset="0"/>
                          </a:rPr>
                          <m:t>𝑓</m:t>
                        </m:r>
                      </m:e>
                    </m:acc>
                    <m:d>
                      <m:dPr>
                        <m:ctrlPr>
                          <a:rPr lang="en-US" altLang="zh-CN" b="0" i="1" dirty="0" smtClean="0">
                            <a:latin typeface="Cambria Math" panose="02040503050406030204" pitchFamily="18" charset="0"/>
                            <a:cs typeface="Arial" panose="020B0604020202020204" pitchFamily="34" charset="0"/>
                          </a:rPr>
                        </m:ctrlPr>
                      </m:dPr>
                      <m:e>
                        <m:r>
                          <a:rPr lang="en-US" altLang="zh-CN" b="0" i="1" dirty="0" smtClean="0">
                            <a:latin typeface="Cambria Math" panose="02040503050406030204" pitchFamily="18" charset="0"/>
                            <a:cs typeface="Arial" panose="020B0604020202020204" pitchFamily="34" charset="0"/>
                          </a:rPr>
                          <m:t>𝐷</m:t>
                        </m:r>
                      </m:e>
                    </m:d>
                    <m:r>
                      <a:rPr lang="en-US" altLang="zh-CN" b="0" i="1" dirty="0"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𝑛𝑜𝑖𝑠𝑒</m:t>
                    </m:r>
                  </m:oMath>
                </a14:m>
                <a:r>
                  <a:rPr lang="en-US" altLang="zh-CN" dirty="0">
                    <a:latin typeface="Arial" panose="020B0604020202020204" pitchFamily="34" charset="0"/>
                    <a:cs typeface="Arial" panose="020B0604020202020204" pitchFamily="34" charset="0"/>
                  </a:rPr>
                  <a:t>. Formally,</a:t>
                </a:r>
                <a14:m>
                  <m:oMath xmlns:m="http://schemas.openxmlformats.org/officeDocument/2006/math">
                    <m:acc>
                      <m:accPr>
                        <m:chr m:val="̃"/>
                        <m:ctrlPr>
                          <a:rPr lang="en-US" altLang="zh-CN" i="1" dirty="0">
                            <a:latin typeface="Cambria Math" panose="02040503050406030204" pitchFamily="18" charset="0"/>
                            <a:cs typeface="Arial" panose="020B0604020202020204" pitchFamily="34" charset="0"/>
                          </a:rPr>
                        </m:ctrlPr>
                      </m:accPr>
                      <m:e>
                        <m:r>
                          <a:rPr lang="en-US" altLang="zh-CN" i="1" dirty="0">
                            <a:latin typeface="Cambria Math" panose="02040503050406030204" pitchFamily="18" charset="0"/>
                            <a:cs typeface="Arial" panose="020B0604020202020204" pitchFamily="34" charset="0"/>
                          </a:rPr>
                          <m:t>𝑓</m:t>
                        </m:r>
                      </m:e>
                    </m:acc>
                    <m:d>
                      <m:dPr>
                        <m:ctrlPr>
                          <a:rPr lang="en-US" altLang="zh-CN" i="1" dirty="0">
                            <a:latin typeface="Cambria Math" panose="02040503050406030204" pitchFamily="18" charset="0"/>
                            <a:cs typeface="Arial" panose="020B0604020202020204" pitchFamily="34" charset="0"/>
                          </a:rPr>
                        </m:ctrlPr>
                      </m:dPr>
                      <m:e>
                        <m:r>
                          <a:rPr lang="en-US" altLang="zh-CN" i="1" dirty="0">
                            <a:latin typeface="Cambria Math" panose="02040503050406030204" pitchFamily="18" charset="0"/>
                            <a:cs typeface="Arial" panose="020B0604020202020204" pitchFamily="34" charset="0"/>
                          </a:rPr>
                          <m:t>𝐷</m:t>
                        </m:r>
                      </m:e>
                    </m:d>
                    <m:r>
                      <a:rPr lang="en-US" altLang="zh-CN" b="0" i="1" dirty="0"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𝐿𝑎𝑝</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𝛽</m:t>
                    </m:r>
                    <m:r>
                      <a:rPr lang="en-US" altLang="zh-CN" i="1">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What parameter </a:t>
                </a:r>
                <a14:m>
                  <m:oMath xmlns:m="http://schemas.openxmlformats.org/officeDocument/2006/math">
                    <m:r>
                      <a:rPr lang="en-US" altLang="zh-CN" b="1" i="1" smtClean="0">
                        <a:latin typeface="Cambria Math" panose="02040503050406030204" pitchFamily="18" charset="0"/>
                        <a:cs typeface="Arial" panose="020B0604020202020204" pitchFamily="34" charset="0"/>
                      </a:rPr>
                      <m:t>𝜷</m:t>
                    </m:r>
                  </m:oMath>
                </a14:m>
                <a:r>
                  <a:rPr lang="en-US" altLang="zh-CN" b="1" dirty="0">
                    <a:latin typeface="Arial" panose="020B0604020202020204" pitchFamily="34" charset="0"/>
                    <a:cs typeface="Arial" panose="020B0604020202020204" pitchFamily="34" charset="0"/>
                  </a:rPr>
                  <a:t> can achieve </a:t>
                </a:r>
                <a14:m>
                  <m:oMath xmlns:m="http://schemas.openxmlformats.org/officeDocument/2006/math">
                    <m:r>
                      <a:rPr lang="en-US" altLang="zh-CN" b="1" i="1">
                        <a:latin typeface="Cambria Math" panose="02040503050406030204" pitchFamily="18" charset="0"/>
                        <a:cs typeface="Arial" panose="020B0604020202020204" pitchFamily="34" charset="0"/>
                      </a:rPr>
                      <m:t>𝝐</m:t>
                    </m:r>
                  </m:oMath>
                </a14:m>
                <a:r>
                  <a:rPr lang="en-US" altLang="zh-CN" b="1" dirty="0">
                    <a:latin typeface="Arial" panose="020B0604020202020204" pitchFamily="34" charset="0"/>
                    <a:cs typeface="Arial" panose="020B0604020202020204" pitchFamily="34" charset="0"/>
                  </a:rPr>
                  <a:t>-DP?</a:t>
                </a:r>
                <a:endParaRPr lang="zh-CN" altLang="en-US" b="1" dirty="0">
                  <a:latin typeface="Arial" panose="020B0604020202020204" pitchFamily="34" charset="0"/>
                  <a:cs typeface="Arial" panose="020B0604020202020204" pitchFamily="34" charset="0"/>
                </a:endParaRPr>
              </a:p>
            </p:txBody>
          </p:sp>
        </mc:Choice>
        <mc:Fallback>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6" y="1179261"/>
                <a:ext cx="10380016" cy="1489190"/>
              </a:xfrm>
              <a:prstGeom prst="rect">
                <a:avLst/>
              </a:prstGeom>
              <a:blipFill>
                <a:blip r:embed="rId2"/>
                <a:stretch>
                  <a:fillRect l="-529" t="-2041" b="-53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AD2DD57-09DE-4953-B918-BA0978BD4647}"/>
                  </a:ext>
                </a:extLst>
              </p:cNvPr>
              <p:cNvSpPr txBox="1"/>
              <p:nvPr/>
            </p:nvSpPr>
            <p:spPr>
              <a:xfrm>
                <a:off x="756745" y="2850406"/>
                <a:ext cx="10733164" cy="33239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m:rPr>
                              <m:sty m:val="p"/>
                            </m:rPr>
                            <a:rPr lang="en-US" altLang="zh-CN" b="0" i="0" smtClean="0">
                              <a:latin typeface="Cambria Math" panose="02040503050406030204" pitchFamily="18" charset="0"/>
                            </a:rPr>
                            <m:t>Pr</m:t>
                          </m:r>
                          <m:r>
                            <a:rPr lang="en-US" altLang="zh-CN" b="0" i="1" smtClean="0">
                              <a:latin typeface="Cambria Math" panose="02040503050406030204" pitchFamily="18" charset="0"/>
                            </a:rPr>
                            <m:t>⁡[</m:t>
                          </m:r>
                          <m:acc>
                            <m:accPr>
                              <m:chr m:val="̃"/>
                              <m:ctrlPr>
                                <a:rPr lang="en-US" altLang="zh-CN" i="1" dirty="0">
                                  <a:latin typeface="Cambria Math" panose="02040503050406030204" pitchFamily="18" charset="0"/>
                                  <a:cs typeface="Arial" panose="020B0604020202020204" pitchFamily="34" charset="0"/>
                                </a:rPr>
                              </m:ctrlPr>
                            </m:accPr>
                            <m:e>
                              <m:r>
                                <a:rPr lang="en-US" altLang="zh-CN" i="1" dirty="0">
                                  <a:latin typeface="Cambria Math" panose="02040503050406030204" pitchFamily="18" charset="0"/>
                                  <a:cs typeface="Arial" panose="020B0604020202020204" pitchFamily="34" charset="0"/>
                                </a:rPr>
                                <m:t>𝑓</m:t>
                              </m:r>
                            </m:e>
                          </m:acc>
                          <m:d>
                            <m:dPr>
                              <m:ctrlPr>
                                <a:rPr lang="en-US" altLang="zh-CN" i="1" dirty="0">
                                  <a:latin typeface="Cambria Math" panose="02040503050406030204" pitchFamily="18" charset="0"/>
                                  <a:cs typeface="Arial" panose="020B0604020202020204" pitchFamily="34" charset="0"/>
                                </a:rPr>
                              </m:ctrlPr>
                            </m:dPr>
                            <m:e>
                              <m:sSub>
                                <m:sSubPr>
                                  <m:ctrlPr>
                                    <a:rPr lang="en-US" altLang="zh-CN" b="0" i="1" dirty="0" smtClean="0">
                                      <a:latin typeface="Cambria Math" panose="02040503050406030204" pitchFamily="18" charset="0"/>
                                      <a:cs typeface="Arial" panose="020B0604020202020204" pitchFamily="34" charset="0"/>
                                    </a:rPr>
                                  </m:ctrlPr>
                                </m:sSubPr>
                                <m:e>
                                  <m:r>
                                    <a:rPr lang="en-US" altLang="zh-CN" i="1" dirty="0">
                                      <a:latin typeface="Cambria Math" panose="02040503050406030204" pitchFamily="18" charset="0"/>
                                      <a:cs typeface="Arial" panose="020B0604020202020204" pitchFamily="34" charset="0"/>
                                    </a:rPr>
                                    <m:t>𝐷</m:t>
                                  </m:r>
                                </m:e>
                                <m:sub>
                                  <m:r>
                                    <a:rPr lang="en-US" altLang="zh-CN" b="0" i="1" dirty="0" smtClean="0">
                                      <a:latin typeface="Cambria Math" panose="02040503050406030204" pitchFamily="18" charset="0"/>
                                      <a:cs typeface="Arial" panose="020B0604020202020204" pitchFamily="34" charset="0"/>
                                    </a:rPr>
                                    <m:t>1</m:t>
                                  </m:r>
                                </m:sub>
                              </m:sSub>
                            </m:e>
                          </m:d>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rPr>
                            <m:t>]</m:t>
                          </m:r>
                        </m:num>
                        <m:den>
                          <m:r>
                            <m:rPr>
                              <m:sty m:val="p"/>
                            </m:rPr>
                            <a:rPr lang="en-US" altLang="zh-CN" b="0" i="0" smtClean="0">
                              <a:latin typeface="Cambria Math" panose="02040503050406030204" pitchFamily="18" charset="0"/>
                            </a:rPr>
                            <m:t>Pr</m:t>
                          </m:r>
                          <m:r>
                            <a:rPr lang="en-US" altLang="zh-CN" b="0" i="1" smtClean="0">
                              <a:latin typeface="Cambria Math" panose="02040503050406030204" pitchFamily="18" charset="0"/>
                            </a:rPr>
                            <m:t>⁡[</m:t>
                          </m:r>
                          <m:acc>
                            <m:accPr>
                              <m:chr m:val="̃"/>
                              <m:ctrlPr>
                                <a:rPr lang="en-US" altLang="zh-CN" i="1" dirty="0">
                                  <a:latin typeface="Cambria Math" panose="02040503050406030204" pitchFamily="18" charset="0"/>
                                  <a:cs typeface="Arial" panose="020B0604020202020204" pitchFamily="34" charset="0"/>
                                </a:rPr>
                              </m:ctrlPr>
                            </m:accPr>
                            <m:e>
                              <m:r>
                                <a:rPr lang="en-US" altLang="zh-CN" i="1" dirty="0">
                                  <a:latin typeface="Cambria Math" panose="02040503050406030204" pitchFamily="18" charset="0"/>
                                  <a:cs typeface="Arial" panose="020B0604020202020204" pitchFamily="34" charset="0"/>
                                </a:rPr>
                                <m:t>𝑓</m:t>
                              </m:r>
                            </m:e>
                          </m:acc>
                          <m:d>
                            <m:dPr>
                              <m:ctrlPr>
                                <a:rPr lang="en-US" altLang="zh-CN" i="1" dirty="0">
                                  <a:latin typeface="Cambria Math" panose="02040503050406030204" pitchFamily="18" charset="0"/>
                                  <a:cs typeface="Arial" panose="020B0604020202020204" pitchFamily="34" charset="0"/>
                                </a:rPr>
                              </m:ctrlPr>
                            </m:dPr>
                            <m:e>
                              <m:sSub>
                                <m:sSubPr>
                                  <m:ctrlPr>
                                    <a:rPr lang="en-US" altLang="zh-CN" b="0" i="1" dirty="0" smtClean="0">
                                      <a:latin typeface="Cambria Math" panose="02040503050406030204" pitchFamily="18" charset="0"/>
                                      <a:cs typeface="Arial" panose="020B0604020202020204" pitchFamily="34" charset="0"/>
                                    </a:rPr>
                                  </m:ctrlPr>
                                </m:sSubPr>
                                <m:e>
                                  <m:r>
                                    <a:rPr lang="en-US" altLang="zh-CN" i="1" dirty="0">
                                      <a:latin typeface="Cambria Math" panose="02040503050406030204" pitchFamily="18" charset="0"/>
                                      <a:cs typeface="Arial" panose="020B0604020202020204" pitchFamily="34" charset="0"/>
                                    </a:rPr>
                                    <m:t>𝐷</m:t>
                                  </m:r>
                                </m:e>
                                <m:sub>
                                  <m:r>
                                    <a:rPr lang="en-US" altLang="zh-CN" b="0" i="1" dirty="0" smtClean="0">
                                      <a:latin typeface="Cambria Math" panose="02040503050406030204" pitchFamily="18" charset="0"/>
                                      <a:cs typeface="Arial" panose="020B0604020202020204" pitchFamily="34" charset="0"/>
                                    </a:rPr>
                                    <m:t>2</m:t>
                                  </m:r>
                                </m:sub>
                              </m:sSub>
                            </m:e>
                          </m:d>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𝜖</m:t>
                          </m:r>
                        </m:sup>
                      </m:sSup>
                    </m:oMath>
                  </m:oMathPara>
                </a14:m>
                <a:endParaRPr lang="en-US" altLang="zh-CN" dirty="0"/>
              </a:p>
              <a:p>
                <a:endParaRPr lang="en-US" altLang="zh-CN" b="0"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cs typeface="Arial" panose="020B0604020202020204" pitchFamily="34" charset="0"/>
                        </a:rPr>
                        <m:t>⇒</m:t>
                      </m:r>
                      <m:f>
                        <m:fPr>
                          <m:ctrlPr>
                            <a:rPr lang="en-US" altLang="zh-CN" b="0" i="1" dirty="0" smtClean="0">
                              <a:latin typeface="Cambria Math" panose="02040503050406030204" pitchFamily="18" charset="0"/>
                              <a:cs typeface="Arial" panose="020B0604020202020204" pitchFamily="34" charset="0"/>
                            </a:rPr>
                          </m:ctrlPr>
                        </m:fPr>
                        <m:num>
                          <m:r>
                            <m:rPr>
                              <m:sty m:val="p"/>
                            </m:rPr>
                            <a:rPr lang="en-US" altLang="zh-CN" b="0" i="0" dirty="0" smtClean="0">
                              <a:latin typeface="Cambria Math" panose="02040503050406030204" pitchFamily="18" charset="0"/>
                              <a:cs typeface="Arial" panose="020B0604020202020204" pitchFamily="34" charset="0"/>
                            </a:rPr>
                            <m:t>Pr</m:t>
                          </m:r>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𝑓</m:t>
                          </m:r>
                          <m:d>
                            <m:dPr>
                              <m:ctrlPr>
                                <a:rPr lang="en-US" altLang="zh-CN" b="0" i="1" dirty="0" smtClean="0">
                                  <a:latin typeface="Cambria Math" panose="02040503050406030204" pitchFamily="18" charset="0"/>
                                  <a:cs typeface="Arial" panose="020B0604020202020204" pitchFamily="34" charset="0"/>
                                </a:rPr>
                              </m:ctrlPr>
                            </m:dPr>
                            <m:e>
                              <m:sSub>
                                <m:sSubPr>
                                  <m:ctrlPr>
                                    <a:rPr lang="en-US" altLang="zh-CN" b="0" i="1" dirty="0" smtClean="0">
                                      <a:latin typeface="Cambria Math" panose="02040503050406030204" pitchFamily="18" charset="0"/>
                                      <a:cs typeface="Arial" panose="020B0604020202020204" pitchFamily="34" charset="0"/>
                                    </a:rPr>
                                  </m:ctrlPr>
                                </m:sSubPr>
                                <m:e>
                                  <m:r>
                                    <a:rPr lang="en-US" altLang="zh-CN" b="0" i="1" dirty="0" smtClean="0">
                                      <a:latin typeface="Cambria Math" panose="02040503050406030204" pitchFamily="18" charset="0"/>
                                      <a:cs typeface="Arial" panose="020B0604020202020204" pitchFamily="34" charset="0"/>
                                    </a:rPr>
                                    <m:t>𝐷</m:t>
                                  </m:r>
                                </m:e>
                                <m:sub>
                                  <m:r>
                                    <a:rPr lang="en-US" altLang="zh-CN" b="0" i="1" dirty="0" smtClean="0">
                                      <a:latin typeface="Cambria Math" panose="02040503050406030204" pitchFamily="18" charset="0"/>
                                      <a:cs typeface="Arial" panose="020B0604020202020204" pitchFamily="34" charset="0"/>
                                    </a:rPr>
                                    <m:t>1</m:t>
                                  </m:r>
                                </m:sub>
                              </m:sSub>
                            </m:e>
                          </m:d>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𝐿𝑎𝑝</m:t>
                          </m:r>
                          <m:d>
                            <m:dPr>
                              <m:ctrlPr>
                                <a:rPr lang="en-US" altLang="zh-CN" b="0" i="1" dirty="0" smtClean="0">
                                  <a:latin typeface="Cambria Math" panose="02040503050406030204" pitchFamily="18" charset="0"/>
                                  <a:cs typeface="Arial" panose="020B0604020202020204" pitchFamily="34" charset="0"/>
                                </a:rPr>
                              </m:ctrlPr>
                            </m:dPr>
                            <m:e>
                              <m:r>
                                <a:rPr lang="en-US" altLang="zh-CN" b="0" i="1" dirty="0" smtClean="0">
                                  <a:latin typeface="Cambria Math" panose="02040503050406030204" pitchFamily="18" charset="0"/>
                                  <a:cs typeface="Arial" panose="020B0604020202020204" pitchFamily="34" charset="0"/>
                                </a:rPr>
                                <m:t>𝛽</m:t>
                              </m:r>
                            </m:e>
                          </m:d>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𝑡</m:t>
                          </m:r>
                          <m:r>
                            <a:rPr lang="en-US" altLang="zh-CN" b="0" i="1" dirty="0" smtClean="0">
                              <a:latin typeface="Cambria Math" panose="02040503050406030204" pitchFamily="18" charset="0"/>
                              <a:cs typeface="Arial" panose="020B0604020202020204" pitchFamily="34" charset="0"/>
                            </a:rPr>
                            <m:t>]</m:t>
                          </m:r>
                        </m:num>
                        <m:den>
                          <m:func>
                            <m:funcPr>
                              <m:ctrlPr>
                                <a:rPr lang="en-US" altLang="zh-CN" b="0" i="1" dirty="0" smtClean="0">
                                  <a:latin typeface="Cambria Math" panose="02040503050406030204" pitchFamily="18" charset="0"/>
                                  <a:cs typeface="Arial" panose="020B0604020202020204" pitchFamily="34" charset="0"/>
                                </a:rPr>
                              </m:ctrlPr>
                            </m:funcPr>
                            <m:fName>
                              <m:r>
                                <m:rPr>
                                  <m:sty m:val="p"/>
                                </m:rPr>
                                <a:rPr lang="en-US" altLang="zh-CN" b="0" i="0" dirty="0" smtClean="0">
                                  <a:latin typeface="Cambria Math" panose="02040503050406030204" pitchFamily="18" charset="0"/>
                                  <a:cs typeface="Arial" panose="020B0604020202020204" pitchFamily="34" charset="0"/>
                                </a:rPr>
                                <m:t>Pr</m:t>
                              </m:r>
                            </m:fName>
                            <m:e>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𝑓</m:t>
                              </m:r>
                              <m:d>
                                <m:dPr>
                                  <m:ctrlPr>
                                    <a:rPr lang="en-US" altLang="zh-CN" b="0" i="1" dirty="0" smtClean="0">
                                      <a:latin typeface="Cambria Math" panose="02040503050406030204" pitchFamily="18" charset="0"/>
                                      <a:cs typeface="Arial" panose="020B0604020202020204" pitchFamily="34" charset="0"/>
                                    </a:rPr>
                                  </m:ctrlPr>
                                </m:dPr>
                                <m:e>
                                  <m:sSub>
                                    <m:sSubPr>
                                      <m:ctrlPr>
                                        <a:rPr lang="en-US" altLang="zh-CN" b="0" i="1" dirty="0" smtClean="0">
                                          <a:latin typeface="Cambria Math" panose="02040503050406030204" pitchFamily="18" charset="0"/>
                                          <a:cs typeface="Arial" panose="020B0604020202020204" pitchFamily="34" charset="0"/>
                                        </a:rPr>
                                      </m:ctrlPr>
                                    </m:sSubPr>
                                    <m:e>
                                      <m:r>
                                        <a:rPr lang="en-US" altLang="zh-CN" b="0" i="1" dirty="0" smtClean="0">
                                          <a:latin typeface="Cambria Math" panose="02040503050406030204" pitchFamily="18" charset="0"/>
                                          <a:cs typeface="Arial" panose="020B0604020202020204" pitchFamily="34" charset="0"/>
                                        </a:rPr>
                                        <m:t>𝐷</m:t>
                                      </m:r>
                                    </m:e>
                                    <m:sub>
                                      <m:r>
                                        <a:rPr lang="en-US" altLang="zh-CN" b="0" i="1" dirty="0" smtClean="0">
                                          <a:latin typeface="Cambria Math" panose="02040503050406030204" pitchFamily="18" charset="0"/>
                                          <a:cs typeface="Arial" panose="020B0604020202020204" pitchFamily="34" charset="0"/>
                                        </a:rPr>
                                        <m:t>2</m:t>
                                      </m:r>
                                    </m:sub>
                                  </m:sSub>
                                </m:e>
                              </m:d>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𝐿𝑎𝑝</m:t>
                              </m:r>
                              <m:d>
                                <m:dPr>
                                  <m:ctrlPr>
                                    <a:rPr lang="en-US" altLang="zh-CN" b="0" i="1" dirty="0" smtClean="0">
                                      <a:latin typeface="Cambria Math" panose="02040503050406030204" pitchFamily="18" charset="0"/>
                                      <a:cs typeface="Arial" panose="020B0604020202020204" pitchFamily="34" charset="0"/>
                                    </a:rPr>
                                  </m:ctrlPr>
                                </m:dPr>
                                <m:e>
                                  <m:r>
                                    <a:rPr lang="en-US" altLang="zh-CN" b="0" i="1" dirty="0" smtClean="0">
                                      <a:latin typeface="Cambria Math" panose="02040503050406030204" pitchFamily="18" charset="0"/>
                                      <a:cs typeface="Arial" panose="020B0604020202020204" pitchFamily="34" charset="0"/>
                                    </a:rPr>
                                    <m:t>𝛽</m:t>
                                  </m:r>
                                </m:e>
                              </m:d>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𝑡</m:t>
                              </m:r>
                              <m:r>
                                <a:rPr lang="en-US" altLang="zh-CN" b="0" i="1" dirty="0" smtClean="0">
                                  <a:latin typeface="Cambria Math" panose="02040503050406030204" pitchFamily="18" charset="0"/>
                                  <a:cs typeface="Arial" panose="020B0604020202020204" pitchFamily="34" charset="0"/>
                                </a:rPr>
                                <m:t>]</m:t>
                              </m:r>
                            </m:e>
                          </m:func>
                        </m:den>
                      </m:f>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𝜖</m:t>
                          </m:r>
                        </m:sup>
                      </m:sSup>
                    </m:oMath>
                  </m:oMathPara>
                </a14:m>
                <a:endParaRPr lang="en-US" altLang="zh-CN" b="0" dirty="0">
                  <a:cs typeface="Arial" panose="020B0604020202020204" pitchFamily="34" charset="0"/>
                </a:endParaRPr>
              </a:p>
              <a:p>
                <a:endParaRPr lang="en-US" altLang="zh-CN" b="0"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cs typeface="Arial" panose="020B0604020202020204" pitchFamily="34" charset="0"/>
                        </a:rPr>
                        <m:t>⇒ </m:t>
                      </m:r>
                      <m:f>
                        <m:fPr>
                          <m:ctrlPr>
                            <a:rPr lang="en-US" altLang="zh-CN" i="1" dirty="0">
                              <a:latin typeface="Cambria Math" panose="02040503050406030204" pitchFamily="18" charset="0"/>
                              <a:cs typeface="Arial" panose="020B0604020202020204" pitchFamily="34" charset="0"/>
                            </a:rPr>
                          </m:ctrlPr>
                        </m:fPr>
                        <m:num>
                          <m:r>
                            <m:rPr>
                              <m:sty m:val="p"/>
                            </m:rPr>
                            <a:rPr lang="en-US" altLang="zh-CN" dirty="0">
                              <a:latin typeface="Cambria Math" panose="02040503050406030204" pitchFamily="18" charset="0"/>
                              <a:cs typeface="Arial" panose="020B0604020202020204" pitchFamily="34" charset="0"/>
                            </a:rPr>
                            <m:t>Pr</m:t>
                          </m:r>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𝐿𝑎𝑝</m:t>
                          </m:r>
                          <m:d>
                            <m:dPr>
                              <m:ctrlPr>
                                <a:rPr lang="en-US" altLang="zh-CN" i="1" dirty="0">
                                  <a:latin typeface="Cambria Math" panose="02040503050406030204" pitchFamily="18" charset="0"/>
                                  <a:cs typeface="Arial" panose="020B0604020202020204" pitchFamily="34" charset="0"/>
                                </a:rPr>
                              </m:ctrlPr>
                            </m:dPr>
                            <m:e>
                              <m:r>
                                <a:rPr lang="en-US" altLang="zh-CN" i="1" dirty="0">
                                  <a:latin typeface="Cambria Math" panose="02040503050406030204" pitchFamily="18" charset="0"/>
                                  <a:cs typeface="Arial" panose="020B0604020202020204" pitchFamily="34" charset="0"/>
                                </a:rPr>
                                <m:t>𝛽</m:t>
                              </m:r>
                            </m:e>
                          </m:d>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𝑡</m:t>
                          </m:r>
                          <m:r>
                            <a:rPr lang="en-US" altLang="zh-CN" b="0" i="1" dirty="0" smtClean="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𝑓</m:t>
                          </m:r>
                          <m:d>
                            <m:dPr>
                              <m:ctrlPr>
                                <a:rPr lang="en-US" altLang="zh-CN" i="1" dirty="0">
                                  <a:latin typeface="Cambria Math" panose="02040503050406030204" pitchFamily="18" charset="0"/>
                                  <a:cs typeface="Arial" panose="020B0604020202020204" pitchFamily="34" charset="0"/>
                                </a:rPr>
                              </m:ctrlPr>
                            </m:dPr>
                            <m:e>
                              <m:sSub>
                                <m:sSubPr>
                                  <m:ctrlPr>
                                    <a:rPr lang="en-US" altLang="zh-CN" i="1" dirty="0">
                                      <a:latin typeface="Cambria Math" panose="02040503050406030204" pitchFamily="18" charset="0"/>
                                      <a:cs typeface="Arial" panose="020B0604020202020204" pitchFamily="34" charset="0"/>
                                    </a:rPr>
                                  </m:ctrlPr>
                                </m:sSubPr>
                                <m:e>
                                  <m:r>
                                    <a:rPr lang="en-US" altLang="zh-CN" i="1" dirty="0">
                                      <a:latin typeface="Cambria Math" panose="02040503050406030204" pitchFamily="18" charset="0"/>
                                      <a:cs typeface="Arial" panose="020B0604020202020204" pitchFamily="34" charset="0"/>
                                    </a:rPr>
                                    <m:t>𝐷</m:t>
                                  </m:r>
                                </m:e>
                                <m:sub>
                                  <m:r>
                                    <a:rPr lang="en-US" altLang="zh-CN" i="1" dirty="0">
                                      <a:latin typeface="Cambria Math" panose="02040503050406030204" pitchFamily="18" charset="0"/>
                                      <a:cs typeface="Arial" panose="020B0604020202020204" pitchFamily="34" charset="0"/>
                                    </a:rPr>
                                    <m:t>1</m:t>
                                  </m:r>
                                </m:sub>
                              </m:sSub>
                            </m:e>
                          </m:d>
                          <m:r>
                            <a:rPr lang="en-US" altLang="zh-CN" i="1" dirty="0">
                              <a:latin typeface="Cambria Math" panose="02040503050406030204" pitchFamily="18" charset="0"/>
                              <a:cs typeface="Arial" panose="020B0604020202020204" pitchFamily="34" charset="0"/>
                            </a:rPr>
                            <m:t>]</m:t>
                          </m:r>
                        </m:num>
                        <m:den>
                          <m:func>
                            <m:funcPr>
                              <m:ctrlPr>
                                <a:rPr lang="en-US" altLang="zh-CN" i="1" dirty="0">
                                  <a:latin typeface="Cambria Math" panose="02040503050406030204" pitchFamily="18" charset="0"/>
                                  <a:cs typeface="Arial" panose="020B0604020202020204" pitchFamily="34" charset="0"/>
                                </a:rPr>
                              </m:ctrlPr>
                            </m:funcPr>
                            <m:fName>
                              <m:r>
                                <m:rPr>
                                  <m:sty m:val="p"/>
                                </m:rPr>
                                <a:rPr lang="en-US" altLang="zh-CN" dirty="0">
                                  <a:latin typeface="Cambria Math" panose="02040503050406030204" pitchFamily="18" charset="0"/>
                                  <a:cs typeface="Arial" panose="020B0604020202020204" pitchFamily="34" charset="0"/>
                                </a:rPr>
                                <m:t>Pr</m:t>
                              </m:r>
                            </m:fName>
                            <m:e>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𝐿𝑎𝑝</m:t>
                              </m:r>
                              <m:d>
                                <m:dPr>
                                  <m:ctrlPr>
                                    <a:rPr lang="en-US" altLang="zh-CN" i="1" dirty="0">
                                      <a:latin typeface="Cambria Math" panose="02040503050406030204" pitchFamily="18" charset="0"/>
                                      <a:cs typeface="Arial" panose="020B0604020202020204" pitchFamily="34" charset="0"/>
                                    </a:rPr>
                                  </m:ctrlPr>
                                </m:dPr>
                                <m:e>
                                  <m:r>
                                    <a:rPr lang="en-US" altLang="zh-CN" i="1" dirty="0">
                                      <a:latin typeface="Cambria Math" panose="02040503050406030204" pitchFamily="18" charset="0"/>
                                      <a:cs typeface="Arial" panose="020B0604020202020204" pitchFamily="34" charset="0"/>
                                    </a:rPr>
                                    <m:t>𝛽</m:t>
                                  </m:r>
                                </m:e>
                              </m:d>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𝑡</m:t>
                              </m:r>
                              <m:r>
                                <a:rPr lang="en-US" altLang="zh-CN" b="0" i="1" dirty="0" smtClean="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𝑓</m:t>
                              </m:r>
                              <m:d>
                                <m:dPr>
                                  <m:ctrlPr>
                                    <a:rPr lang="en-US" altLang="zh-CN" i="1" dirty="0">
                                      <a:latin typeface="Cambria Math" panose="02040503050406030204" pitchFamily="18" charset="0"/>
                                      <a:cs typeface="Arial" panose="020B0604020202020204" pitchFamily="34" charset="0"/>
                                    </a:rPr>
                                  </m:ctrlPr>
                                </m:dPr>
                                <m:e>
                                  <m:sSub>
                                    <m:sSubPr>
                                      <m:ctrlPr>
                                        <a:rPr lang="en-US" altLang="zh-CN" i="1" dirty="0">
                                          <a:latin typeface="Cambria Math" panose="02040503050406030204" pitchFamily="18" charset="0"/>
                                          <a:cs typeface="Arial" panose="020B0604020202020204" pitchFamily="34" charset="0"/>
                                        </a:rPr>
                                      </m:ctrlPr>
                                    </m:sSubPr>
                                    <m:e>
                                      <m:r>
                                        <a:rPr lang="en-US" altLang="zh-CN" i="1" dirty="0">
                                          <a:latin typeface="Cambria Math" panose="02040503050406030204" pitchFamily="18" charset="0"/>
                                          <a:cs typeface="Arial" panose="020B0604020202020204" pitchFamily="34" charset="0"/>
                                        </a:rPr>
                                        <m:t>𝐷</m:t>
                                      </m:r>
                                    </m:e>
                                    <m:sub>
                                      <m:r>
                                        <a:rPr lang="en-US" altLang="zh-CN" i="1" dirty="0">
                                          <a:latin typeface="Cambria Math" panose="02040503050406030204" pitchFamily="18" charset="0"/>
                                          <a:cs typeface="Arial" panose="020B0604020202020204" pitchFamily="34" charset="0"/>
                                        </a:rPr>
                                        <m:t>2</m:t>
                                      </m:r>
                                    </m:sub>
                                  </m:sSub>
                                </m:e>
                              </m:d>
                              <m:r>
                                <a:rPr lang="en-US" altLang="zh-CN" i="1" dirty="0">
                                  <a:latin typeface="Cambria Math" panose="02040503050406030204" pitchFamily="18" charset="0"/>
                                  <a:cs typeface="Arial" panose="020B0604020202020204" pitchFamily="34" charset="0"/>
                                </a:rPr>
                                <m:t>]</m:t>
                              </m:r>
                            </m:e>
                          </m:func>
                        </m:den>
                      </m:f>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𝜖</m:t>
                          </m:r>
                        </m:sup>
                      </m:sSup>
                    </m:oMath>
                  </m:oMathPara>
                </a14:m>
                <a:endParaRPr lang="en-US" altLang="zh-CN" dirty="0"/>
              </a:p>
              <a:p>
                <a:endParaRPr lang="en-US" altLang="zh-CN" dirty="0"/>
              </a:p>
              <a:p>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cs typeface="Arial" panose="020B0604020202020204" pitchFamily="34" charset="0"/>
                        </a:rPr>
                        <m:t>⇒ </m:t>
                      </m:r>
                      <m:f>
                        <m:fPr>
                          <m:ctrlPr>
                            <a:rPr lang="en-US" altLang="zh-CN" i="1" dirty="0">
                              <a:latin typeface="Cambria Math" panose="02040503050406030204" pitchFamily="18" charset="0"/>
                              <a:cs typeface="Arial" panose="020B0604020202020204" pitchFamily="34" charset="0"/>
                            </a:rPr>
                          </m:ctrlPr>
                        </m:fPr>
                        <m:num>
                          <m:r>
                            <m:rPr>
                              <m:sty m:val="p"/>
                            </m:rPr>
                            <a:rPr lang="en-US" altLang="zh-CN" dirty="0">
                              <a:latin typeface="Cambria Math" panose="02040503050406030204" pitchFamily="18" charset="0"/>
                              <a:cs typeface="Arial" panose="020B0604020202020204" pitchFamily="34" charset="0"/>
                            </a:rPr>
                            <m:t>Pr</m:t>
                          </m:r>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𝐿𝑎𝑝</m:t>
                          </m:r>
                          <m:d>
                            <m:dPr>
                              <m:ctrlPr>
                                <a:rPr lang="en-US" altLang="zh-CN" i="1" dirty="0">
                                  <a:latin typeface="Cambria Math" panose="02040503050406030204" pitchFamily="18" charset="0"/>
                                  <a:cs typeface="Arial" panose="020B0604020202020204" pitchFamily="34" charset="0"/>
                                </a:rPr>
                              </m:ctrlPr>
                            </m:dPr>
                            <m:e>
                              <m:r>
                                <a:rPr lang="en-US" altLang="zh-CN" i="1" dirty="0">
                                  <a:latin typeface="Cambria Math" panose="02040503050406030204" pitchFamily="18" charset="0"/>
                                  <a:cs typeface="Arial" panose="020B0604020202020204" pitchFamily="34" charset="0"/>
                                </a:rPr>
                                <m:t>𝛽</m:t>
                              </m:r>
                            </m:e>
                          </m:d>
                          <m:r>
                            <a:rPr lang="en-US" altLang="zh-CN" i="1" dirty="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𝑥</m:t>
                          </m:r>
                          <m:r>
                            <a:rPr lang="en-US" altLang="zh-CN" i="1" dirty="0">
                              <a:latin typeface="Cambria Math" panose="02040503050406030204" pitchFamily="18" charset="0"/>
                              <a:cs typeface="Arial" panose="020B0604020202020204" pitchFamily="34" charset="0"/>
                            </a:rPr>
                            <m:t>]</m:t>
                          </m:r>
                        </m:num>
                        <m:den>
                          <m:func>
                            <m:funcPr>
                              <m:ctrlPr>
                                <a:rPr lang="en-US" altLang="zh-CN" i="1" dirty="0">
                                  <a:latin typeface="Cambria Math" panose="02040503050406030204" pitchFamily="18" charset="0"/>
                                  <a:cs typeface="Arial" panose="020B0604020202020204" pitchFamily="34" charset="0"/>
                                </a:rPr>
                              </m:ctrlPr>
                            </m:funcPr>
                            <m:fName>
                              <m:r>
                                <m:rPr>
                                  <m:sty m:val="p"/>
                                </m:rPr>
                                <a:rPr lang="en-US" altLang="zh-CN" dirty="0">
                                  <a:latin typeface="Cambria Math" panose="02040503050406030204" pitchFamily="18" charset="0"/>
                                  <a:cs typeface="Arial" panose="020B0604020202020204" pitchFamily="34" charset="0"/>
                                </a:rPr>
                                <m:t>Pr</m:t>
                              </m:r>
                            </m:fName>
                            <m:e>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𝐿𝑎𝑝</m:t>
                              </m:r>
                              <m:d>
                                <m:dPr>
                                  <m:ctrlPr>
                                    <a:rPr lang="en-US" altLang="zh-CN" i="1" dirty="0">
                                      <a:latin typeface="Cambria Math" panose="02040503050406030204" pitchFamily="18" charset="0"/>
                                      <a:cs typeface="Arial" panose="020B0604020202020204" pitchFamily="34" charset="0"/>
                                    </a:rPr>
                                  </m:ctrlPr>
                                </m:dPr>
                                <m:e>
                                  <m:r>
                                    <a:rPr lang="en-US" altLang="zh-CN" i="1" dirty="0">
                                      <a:latin typeface="Cambria Math" panose="02040503050406030204" pitchFamily="18" charset="0"/>
                                      <a:cs typeface="Arial" panose="020B0604020202020204" pitchFamily="34" charset="0"/>
                                    </a:rPr>
                                    <m:t>𝛽</m:t>
                                  </m:r>
                                </m:e>
                              </m:d>
                              <m:r>
                                <a:rPr lang="en-US" altLang="zh-CN" i="1" dirty="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𝑥</m:t>
                              </m:r>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𝑓</m:t>
                              </m:r>
                              <m:d>
                                <m:dPr>
                                  <m:ctrlPr>
                                    <a:rPr lang="en-US" altLang="zh-CN" b="0" i="1" dirty="0" smtClean="0">
                                      <a:latin typeface="Cambria Math" panose="02040503050406030204" pitchFamily="18" charset="0"/>
                                      <a:cs typeface="Arial" panose="020B0604020202020204" pitchFamily="34" charset="0"/>
                                    </a:rPr>
                                  </m:ctrlPr>
                                </m:dPr>
                                <m:e>
                                  <m:sSub>
                                    <m:sSubPr>
                                      <m:ctrlPr>
                                        <a:rPr lang="en-US" altLang="zh-CN" b="0" i="1" dirty="0" smtClean="0">
                                          <a:latin typeface="Cambria Math" panose="02040503050406030204" pitchFamily="18" charset="0"/>
                                          <a:cs typeface="Arial" panose="020B0604020202020204" pitchFamily="34" charset="0"/>
                                        </a:rPr>
                                      </m:ctrlPr>
                                    </m:sSubPr>
                                    <m:e>
                                      <m:r>
                                        <a:rPr lang="en-US" altLang="zh-CN" b="0" i="1" dirty="0" smtClean="0">
                                          <a:latin typeface="Cambria Math" panose="02040503050406030204" pitchFamily="18" charset="0"/>
                                          <a:cs typeface="Arial" panose="020B0604020202020204" pitchFamily="34" charset="0"/>
                                        </a:rPr>
                                        <m:t>𝐷</m:t>
                                      </m:r>
                                    </m:e>
                                    <m:sub>
                                      <m:r>
                                        <a:rPr lang="en-US" altLang="zh-CN" b="0" i="1" dirty="0" smtClean="0">
                                          <a:latin typeface="Cambria Math" panose="02040503050406030204" pitchFamily="18" charset="0"/>
                                          <a:cs typeface="Arial" panose="020B0604020202020204" pitchFamily="34" charset="0"/>
                                        </a:rPr>
                                        <m:t>1</m:t>
                                      </m:r>
                                    </m:sub>
                                  </m:sSub>
                                </m:e>
                              </m:d>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𝑓</m:t>
                              </m:r>
                              <m:r>
                                <a:rPr lang="en-US" altLang="zh-CN" b="0" i="1" dirty="0" smtClean="0">
                                  <a:latin typeface="Cambria Math" panose="02040503050406030204" pitchFamily="18" charset="0"/>
                                  <a:cs typeface="Arial" panose="020B0604020202020204" pitchFamily="34" charset="0"/>
                                </a:rPr>
                                <m:t>(</m:t>
                              </m:r>
                              <m:sSub>
                                <m:sSubPr>
                                  <m:ctrlPr>
                                    <a:rPr lang="en-US" altLang="zh-CN" b="0" i="1" dirty="0" smtClean="0">
                                      <a:latin typeface="Cambria Math" panose="02040503050406030204" pitchFamily="18" charset="0"/>
                                      <a:cs typeface="Arial" panose="020B0604020202020204" pitchFamily="34" charset="0"/>
                                    </a:rPr>
                                  </m:ctrlPr>
                                </m:sSubPr>
                                <m:e>
                                  <m:r>
                                    <a:rPr lang="en-US" altLang="zh-CN" b="0" i="1" dirty="0" smtClean="0">
                                      <a:latin typeface="Cambria Math" panose="02040503050406030204" pitchFamily="18" charset="0"/>
                                      <a:cs typeface="Arial" panose="020B0604020202020204" pitchFamily="34" charset="0"/>
                                    </a:rPr>
                                    <m:t>𝐷</m:t>
                                  </m:r>
                                </m:e>
                                <m:sub>
                                  <m:r>
                                    <a:rPr lang="en-US" altLang="zh-CN" b="0" i="1" dirty="0" smtClean="0">
                                      <a:latin typeface="Cambria Math" panose="02040503050406030204" pitchFamily="18" charset="0"/>
                                      <a:cs typeface="Arial" panose="020B0604020202020204" pitchFamily="34" charset="0"/>
                                    </a:rPr>
                                    <m:t>2</m:t>
                                  </m:r>
                                </m:sub>
                              </m:sSub>
                              <m:r>
                                <a:rPr lang="en-US" altLang="zh-CN" b="0" i="1" dirty="0" smtClean="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m:t>
                              </m:r>
                            </m:e>
                          </m:func>
                        </m:den>
                      </m:f>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𝜖</m:t>
                          </m:r>
                        </m:sup>
                      </m:sSup>
                    </m:oMath>
                  </m:oMathPara>
                </a14:m>
                <a:endParaRPr lang="zh-CN" altLang="en-US" dirty="0"/>
              </a:p>
            </p:txBody>
          </p:sp>
        </mc:Choice>
        <mc:Fallback xmlns="">
          <p:sp>
            <p:nvSpPr>
              <p:cNvPr id="2" name="文本框 1">
                <a:extLst>
                  <a:ext uri="{FF2B5EF4-FFF2-40B4-BE49-F238E27FC236}">
                    <a16:creationId xmlns:a16="http://schemas.microsoft.com/office/drawing/2014/main" id="{4AD2DD57-09DE-4953-B918-BA0978BD4647}"/>
                  </a:ext>
                </a:extLst>
              </p:cNvPr>
              <p:cNvSpPr txBox="1">
                <a:spLocks noRot="1" noChangeAspect="1" noMove="1" noResize="1" noEditPoints="1" noAdjustHandles="1" noChangeArrowheads="1" noChangeShapeType="1" noTextEdit="1"/>
              </p:cNvSpPr>
              <p:nvPr/>
            </p:nvSpPr>
            <p:spPr>
              <a:xfrm>
                <a:off x="756745" y="2850406"/>
                <a:ext cx="10733164" cy="3323923"/>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799816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Laplace mechanism</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1489190"/>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Goal: Publish numerical data analysis result </a:t>
                </a:r>
                <a14:m>
                  <m:oMath xmlns:m="http://schemas.openxmlformats.org/officeDocument/2006/math">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in DP manner.</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Detail: To achieve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 publish </a:t>
                </a:r>
                <a14:m>
                  <m:oMath xmlns:m="http://schemas.openxmlformats.org/officeDocument/2006/math">
                    <m:acc>
                      <m:accPr>
                        <m:chr m:val="̃"/>
                        <m:ctrlPr>
                          <a:rPr lang="en-US" altLang="zh-CN" i="1" dirty="0" smtClean="0">
                            <a:latin typeface="Cambria Math" panose="02040503050406030204" pitchFamily="18" charset="0"/>
                            <a:cs typeface="Arial" panose="020B0604020202020204" pitchFamily="34" charset="0"/>
                          </a:rPr>
                        </m:ctrlPr>
                      </m:accPr>
                      <m:e>
                        <m:r>
                          <a:rPr lang="en-US" altLang="zh-CN" b="0" i="1" dirty="0" smtClean="0">
                            <a:latin typeface="Cambria Math" panose="02040503050406030204" pitchFamily="18" charset="0"/>
                            <a:cs typeface="Arial" panose="020B0604020202020204" pitchFamily="34" charset="0"/>
                          </a:rPr>
                          <m:t>𝑓</m:t>
                        </m:r>
                      </m:e>
                    </m:acc>
                    <m:d>
                      <m:dPr>
                        <m:ctrlPr>
                          <a:rPr lang="en-US" altLang="zh-CN" b="0" i="1" dirty="0" smtClean="0">
                            <a:latin typeface="Cambria Math" panose="02040503050406030204" pitchFamily="18" charset="0"/>
                            <a:cs typeface="Arial" panose="020B0604020202020204" pitchFamily="34" charset="0"/>
                          </a:rPr>
                        </m:ctrlPr>
                      </m:dPr>
                      <m:e>
                        <m:r>
                          <a:rPr lang="en-US" altLang="zh-CN" b="0" i="1" dirty="0" smtClean="0">
                            <a:latin typeface="Cambria Math" panose="02040503050406030204" pitchFamily="18" charset="0"/>
                            <a:cs typeface="Arial" panose="020B0604020202020204" pitchFamily="34" charset="0"/>
                          </a:rPr>
                          <m:t>𝐷</m:t>
                        </m:r>
                      </m:e>
                    </m:d>
                    <m:r>
                      <a:rPr lang="en-US" altLang="zh-CN" b="0" i="1" dirty="0"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𝑛𝑜𝑖𝑠𝑒</m:t>
                    </m:r>
                  </m:oMath>
                </a14:m>
                <a:r>
                  <a:rPr lang="en-US" altLang="zh-CN" dirty="0">
                    <a:latin typeface="Arial" panose="020B0604020202020204" pitchFamily="34" charset="0"/>
                    <a:cs typeface="Arial" panose="020B0604020202020204" pitchFamily="34" charset="0"/>
                  </a:rPr>
                  <a:t>. Formally,</a:t>
                </a:r>
                <a14:m>
                  <m:oMath xmlns:m="http://schemas.openxmlformats.org/officeDocument/2006/math">
                    <m:acc>
                      <m:accPr>
                        <m:chr m:val="̃"/>
                        <m:ctrlPr>
                          <a:rPr lang="en-US" altLang="zh-CN" i="1" dirty="0">
                            <a:latin typeface="Cambria Math" panose="02040503050406030204" pitchFamily="18" charset="0"/>
                            <a:cs typeface="Arial" panose="020B0604020202020204" pitchFamily="34" charset="0"/>
                          </a:rPr>
                        </m:ctrlPr>
                      </m:accPr>
                      <m:e>
                        <m:r>
                          <a:rPr lang="en-US" altLang="zh-CN" i="1" dirty="0">
                            <a:latin typeface="Cambria Math" panose="02040503050406030204" pitchFamily="18" charset="0"/>
                            <a:cs typeface="Arial" panose="020B0604020202020204" pitchFamily="34" charset="0"/>
                          </a:rPr>
                          <m:t>𝑓</m:t>
                        </m:r>
                      </m:e>
                    </m:acc>
                    <m:d>
                      <m:dPr>
                        <m:ctrlPr>
                          <a:rPr lang="en-US" altLang="zh-CN" i="1" dirty="0">
                            <a:latin typeface="Cambria Math" panose="02040503050406030204" pitchFamily="18" charset="0"/>
                            <a:cs typeface="Arial" panose="020B0604020202020204" pitchFamily="34" charset="0"/>
                          </a:rPr>
                        </m:ctrlPr>
                      </m:dPr>
                      <m:e>
                        <m:r>
                          <a:rPr lang="en-US" altLang="zh-CN" i="1" dirty="0">
                            <a:latin typeface="Cambria Math" panose="02040503050406030204" pitchFamily="18" charset="0"/>
                            <a:cs typeface="Arial" panose="020B0604020202020204" pitchFamily="34" charset="0"/>
                          </a:rPr>
                          <m:t>𝐷</m:t>
                        </m:r>
                      </m:e>
                    </m:d>
                    <m:r>
                      <a:rPr lang="en-US" altLang="zh-CN" b="0" i="1" dirty="0"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𝐿𝑎𝑝</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𝛽</m:t>
                    </m:r>
                    <m:r>
                      <a:rPr lang="en-US" altLang="zh-CN" i="1">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What parameter </a:t>
                </a:r>
                <a14:m>
                  <m:oMath xmlns:m="http://schemas.openxmlformats.org/officeDocument/2006/math">
                    <m:r>
                      <a:rPr lang="en-US" altLang="zh-CN" b="1" i="1" smtClean="0">
                        <a:latin typeface="Cambria Math" panose="02040503050406030204" pitchFamily="18" charset="0"/>
                        <a:cs typeface="Arial" panose="020B0604020202020204" pitchFamily="34" charset="0"/>
                      </a:rPr>
                      <m:t>𝜷</m:t>
                    </m:r>
                  </m:oMath>
                </a14:m>
                <a:r>
                  <a:rPr lang="en-US" altLang="zh-CN" b="1" dirty="0">
                    <a:latin typeface="Arial" panose="020B0604020202020204" pitchFamily="34" charset="0"/>
                    <a:cs typeface="Arial" panose="020B0604020202020204" pitchFamily="34" charset="0"/>
                  </a:rPr>
                  <a:t> can achieve </a:t>
                </a:r>
                <a14:m>
                  <m:oMath xmlns:m="http://schemas.openxmlformats.org/officeDocument/2006/math">
                    <m:r>
                      <a:rPr lang="en-US" altLang="zh-CN" b="1" i="1">
                        <a:latin typeface="Cambria Math" panose="02040503050406030204" pitchFamily="18" charset="0"/>
                        <a:cs typeface="Arial" panose="020B0604020202020204" pitchFamily="34" charset="0"/>
                      </a:rPr>
                      <m:t>𝝐</m:t>
                    </m:r>
                  </m:oMath>
                </a14:m>
                <a:r>
                  <a:rPr lang="en-US" altLang="zh-CN" b="1" dirty="0">
                    <a:latin typeface="Arial" panose="020B0604020202020204" pitchFamily="34" charset="0"/>
                    <a:cs typeface="Arial" panose="020B0604020202020204" pitchFamily="34" charset="0"/>
                  </a:rPr>
                  <a:t>-DP?</a:t>
                </a:r>
                <a:endParaRPr lang="zh-CN" altLang="en-US" b="1" dirty="0">
                  <a:latin typeface="Arial" panose="020B0604020202020204" pitchFamily="34" charset="0"/>
                  <a:cs typeface="Arial" panose="020B0604020202020204" pitchFamily="34" charset="0"/>
                </a:endParaRPr>
              </a:p>
            </p:txBody>
          </p:sp>
        </mc:Choice>
        <mc:Fallback>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6" y="1179261"/>
                <a:ext cx="10380016" cy="1489190"/>
              </a:xfrm>
              <a:prstGeom prst="rect">
                <a:avLst/>
              </a:prstGeom>
              <a:blipFill>
                <a:blip r:embed="rId2"/>
                <a:stretch>
                  <a:fillRect l="-529" t="-2041" b="-53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AD2DD57-09DE-4953-B918-BA0978BD4647}"/>
                  </a:ext>
                </a:extLst>
              </p:cNvPr>
              <p:cNvSpPr txBox="1"/>
              <p:nvPr/>
            </p:nvSpPr>
            <p:spPr>
              <a:xfrm>
                <a:off x="756745" y="2850406"/>
                <a:ext cx="10733164" cy="7117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CN" i="1" dirty="0" smtClean="0">
                              <a:latin typeface="Cambria Math" panose="02040503050406030204" pitchFamily="18" charset="0"/>
                              <a:cs typeface="Arial" panose="020B0604020202020204" pitchFamily="34" charset="0"/>
                            </a:rPr>
                          </m:ctrlPr>
                        </m:fPr>
                        <m:num>
                          <m:r>
                            <m:rPr>
                              <m:sty m:val="p"/>
                            </m:rPr>
                            <a:rPr lang="en-US" altLang="zh-CN" dirty="0">
                              <a:latin typeface="Cambria Math" panose="02040503050406030204" pitchFamily="18" charset="0"/>
                              <a:cs typeface="Arial" panose="020B0604020202020204" pitchFamily="34" charset="0"/>
                            </a:rPr>
                            <m:t>Pr</m:t>
                          </m:r>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𝐿𝑎𝑝</m:t>
                          </m:r>
                          <m:d>
                            <m:dPr>
                              <m:ctrlPr>
                                <a:rPr lang="en-US" altLang="zh-CN" i="1" dirty="0">
                                  <a:latin typeface="Cambria Math" panose="02040503050406030204" pitchFamily="18" charset="0"/>
                                  <a:cs typeface="Arial" panose="020B0604020202020204" pitchFamily="34" charset="0"/>
                                </a:rPr>
                              </m:ctrlPr>
                            </m:dPr>
                            <m:e>
                              <m:r>
                                <a:rPr lang="en-US" altLang="zh-CN" i="1" dirty="0">
                                  <a:latin typeface="Cambria Math" panose="02040503050406030204" pitchFamily="18" charset="0"/>
                                  <a:cs typeface="Arial" panose="020B0604020202020204" pitchFamily="34" charset="0"/>
                                </a:rPr>
                                <m:t>𝛽</m:t>
                              </m:r>
                            </m:e>
                          </m:d>
                          <m:r>
                            <a:rPr lang="en-US" altLang="zh-CN" i="1" dirty="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𝑥</m:t>
                          </m:r>
                          <m:r>
                            <a:rPr lang="en-US" altLang="zh-CN" i="1" dirty="0">
                              <a:latin typeface="Cambria Math" panose="02040503050406030204" pitchFamily="18" charset="0"/>
                              <a:cs typeface="Arial" panose="020B0604020202020204" pitchFamily="34" charset="0"/>
                            </a:rPr>
                            <m:t>]</m:t>
                          </m:r>
                        </m:num>
                        <m:den>
                          <m:func>
                            <m:funcPr>
                              <m:ctrlPr>
                                <a:rPr lang="en-US" altLang="zh-CN" i="1" dirty="0">
                                  <a:latin typeface="Cambria Math" panose="02040503050406030204" pitchFamily="18" charset="0"/>
                                  <a:cs typeface="Arial" panose="020B0604020202020204" pitchFamily="34" charset="0"/>
                                </a:rPr>
                              </m:ctrlPr>
                            </m:funcPr>
                            <m:fName>
                              <m:r>
                                <m:rPr>
                                  <m:sty m:val="p"/>
                                </m:rPr>
                                <a:rPr lang="en-US" altLang="zh-CN" dirty="0">
                                  <a:latin typeface="Cambria Math" panose="02040503050406030204" pitchFamily="18" charset="0"/>
                                  <a:cs typeface="Arial" panose="020B0604020202020204" pitchFamily="34" charset="0"/>
                                </a:rPr>
                                <m:t>Pr</m:t>
                              </m:r>
                            </m:fName>
                            <m:e>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𝐿𝑎𝑝</m:t>
                              </m:r>
                              <m:d>
                                <m:dPr>
                                  <m:ctrlPr>
                                    <a:rPr lang="en-US" altLang="zh-CN" i="1" dirty="0">
                                      <a:latin typeface="Cambria Math" panose="02040503050406030204" pitchFamily="18" charset="0"/>
                                      <a:cs typeface="Arial" panose="020B0604020202020204" pitchFamily="34" charset="0"/>
                                    </a:rPr>
                                  </m:ctrlPr>
                                </m:dPr>
                                <m:e>
                                  <m:r>
                                    <a:rPr lang="en-US" altLang="zh-CN" i="1" dirty="0">
                                      <a:latin typeface="Cambria Math" panose="02040503050406030204" pitchFamily="18" charset="0"/>
                                      <a:cs typeface="Arial" panose="020B0604020202020204" pitchFamily="34" charset="0"/>
                                    </a:rPr>
                                    <m:t>𝛽</m:t>
                                  </m:r>
                                </m:e>
                              </m:d>
                              <m:r>
                                <a:rPr lang="en-US" altLang="zh-CN" i="1" dirty="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𝑥</m:t>
                              </m:r>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𝑓</m:t>
                              </m:r>
                              <m:d>
                                <m:dPr>
                                  <m:ctrlPr>
                                    <a:rPr lang="en-US" altLang="zh-CN" b="0" i="1" dirty="0" smtClean="0">
                                      <a:latin typeface="Cambria Math" panose="02040503050406030204" pitchFamily="18" charset="0"/>
                                      <a:cs typeface="Arial" panose="020B0604020202020204" pitchFamily="34" charset="0"/>
                                    </a:rPr>
                                  </m:ctrlPr>
                                </m:dPr>
                                <m:e>
                                  <m:sSub>
                                    <m:sSubPr>
                                      <m:ctrlPr>
                                        <a:rPr lang="en-US" altLang="zh-CN" b="0" i="1" dirty="0" smtClean="0">
                                          <a:latin typeface="Cambria Math" panose="02040503050406030204" pitchFamily="18" charset="0"/>
                                          <a:cs typeface="Arial" panose="020B0604020202020204" pitchFamily="34" charset="0"/>
                                        </a:rPr>
                                      </m:ctrlPr>
                                    </m:sSubPr>
                                    <m:e>
                                      <m:r>
                                        <a:rPr lang="en-US" altLang="zh-CN" b="0" i="1" dirty="0" smtClean="0">
                                          <a:latin typeface="Cambria Math" panose="02040503050406030204" pitchFamily="18" charset="0"/>
                                          <a:cs typeface="Arial" panose="020B0604020202020204" pitchFamily="34" charset="0"/>
                                        </a:rPr>
                                        <m:t>𝐷</m:t>
                                      </m:r>
                                    </m:e>
                                    <m:sub>
                                      <m:r>
                                        <a:rPr lang="en-US" altLang="zh-CN" b="0" i="1" dirty="0" smtClean="0">
                                          <a:latin typeface="Cambria Math" panose="02040503050406030204" pitchFamily="18" charset="0"/>
                                          <a:cs typeface="Arial" panose="020B0604020202020204" pitchFamily="34" charset="0"/>
                                        </a:rPr>
                                        <m:t>1</m:t>
                                      </m:r>
                                    </m:sub>
                                  </m:sSub>
                                </m:e>
                              </m:d>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𝑓</m:t>
                              </m:r>
                              <m:r>
                                <a:rPr lang="en-US" altLang="zh-CN" b="0" i="1" dirty="0" smtClean="0">
                                  <a:latin typeface="Cambria Math" panose="02040503050406030204" pitchFamily="18" charset="0"/>
                                  <a:cs typeface="Arial" panose="020B0604020202020204" pitchFamily="34" charset="0"/>
                                </a:rPr>
                                <m:t>(</m:t>
                              </m:r>
                              <m:sSub>
                                <m:sSubPr>
                                  <m:ctrlPr>
                                    <a:rPr lang="en-US" altLang="zh-CN" b="0" i="1" dirty="0" smtClean="0">
                                      <a:latin typeface="Cambria Math" panose="02040503050406030204" pitchFamily="18" charset="0"/>
                                      <a:cs typeface="Arial" panose="020B0604020202020204" pitchFamily="34" charset="0"/>
                                    </a:rPr>
                                  </m:ctrlPr>
                                </m:sSubPr>
                                <m:e>
                                  <m:r>
                                    <a:rPr lang="en-US" altLang="zh-CN" b="0" i="1" dirty="0" smtClean="0">
                                      <a:latin typeface="Cambria Math" panose="02040503050406030204" pitchFamily="18" charset="0"/>
                                      <a:cs typeface="Arial" panose="020B0604020202020204" pitchFamily="34" charset="0"/>
                                    </a:rPr>
                                    <m:t>𝐷</m:t>
                                  </m:r>
                                </m:e>
                                <m:sub>
                                  <m:r>
                                    <a:rPr lang="en-US" altLang="zh-CN" b="0" i="1" dirty="0" smtClean="0">
                                      <a:latin typeface="Cambria Math" panose="02040503050406030204" pitchFamily="18" charset="0"/>
                                      <a:cs typeface="Arial" panose="020B0604020202020204" pitchFamily="34" charset="0"/>
                                    </a:rPr>
                                    <m:t>2</m:t>
                                  </m:r>
                                </m:sub>
                              </m:sSub>
                              <m:r>
                                <a:rPr lang="en-US" altLang="zh-CN" b="0" i="1" dirty="0" smtClean="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m:t>
                              </m:r>
                            </m:e>
                          </m:func>
                        </m:den>
                      </m:f>
                      <m:r>
                        <a:rPr lang="en-US" altLang="zh-CN" b="0" i="1" dirty="0" smtClean="0">
                          <a:latin typeface="Cambria Math" panose="02040503050406030204" pitchFamily="18" charset="0"/>
                          <a:cs typeface="Arial" panose="020B0604020202020204" pitchFamily="34" charset="0"/>
                        </a:rPr>
                        <m:t>=</m:t>
                      </m:r>
                      <m:f>
                        <m:fPr>
                          <m:ctrlPr>
                            <a:rPr lang="en-US" altLang="zh-CN" b="0" i="1" dirty="0" smtClean="0">
                              <a:latin typeface="Cambria Math" panose="02040503050406030204" pitchFamily="18" charset="0"/>
                              <a:cs typeface="Arial" panose="020B0604020202020204" pitchFamily="34" charset="0"/>
                            </a:rPr>
                          </m:ctrlPr>
                        </m:fPr>
                        <m:num>
                          <m:sSup>
                            <m:sSupPr>
                              <m:ctrlPr>
                                <a:rPr lang="en-US" altLang="zh-CN" b="0" i="1" dirty="0" smtClean="0">
                                  <a:latin typeface="Cambria Math" panose="02040503050406030204" pitchFamily="18" charset="0"/>
                                  <a:cs typeface="Arial" panose="020B0604020202020204" pitchFamily="34" charset="0"/>
                                </a:rPr>
                              </m:ctrlPr>
                            </m:sSupPr>
                            <m:e>
                              <m:r>
                                <a:rPr lang="en-US" altLang="zh-CN" b="0" i="1" dirty="0" smtClean="0">
                                  <a:latin typeface="Cambria Math" panose="02040503050406030204" pitchFamily="18" charset="0"/>
                                  <a:cs typeface="Arial" panose="020B0604020202020204" pitchFamily="34" charset="0"/>
                                </a:rPr>
                                <m:t>𝑒</m:t>
                              </m:r>
                            </m:e>
                            <m:sup>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𝑥</m:t>
                              </m:r>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𝛽</m:t>
                              </m:r>
                            </m:sup>
                          </m:sSup>
                        </m:num>
                        <m:den>
                          <m:sSup>
                            <m:sSupPr>
                              <m:ctrlPr>
                                <a:rPr lang="en-US" altLang="zh-CN" b="0" i="1" dirty="0" smtClean="0">
                                  <a:latin typeface="Cambria Math" panose="02040503050406030204" pitchFamily="18" charset="0"/>
                                  <a:cs typeface="Arial" panose="020B0604020202020204" pitchFamily="34" charset="0"/>
                                </a:rPr>
                              </m:ctrlPr>
                            </m:sSupPr>
                            <m:e>
                              <m:r>
                                <a:rPr lang="en-US" altLang="zh-CN" b="0" i="1" dirty="0" smtClean="0">
                                  <a:latin typeface="Cambria Math" panose="02040503050406030204" pitchFamily="18" charset="0"/>
                                  <a:cs typeface="Arial" panose="020B0604020202020204" pitchFamily="34" charset="0"/>
                                </a:rPr>
                                <m:t>𝑒</m:t>
                              </m:r>
                            </m:e>
                            <m:sup>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𝑥</m:t>
                              </m:r>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𝑑</m:t>
                              </m:r>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𝛽</m:t>
                              </m:r>
                            </m:sup>
                          </m:sSup>
                        </m:den>
                      </m:f>
                      <m:r>
                        <a:rPr lang="en-US" altLang="zh-CN" b="0" i="1" dirty="0" smtClean="0">
                          <a:latin typeface="Cambria Math" panose="02040503050406030204" pitchFamily="18" charset="0"/>
                          <a:cs typeface="Arial" panose="020B0604020202020204" pitchFamily="34" charset="0"/>
                        </a:rPr>
                        <m:t>=</m:t>
                      </m:r>
                      <m:sSup>
                        <m:sSupPr>
                          <m:ctrlPr>
                            <a:rPr lang="en-US" altLang="zh-CN" b="0" i="1" dirty="0" smtClean="0">
                              <a:latin typeface="Cambria Math" panose="02040503050406030204" pitchFamily="18" charset="0"/>
                              <a:cs typeface="Arial" panose="020B0604020202020204" pitchFamily="34" charset="0"/>
                            </a:rPr>
                          </m:ctrlPr>
                        </m:sSupPr>
                        <m:e>
                          <m:r>
                            <a:rPr lang="en-US" altLang="zh-CN" b="0" i="1" dirty="0" smtClean="0">
                              <a:latin typeface="Cambria Math" panose="02040503050406030204" pitchFamily="18" charset="0"/>
                              <a:cs typeface="Arial" panose="020B0604020202020204" pitchFamily="34" charset="0"/>
                            </a:rPr>
                            <m:t>𝑒</m:t>
                          </m:r>
                        </m:e>
                        <m:sup>
                          <m:d>
                            <m:dPr>
                              <m:ctrlPr>
                                <a:rPr lang="en-US" altLang="zh-CN" b="0" i="1" dirty="0" smtClean="0">
                                  <a:latin typeface="Cambria Math" panose="02040503050406030204" pitchFamily="18" charset="0"/>
                                  <a:cs typeface="Arial" panose="020B0604020202020204" pitchFamily="34" charset="0"/>
                                </a:rPr>
                              </m:ctrlPr>
                            </m:dPr>
                            <m:e>
                              <m:d>
                                <m:dPr>
                                  <m:begChr m:val="|"/>
                                  <m:endChr m:val="|"/>
                                  <m:ctrlPr>
                                    <a:rPr lang="en-US" altLang="zh-CN" b="0" i="1" dirty="0" smtClean="0">
                                      <a:latin typeface="Cambria Math" panose="02040503050406030204" pitchFamily="18" charset="0"/>
                                      <a:cs typeface="Arial" panose="020B0604020202020204" pitchFamily="34" charset="0"/>
                                    </a:rPr>
                                  </m:ctrlPr>
                                </m:dPr>
                                <m:e>
                                  <m:r>
                                    <a:rPr lang="en-US" altLang="zh-CN" b="0" i="1" dirty="0" smtClean="0">
                                      <a:latin typeface="Cambria Math" panose="02040503050406030204" pitchFamily="18" charset="0"/>
                                      <a:cs typeface="Arial" panose="020B0604020202020204" pitchFamily="34" charset="0"/>
                                    </a:rPr>
                                    <m:t>𝑥</m:t>
                                  </m:r>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𝑑</m:t>
                                  </m:r>
                                </m:e>
                              </m:d>
                              <m:r>
                                <a:rPr lang="en-US" altLang="zh-CN" b="0" i="1" dirty="0" smtClean="0">
                                  <a:latin typeface="Cambria Math" panose="02040503050406030204" pitchFamily="18" charset="0"/>
                                  <a:cs typeface="Arial" panose="020B0604020202020204" pitchFamily="34" charset="0"/>
                                </a:rPr>
                                <m:t>−</m:t>
                              </m:r>
                              <m:d>
                                <m:dPr>
                                  <m:begChr m:val="|"/>
                                  <m:endChr m:val="|"/>
                                  <m:ctrlPr>
                                    <a:rPr lang="en-US" altLang="zh-CN" b="0" i="1" dirty="0" smtClean="0">
                                      <a:latin typeface="Cambria Math" panose="02040503050406030204" pitchFamily="18" charset="0"/>
                                      <a:cs typeface="Arial" panose="020B0604020202020204" pitchFamily="34" charset="0"/>
                                    </a:rPr>
                                  </m:ctrlPr>
                                </m:dPr>
                                <m:e>
                                  <m:r>
                                    <a:rPr lang="en-US" altLang="zh-CN" b="0" i="1" dirty="0" smtClean="0">
                                      <a:latin typeface="Cambria Math" panose="02040503050406030204" pitchFamily="18" charset="0"/>
                                      <a:cs typeface="Arial" panose="020B0604020202020204" pitchFamily="34" charset="0"/>
                                    </a:rPr>
                                    <m:t>𝑥</m:t>
                                  </m:r>
                                </m:e>
                              </m:d>
                            </m:e>
                          </m:d>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𝛽</m:t>
                          </m:r>
                        </m:sup>
                      </m:sSup>
                      <m:r>
                        <a:rPr lang="en-US" altLang="zh-CN" i="1">
                          <a:latin typeface="Cambria Math" panose="02040503050406030204" pitchFamily="18" charset="0"/>
                        </a:rPr>
                        <m:t>≤</m:t>
                      </m:r>
                      <m:sSup>
                        <m:sSupPr>
                          <m:ctrlPr>
                            <a:rPr lang="en-US" altLang="zh-CN" i="1" dirty="0">
                              <a:latin typeface="Cambria Math" panose="02040503050406030204" pitchFamily="18" charset="0"/>
                              <a:cs typeface="Arial" panose="020B0604020202020204" pitchFamily="34" charset="0"/>
                            </a:rPr>
                          </m:ctrlPr>
                        </m:sSupPr>
                        <m:e>
                          <m:r>
                            <a:rPr lang="en-US" altLang="zh-CN" i="1" dirty="0">
                              <a:latin typeface="Cambria Math" panose="02040503050406030204" pitchFamily="18" charset="0"/>
                              <a:cs typeface="Arial" panose="020B0604020202020204" pitchFamily="34" charset="0"/>
                            </a:rPr>
                            <m:t>𝑒</m:t>
                          </m:r>
                        </m:e>
                        <m:sup>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𝑑</m:t>
                          </m:r>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𝛽</m:t>
                          </m:r>
                        </m:sup>
                      </m:sSup>
                    </m:oMath>
                  </m:oMathPara>
                </a14:m>
                <a:endParaRPr lang="zh-CN" altLang="en-US" dirty="0"/>
              </a:p>
            </p:txBody>
          </p:sp>
        </mc:Choice>
        <mc:Fallback xmlns="">
          <p:sp>
            <p:nvSpPr>
              <p:cNvPr id="2" name="文本框 1">
                <a:extLst>
                  <a:ext uri="{FF2B5EF4-FFF2-40B4-BE49-F238E27FC236}">
                    <a16:creationId xmlns:a16="http://schemas.microsoft.com/office/drawing/2014/main" id="{4AD2DD57-09DE-4953-B918-BA0978BD4647}"/>
                  </a:ext>
                </a:extLst>
              </p:cNvPr>
              <p:cNvSpPr txBox="1">
                <a:spLocks noRot="1" noChangeAspect="1" noMove="1" noResize="1" noEditPoints="1" noAdjustHandles="1" noChangeArrowheads="1" noChangeShapeType="1" noTextEdit="1"/>
              </p:cNvSpPr>
              <p:nvPr/>
            </p:nvSpPr>
            <p:spPr>
              <a:xfrm>
                <a:off x="756745" y="2850406"/>
                <a:ext cx="10733164" cy="711733"/>
              </a:xfrm>
              <a:prstGeom prst="rect">
                <a:avLst/>
              </a:prstGeom>
              <a:blipFill>
                <a:blip r:embed="rId3"/>
                <a:stretch>
                  <a:fillRect/>
                </a:stretch>
              </a:blipFill>
            </p:spPr>
            <p:txBody>
              <a:bodyPr/>
              <a:lstStyle/>
              <a:p>
                <a:r>
                  <a:rPr lang="zh-CN" altLang="en-US">
                    <a:noFill/>
                  </a:rPr>
                  <a:t> </a:t>
                </a:r>
              </a:p>
            </p:txBody>
          </p:sp>
        </mc:Fallback>
      </mc:AlternateContent>
      <p:sp>
        <p:nvSpPr>
          <p:cNvPr id="3" name="左大括号 2">
            <a:extLst>
              <a:ext uri="{FF2B5EF4-FFF2-40B4-BE49-F238E27FC236}">
                <a16:creationId xmlns:a16="http://schemas.microsoft.com/office/drawing/2014/main" id="{147C0969-1686-45C7-95D4-57C820855505}"/>
              </a:ext>
            </a:extLst>
          </p:cNvPr>
          <p:cNvSpPr/>
          <p:nvPr/>
        </p:nvSpPr>
        <p:spPr>
          <a:xfrm rot="16200000">
            <a:off x="5019740" y="2887086"/>
            <a:ext cx="245942" cy="1509286"/>
          </a:xfrm>
          <a:prstGeom prst="leftBrace">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81EF9C0-1D76-46F2-B43F-D9D6B494ED40}"/>
                  </a:ext>
                </a:extLst>
              </p:cNvPr>
              <p:cNvSpPr txBox="1"/>
              <p:nvPr/>
            </p:nvSpPr>
            <p:spPr>
              <a:xfrm>
                <a:off x="4981902" y="3836758"/>
                <a:ext cx="32161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𝑑</m:t>
                      </m:r>
                    </m:oMath>
                  </m:oMathPara>
                </a14:m>
                <a:endParaRPr lang="zh-CN" altLang="en-US" dirty="0"/>
              </a:p>
            </p:txBody>
          </p:sp>
        </mc:Choice>
        <mc:Fallback xmlns="">
          <p:sp>
            <p:nvSpPr>
              <p:cNvPr id="4" name="文本框 3">
                <a:extLst>
                  <a:ext uri="{FF2B5EF4-FFF2-40B4-BE49-F238E27FC236}">
                    <a16:creationId xmlns:a16="http://schemas.microsoft.com/office/drawing/2014/main" id="{E81EF9C0-1D76-46F2-B43F-D9D6B494ED40}"/>
                  </a:ext>
                </a:extLst>
              </p:cNvPr>
              <p:cNvSpPr txBox="1">
                <a:spLocks noRot="1" noChangeAspect="1" noMove="1" noResize="1" noEditPoints="1" noAdjustHandles="1" noChangeArrowheads="1" noChangeShapeType="1" noTextEdit="1"/>
              </p:cNvSpPr>
              <p:nvPr/>
            </p:nvSpPr>
            <p:spPr>
              <a:xfrm>
                <a:off x="4981902" y="3836758"/>
                <a:ext cx="321617" cy="369332"/>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97611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Laplace mechanism</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1489190"/>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Goal: Publish numerical data analysis result </a:t>
                </a:r>
                <a14:m>
                  <m:oMath xmlns:m="http://schemas.openxmlformats.org/officeDocument/2006/math">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in DP manner.</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Detail: To achieve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 publish </a:t>
                </a:r>
                <a14:m>
                  <m:oMath xmlns:m="http://schemas.openxmlformats.org/officeDocument/2006/math">
                    <m:acc>
                      <m:accPr>
                        <m:chr m:val="̃"/>
                        <m:ctrlPr>
                          <a:rPr lang="en-US" altLang="zh-CN" i="1" dirty="0" smtClean="0">
                            <a:latin typeface="Cambria Math" panose="02040503050406030204" pitchFamily="18" charset="0"/>
                            <a:cs typeface="Arial" panose="020B0604020202020204" pitchFamily="34" charset="0"/>
                          </a:rPr>
                        </m:ctrlPr>
                      </m:accPr>
                      <m:e>
                        <m:r>
                          <a:rPr lang="en-US" altLang="zh-CN" b="0" i="1" dirty="0" smtClean="0">
                            <a:latin typeface="Cambria Math" panose="02040503050406030204" pitchFamily="18" charset="0"/>
                            <a:cs typeface="Arial" panose="020B0604020202020204" pitchFamily="34" charset="0"/>
                          </a:rPr>
                          <m:t>𝑓</m:t>
                        </m:r>
                      </m:e>
                    </m:acc>
                    <m:d>
                      <m:dPr>
                        <m:ctrlPr>
                          <a:rPr lang="en-US" altLang="zh-CN" b="0" i="1" dirty="0" smtClean="0">
                            <a:latin typeface="Cambria Math" panose="02040503050406030204" pitchFamily="18" charset="0"/>
                            <a:cs typeface="Arial" panose="020B0604020202020204" pitchFamily="34" charset="0"/>
                          </a:rPr>
                        </m:ctrlPr>
                      </m:dPr>
                      <m:e>
                        <m:r>
                          <a:rPr lang="en-US" altLang="zh-CN" b="0" i="1" dirty="0" smtClean="0">
                            <a:latin typeface="Cambria Math" panose="02040503050406030204" pitchFamily="18" charset="0"/>
                            <a:cs typeface="Arial" panose="020B0604020202020204" pitchFamily="34" charset="0"/>
                          </a:rPr>
                          <m:t>𝐷</m:t>
                        </m:r>
                      </m:e>
                    </m:d>
                    <m:r>
                      <a:rPr lang="en-US" altLang="zh-CN" b="0" i="1" dirty="0"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𝑛𝑜𝑖𝑠𝑒</m:t>
                    </m:r>
                  </m:oMath>
                </a14:m>
                <a:r>
                  <a:rPr lang="en-US" altLang="zh-CN" dirty="0">
                    <a:latin typeface="Arial" panose="020B0604020202020204" pitchFamily="34" charset="0"/>
                    <a:cs typeface="Arial" panose="020B0604020202020204" pitchFamily="34" charset="0"/>
                  </a:rPr>
                  <a:t>. Formally,</a:t>
                </a:r>
                <a14:m>
                  <m:oMath xmlns:m="http://schemas.openxmlformats.org/officeDocument/2006/math">
                    <m:acc>
                      <m:accPr>
                        <m:chr m:val="̃"/>
                        <m:ctrlPr>
                          <a:rPr lang="en-US" altLang="zh-CN" i="1" dirty="0">
                            <a:latin typeface="Cambria Math" panose="02040503050406030204" pitchFamily="18" charset="0"/>
                            <a:cs typeface="Arial" panose="020B0604020202020204" pitchFamily="34" charset="0"/>
                          </a:rPr>
                        </m:ctrlPr>
                      </m:accPr>
                      <m:e>
                        <m:r>
                          <a:rPr lang="en-US" altLang="zh-CN" i="1" dirty="0">
                            <a:latin typeface="Cambria Math" panose="02040503050406030204" pitchFamily="18" charset="0"/>
                            <a:cs typeface="Arial" panose="020B0604020202020204" pitchFamily="34" charset="0"/>
                          </a:rPr>
                          <m:t>𝑓</m:t>
                        </m:r>
                      </m:e>
                    </m:acc>
                    <m:d>
                      <m:dPr>
                        <m:ctrlPr>
                          <a:rPr lang="en-US" altLang="zh-CN" i="1" dirty="0">
                            <a:latin typeface="Cambria Math" panose="02040503050406030204" pitchFamily="18" charset="0"/>
                            <a:cs typeface="Arial" panose="020B0604020202020204" pitchFamily="34" charset="0"/>
                          </a:rPr>
                        </m:ctrlPr>
                      </m:dPr>
                      <m:e>
                        <m:r>
                          <a:rPr lang="en-US" altLang="zh-CN" i="1" dirty="0">
                            <a:latin typeface="Cambria Math" panose="02040503050406030204" pitchFamily="18" charset="0"/>
                            <a:cs typeface="Arial" panose="020B0604020202020204" pitchFamily="34" charset="0"/>
                          </a:rPr>
                          <m:t>𝐷</m:t>
                        </m:r>
                      </m:e>
                    </m:d>
                    <m:r>
                      <a:rPr lang="en-US" altLang="zh-CN" b="0" i="1" dirty="0"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𝐿𝑎𝑝</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𝛽</m:t>
                    </m:r>
                    <m:r>
                      <a:rPr lang="en-US" altLang="zh-CN" i="1">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What parameter </a:t>
                </a:r>
                <a14:m>
                  <m:oMath xmlns:m="http://schemas.openxmlformats.org/officeDocument/2006/math">
                    <m:r>
                      <a:rPr lang="en-US" altLang="zh-CN" b="1" i="1" smtClean="0">
                        <a:latin typeface="Cambria Math" panose="02040503050406030204" pitchFamily="18" charset="0"/>
                        <a:cs typeface="Arial" panose="020B0604020202020204" pitchFamily="34" charset="0"/>
                      </a:rPr>
                      <m:t>𝜷</m:t>
                    </m:r>
                  </m:oMath>
                </a14:m>
                <a:r>
                  <a:rPr lang="en-US" altLang="zh-CN" b="1" dirty="0">
                    <a:latin typeface="Arial" panose="020B0604020202020204" pitchFamily="34" charset="0"/>
                    <a:cs typeface="Arial" panose="020B0604020202020204" pitchFamily="34" charset="0"/>
                  </a:rPr>
                  <a:t> can achieve </a:t>
                </a:r>
                <a14:m>
                  <m:oMath xmlns:m="http://schemas.openxmlformats.org/officeDocument/2006/math">
                    <m:r>
                      <a:rPr lang="en-US" altLang="zh-CN" b="1" i="1">
                        <a:latin typeface="Cambria Math" panose="02040503050406030204" pitchFamily="18" charset="0"/>
                        <a:cs typeface="Arial" panose="020B0604020202020204" pitchFamily="34" charset="0"/>
                      </a:rPr>
                      <m:t>𝝐</m:t>
                    </m:r>
                  </m:oMath>
                </a14:m>
                <a:r>
                  <a:rPr lang="en-US" altLang="zh-CN" b="1" dirty="0">
                    <a:latin typeface="Arial" panose="020B0604020202020204" pitchFamily="34" charset="0"/>
                    <a:cs typeface="Arial" panose="020B0604020202020204" pitchFamily="34" charset="0"/>
                  </a:rPr>
                  <a:t>-DP?</a:t>
                </a:r>
                <a:endParaRPr lang="zh-CN" altLang="en-US" b="1" dirty="0">
                  <a:latin typeface="Arial" panose="020B0604020202020204" pitchFamily="34" charset="0"/>
                  <a:cs typeface="Arial" panose="020B0604020202020204" pitchFamily="34" charset="0"/>
                </a:endParaRPr>
              </a:p>
            </p:txBody>
          </p:sp>
        </mc:Choice>
        <mc:Fallback>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6" y="1179261"/>
                <a:ext cx="10380016" cy="1489190"/>
              </a:xfrm>
              <a:prstGeom prst="rect">
                <a:avLst/>
              </a:prstGeom>
              <a:blipFill>
                <a:blip r:embed="rId2"/>
                <a:stretch>
                  <a:fillRect l="-529" t="-2041" b="-53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AD2DD57-09DE-4953-B918-BA0978BD4647}"/>
                  </a:ext>
                </a:extLst>
              </p:cNvPr>
              <p:cNvSpPr txBox="1"/>
              <p:nvPr/>
            </p:nvSpPr>
            <p:spPr>
              <a:xfrm>
                <a:off x="655846" y="3652504"/>
                <a:ext cx="10733164" cy="7117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CN" i="1" dirty="0" smtClean="0">
                              <a:latin typeface="Cambria Math" panose="02040503050406030204" pitchFamily="18" charset="0"/>
                              <a:cs typeface="Arial" panose="020B0604020202020204" pitchFamily="34" charset="0"/>
                            </a:rPr>
                          </m:ctrlPr>
                        </m:fPr>
                        <m:num>
                          <m:r>
                            <m:rPr>
                              <m:sty m:val="p"/>
                            </m:rPr>
                            <a:rPr lang="en-US" altLang="zh-CN" dirty="0">
                              <a:latin typeface="Cambria Math" panose="02040503050406030204" pitchFamily="18" charset="0"/>
                              <a:cs typeface="Arial" panose="020B0604020202020204" pitchFamily="34" charset="0"/>
                            </a:rPr>
                            <m:t>Pr</m:t>
                          </m:r>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𝐿𝑎𝑝</m:t>
                          </m:r>
                          <m:d>
                            <m:dPr>
                              <m:ctrlPr>
                                <a:rPr lang="en-US" altLang="zh-CN" i="1" dirty="0">
                                  <a:latin typeface="Cambria Math" panose="02040503050406030204" pitchFamily="18" charset="0"/>
                                  <a:cs typeface="Arial" panose="020B0604020202020204" pitchFamily="34" charset="0"/>
                                </a:rPr>
                              </m:ctrlPr>
                            </m:dPr>
                            <m:e>
                              <m:r>
                                <a:rPr lang="en-US" altLang="zh-CN" i="1" dirty="0">
                                  <a:latin typeface="Cambria Math" panose="02040503050406030204" pitchFamily="18" charset="0"/>
                                  <a:cs typeface="Arial" panose="020B0604020202020204" pitchFamily="34" charset="0"/>
                                </a:rPr>
                                <m:t>𝛽</m:t>
                              </m:r>
                            </m:e>
                          </m:d>
                          <m:r>
                            <a:rPr lang="en-US" altLang="zh-CN" i="1" dirty="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𝑥</m:t>
                          </m:r>
                          <m:r>
                            <a:rPr lang="en-US" altLang="zh-CN" i="1" dirty="0">
                              <a:latin typeface="Cambria Math" panose="02040503050406030204" pitchFamily="18" charset="0"/>
                              <a:cs typeface="Arial" panose="020B0604020202020204" pitchFamily="34" charset="0"/>
                            </a:rPr>
                            <m:t>]</m:t>
                          </m:r>
                        </m:num>
                        <m:den>
                          <m:func>
                            <m:funcPr>
                              <m:ctrlPr>
                                <a:rPr lang="en-US" altLang="zh-CN" i="1" dirty="0">
                                  <a:latin typeface="Cambria Math" panose="02040503050406030204" pitchFamily="18" charset="0"/>
                                  <a:cs typeface="Arial" panose="020B0604020202020204" pitchFamily="34" charset="0"/>
                                </a:rPr>
                              </m:ctrlPr>
                            </m:funcPr>
                            <m:fName>
                              <m:r>
                                <m:rPr>
                                  <m:sty m:val="p"/>
                                </m:rPr>
                                <a:rPr lang="en-US" altLang="zh-CN" dirty="0">
                                  <a:latin typeface="Cambria Math" panose="02040503050406030204" pitchFamily="18" charset="0"/>
                                  <a:cs typeface="Arial" panose="020B0604020202020204" pitchFamily="34" charset="0"/>
                                </a:rPr>
                                <m:t>Pr</m:t>
                              </m:r>
                            </m:fName>
                            <m:e>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𝐿𝑎𝑝</m:t>
                              </m:r>
                              <m:d>
                                <m:dPr>
                                  <m:ctrlPr>
                                    <a:rPr lang="en-US" altLang="zh-CN" i="1" dirty="0">
                                      <a:latin typeface="Cambria Math" panose="02040503050406030204" pitchFamily="18" charset="0"/>
                                      <a:cs typeface="Arial" panose="020B0604020202020204" pitchFamily="34" charset="0"/>
                                    </a:rPr>
                                  </m:ctrlPr>
                                </m:dPr>
                                <m:e>
                                  <m:r>
                                    <a:rPr lang="en-US" altLang="zh-CN" i="1" dirty="0">
                                      <a:latin typeface="Cambria Math" panose="02040503050406030204" pitchFamily="18" charset="0"/>
                                      <a:cs typeface="Arial" panose="020B0604020202020204" pitchFamily="34" charset="0"/>
                                    </a:rPr>
                                    <m:t>𝛽</m:t>
                                  </m:r>
                                </m:e>
                              </m:d>
                              <m:r>
                                <a:rPr lang="en-US" altLang="zh-CN" i="1" dirty="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𝑥</m:t>
                              </m:r>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𝑓</m:t>
                              </m:r>
                              <m:d>
                                <m:dPr>
                                  <m:ctrlPr>
                                    <a:rPr lang="en-US" altLang="zh-CN" b="0" i="1" dirty="0" smtClean="0">
                                      <a:latin typeface="Cambria Math" panose="02040503050406030204" pitchFamily="18" charset="0"/>
                                      <a:cs typeface="Arial" panose="020B0604020202020204" pitchFamily="34" charset="0"/>
                                    </a:rPr>
                                  </m:ctrlPr>
                                </m:dPr>
                                <m:e>
                                  <m:sSub>
                                    <m:sSubPr>
                                      <m:ctrlPr>
                                        <a:rPr lang="en-US" altLang="zh-CN" b="0" i="1" dirty="0" smtClean="0">
                                          <a:latin typeface="Cambria Math" panose="02040503050406030204" pitchFamily="18" charset="0"/>
                                          <a:cs typeface="Arial" panose="020B0604020202020204" pitchFamily="34" charset="0"/>
                                        </a:rPr>
                                      </m:ctrlPr>
                                    </m:sSubPr>
                                    <m:e>
                                      <m:r>
                                        <a:rPr lang="en-US" altLang="zh-CN" b="0" i="1" dirty="0" smtClean="0">
                                          <a:latin typeface="Cambria Math" panose="02040503050406030204" pitchFamily="18" charset="0"/>
                                          <a:cs typeface="Arial" panose="020B0604020202020204" pitchFamily="34" charset="0"/>
                                        </a:rPr>
                                        <m:t>𝐷</m:t>
                                      </m:r>
                                    </m:e>
                                    <m:sub>
                                      <m:r>
                                        <a:rPr lang="en-US" altLang="zh-CN" b="0" i="1" dirty="0" smtClean="0">
                                          <a:latin typeface="Cambria Math" panose="02040503050406030204" pitchFamily="18" charset="0"/>
                                          <a:cs typeface="Arial" panose="020B0604020202020204" pitchFamily="34" charset="0"/>
                                        </a:rPr>
                                        <m:t>1</m:t>
                                      </m:r>
                                    </m:sub>
                                  </m:sSub>
                                </m:e>
                              </m:d>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𝑓</m:t>
                              </m:r>
                              <m:r>
                                <a:rPr lang="en-US" altLang="zh-CN" b="0" i="1" dirty="0" smtClean="0">
                                  <a:latin typeface="Cambria Math" panose="02040503050406030204" pitchFamily="18" charset="0"/>
                                  <a:cs typeface="Arial" panose="020B0604020202020204" pitchFamily="34" charset="0"/>
                                </a:rPr>
                                <m:t>(</m:t>
                              </m:r>
                              <m:sSub>
                                <m:sSubPr>
                                  <m:ctrlPr>
                                    <a:rPr lang="en-US" altLang="zh-CN" b="0" i="1" dirty="0" smtClean="0">
                                      <a:latin typeface="Cambria Math" panose="02040503050406030204" pitchFamily="18" charset="0"/>
                                      <a:cs typeface="Arial" panose="020B0604020202020204" pitchFamily="34" charset="0"/>
                                    </a:rPr>
                                  </m:ctrlPr>
                                </m:sSubPr>
                                <m:e>
                                  <m:r>
                                    <a:rPr lang="en-US" altLang="zh-CN" b="0" i="1" dirty="0" smtClean="0">
                                      <a:latin typeface="Cambria Math" panose="02040503050406030204" pitchFamily="18" charset="0"/>
                                      <a:cs typeface="Arial" panose="020B0604020202020204" pitchFamily="34" charset="0"/>
                                    </a:rPr>
                                    <m:t>𝐷</m:t>
                                  </m:r>
                                </m:e>
                                <m:sub>
                                  <m:r>
                                    <a:rPr lang="en-US" altLang="zh-CN" b="0" i="1" dirty="0" smtClean="0">
                                      <a:latin typeface="Cambria Math" panose="02040503050406030204" pitchFamily="18" charset="0"/>
                                      <a:cs typeface="Arial" panose="020B0604020202020204" pitchFamily="34" charset="0"/>
                                    </a:rPr>
                                    <m:t>2</m:t>
                                  </m:r>
                                </m:sub>
                              </m:sSub>
                              <m:r>
                                <a:rPr lang="en-US" altLang="zh-CN" b="0" i="1" dirty="0" smtClean="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m:t>
                              </m:r>
                            </m:e>
                          </m:func>
                        </m:den>
                      </m:f>
                      <m:r>
                        <a:rPr lang="en-US" altLang="zh-CN" b="0" i="1" dirty="0" smtClean="0">
                          <a:latin typeface="Cambria Math" panose="02040503050406030204" pitchFamily="18" charset="0"/>
                          <a:cs typeface="Arial" panose="020B0604020202020204" pitchFamily="34" charset="0"/>
                        </a:rPr>
                        <m:t>=</m:t>
                      </m:r>
                      <m:f>
                        <m:fPr>
                          <m:ctrlPr>
                            <a:rPr lang="en-US" altLang="zh-CN" b="0" i="1" dirty="0" smtClean="0">
                              <a:latin typeface="Cambria Math" panose="02040503050406030204" pitchFamily="18" charset="0"/>
                              <a:cs typeface="Arial" panose="020B0604020202020204" pitchFamily="34" charset="0"/>
                            </a:rPr>
                          </m:ctrlPr>
                        </m:fPr>
                        <m:num>
                          <m:sSup>
                            <m:sSupPr>
                              <m:ctrlPr>
                                <a:rPr lang="en-US" altLang="zh-CN" b="0" i="1" dirty="0" smtClean="0">
                                  <a:latin typeface="Cambria Math" panose="02040503050406030204" pitchFamily="18" charset="0"/>
                                  <a:cs typeface="Arial" panose="020B0604020202020204" pitchFamily="34" charset="0"/>
                                </a:rPr>
                              </m:ctrlPr>
                            </m:sSupPr>
                            <m:e>
                              <m:r>
                                <a:rPr lang="en-US" altLang="zh-CN" b="0" i="1" dirty="0" smtClean="0">
                                  <a:latin typeface="Cambria Math" panose="02040503050406030204" pitchFamily="18" charset="0"/>
                                  <a:cs typeface="Arial" panose="020B0604020202020204" pitchFamily="34" charset="0"/>
                                </a:rPr>
                                <m:t>𝑒</m:t>
                              </m:r>
                            </m:e>
                            <m:sup>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𝑥</m:t>
                              </m:r>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𝛽</m:t>
                              </m:r>
                            </m:sup>
                          </m:sSup>
                        </m:num>
                        <m:den>
                          <m:sSup>
                            <m:sSupPr>
                              <m:ctrlPr>
                                <a:rPr lang="en-US" altLang="zh-CN" b="0" i="1" dirty="0" smtClean="0">
                                  <a:latin typeface="Cambria Math" panose="02040503050406030204" pitchFamily="18" charset="0"/>
                                  <a:cs typeface="Arial" panose="020B0604020202020204" pitchFamily="34" charset="0"/>
                                </a:rPr>
                              </m:ctrlPr>
                            </m:sSupPr>
                            <m:e>
                              <m:r>
                                <a:rPr lang="en-US" altLang="zh-CN" b="0" i="1" dirty="0" smtClean="0">
                                  <a:latin typeface="Cambria Math" panose="02040503050406030204" pitchFamily="18" charset="0"/>
                                  <a:cs typeface="Arial" panose="020B0604020202020204" pitchFamily="34" charset="0"/>
                                </a:rPr>
                                <m:t>𝑒</m:t>
                              </m:r>
                            </m:e>
                            <m:sup>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𝑥</m:t>
                              </m:r>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𝑑</m:t>
                              </m:r>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𝛽</m:t>
                              </m:r>
                            </m:sup>
                          </m:sSup>
                        </m:den>
                      </m:f>
                      <m:r>
                        <a:rPr lang="en-US" altLang="zh-CN" b="0" i="1" dirty="0" smtClean="0">
                          <a:latin typeface="Cambria Math" panose="02040503050406030204" pitchFamily="18" charset="0"/>
                          <a:cs typeface="Arial" panose="020B0604020202020204" pitchFamily="34" charset="0"/>
                        </a:rPr>
                        <m:t>=</m:t>
                      </m:r>
                      <m:sSup>
                        <m:sSupPr>
                          <m:ctrlPr>
                            <a:rPr lang="en-US" altLang="zh-CN" b="0" i="1" dirty="0" smtClean="0">
                              <a:latin typeface="Cambria Math" panose="02040503050406030204" pitchFamily="18" charset="0"/>
                              <a:cs typeface="Arial" panose="020B0604020202020204" pitchFamily="34" charset="0"/>
                            </a:rPr>
                          </m:ctrlPr>
                        </m:sSupPr>
                        <m:e>
                          <m:r>
                            <a:rPr lang="en-US" altLang="zh-CN" b="0" i="1" dirty="0" smtClean="0">
                              <a:latin typeface="Cambria Math" panose="02040503050406030204" pitchFamily="18" charset="0"/>
                              <a:cs typeface="Arial" panose="020B0604020202020204" pitchFamily="34" charset="0"/>
                            </a:rPr>
                            <m:t>𝑒</m:t>
                          </m:r>
                        </m:e>
                        <m:sup>
                          <m:d>
                            <m:dPr>
                              <m:ctrlPr>
                                <a:rPr lang="en-US" altLang="zh-CN" b="0" i="1" dirty="0" smtClean="0">
                                  <a:latin typeface="Cambria Math" panose="02040503050406030204" pitchFamily="18" charset="0"/>
                                  <a:cs typeface="Arial" panose="020B0604020202020204" pitchFamily="34" charset="0"/>
                                </a:rPr>
                              </m:ctrlPr>
                            </m:dPr>
                            <m:e>
                              <m:d>
                                <m:dPr>
                                  <m:begChr m:val="|"/>
                                  <m:endChr m:val="|"/>
                                  <m:ctrlPr>
                                    <a:rPr lang="en-US" altLang="zh-CN" b="0" i="1" dirty="0" smtClean="0">
                                      <a:latin typeface="Cambria Math" panose="02040503050406030204" pitchFamily="18" charset="0"/>
                                      <a:cs typeface="Arial" panose="020B0604020202020204" pitchFamily="34" charset="0"/>
                                    </a:rPr>
                                  </m:ctrlPr>
                                </m:dPr>
                                <m:e>
                                  <m:r>
                                    <a:rPr lang="en-US" altLang="zh-CN" b="0" i="1" dirty="0" smtClean="0">
                                      <a:latin typeface="Cambria Math" panose="02040503050406030204" pitchFamily="18" charset="0"/>
                                      <a:cs typeface="Arial" panose="020B0604020202020204" pitchFamily="34" charset="0"/>
                                    </a:rPr>
                                    <m:t>𝑥</m:t>
                                  </m:r>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𝑑</m:t>
                                  </m:r>
                                </m:e>
                              </m:d>
                              <m:r>
                                <a:rPr lang="en-US" altLang="zh-CN" b="0" i="1" dirty="0" smtClean="0">
                                  <a:latin typeface="Cambria Math" panose="02040503050406030204" pitchFamily="18" charset="0"/>
                                  <a:cs typeface="Arial" panose="020B0604020202020204" pitchFamily="34" charset="0"/>
                                </a:rPr>
                                <m:t>−</m:t>
                              </m:r>
                              <m:d>
                                <m:dPr>
                                  <m:begChr m:val="|"/>
                                  <m:endChr m:val="|"/>
                                  <m:ctrlPr>
                                    <a:rPr lang="en-US" altLang="zh-CN" b="0" i="1" dirty="0" smtClean="0">
                                      <a:latin typeface="Cambria Math" panose="02040503050406030204" pitchFamily="18" charset="0"/>
                                      <a:cs typeface="Arial" panose="020B0604020202020204" pitchFamily="34" charset="0"/>
                                    </a:rPr>
                                  </m:ctrlPr>
                                </m:dPr>
                                <m:e>
                                  <m:r>
                                    <a:rPr lang="en-US" altLang="zh-CN" b="0" i="1" dirty="0" smtClean="0">
                                      <a:latin typeface="Cambria Math" panose="02040503050406030204" pitchFamily="18" charset="0"/>
                                      <a:cs typeface="Arial" panose="020B0604020202020204" pitchFamily="34" charset="0"/>
                                    </a:rPr>
                                    <m:t>𝑥</m:t>
                                  </m:r>
                                </m:e>
                              </m:d>
                            </m:e>
                          </m:d>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𝛽</m:t>
                          </m:r>
                        </m:sup>
                      </m:sSup>
                      <m:r>
                        <a:rPr lang="en-US" altLang="zh-CN" i="1">
                          <a:latin typeface="Cambria Math" panose="02040503050406030204" pitchFamily="18" charset="0"/>
                        </a:rPr>
                        <m:t>≤</m:t>
                      </m:r>
                      <m:sSup>
                        <m:sSupPr>
                          <m:ctrlPr>
                            <a:rPr lang="en-US" altLang="zh-CN" i="1" dirty="0">
                              <a:latin typeface="Cambria Math" panose="02040503050406030204" pitchFamily="18" charset="0"/>
                              <a:cs typeface="Arial" panose="020B0604020202020204" pitchFamily="34" charset="0"/>
                            </a:rPr>
                          </m:ctrlPr>
                        </m:sSupPr>
                        <m:e>
                          <m:r>
                            <a:rPr lang="en-US" altLang="zh-CN" i="1" dirty="0">
                              <a:latin typeface="Cambria Math" panose="02040503050406030204" pitchFamily="18" charset="0"/>
                              <a:cs typeface="Arial" panose="020B0604020202020204" pitchFamily="34" charset="0"/>
                            </a:rPr>
                            <m:t>𝑒</m:t>
                          </m:r>
                        </m:e>
                        <m:sup>
                          <m:f>
                            <m:fPr>
                              <m:ctrlPr>
                                <a:rPr lang="en-US" altLang="zh-CN" i="1" dirty="0">
                                  <a:latin typeface="Cambria Math" panose="02040503050406030204" pitchFamily="18" charset="0"/>
                                  <a:cs typeface="Arial" panose="020B0604020202020204" pitchFamily="34" charset="0"/>
                                </a:rPr>
                              </m:ctrlPr>
                            </m:fPr>
                            <m:num>
                              <m:d>
                                <m:dPr>
                                  <m:begChr m:val="|"/>
                                  <m:endChr m:val="|"/>
                                  <m:ctrlPr>
                                    <a:rPr lang="en-US" altLang="zh-CN" i="1" dirty="0">
                                      <a:latin typeface="Cambria Math" panose="02040503050406030204" pitchFamily="18" charset="0"/>
                                      <a:cs typeface="Arial" panose="020B0604020202020204" pitchFamily="34" charset="0"/>
                                    </a:rPr>
                                  </m:ctrlPr>
                                </m:dPr>
                                <m:e>
                                  <m:r>
                                    <a:rPr lang="en-US" altLang="zh-CN" i="1" dirty="0">
                                      <a:latin typeface="Cambria Math" panose="02040503050406030204" pitchFamily="18" charset="0"/>
                                      <a:cs typeface="Arial" panose="020B0604020202020204" pitchFamily="34" charset="0"/>
                                    </a:rPr>
                                    <m:t>𝑑</m:t>
                                  </m:r>
                                </m:e>
                              </m:d>
                            </m:num>
                            <m:den>
                              <m:r>
                                <a:rPr lang="en-US" altLang="zh-CN" i="1" dirty="0">
                                  <a:latin typeface="Cambria Math" panose="02040503050406030204" pitchFamily="18" charset="0"/>
                                  <a:cs typeface="Arial" panose="020B0604020202020204" pitchFamily="34" charset="0"/>
                                </a:rPr>
                                <m:t>𝛽</m:t>
                              </m:r>
                            </m:den>
                          </m:f>
                        </m:sup>
                      </m:sSup>
                      <m:r>
                        <a:rPr lang="en-US" altLang="zh-CN" b="0" i="1" dirty="0" smtClean="0">
                          <a:latin typeface="Cambria Math" panose="02040503050406030204" pitchFamily="18" charset="0"/>
                          <a:cs typeface="Arial" panose="020B0604020202020204" pitchFamily="34" charset="0"/>
                        </a:rPr>
                        <m:t>≤</m:t>
                      </m:r>
                      <m:sSup>
                        <m:sSupPr>
                          <m:ctrlPr>
                            <a:rPr lang="en-US" altLang="zh-CN" i="1" dirty="0">
                              <a:latin typeface="Cambria Math" panose="02040503050406030204" pitchFamily="18" charset="0"/>
                              <a:cs typeface="Arial" panose="020B0604020202020204" pitchFamily="34" charset="0"/>
                            </a:rPr>
                          </m:ctrlPr>
                        </m:sSupPr>
                        <m:e>
                          <m:r>
                            <a:rPr lang="en-US" altLang="zh-CN" i="1" dirty="0">
                              <a:latin typeface="Cambria Math" panose="02040503050406030204" pitchFamily="18" charset="0"/>
                              <a:cs typeface="Arial" panose="020B0604020202020204" pitchFamily="34" charset="0"/>
                            </a:rPr>
                            <m:t>𝑒</m:t>
                          </m:r>
                        </m:e>
                        <m:sup>
                          <m:f>
                            <m:fPr>
                              <m:ctrlPr>
                                <a:rPr lang="en-US" altLang="zh-CN" i="1" dirty="0">
                                  <a:latin typeface="Cambria Math" panose="02040503050406030204" pitchFamily="18" charset="0"/>
                                  <a:cs typeface="Arial" panose="020B0604020202020204" pitchFamily="34" charset="0"/>
                                </a:rPr>
                              </m:ctrlPr>
                            </m:fPr>
                            <m:num>
                              <m:r>
                                <m:rPr>
                                  <m:sty m:val="p"/>
                                </m:rPr>
                                <a:rPr lang="en-US" altLang="zh-CN" b="0" i="0" dirty="0" smtClean="0">
                                  <a:latin typeface="Cambria Math" panose="02040503050406030204" pitchFamily="18" charset="0"/>
                                  <a:cs typeface="Arial" panose="020B0604020202020204" pitchFamily="34" charset="0"/>
                                </a:rPr>
                                <m:t>Δ</m:t>
                              </m:r>
                              <m:r>
                                <a:rPr lang="en-US" altLang="zh-CN" b="0" i="1" dirty="0" smtClean="0">
                                  <a:latin typeface="Cambria Math" panose="02040503050406030204" pitchFamily="18" charset="0"/>
                                  <a:cs typeface="Arial" panose="020B0604020202020204" pitchFamily="34" charset="0"/>
                                </a:rPr>
                                <m:t>𝑓</m:t>
                              </m:r>
                            </m:num>
                            <m:den>
                              <m:r>
                                <a:rPr lang="en-US" altLang="zh-CN" i="1" dirty="0">
                                  <a:latin typeface="Cambria Math" panose="02040503050406030204" pitchFamily="18" charset="0"/>
                                  <a:cs typeface="Arial" panose="020B0604020202020204" pitchFamily="34" charset="0"/>
                                </a:rPr>
                                <m:t>𝛽</m:t>
                              </m:r>
                            </m:den>
                          </m:f>
                        </m:sup>
                      </m:sSup>
                    </m:oMath>
                  </m:oMathPara>
                </a14:m>
                <a:endParaRPr lang="zh-CN" altLang="en-US" dirty="0"/>
              </a:p>
            </p:txBody>
          </p:sp>
        </mc:Choice>
        <mc:Fallback xmlns="">
          <p:sp>
            <p:nvSpPr>
              <p:cNvPr id="2" name="文本框 1">
                <a:extLst>
                  <a:ext uri="{FF2B5EF4-FFF2-40B4-BE49-F238E27FC236}">
                    <a16:creationId xmlns:a16="http://schemas.microsoft.com/office/drawing/2014/main" id="{4AD2DD57-09DE-4953-B918-BA0978BD4647}"/>
                  </a:ext>
                </a:extLst>
              </p:cNvPr>
              <p:cNvSpPr txBox="1">
                <a:spLocks noRot="1" noChangeAspect="1" noMove="1" noResize="1" noEditPoints="1" noAdjustHandles="1" noChangeArrowheads="1" noChangeShapeType="1" noTextEdit="1"/>
              </p:cNvSpPr>
              <p:nvPr/>
            </p:nvSpPr>
            <p:spPr>
              <a:xfrm>
                <a:off x="655846" y="3652504"/>
                <a:ext cx="10733164" cy="711733"/>
              </a:xfrm>
              <a:prstGeom prst="rect">
                <a:avLst/>
              </a:prstGeom>
              <a:blipFill>
                <a:blip r:embed="rId3"/>
                <a:stretch>
                  <a:fillRect/>
                </a:stretch>
              </a:blipFill>
            </p:spPr>
            <p:txBody>
              <a:bodyPr/>
              <a:lstStyle/>
              <a:p>
                <a:r>
                  <a:rPr lang="zh-CN" altLang="en-US">
                    <a:noFill/>
                  </a:rPr>
                  <a:t> </a:t>
                </a:r>
              </a:p>
            </p:txBody>
          </p:sp>
        </mc:Fallback>
      </mc:AlternateContent>
      <p:sp>
        <p:nvSpPr>
          <p:cNvPr id="3" name="左大括号 2">
            <a:extLst>
              <a:ext uri="{FF2B5EF4-FFF2-40B4-BE49-F238E27FC236}">
                <a16:creationId xmlns:a16="http://schemas.microsoft.com/office/drawing/2014/main" id="{147C0969-1686-45C7-95D4-57C820855505}"/>
              </a:ext>
            </a:extLst>
          </p:cNvPr>
          <p:cNvSpPr/>
          <p:nvPr/>
        </p:nvSpPr>
        <p:spPr>
          <a:xfrm rot="16200000">
            <a:off x="4679205" y="3693547"/>
            <a:ext cx="245942" cy="1509286"/>
          </a:xfrm>
          <a:prstGeom prst="leftBrace">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81EF9C0-1D76-46F2-B43F-D9D6B494ED40}"/>
                  </a:ext>
                </a:extLst>
              </p:cNvPr>
              <p:cNvSpPr txBox="1"/>
              <p:nvPr/>
            </p:nvSpPr>
            <p:spPr>
              <a:xfrm>
                <a:off x="4641367" y="4667619"/>
                <a:ext cx="32161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𝑑</m:t>
                      </m:r>
                    </m:oMath>
                  </m:oMathPara>
                </a14:m>
                <a:endParaRPr lang="zh-CN" altLang="en-US" dirty="0"/>
              </a:p>
            </p:txBody>
          </p:sp>
        </mc:Choice>
        <mc:Fallback xmlns="">
          <p:sp>
            <p:nvSpPr>
              <p:cNvPr id="4" name="文本框 3">
                <a:extLst>
                  <a:ext uri="{FF2B5EF4-FFF2-40B4-BE49-F238E27FC236}">
                    <a16:creationId xmlns:a16="http://schemas.microsoft.com/office/drawing/2014/main" id="{E81EF9C0-1D76-46F2-B43F-D9D6B494ED40}"/>
                  </a:ext>
                </a:extLst>
              </p:cNvPr>
              <p:cNvSpPr txBox="1">
                <a:spLocks noRot="1" noChangeAspect="1" noMove="1" noResize="1" noEditPoints="1" noAdjustHandles="1" noChangeArrowheads="1" noChangeShapeType="1" noTextEdit="1"/>
              </p:cNvSpPr>
              <p:nvPr/>
            </p:nvSpPr>
            <p:spPr>
              <a:xfrm>
                <a:off x="4641367" y="4667619"/>
                <a:ext cx="321617"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A3327DC-189A-4C7E-B348-50C2126662E4}"/>
                  </a:ext>
                </a:extLst>
              </p:cNvPr>
              <p:cNvSpPr txBox="1"/>
              <p:nvPr/>
            </p:nvSpPr>
            <p:spPr>
              <a:xfrm>
                <a:off x="744132" y="2963917"/>
                <a:ext cx="10380016" cy="393121"/>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Denote </a:t>
                </a:r>
                <a14:m>
                  <m:oMath xmlns:m="http://schemas.openxmlformats.org/officeDocument/2006/math">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limLow>
                          <m:limLowPr>
                            <m:ctrlPr>
                              <a:rPr lang="en-US" altLang="zh-CN" b="0" i="1" smtClean="0">
                                <a:latin typeface="Cambria Math" panose="02040503050406030204" pitchFamily="18" charset="0"/>
                                <a:cs typeface="Arial" panose="020B0604020202020204" pitchFamily="34" charset="0"/>
                              </a:rPr>
                            </m:ctrlPr>
                          </m:limLowPr>
                          <m:e>
                            <m:r>
                              <m:rPr>
                                <m:sty m:val="p"/>
                              </m:rPr>
                              <a:rPr lang="en-US" altLang="zh-CN" b="0" i="0" smtClean="0">
                                <a:latin typeface="Cambria Math" panose="02040503050406030204" pitchFamily="18" charset="0"/>
                                <a:cs typeface="Arial" panose="020B0604020202020204" pitchFamily="34" charset="0"/>
                              </a:rPr>
                              <m:t>max</m:t>
                            </m:r>
                          </m:e>
                          <m:lim>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lim>
                        </m:limLow>
                      </m:fName>
                      <m:e>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e>
                    </m:func>
                  </m:oMath>
                </a14:m>
                <a:r>
                  <a:rPr lang="en-US" altLang="zh-CN" dirty="0">
                    <a:latin typeface="Arial" panose="020B0604020202020204" pitchFamily="34" charset="0"/>
                    <a:cs typeface="Arial" panose="020B0604020202020204" pitchFamily="34" charset="0"/>
                  </a:rPr>
                  <a:t>, we have </a:t>
                </a:r>
                <a14:m>
                  <m:oMath xmlns:m="http://schemas.openxmlformats.org/officeDocument/2006/math">
                    <m:r>
                      <a:rPr lang="en-US" altLang="zh-CN" b="0" i="1" smtClean="0">
                        <a:latin typeface="Cambria Math" panose="02040503050406030204" pitchFamily="18" charset="0"/>
                        <a:cs typeface="Arial" panose="020B0604020202020204" pitchFamily="34" charset="0"/>
                      </a:rPr>
                      <m:t>𝑑</m:t>
                    </m:r>
                    <m:r>
                      <a:rPr lang="en-US" altLang="zh-CN" b="0" i="1" smtClean="0">
                        <a:latin typeface="Cambria Math" panose="02040503050406030204" pitchFamily="18" charset="0"/>
                        <a:cs typeface="Arial" panose="020B0604020202020204" pitchFamily="34" charset="0"/>
                      </a:rPr>
                      <m:t>≤</m:t>
                    </m:r>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oMath>
                </a14:m>
                <a:endParaRPr lang="zh-CN" altLang="en-US"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8A3327DC-189A-4C7E-B348-50C2126662E4}"/>
                  </a:ext>
                </a:extLst>
              </p:cNvPr>
              <p:cNvSpPr txBox="1">
                <a:spLocks noRot="1" noChangeAspect="1" noMove="1" noResize="1" noEditPoints="1" noAdjustHandles="1" noChangeArrowheads="1" noChangeShapeType="1" noTextEdit="1"/>
              </p:cNvSpPr>
              <p:nvPr/>
            </p:nvSpPr>
            <p:spPr>
              <a:xfrm>
                <a:off x="744132" y="2963917"/>
                <a:ext cx="10380016" cy="393121"/>
              </a:xfrm>
              <a:prstGeom prst="rect">
                <a:avLst/>
              </a:prstGeom>
              <a:blipFill>
                <a:blip r:embed="rId5"/>
                <a:stretch>
                  <a:fillRect l="-470" t="-7692" b="-16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A789727-25E4-455A-9FA8-638EF39177D8}"/>
                  </a:ext>
                </a:extLst>
              </p:cNvPr>
              <p:cNvSpPr txBox="1"/>
              <p:nvPr/>
            </p:nvSpPr>
            <p:spPr>
              <a:xfrm>
                <a:off x="744132" y="5128121"/>
                <a:ext cx="10380016" cy="543931"/>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Let </a:t>
                </a:r>
                <a14:m>
                  <m:oMath xmlns:m="http://schemas.openxmlformats.org/officeDocument/2006/math">
                    <m:f>
                      <m:fPr>
                        <m:ctrlPr>
                          <a:rPr lang="en-US" altLang="zh-CN" i="1" dirty="0" smtClean="0">
                            <a:latin typeface="Cambria Math" panose="02040503050406030204" pitchFamily="18" charset="0"/>
                            <a:cs typeface="Arial" panose="020B0604020202020204" pitchFamily="34" charset="0"/>
                          </a:rPr>
                        </m:ctrlPr>
                      </m:fPr>
                      <m:num>
                        <m:r>
                          <m:rPr>
                            <m:sty m:val="p"/>
                          </m:rPr>
                          <a:rPr lang="en-US" altLang="zh-CN" b="0" i="0" dirty="0" smtClean="0">
                            <a:latin typeface="Cambria Math" panose="02040503050406030204" pitchFamily="18" charset="0"/>
                            <a:cs typeface="Arial" panose="020B0604020202020204" pitchFamily="34" charset="0"/>
                          </a:rPr>
                          <m:t>Δ</m:t>
                        </m:r>
                        <m:r>
                          <a:rPr lang="en-US" altLang="zh-CN" b="0" i="1" dirty="0" smtClean="0">
                            <a:latin typeface="Cambria Math" panose="02040503050406030204" pitchFamily="18" charset="0"/>
                            <a:cs typeface="Arial" panose="020B0604020202020204" pitchFamily="34" charset="0"/>
                          </a:rPr>
                          <m:t>𝑓</m:t>
                        </m:r>
                      </m:num>
                      <m:den>
                        <m:r>
                          <a:rPr lang="en-US" altLang="zh-CN" i="1" dirty="0">
                            <a:latin typeface="Cambria Math" panose="02040503050406030204" pitchFamily="18" charset="0"/>
                            <a:cs typeface="Arial" panose="020B0604020202020204" pitchFamily="34" charset="0"/>
                          </a:rPr>
                          <m:t>𝛽</m:t>
                        </m:r>
                      </m:den>
                    </m:f>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 noise </a:t>
                </a:r>
                <a14:m>
                  <m:oMath xmlns:m="http://schemas.openxmlformats.org/officeDocument/2006/math">
                    <m:r>
                      <a:rPr lang="en-US" altLang="zh-CN" i="1">
                        <a:latin typeface="Cambria Math" panose="02040503050406030204" pitchFamily="18" charset="0"/>
                        <a:cs typeface="Arial" panose="020B0604020202020204" pitchFamily="34" charset="0"/>
                      </a:rPr>
                      <m:t>𝐿𝑎𝑝</m:t>
                    </m:r>
                    <m:r>
                      <a:rPr lang="en-US" altLang="zh-CN" i="1">
                        <a:latin typeface="Cambria Math" panose="02040503050406030204" pitchFamily="18" charset="0"/>
                        <a:cs typeface="Arial" panose="020B0604020202020204" pitchFamily="34" charset="0"/>
                      </a:rPr>
                      <m:t>(</m:t>
                    </m:r>
                    <m:f>
                      <m:fPr>
                        <m:ctrlPr>
                          <a:rPr lang="en-US" altLang="zh-CN" i="1" smtClean="0">
                            <a:latin typeface="Cambria Math" panose="02040503050406030204" pitchFamily="18" charset="0"/>
                            <a:cs typeface="Arial" panose="020B0604020202020204" pitchFamily="34" charset="0"/>
                          </a:rPr>
                        </m:ctrlPr>
                      </m:fPr>
                      <m:num>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num>
                      <m:den>
                        <m:r>
                          <a:rPr lang="en-US" altLang="zh-CN" b="0" i="1" smtClean="0">
                            <a:latin typeface="Cambria Math" panose="02040503050406030204" pitchFamily="18" charset="0"/>
                            <a:cs typeface="Arial" panose="020B0604020202020204" pitchFamily="34" charset="0"/>
                          </a:rPr>
                          <m:t>𝜖</m:t>
                        </m:r>
                      </m:den>
                    </m:f>
                    <m:r>
                      <a:rPr lang="en-US" altLang="zh-CN" i="1">
                        <a:latin typeface="Cambria Math" panose="02040503050406030204" pitchFamily="18" charset="0"/>
                        <a:cs typeface="Arial" panose="020B0604020202020204" pitchFamily="34" charset="0"/>
                      </a:rPr>
                      <m:t>)</m:t>
                    </m:r>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can achieve </a:t>
                </a:r>
                <a14:m>
                  <m:oMath xmlns:m="http://schemas.openxmlformats.org/officeDocument/2006/math">
                    <m:r>
                      <a:rPr lang="en-US" altLang="zh-CN" b="0" i="1">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a:t>
                </a:r>
                <a:endParaRPr lang="zh-CN" altLang="en-US" dirty="0">
                  <a:latin typeface="Arial" panose="020B0604020202020204" pitchFamily="34" charset="0"/>
                  <a:cs typeface="Arial" panose="020B0604020202020204" pitchFamily="34" charset="0"/>
                </a:endParaRPr>
              </a:p>
            </p:txBody>
          </p:sp>
        </mc:Choice>
        <mc:Fallback xmlns="">
          <p:sp>
            <p:nvSpPr>
              <p:cNvPr id="8" name="文本框 7">
                <a:extLst>
                  <a:ext uri="{FF2B5EF4-FFF2-40B4-BE49-F238E27FC236}">
                    <a16:creationId xmlns:a16="http://schemas.microsoft.com/office/drawing/2014/main" id="{5A789727-25E4-455A-9FA8-638EF39177D8}"/>
                  </a:ext>
                </a:extLst>
              </p:cNvPr>
              <p:cNvSpPr txBox="1">
                <a:spLocks noRot="1" noChangeAspect="1" noMove="1" noResize="1" noEditPoints="1" noAdjustHandles="1" noChangeArrowheads="1" noChangeShapeType="1" noTextEdit="1"/>
              </p:cNvSpPr>
              <p:nvPr/>
            </p:nvSpPr>
            <p:spPr>
              <a:xfrm>
                <a:off x="744132" y="5128121"/>
                <a:ext cx="10380016" cy="543931"/>
              </a:xfrm>
              <a:prstGeom prst="rect">
                <a:avLst/>
              </a:prstGeom>
              <a:blipFill>
                <a:blip r:embed="rId6"/>
                <a:stretch>
                  <a:fillRect l="-470" b="-33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447496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Laplace mechanism</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487569"/>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We just involve a new term </a:t>
                </a:r>
                <a14:m>
                  <m:oMath xmlns:m="http://schemas.openxmlformats.org/officeDocument/2006/math">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limLow>
                          <m:limLowPr>
                            <m:ctrlPr>
                              <a:rPr lang="en-US" altLang="zh-CN" b="0" i="1" smtClean="0">
                                <a:latin typeface="Cambria Math" panose="02040503050406030204" pitchFamily="18" charset="0"/>
                                <a:cs typeface="Arial" panose="020B0604020202020204" pitchFamily="34" charset="0"/>
                              </a:rPr>
                            </m:ctrlPr>
                          </m:limLowPr>
                          <m:e>
                            <m:r>
                              <m:rPr>
                                <m:sty m:val="p"/>
                              </m:rPr>
                              <a:rPr lang="en-US" altLang="zh-CN" b="0" i="0" smtClean="0">
                                <a:latin typeface="Cambria Math" panose="02040503050406030204" pitchFamily="18" charset="0"/>
                                <a:cs typeface="Arial" panose="020B0604020202020204" pitchFamily="34" charset="0"/>
                              </a:rPr>
                              <m:t>max</m:t>
                            </m:r>
                          </m:e>
                          <m:lim>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lim>
                        </m:limLow>
                      </m:fName>
                      <m:e>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e>
                    </m:func>
                  </m:oMath>
                </a14:m>
                <a:endParaRPr lang="zh-CN" altLang="en-US" b="1"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6" y="1179261"/>
                <a:ext cx="10380016" cy="487569"/>
              </a:xfrm>
              <a:prstGeom prst="rect">
                <a:avLst/>
              </a:prstGeom>
              <a:blipFill>
                <a:blip r:embed="rId2"/>
                <a:stretch>
                  <a:fillRect l="-529" t="-62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A3327DC-189A-4C7E-B348-50C2126662E4}"/>
                  </a:ext>
                </a:extLst>
              </p:cNvPr>
              <p:cNvSpPr txBox="1"/>
              <p:nvPr/>
            </p:nvSpPr>
            <p:spPr>
              <a:xfrm>
                <a:off x="655846" y="1893648"/>
                <a:ext cx="10380016" cy="764568"/>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Global Sensitivity.</a:t>
                </a:r>
                <a:r>
                  <a:rPr lang="en-US" altLang="zh-CN" dirty="0">
                    <a:latin typeface="Arial" panose="020B0604020202020204" pitchFamily="34" charset="0"/>
                    <a:cs typeface="Arial" panose="020B0604020202020204" pitchFamily="34" charset="0"/>
                  </a:rPr>
                  <a:t> Let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and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are neighbor datasets, global sensitivity of a function </a:t>
                </a:r>
                <a14:m>
                  <m:oMath xmlns:m="http://schemas.openxmlformats.org/officeDocument/2006/math">
                    <m:r>
                      <a:rPr lang="en-US" altLang="zh-CN" b="0" i="1" smtClean="0">
                        <a:latin typeface="Cambria Math" panose="02040503050406030204" pitchFamily="18" charset="0"/>
                        <a:cs typeface="Arial" panose="020B0604020202020204" pitchFamily="34" charset="0"/>
                      </a:rPr>
                      <m:t>𝑓</m:t>
                    </m:r>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is</a:t>
                </a:r>
              </a:p>
              <a:p>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limLow>
                            <m:limLowPr>
                              <m:ctrlPr>
                                <a:rPr lang="en-US" altLang="zh-CN" b="0" i="1" smtClean="0">
                                  <a:latin typeface="Cambria Math" panose="02040503050406030204" pitchFamily="18" charset="0"/>
                                  <a:cs typeface="Arial" panose="020B0604020202020204" pitchFamily="34" charset="0"/>
                                </a:rPr>
                              </m:ctrlPr>
                            </m:limLowPr>
                            <m:e>
                              <m:r>
                                <m:rPr>
                                  <m:sty m:val="p"/>
                                </m:rPr>
                                <a:rPr lang="en-US" altLang="zh-CN" b="0" i="0" smtClean="0">
                                  <a:latin typeface="Cambria Math" panose="02040503050406030204" pitchFamily="18" charset="0"/>
                                  <a:cs typeface="Arial" panose="020B0604020202020204" pitchFamily="34" charset="0"/>
                                </a:rPr>
                                <m:t>max</m:t>
                              </m:r>
                            </m:e>
                            <m:lim>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lim>
                          </m:limLow>
                        </m:fName>
                        <m:e>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e>
                      </m:func>
                    </m:oMath>
                  </m:oMathPara>
                </a14:m>
                <a:endParaRPr lang="zh-CN" altLang="en-US"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8A3327DC-189A-4C7E-B348-50C2126662E4}"/>
                  </a:ext>
                </a:extLst>
              </p:cNvPr>
              <p:cNvSpPr txBox="1">
                <a:spLocks noRot="1" noChangeAspect="1" noMove="1" noResize="1" noEditPoints="1" noAdjustHandles="1" noChangeArrowheads="1" noChangeShapeType="1" noTextEdit="1"/>
              </p:cNvSpPr>
              <p:nvPr/>
            </p:nvSpPr>
            <p:spPr>
              <a:xfrm>
                <a:off x="655846" y="1893648"/>
                <a:ext cx="10380016" cy="764568"/>
              </a:xfrm>
              <a:prstGeom prst="rect">
                <a:avLst/>
              </a:prstGeom>
              <a:blipFill>
                <a:blip r:embed="rId3"/>
                <a:stretch>
                  <a:fillRect l="-529" t="-48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16159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Laplace mechanism</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487569"/>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We just involve a new term </a:t>
                </a:r>
                <a14:m>
                  <m:oMath xmlns:m="http://schemas.openxmlformats.org/officeDocument/2006/math">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limLow>
                          <m:limLowPr>
                            <m:ctrlPr>
                              <a:rPr lang="en-US" altLang="zh-CN" b="0" i="1" smtClean="0">
                                <a:latin typeface="Cambria Math" panose="02040503050406030204" pitchFamily="18" charset="0"/>
                                <a:cs typeface="Arial" panose="020B0604020202020204" pitchFamily="34" charset="0"/>
                              </a:rPr>
                            </m:ctrlPr>
                          </m:limLowPr>
                          <m:e>
                            <m:r>
                              <m:rPr>
                                <m:sty m:val="p"/>
                              </m:rPr>
                              <a:rPr lang="en-US" altLang="zh-CN" b="0" i="0" smtClean="0">
                                <a:latin typeface="Cambria Math" panose="02040503050406030204" pitchFamily="18" charset="0"/>
                                <a:cs typeface="Arial" panose="020B0604020202020204" pitchFamily="34" charset="0"/>
                              </a:rPr>
                              <m:t>max</m:t>
                            </m:r>
                          </m:e>
                          <m:lim>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lim>
                        </m:limLow>
                      </m:fName>
                      <m:e>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e>
                    </m:func>
                  </m:oMath>
                </a14:m>
                <a:endParaRPr lang="zh-CN" altLang="en-US" b="1"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6" y="1179261"/>
                <a:ext cx="10380016" cy="487569"/>
              </a:xfrm>
              <a:prstGeom prst="rect">
                <a:avLst/>
              </a:prstGeom>
              <a:blipFill>
                <a:blip r:embed="rId2"/>
                <a:stretch>
                  <a:fillRect l="-529" t="-62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A3327DC-189A-4C7E-B348-50C2126662E4}"/>
                  </a:ext>
                </a:extLst>
              </p:cNvPr>
              <p:cNvSpPr txBox="1"/>
              <p:nvPr/>
            </p:nvSpPr>
            <p:spPr>
              <a:xfrm>
                <a:off x="655846" y="1893648"/>
                <a:ext cx="10380016" cy="764568"/>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Global Sensitivity.</a:t>
                </a:r>
                <a:r>
                  <a:rPr lang="en-US" altLang="zh-CN" dirty="0">
                    <a:latin typeface="Arial" panose="020B0604020202020204" pitchFamily="34" charset="0"/>
                    <a:cs typeface="Arial" panose="020B0604020202020204" pitchFamily="34" charset="0"/>
                  </a:rPr>
                  <a:t> Let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and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are neighbor datasets, global sensitivity of a function </a:t>
                </a:r>
                <a14:m>
                  <m:oMath xmlns:m="http://schemas.openxmlformats.org/officeDocument/2006/math">
                    <m:r>
                      <a:rPr lang="en-US" altLang="zh-CN" b="0" i="1" smtClean="0">
                        <a:latin typeface="Cambria Math" panose="02040503050406030204" pitchFamily="18" charset="0"/>
                        <a:cs typeface="Arial" panose="020B0604020202020204" pitchFamily="34" charset="0"/>
                      </a:rPr>
                      <m:t>𝑓</m:t>
                    </m:r>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is</a:t>
                </a:r>
              </a:p>
              <a:p>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limLow>
                            <m:limLowPr>
                              <m:ctrlPr>
                                <a:rPr lang="en-US" altLang="zh-CN" b="0" i="1" smtClean="0">
                                  <a:latin typeface="Cambria Math" panose="02040503050406030204" pitchFamily="18" charset="0"/>
                                  <a:cs typeface="Arial" panose="020B0604020202020204" pitchFamily="34" charset="0"/>
                                </a:rPr>
                              </m:ctrlPr>
                            </m:limLowPr>
                            <m:e>
                              <m:r>
                                <m:rPr>
                                  <m:sty m:val="p"/>
                                </m:rPr>
                                <a:rPr lang="en-US" altLang="zh-CN" b="0" i="0" smtClean="0">
                                  <a:latin typeface="Cambria Math" panose="02040503050406030204" pitchFamily="18" charset="0"/>
                                  <a:cs typeface="Arial" panose="020B0604020202020204" pitchFamily="34" charset="0"/>
                                </a:rPr>
                                <m:t>max</m:t>
                              </m:r>
                            </m:e>
                            <m:lim>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lim>
                          </m:limLow>
                        </m:fName>
                        <m:e>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e>
                      </m:func>
                    </m:oMath>
                  </m:oMathPara>
                </a14:m>
                <a:endParaRPr lang="zh-CN" altLang="en-US"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8A3327DC-189A-4C7E-B348-50C2126662E4}"/>
                  </a:ext>
                </a:extLst>
              </p:cNvPr>
              <p:cNvSpPr txBox="1">
                <a:spLocks noRot="1" noChangeAspect="1" noMove="1" noResize="1" noEditPoints="1" noAdjustHandles="1" noChangeArrowheads="1" noChangeShapeType="1" noTextEdit="1"/>
              </p:cNvSpPr>
              <p:nvPr/>
            </p:nvSpPr>
            <p:spPr>
              <a:xfrm>
                <a:off x="655846" y="1893648"/>
                <a:ext cx="10380016" cy="764568"/>
              </a:xfrm>
              <a:prstGeom prst="rect">
                <a:avLst/>
              </a:prstGeom>
              <a:blipFill>
                <a:blip r:embed="rId3"/>
                <a:stretch>
                  <a:fillRect l="-529" t="-4800"/>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92246F3E-2AA0-4B86-9347-77472DE251BE}"/>
              </a:ext>
            </a:extLst>
          </p:cNvPr>
          <p:cNvSpPr txBox="1"/>
          <p:nvPr/>
        </p:nvSpPr>
        <p:spPr>
          <a:xfrm>
            <a:off x="731520" y="3247697"/>
            <a:ext cx="10531366" cy="707886"/>
          </a:xfrm>
          <a:prstGeom prst="rect">
            <a:avLst/>
          </a:prstGeom>
          <a:noFill/>
        </p:spPr>
        <p:txBody>
          <a:bodyPr wrap="square" rtlCol="0">
            <a:spAutoFit/>
          </a:bodyPr>
          <a:lstStyle/>
          <a:p>
            <a:r>
              <a:rPr lang="en-US" altLang="zh-CN" sz="2000" b="1" dirty="0">
                <a:latin typeface="Arial" panose="020B0604020202020204" pitchFamily="34" charset="0"/>
                <a:cs typeface="Arial" panose="020B0604020202020204" pitchFamily="34" charset="0"/>
              </a:rPr>
              <a:t>Benefits:</a:t>
            </a:r>
            <a:r>
              <a:rPr lang="en-US" altLang="zh-CN" sz="2000" dirty="0">
                <a:latin typeface="Arial" panose="020B0604020202020204" pitchFamily="34" charset="0"/>
                <a:cs typeface="Arial" panose="020B0604020202020204" pitchFamily="34" charset="0"/>
              </a:rPr>
              <a:t> Global sensitivity is </a:t>
            </a:r>
            <a:r>
              <a:rPr lang="en-US" altLang="zh-CN" sz="2000" i="1" dirty="0">
                <a:latin typeface="Arial" panose="020B0604020202020204" pitchFamily="34" charset="0"/>
                <a:cs typeface="Arial" panose="020B0604020202020204" pitchFamily="34" charset="0"/>
              </a:rPr>
              <a:t>independent </a:t>
            </a:r>
            <a:r>
              <a:rPr lang="en-US" altLang="zh-CN" sz="2000" dirty="0">
                <a:latin typeface="Arial" panose="020B0604020202020204" pitchFamily="34" charset="0"/>
                <a:cs typeface="Arial" panose="020B0604020202020204" pitchFamily="34" charset="0"/>
              </a:rPr>
              <a:t>of dataset, so the privacy guarantee only depends on the mechanism itself.</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951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Laplace mechanism</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487569"/>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We just involve a new term </a:t>
                </a:r>
                <a14:m>
                  <m:oMath xmlns:m="http://schemas.openxmlformats.org/officeDocument/2006/math">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limLow>
                          <m:limLowPr>
                            <m:ctrlPr>
                              <a:rPr lang="en-US" altLang="zh-CN" b="0" i="1" smtClean="0">
                                <a:latin typeface="Cambria Math" panose="02040503050406030204" pitchFamily="18" charset="0"/>
                                <a:cs typeface="Arial" panose="020B0604020202020204" pitchFamily="34" charset="0"/>
                              </a:rPr>
                            </m:ctrlPr>
                          </m:limLowPr>
                          <m:e>
                            <m:r>
                              <m:rPr>
                                <m:sty m:val="p"/>
                              </m:rPr>
                              <a:rPr lang="en-US" altLang="zh-CN" b="0" i="0" smtClean="0">
                                <a:latin typeface="Cambria Math" panose="02040503050406030204" pitchFamily="18" charset="0"/>
                                <a:cs typeface="Arial" panose="020B0604020202020204" pitchFamily="34" charset="0"/>
                              </a:rPr>
                              <m:t>max</m:t>
                            </m:r>
                          </m:e>
                          <m:lim>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lim>
                        </m:limLow>
                      </m:fName>
                      <m:e>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e>
                    </m:func>
                  </m:oMath>
                </a14:m>
                <a:endParaRPr lang="zh-CN" altLang="en-US" b="1"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6" y="1179261"/>
                <a:ext cx="10380016" cy="487569"/>
              </a:xfrm>
              <a:prstGeom prst="rect">
                <a:avLst/>
              </a:prstGeom>
              <a:blipFill>
                <a:blip r:embed="rId2"/>
                <a:stretch>
                  <a:fillRect l="-529" t="-62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A3327DC-189A-4C7E-B348-50C2126662E4}"/>
                  </a:ext>
                </a:extLst>
              </p:cNvPr>
              <p:cNvSpPr txBox="1"/>
              <p:nvPr/>
            </p:nvSpPr>
            <p:spPr>
              <a:xfrm>
                <a:off x="655846" y="1893648"/>
                <a:ext cx="10380016" cy="764568"/>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Global Sensitivity.</a:t>
                </a:r>
                <a:r>
                  <a:rPr lang="en-US" altLang="zh-CN" dirty="0">
                    <a:latin typeface="Arial" panose="020B0604020202020204" pitchFamily="34" charset="0"/>
                    <a:cs typeface="Arial" panose="020B0604020202020204" pitchFamily="34" charset="0"/>
                  </a:rPr>
                  <a:t> Let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and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are neighbor datasets, global sensitivity of a function </a:t>
                </a:r>
                <a14:m>
                  <m:oMath xmlns:m="http://schemas.openxmlformats.org/officeDocument/2006/math">
                    <m:r>
                      <a:rPr lang="en-US" altLang="zh-CN" b="0" i="1" smtClean="0">
                        <a:latin typeface="Cambria Math" panose="02040503050406030204" pitchFamily="18" charset="0"/>
                        <a:cs typeface="Arial" panose="020B0604020202020204" pitchFamily="34" charset="0"/>
                      </a:rPr>
                      <m:t>𝑓</m:t>
                    </m:r>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is</a:t>
                </a:r>
              </a:p>
              <a:p>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limLow>
                            <m:limLowPr>
                              <m:ctrlPr>
                                <a:rPr lang="en-US" altLang="zh-CN" b="0" i="1" smtClean="0">
                                  <a:latin typeface="Cambria Math" panose="02040503050406030204" pitchFamily="18" charset="0"/>
                                  <a:cs typeface="Arial" panose="020B0604020202020204" pitchFamily="34" charset="0"/>
                                </a:rPr>
                              </m:ctrlPr>
                            </m:limLowPr>
                            <m:e>
                              <m:r>
                                <m:rPr>
                                  <m:sty m:val="p"/>
                                </m:rPr>
                                <a:rPr lang="en-US" altLang="zh-CN" b="0" i="0" smtClean="0">
                                  <a:latin typeface="Cambria Math" panose="02040503050406030204" pitchFamily="18" charset="0"/>
                                  <a:cs typeface="Arial" panose="020B0604020202020204" pitchFamily="34" charset="0"/>
                                </a:rPr>
                                <m:t>max</m:t>
                              </m:r>
                            </m:e>
                            <m:lim>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lim>
                          </m:limLow>
                        </m:fName>
                        <m:e>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e>
                      </m:func>
                    </m:oMath>
                  </m:oMathPara>
                </a14:m>
                <a:endParaRPr lang="zh-CN" altLang="en-US"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8A3327DC-189A-4C7E-B348-50C2126662E4}"/>
                  </a:ext>
                </a:extLst>
              </p:cNvPr>
              <p:cNvSpPr txBox="1">
                <a:spLocks noRot="1" noChangeAspect="1" noMove="1" noResize="1" noEditPoints="1" noAdjustHandles="1" noChangeArrowheads="1" noChangeShapeType="1" noTextEdit="1"/>
              </p:cNvSpPr>
              <p:nvPr/>
            </p:nvSpPr>
            <p:spPr>
              <a:xfrm>
                <a:off x="655846" y="1893648"/>
                <a:ext cx="10380016" cy="764568"/>
              </a:xfrm>
              <a:prstGeom prst="rect">
                <a:avLst/>
              </a:prstGeom>
              <a:blipFill>
                <a:blip r:embed="rId3"/>
                <a:stretch>
                  <a:fillRect l="-529" t="-48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2246F3E-2AA0-4B86-9347-77472DE251BE}"/>
                  </a:ext>
                </a:extLst>
              </p:cNvPr>
              <p:cNvSpPr txBox="1"/>
              <p:nvPr/>
            </p:nvSpPr>
            <p:spPr>
              <a:xfrm>
                <a:off x="731520" y="3247697"/>
                <a:ext cx="10531366" cy="1631216"/>
              </a:xfrm>
              <a:prstGeom prst="rect">
                <a:avLst/>
              </a:prstGeom>
              <a:noFill/>
            </p:spPr>
            <p:txBody>
              <a:bodyPr wrap="square" rtlCol="0">
                <a:spAutoFit/>
              </a:bodyPr>
              <a:lstStyle/>
              <a:p>
                <a:r>
                  <a:rPr lang="en-US" altLang="zh-CN" sz="2000" b="1" dirty="0">
                    <a:latin typeface="Arial" panose="020B0604020202020204" pitchFamily="34" charset="0"/>
                    <a:cs typeface="Arial" panose="020B0604020202020204" pitchFamily="34" charset="0"/>
                  </a:rPr>
                  <a:t>Benefits:</a:t>
                </a:r>
                <a:r>
                  <a:rPr lang="en-US" altLang="zh-CN" sz="2000" dirty="0">
                    <a:latin typeface="Arial" panose="020B0604020202020204" pitchFamily="34" charset="0"/>
                    <a:cs typeface="Arial" panose="020B0604020202020204" pitchFamily="34" charset="0"/>
                  </a:rPr>
                  <a:t> Global sensitivity is </a:t>
                </a:r>
                <a:r>
                  <a:rPr lang="en-US" altLang="zh-CN" sz="2000" i="1" dirty="0">
                    <a:latin typeface="Arial" panose="020B0604020202020204" pitchFamily="34" charset="0"/>
                    <a:cs typeface="Arial" panose="020B0604020202020204" pitchFamily="34" charset="0"/>
                  </a:rPr>
                  <a:t>independent </a:t>
                </a:r>
                <a:r>
                  <a:rPr lang="en-US" altLang="zh-CN" sz="2000" dirty="0">
                    <a:latin typeface="Arial" panose="020B0604020202020204" pitchFamily="34" charset="0"/>
                    <a:cs typeface="Arial" panose="020B0604020202020204" pitchFamily="34" charset="0"/>
                  </a:rPr>
                  <a:t>of dataset, so the privacy guarantee only depends on the mechanism itself.</a:t>
                </a:r>
              </a:p>
              <a:p>
                <a:endParaRPr lang="en-US" altLang="zh-CN" sz="2000" dirty="0">
                  <a:latin typeface="Arial" panose="020B0604020202020204" pitchFamily="34" charset="0"/>
                  <a:cs typeface="Arial" panose="020B0604020202020204" pitchFamily="34" charset="0"/>
                </a:endParaRPr>
              </a:p>
              <a:p>
                <a:r>
                  <a:rPr lang="en-US" altLang="zh-CN" sz="2000" dirty="0">
                    <a:latin typeface="Arial" panose="020B0604020202020204" pitchFamily="34" charset="0"/>
                    <a:cs typeface="Arial" panose="020B0604020202020204" pitchFamily="34" charset="0"/>
                  </a:rPr>
                  <a:t>Example: </a:t>
                </a:r>
                <a14:m>
                  <m:oMath xmlns:m="http://schemas.openxmlformats.org/officeDocument/2006/math">
                    <m:r>
                      <a:rPr lang="en-US" altLang="zh-CN" sz="2000" b="0" i="1" smtClean="0">
                        <a:latin typeface="Cambria Math" panose="02040503050406030204" pitchFamily="18" charset="0"/>
                        <a:cs typeface="Arial" panose="020B0604020202020204" pitchFamily="34" charset="0"/>
                      </a:rPr>
                      <m:t>𝐷</m:t>
                    </m:r>
                    <m:r>
                      <a:rPr lang="en-US" altLang="zh-CN" sz="2000" b="0" i="1" smtClean="0">
                        <a:latin typeface="Cambria Math" panose="02040503050406030204" pitchFamily="18" charset="0"/>
                        <a:cs typeface="Arial" panose="020B0604020202020204" pitchFamily="34" charset="0"/>
                      </a:rPr>
                      <m:t>∈[0, 100]</m:t>
                    </m:r>
                  </m:oMath>
                </a14:m>
                <a:r>
                  <a:rPr lang="en-US" altLang="zh-CN" sz="2000" dirty="0">
                    <a:latin typeface="Arial" panose="020B0604020202020204" pitchFamily="34" charset="0"/>
                    <a:cs typeface="Arial" panose="020B0604020202020204" pitchFamily="34" charset="0"/>
                  </a:rPr>
                  <a:t>, function </a:t>
                </a:r>
                <a14:m>
                  <m:oMath xmlns:m="http://schemas.openxmlformats.org/officeDocument/2006/math">
                    <m:r>
                      <a:rPr lang="en-US" altLang="zh-CN" sz="2000" b="0" i="1" smtClean="0">
                        <a:latin typeface="Cambria Math" panose="02040503050406030204" pitchFamily="18" charset="0"/>
                        <a:cs typeface="Arial" panose="020B0604020202020204" pitchFamily="34" charset="0"/>
                      </a:rPr>
                      <m:t>𝑓</m:t>
                    </m:r>
                  </m:oMath>
                </a14:m>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is summation, we can construct </a:t>
                </a:r>
                <a14:m>
                  <m:oMath xmlns:m="http://schemas.openxmlformats.org/officeDocument/2006/math">
                    <m:sSub>
                      <m:sSubPr>
                        <m:ctrlPr>
                          <a:rPr lang="en-US" altLang="zh-CN" sz="2000" b="0" i="1" smtClean="0">
                            <a:latin typeface="Cambria Math" panose="02040503050406030204" pitchFamily="18" charset="0"/>
                            <a:cs typeface="Arial" panose="020B0604020202020204" pitchFamily="34" charset="0"/>
                          </a:rPr>
                        </m:ctrlPr>
                      </m:sSubPr>
                      <m:e>
                        <m:r>
                          <a:rPr lang="en-US" altLang="zh-CN" sz="2000" b="0" i="1" smtClean="0">
                            <a:latin typeface="Cambria Math" panose="02040503050406030204" pitchFamily="18" charset="0"/>
                            <a:cs typeface="Arial" panose="020B0604020202020204" pitchFamily="34" charset="0"/>
                          </a:rPr>
                          <m:t>𝐷</m:t>
                        </m:r>
                      </m:e>
                      <m:sub>
                        <m:r>
                          <a:rPr lang="en-US" altLang="zh-CN" sz="2000" b="0" i="1" smtClean="0">
                            <a:latin typeface="Cambria Math" panose="02040503050406030204" pitchFamily="18" charset="0"/>
                            <a:cs typeface="Arial" panose="020B0604020202020204" pitchFamily="34" charset="0"/>
                          </a:rPr>
                          <m:t>1</m:t>
                        </m:r>
                      </m:sub>
                    </m:sSub>
                    <m:r>
                      <a:rPr lang="en-US" altLang="zh-CN" sz="2000" b="0" i="1" smtClean="0">
                        <a:latin typeface="Cambria Math" panose="02040503050406030204" pitchFamily="18" charset="0"/>
                        <a:cs typeface="Arial" panose="020B0604020202020204" pitchFamily="34" charset="0"/>
                      </a:rPr>
                      <m:t>={0, 0,…,0}</m:t>
                    </m:r>
                  </m:oMath>
                </a14:m>
                <a:r>
                  <a:rPr lang="en-US" altLang="zh-CN" sz="2000"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b="0" i="1" smtClean="0">
                            <a:latin typeface="Cambria Math" panose="02040503050406030204" pitchFamily="18" charset="0"/>
                            <a:cs typeface="Arial" panose="020B0604020202020204" pitchFamily="34" charset="0"/>
                          </a:rPr>
                          <m:t>2</m:t>
                        </m:r>
                      </m:sub>
                    </m:sSub>
                    <m:r>
                      <a:rPr lang="en-US" altLang="zh-CN" sz="2000" i="1">
                        <a:latin typeface="Cambria Math" panose="02040503050406030204" pitchFamily="18" charset="0"/>
                        <a:cs typeface="Arial" panose="020B0604020202020204" pitchFamily="34" charset="0"/>
                      </a:rPr>
                      <m:t>={0, 0,…,</m:t>
                    </m:r>
                    <m:r>
                      <a:rPr lang="en-US" altLang="zh-CN" sz="2000" b="0" i="1" smtClean="0">
                        <a:latin typeface="Cambria Math" panose="02040503050406030204" pitchFamily="18" charset="0"/>
                        <a:cs typeface="Arial" panose="020B0604020202020204" pitchFamily="34" charset="0"/>
                      </a:rPr>
                      <m:t>10</m:t>
                    </m:r>
                    <m:r>
                      <a:rPr lang="en-US" altLang="zh-CN" sz="2000" i="1">
                        <a:latin typeface="Cambria Math" panose="02040503050406030204" pitchFamily="18" charset="0"/>
                        <a:cs typeface="Arial" panose="020B0604020202020204" pitchFamily="34" charset="0"/>
                      </a:rPr>
                      <m:t>0}</m:t>
                    </m:r>
                  </m:oMath>
                </a14:m>
                <a:r>
                  <a:rPr lang="en-US" altLang="zh-CN" sz="2000" dirty="0">
                    <a:latin typeface="Arial" panose="020B0604020202020204" pitchFamily="34" charset="0"/>
                    <a:cs typeface="Arial" panose="020B0604020202020204" pitchFamily="34" charset="0"/>
                  </a:rPr>
                  <a:t>. the </a:t>
                </a:r>
                <a14:m>
                  <m:oMath xmlns:m="http://schemas.openxmlformats.org/officeDocument/2006/math">
                    <m:r>
                      <m:rPr>
                        <m:sty m:val="p"/>
                      </m:rPr>
                      <a:rPr lang="en-US" altLang="zh-CN" sz="2000">
                        <a:latin typeface="Cambria Math" panose="02040503050406030204" pitchFamily="18" charset="0"/>
                        <a:cs typeface="Arial" panose="020B0604020202020204" pitchFamily="34" charset="0"/>
                      </a:rPr>
                      <m:t>Δ</m:t>
                    </m:r>
                    <m:r>
                      <a:rPr lang="en-US" altLang="zh-CN" sz="2000" i="1">
                        <a:latin typeface="Cambria Math" panose="02040503050406030204" pitchFamily="18" charset="0"/>
                        <a:cs typeface="Arial" panose="020B0604020202020204" pitchFamily="34" charset="0"/>
                      </a:rPr>
                      <m:t>𝑓</m:t>
                    </m:r>
                    <m:r>
                      <a:rPr lang="en-US" altLang="zh-CN" sz="2000" b="0" i="1" smtClean="0">
                        <a:latin typeface="Cambria Math" panose="02040503050406030204" pitchFamily="18" charset="0"/>
                        <a:cs typeface="Arial" panose="020B0604020202020204" pitchFamily="34" charset="0"/>
                      </a:rPr>
                      <m:t>=</m:t>
                    </m:r>
                    <m:d>
                      <m:dPr>
                        <m:begChr m:val="|"/>
                        <m:endChr m:val="|"/>
                        <m:ctrlPr>
                          <a:rPr lang="en-US" altLang="zh-CN" sz="2000" b="0" i="1" smtClean="0">
                            <a:latin typeface="Cambria Math" panose="02040503050406030204" pitchFamily="18" charset="0"/>
                            <a:cs typeface="Arial" panose="020B0604020202020204" pitchFamily="34" charset="0"/>
                          </a:rPr>
                        </m:ctrlPr>
                      </m:dPr>
                      <m:e>
                        <m:r>
                          <a:rPr lang="en-US" altLang="zh-CN" sz="2000" b="0" i="1" smtClean="0">
                            <a:latin typeface="Cambria Math" panose="02040503050406030204" pitchFamily="18" charset="0"/>
                            <a:cs typeface="Arial" panose="020B0604020202020204" pitchFamily="34" charset="0"/>
                          </a:rPr>
                          <m:t>0−100</m:t>
                        </m:r>
                      </m:e>
                    </m:d>
                    <m:r>
                      <a:rPr lang="en-US" altLang="zh-CN" sz="2000" b="0" i="1" smtClean="0">
                        <a:latin typeface="Cambria Math" panose="02040503050406030204" pitchFamily="18" charset="0"/>
                        <a:cs typeface="Arial" panose="020B0604020202020204" pitchFamily="34" charset="0"/>
                      </a:rPr>
                      <m:t>=100</m:t>
                    </m:r>
                  </m:oMath>
                </a14:m>
                <a:endParaRPr lang="zh-CN" altLang="en-US" sz="2000" dirty="0">
                  <a:latin typeface="Arial" panose="020B0604020202020204" pitchFamily="34" charset="0"/>
                  <a:cs typeface="Arial" panose="020B0604020202020204" pitchFamily="34" charset="0"/>
                </a:endParaRPr>
              </a:p>
            </p:txBody>
          </p:sp>
        </mc:Choice>
        <mc:Fallback xmlns="">
          <p:sp>
            <p:nvSpPr>
              <p:cNvPr id="2" name="文本框 1">
                <a:extLst>
                  <a:ext uri="{FF2B5EF4-FFF2-40B4-BE49-F238E27FC236}">
                    <a16:creationId xmlns:a16="http://schemas.microsoft.com/office/drawing/2014/main" id="{92246F3E-2AA0-4B86-9347-77472DE251BE}"/>
                  </a:ext>
                </a:extLst>
              </p:cNvPr>
              <p:cNvSpPr txBox="1">
                <a:spLocks noRot="1" noChangeAspect="1" noMove="1" noResize="1" noEditPoints="1" noAdjustHandles="1" noChangeArrowheads="1" noChangeShapeType="1" noTextEdit="1"/>
              </p:cNvSpPr>
              <p:nvPr/>
            </p:nvSpPr>
            <p:spPr>
              <a:xfrm>
                <a:off x="731520" y="3247697"/>
                <a:ext cx="10531366" cy="1631216"/>
              </a:xfrm>
              <a:prstGeom prst="rect">
                <a:avLst/>
              </a:prstGeom>
              <a:blipFill>
                <a:blip r:embed="rId4"/>
                <a:stretch>
                  <a:fillRect l="-579" t="-1873" b="-63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06392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Laplace mechanism—vector case</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36933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Laplace mechanism can also be applied to function </a:t>
                </a:r>
                <a14:m>
                  <m:oMath xmlns:m="http://schemas.openxmlformats.org/officeDocument/2006/math">
                    <m:r>
                      <a:rPr lang="en-US" altLang="zh-CN" b="0" i="1" smtClean="0">
                        <a:latin typeface="Cambria Math" panose="02040503050406030204" pitchFamily="18" charset="0"/>
                        <a:cs typeface="Arial" panose="020B0604020202020204" pitchFamily="34" charset="0"/>
                      </a:rPr>
                      <m:t>𝑓</m:t>
                    </m:r>
                  </m:oMath>
                </a14:m>
                <a:r>
                  <a:rPr lang="zh-CN" altLang="en-US" b="1"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that outputs a vector result </a:t>
                </a:r>
                <a14:m>
                  <m:oMath xmlns:m="http://schemas.openxmlformats.org/officeDocument/2006/math">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𝑟</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𝑟</m:t>
                        </m:r>
                      </m:e>
                      <m:sub>
                        <m:r>
                          <a:rPr lang="en-US" altLang="zh-CN" b="0" i="1" smtClean="0">
                            <a:latin typeface="Cambria Math" panose="02040503050406030204" pitchFamily="18" charset="0"/>
                            <a:cs typeface="Arial" panose="020B0604020202020204" pitchFamily="34" charset="0"/>
                          </a:rPr>
                          <m:t>𝑑</m:t>
                        </m:r>
                      </m:sub>
                    </m:sSub>
                    <m:r>
                      <a:rPr lang="en-US" altLang="zh-CN" b="0" i="1" smtClean="0">
                        <a:latin typeface="Cambria Math" panose="02040503050406030204" pitchFamily="18" charset="0"/>
                        <a:cs typeface="Arial" panose="020B0604020202020204" pitchFamily="34" charset="0"/>
                      </a:rPr>
                      <m:t>]</m:t>
                    </m:r>
                  </m:oMath>
                </a14:m>
                <a:endParaRPr lang="zh-CN" altLang="en-US"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6" y="1179261"/>
                <a:ext cx="10380016" cy="369332"/>
              </a:xfrm>
              <a:prstGeom prst="rect">
                <a:avLst/>
              </a:prstGeom>
              <a:blipFill>
                <a:blip r:embed="rId2"/>
                <a:stretch>
                  <a:fillRect l="-529"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3972246-DE1A-4531-8FBC-D9D5697172EE}"/>
                  </a:ext>
                </a:extLst>
              </p:cNvPr>
              <p:cNvSpPr txBox="1"/>
              <p:nvPr/>
            </p:nvSpPr>
            <p:spPr>
              <a:xfrm>
                <a:off x="655845" y="1954126"/>
                <a:ext cx="10234973" cy="381195"/>
              </a:xfrm>
              <a:prstGeom prst="rect">
                <a:avLst/>
              </a:prstGeom>
              <a:noFill/>
            </p:spPr>
            <p:txBody>
              <a:bodyPr wrap="square">
                <a:spAutoFit/>
              </a:bodyPr>
              <a:lstStyle/>
              <a:p>
                <a:r>
                  <a:rPr lang="en-US" altLang="zh-CN" dirty="0">
                    <a:latin typeface="Arial" panose="020B0604020202020204" pitchFamily="34" charset="0"/>
                    <a:cs typeface="Arial" panose="020B0604020202020204" pitchFamily="34" charset="0"/>
                  </a:rPr>
                  <a:t>To achieve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 publish </a:t>
                </a:r>
                <a14:m>
                  <m:oMath xmlns:m="http://schemas.openxmlformats.org/officeDocument/2006/math">
                    <m:acc>
                      <m:accPr>
                        <m:chr m:val="̃"/>
                        <m:ctrlPr>
                          <a:rPr lang="en-US" altLang="zh-CN" i="1" dirty="0">
                            <a:latin typeface="Cambria Math" panose="02040503050406030204" pitchFamily="18" charset="0"/>
                            <a:cs typeface="Arial" panose="020B0604020202020204" pitchFamily="34" charset="0"/>
                          </a:rPr>
                        </m:ctrlPr>
                      </m:accPr>
                      <m:e>
                        <m:r>
                          <a:rPr lang="en-US" altLang="zh-CN" i="1" dirty="0">
                            <a:latin typeface="Cambria Math" panose="02040503050406030204" pitchFamily="18" charset="0"/>
                            <a:cs typeface="Arial" panose="020B0604020202020204" pitchFamily="34" charset="0"/>
                          </a:rPr>
                          <m:t>𝑓</m:t>
                        </m:r>
                      </m:e>
                    </m:acc>
                    <m:d>
                      <m:dPr>
                        <m:ctrlPr>
                          <a:rPr lang="en-US" altLang="zh-CN" i="1" dirty="0">
                            <a:latin typeface="Cambria Math" panose="02040503050406030204" pitchFamily="18" charset="0"/>
                            <a:cs typeface="Arial" panose="020B0604020202020204" pitchFamily="34" charset="0"/>
                          </a:rPr>
                        </m:ctrlPr>
                      </m:dPr>
                      <m:e>
                        <m:r>
                          <a:rPr lang="en-US" altLang="zh-CN" i="1" dirty="0">
                            <a:latin typeface="Cambria Math" panose="02040503050406030204" pitchFamily="18" charset="0"/>
                            <a:cs typeface="Arial" panose="020B0604020202020204" pitchFamily="34" charset="0"/>
                          </a:rPr>
                          <m:t>𝐷</m:t>
                        </m:r>
                      </m:e>
                    </m:d>
                    <m:r>
                      <a:rPr lang="en-US" altLang="zh-CN" b="0" i="1" dirty="0"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𝐿𝑎</m:t>
                    </m:r>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𝑝</m:t>
                        </m:r>
                      </m:e>
                      <m:sub>
                        <m:r>
                          <a:rPr lang="en-US" altLang="zh-CN" b="0" i="1" smtClean="0">
                            <a:latin typeface="Cambria Math" panose="02040503050406030204" pitchFamily="18" charset="0"/>
                            <a:cs typeface="Arial" panose="020B0604020202020204" pitchFamily="34" charset="0"/>
                          </a:rPr>
                          <m:t>1</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𝛽</m:t>
                        </m:r>
                      </m:e>
                    </m:d>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𝐿𝑎</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𝑝</m:t>
                        </m:r>
                      </m:e>
                      <m:sub>
                        <m:r>
                          <a:rPr lang="en-US" altLang="zh-CN" b="0" i="1" smtClean="0">
                            <a:latin typeface="Cambria Math" panose="02040503050406030204" pitchFamily="18" charset="0"/>
                            <a:cs typeface="Arial" panose="020B0604020202020204" pitchFamily="34" charset="0"/>
                          </a:rPr>
                          <m:t>𝑑</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𝛽</m:t>
                        </m:r>
                      </m:e>
                    </m:d>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a:t>
                </a:r>
                <a:endParaRPr lang="zh-CN" altLang="en-US" dirty="0"/>
              </a:p>
            </p:txBody>
          </p:sp>
        </mc:Choice>
        <mc:Fallback xmlns="">
          <p:sp>
            <p:nvSpPr>
              <p:cNvPr id="8" name="文本框 7">
                <a:extLst>
                  <a:ext uri="{FF2B5EF4-FFF2-40B4-BE49-F238E27FC236}">
                    <a16:creationId xmlns:a16="http://schemas.microsoft.com/office/drawing/2014/main" id="{F3972246-DE1A-4531-8FBC-D9D5697172EE}"/>
                  </a:ext>
                </a:extLst>
              </p:cNvPr>
              <p:cNvSpPr txBox="1">
                <a:spLocks noRot="1" noChangeAspect="1" noMove="1" noResize="1" noEditPoints="1" noAdjustHandles="1" noChangeArrowheads="1" noChangeShapeType="1" noTextEdit="1"/>
              </p:cNvSpPr>
              <p:nvPr/>
            </p:nvSpPr>
            <p:spPr>
              <a:xfrm>
                <a:off x="655845" y="1954126"/>
                <a:ext cx="10234973" cy="381195"/>
              </a:xfrm>
              <a:prstGeom prst="rect">
                <a:avLst/>
              </a:prstGeom>
              <a:blipFill>
                <a:blip r:embed="rId3"/>
                <a:stretch>
                  <a:fillRect l="-536" t="-8065" b="-2419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A42A649E-79A8-4464-A7AA-38851D9156FC}"/>
                  </a:ext>
                </a:extLst>
              </p:cNvPr>
              <p:cNvSpPr txBox="1"/>
              <p:nvPr/>
            </p:nvSpPr>
            <p:spPr>
              <a:xfrm>
                <a:off x="769357" y="2541401"/>
                <a:ext cx="10234973" cy="4371133"/>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Proof.</a:t>
                </a:r>
                <a:r>
                  <a:rPr lang="en-US" altLang="zh-CN" dirty="0">
                    <a:latin typeface="Arial" panose="020B0604020202020204" pitchFamily="34" charset="0"/>
                    <a:cs typeface="Arial" panose="020B0604020202020204" pitchFamily="34" charset="0"/>
                  </a:rPr>
                  <a:t> </a:t>
                </a:r>
              </a:p>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e>
                      </m:d>
                      <m:r>
                        <a:rPr lang="en-US" altLang="zh-CN" i="1">
                          <a:latin typeface="Cambria Math" panose="02040503050406030204" pitchFamily="18" charset="0"/>
                          <a:cs typeface="Arial" panose="020B0604020202020204" pitchFamily="34" charset="0"/>
                        </a:rPr>
                        <m:t>+</m:t>
                      </m:r>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𝐿𝑎</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𝑝</m:t>
                              </m:r>
                            </m:e>
                            <m:sub>
                              <m:r>
                                <a:rPr lang="en-US" altLang="zh-CN" i="1">
                                  <a:latin typeface="Cambria Math" panose="02040503050406030204" pitchFamily="18" charset="0"/>
                                  <a:cs typeface="Arial" panose="020B0604020202020204" pitchFamily="34" charset="0"/>
                                </a:rPr>
                                <m:t>1</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𝛽</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𝐿𝑎</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𝑝</m:t>
                              </m:r>
                            </m:e>
                            <m:sub>
                              <m:r>
                                <a:rPr lang="en-US" altLang="zh-CN" i="1">
                                  <a:latin typeface="Cambria Math" panose="02040503050406030204" pitchFamily="18" charset="0"/>
                                  <a:cs typeface="Arial" panose="020B0604020202020204" pitchFamily="34" charset="0"/>
                                </a:rPr>
                                <m:t>𝑑</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𝛽</m:t>
                              </m:r>
                            </m:e>
                          </m:d>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𝑑</m:t>
                          </m:r>
                        </m:sub>
                      </m:sSub>
                      <m:r>
                        <a:rPr lang="en-US" altLang="zh-CN" i="1">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m:t>
                      </m:r>
                      <m:nary>
                        <m:naryPr>
                          <m:chr m:val="∏"/>
                          <m:ctrlPr>
                            <a:rPr lang="en-US" altLang="zh-CN" b="0" i="1" smtClean="0">
                              <a:latin typeface="Cambria Math" panose="02040503050406030204" pitchFamily="18" charset="0"/>
                              <a:cs typeface="Arial" panose="020B0604020202020204" pitchFamily="34" charset="0"/>
                            </a:rPr>
                          </m:ctrlPr>
                        </m:naryPr>
                        <m:sub>
                          <m:r>
                            <m:rPr>
                              <m:brk m:alnAt="23"/>
                            </m:rP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=1</m:t>
                          </m:r>
                        </m:sub>
                        <m:sup>
                          <m:r>
                            <a:rPr lang="en-US" altLang="zh-CN" b="0" i="1" smtClean="0">
                              <a:latin typeface="Cambria Math" panose="02040503050406030204" pitchFamily="18" charset="0"/>
                              <a:cs typeface="Arial" panose="020B0604020202020204" pitchFamily="34" charset="0"/>
                            </a:rPr>
                            <m:t>𝑑</m:t>
                          </m:r>
                        </m:sup>
                        <m:e>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𝑋</m:t>
                              </m:r>
                            </m:e>
                            <m:sub>
                              <m:r>
                                <a:rPr lang="en-US" altLang="zh-CN" b="0" i="1" smtClean="0">
                                  <a:latin typeface="Cambria Math" panose="02040503050406030204" pitchFamily="18" charset="0"/>
                                  <a:cs typeface="Arial" panose="020B0604020202020204" pitchFamily="34" charset="0"/>
                                </a:rPr>
                                <m:t>𝑖</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𝑖</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𝑖</m:t>
                              </m:r>
                            </m:sub>
                          </m:sSub>
                          <m:r>
                            <a:rPr lang="en-US" altLang="zh-CN" b="0" i="1" smtClean="0">
                              <a:latin typeface="Cambria Math" panose="02040503050406030204" pitchFamily="18" charset="0"/>
                              <a:cs typeface="Arial" panose="020B0604020202020204" pitchFamily="34" charset="0"/>
                            </a:rPr>
                            <m:t>]</m:t>
                          </m:r>
                        </m:e>
                      </m:nary>
                    </m:oMath>
                  </m:oMathPara>
                </a14:m>
                <a:endParaRPr lang="en-US" altLang="zh-CN"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nary>
                        <m:naryPr>
                          <m:chr m:val="∏"/>
                          <m:ctrlPr>
                            <a:rPr lang="en-US" altLang="zh-CN" i="1">
                              <a:latin typeface="Cambria Math" panose="02040503050406030204" pitchFamily="18" charset="0"/>
                              <a:cs typeface="Arial" panose="020B0604020202020204" pitchFamily="34" charset="0"/>
                            </a:rPr>
                          </m:ctrlPr>
                        </m:naryPr>
                        <m:sub>
                          <m:r>
                            <m:rPr>
                              <m:brk m:alnAt="23"/>
                            </m:rPr>
                            <a:rPr lang="en-US" altLang="zh-CN" i="1">
                              <a:latin typeface="Cambria Math" panose="02040503050406030204" pitchFamily="18" charset="0"/>
                              <a:cs typeface="Arial" panose="020B0604020202020204" pitchFamily="34" charset="0"/>
                            </a:rPr>
                            <m:t>𝑖</m:t>
                          </m:r>
                          <m:r>
                            <a:rPr lang="en-US" altLang="zh-CN" i="1">
                              <a:latin typeface="Cambria Math" panose="02040503050406030204" pitchFamily="18" charset="0"/>
                              <a:cs typeface="Arial" panose="020B0604020202020204" pitchFamily="34" charset="0"/>
                            </a:rPr>
                            <m:t>=1</m:t>
                          </m:r>
                        </m:sub>
                        <m:sup>
                          <m:r>
                            <a:rPr lang="en-US" altLang="zh-CN" i="1">
                              <a:latin typeface="Cambria Math" panose="02040503050406030204" pitchFamily="18" charset="0"/>
                              <a:cs typeface="Arial" panose="020B0604020202020204" pitchFamily="34" charset="0"/>
                            </a:rPr>
                            <m:t>𝑑</m:t>
                          </m:r>
                        </m:sup>
                        <m:e>
                          <m:f>
                            <m:fPr>
                              <m:ctrlPr>
                                <a:rPr lang="en-US" altLang="zh-CN"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𝜖</m:t>
                              </m:r>
                            </m:num>
                            <m:den>
                              <m:r>
                                <a:rPr lang="en-US" altLang="zh-CN" b="0" i="1" smtClean="0">
                                  <a:latin typeface="Cambria Math" panose="02040503050406030204" pitchFamily="18" charset="0"/>
                                  <a:cs typeface="Arial" panose="020B0604020202020204" pitchFamily="34" charset="0"/>
                                </a:rPr>
                                <m:t>2</m:t>
                              </m:r>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den>
                          </m:f>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𝜖</m:t>
                                  </m:r>
                                  <m:d>
                                    <m:dPr>
                                      <m:begChr m:val="|"/>
                                      <m:endChr m:val="|"/>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𝑖</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𝑖</m:t>
                                          </m:r>
                                        </m:sub>
                                      </m:sSub>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sup>
                          </m:sSup>
                        </m:e>
                      </m:nary>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d>
                            <m:dPr>
                              <m:ctrlPr>
                                <a:rPr lang="en-US" altLang="zh-CN" b="0" i="1" smtClean="0">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i="1">
                                      <a:latin typeface="Cambria Math" panose="02040503050406030204" pitchFamily="18" charset="0"/>
                                      <a:cs typeface="Arial" panose="020B0604020202020204" pitchFamily="34" charset="0"/>
                                    </a:rPr>
                                    <m:t>2</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e>
                          </m:d>
                        </m:e>
                        <m:sup>
                          <m:r>
                            <a:rPr lang="en-US" altLang="zh-CN" b="0" i="1" smtClean="0">
                              <a:latin typeface="Cambria Math" panose="02040503050406030204" pitchFamily="18" charset="0"/>
                              <a:cs typeface="Arial" panose="020B0604020202020204" pitchFamily="34" charset="0"/>
                            </a:rPr>
                            <m:t>𝑑</m:t>
                          </m:r>
                        </m:sup>
                      </m:sSup>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𝜖</m:t>
                              </m:r>
                              <m:nary>
                                <m:naryPr>
                                  <m:chr m:val="∑"/>
                                  <m:limLoc m:val="subSup"/>
                                  <m:supHide m:val="on"/>
                                  <m:ctrlPr>
                                    <a:rPr lang="en-US" altLang="zh-CN" b="0" i="1" smtClean="0">
                                      <a:latin typeface="Cambria Math" panose="02040503050406030204" pitchFamily="18" charset="0"/>
                                      <a:cs typeface="Arial" panose="020B0604020202020204" pitchFamily="34" charset="0"/>
                                    </a:rPr>
                                  </m:ctrlPr>
                                </m:naryPr>
                                <m:sub>
                                  <m:r>
                                    <m:rPr>
                                      <m:brk m:alnAt="9"/>
                                    </m:rPr>
                                    <a:rPr lang="en-US" altLang="zh-CN" b="0" i="1" smtClean="0">
                                      <a:latin typeface="Cambria Math" panose="02040503050406030204" pitchFamily="18" charset="0"/>
                                      <a:cs typeface="Arial" panose="020B0604020202020204" pitchFamily="34" charset="0"/>
                                    </a:rPr>
                                    <m:t>𝑖</m:t>
                                  </m:r>
                                </m:sub>
                                <m:sup/>
                                <m:e>
                                  <m:d>
                                    <m:dPr>
                                      <m:begChr m:val="|"/>
                                      <m:endChr m:val="|"/>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𝑖</m:t>
                                          </m:r>
                                        </m:sub>
                                      </m:sSub>
                                      <m:r>
                                        <a:rPr lang="en-US" altLang="zh-CN" i="1">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𝑖</m:t>
                                          </m:r>
                                        </m:sub>
                                      </m:sSub>
                                    </m:e>
                                  </m:d>
                                </m:e>
                              </m:nary>
                            </m:num>
                            <m:den>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den>
                          </m:f>
                        </m:sup>
                      </m:sSup>
                      <m:r>
                        <a:rPr lang="en-US" altLang="zh-CN" b="0" i="1" smtClean="0">
                          <a:latin typeface="Cambria Math" panose="02040503050406030204" pitchFamily="18" charset="0"/>
                          <a:cs typeface="Arial" panose="020B0604020202020204" pitchFamily="34" charset="0"/>
                        </a:rPr>
                        <m:t>=</m:t>
                      </m:r>
                      <m:sSup>
                        <m:sSupPr>
                          <m:ctrlPr>
                            <a:rPr lang="en-US" altLang="zh-CN" i="1">
                              <a:latin typeface="Cambria Math" panose="02040503050406030204" pitchFamily="18" charset="0"/>
                              <a:cs typeface="Arial" panose="020B0604020202020204" pitchFamily="34" charset="0"/>
                            </a:rPr>
                          </m:ctrlPr>
                        </m:sSupPr>
                        <m:e>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i="1">
                                      <a:latin typeface="Cambria Math" panose="02040503050406030204" pitchFamily="18" charset="0"/>
                                      <a:cs typeface="Arial" panose="020B0604020202020204" pitchFamily="34" charset="0"/>
                                    </a:rPr>
                                    <m:t>2</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e>
                          </m:d>
                        </m:e>
                        <m:sup>
                          <m:r>
                            <a:rPr lang="en-US" altLang="zh-CN" i="1">
                              <a:latin typeface="Cambria Math" panose="02040503050406030204" pitchFamily="18" charset="0"/>
                              <a:cs typeface="Arial" panose="020B0604020202020204" pitchFamily="34" charset="0"/>
                            </a:rPr>
                            <m:t>𝑑</m:t>
                          </m:r>
                        </m:sup>
                      </m:sSup>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𝜖</m:t>
                              </m:r>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sup>
                      </m:sSup>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m:rPr>
                          <m:sty m:val="p"/>
                        </m:rPr>
                        <a:rPr lang="en-US" altLang="zh-CN" smtClean="0">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i="1">
                          <a:latin typeface="Cambria Math" panose="02040503050406030204" pitchFamily="18" charset="0"/>
                          <a:cs typeface="Arial" panose="020B0604020202020204" pitchFamily="34" charset="0"/>
                        </a:rPr>
                        <m:t>+</m:t>
                      </m:r>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𝐿𝑎</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𝑝</m:t>
                              </m:r>
                            </m:e>
                            <m:sub>
                              <m:r>
                                <a:rPr lang="en-US" altLang="zh-CN" i="1">
                                  <a:latin typeface="Cambria Math" panose="02040503050406030204" pitchFamily="18" charset="0"/>
                                  <a:cs typeface="Arial" panose="020B0604020202020204" pitchFamily="34" charset="0"/>
                                </a:rPr>
                                <m:t>1</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𝛽</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𝐿𝑎</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𝑝</m:t>
                              </m:r>
                            </m:e>
                            <m:sub>
                              <m:r>
                                <a:rPr lang="en-US" altLang="zh-CN" i="1">
                                  <a:latin typeface="Cambria Math" panose="02040503050406030204" pitchFamily="18" charset="0"/>
                                  <a:cs typeface="Arial" panose="020B0604020202020204" pitchFamily="34" charset="0"/>
                                </a:rPr>
                                <m:t>𝑑</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𝛽</m:t>
                              </m:r>
                            </m:e>
                          </m:d>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𝑑</m:t>
                          </m:r>
                        </m:sub>
                      </m:sSub>
                      <m:r>
                        <a:rPr lang="en-US" altLang="zh-CN" i="1">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m:t>
                      </m:r>
                      <m:sSup>
                        <m:sSupPr>
                          <m:ctrlPr>
                            <a:rPr lang="en-US" altLang="zh-CN" i="1">
                              <a:latin typeface="Cambria Math" panose="02040503050406030204" pitchFamily="18" charset="0"/>
                              <a:cs typeface="Arial" panose="020B0604020202020204" pitchFamily="34" charset="0"/>
                            </a:rPr>
                          </m:ctrlPr>
                        </m:sSupPr>
                        <m:e>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i="1">
                                      <a:latin typeface="Cambria Math" panose="02040503050406030204" pitchFamily="18" charset="0"/>
                                      <a:cs typeface="Arial" panose="020B0604020202020204" pitchFamily="34" charset="0"/>
                                    </a:rPr>
                                    <m:t>2</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e>
                          </m:d>
                        </m:e>
                        <m:sup>
                          <m:r>
                            <a:rPr lang="en-US" altLang="zh-CN" i="1">
                              <a:latin typeface="Cambria Math" panose="02040503050406030204" pitchFamily="18" charset="0"/>
                              <a:cs typeface="Arial" panose="020B0604020202020204" pitchFamily="34" charset="0"/>
                            </a:rPr>
                            <m:t>𝑑</m:t>
                          </m:r>
                        </m:sup>
                      </m:sSup>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𝜖</m:t>
                              </m:r>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sup>
                      </m:sSup>
                    </m:oMath>
                  </m:oMathPara>
                </a14:m>
                <a:endParaRPr lang="en-US" altLang="zh-CN" dirty="0">
                  <a:latin typeface="Arial" panose="020B0604020202020204" pitchFamily="34" charset="0"/>
                  <a:cs typeface="Arial" panose="020B0604020202020204" pitchFamily="34" charset="0"/>
                </a:endParaRPr>
              </a:p>
              <a:p>
                <a:endParaRPr lang="en-US" altLang="zh-CN" b="0" i="1" dirty="0">
                  <a:latin typeface="Cambria Math" panose="02040503050406030204" pitchFamily="18" charset="0"/>
                  <a:cs typeface="Arial" panose="020B0604020202020204" pitchFamily="34" charset="0"/>
                </a:endParaRPr>
              </a:p>
              <a:p>
                <a:endParaRPr lang="en-US" altLang="zh-CN" b="0" i="1" dirty="0">
                  <a:latin typeface="Cambria Math" panose="02040503050406030204" pitchFamily="18" charset="0"/>
                  <a:cs typeface="Arial" panose="020B0604020202020204" pitchFamily="34" charset="0"/>
                </a:endParaRPr>
              </a:p>
              <a:p>
                <a:endParaRPr lang="en-US" altLang="zh-CN" b="0"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
                        <m:fPr>
                          <m:ctrlPr>
                            <a:rPr lang="en-US" altLang="zh-CN" b="0" i="1" smtClean="0">
                              <a:latin typeface="Cambria Math" panose="02040503050406030204" pitchFamily="18" charset="0"/>
                              <a:cs typeface="Arial" panose="020B0604020202020204" pitchFamily="34" charset="0"/>
                            </a:rPr>
                          </m:ctrlPr>
                        </m:fPr>
                        <m:num>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𝜖</m:t>
                                  </m:r>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e>
                                      </m:d>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sup>
                          </m:sSup>
                        </m:num>
                        <m:den>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𝜖</m:t>
                                  </m:r>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e>
                                      </m:d>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sup>
                          </m:sSup>
                        </m:den>
                      </m:f>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f>
                            <m:fPr>
                              <m:ctrlPr>
                                <a:rPr lang="en-US" altLang="zh-CN" b="0" i="1" smtClean="0">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d>
                                <m:dPr>
                                  <m:begChr m:val="|"/>
                                  <m:endChr m:val="|"/>
                                  <m:ctrlPr>
                                    <a:rPr lang="en-US" altLang="zh-CN" i="1">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e>
                              </m:d>
                            </m:num>
                            <m:den>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den>
                          </m:f>
                        </m:sup>
                      </m:sSup>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oMath>
                  </m:oMathPara>
                </a14:m>
                <a:endParaRPr lang="zh-CN" altLang="en-US" dirty="0">
                  <a:latin typeface="Arial" panose="020B0604020202020204" pitchFamily="34" charset="0"/>
                  <a:cs typeface="Arial" panose="020B0604020202020204" pitchFamily="34" charset="0"/>
                </a:endParaRPr>
              </a:p>
            </p:txBody>
          </p:sp>
        </mc:Choice>
        <mc:Fallback>
          <p:sp>
            <p:nvSpPr>
              <p:cNvPr id="4" name="文本框 3">
                <a:extLst>
                  <a:ext uri="{FF2B5EF4-FFF2-40B4-BE49-F238E27FC236}">
                    <a16:creationId xmlns:a16="http://schemas.microsoft.com/office/drawing/2014/main" id="{A42A649E-79A8-4464-A7AA-38851D9156FC}"/>
                  </a:ext>
                </a:extLst>
              </p:cNvPr>
              <p:cNvSpPr txBox="1">
                <a:spLocks noRot="1" noChangeAspect="1" noMove="1" noResize="1" noEditPoints="1" noAdjustHandles="1" noChangeArrowheads="1" noChangeShapeType="1" noTextEdit="1"/>
              </p:cNvSpPr>
              <p:nvPr/>
            </p:nvSpPr>
            <p:spPr>
              <a:xfrm>
                <a:off x="769357" y="2541401"/>
                <a:ext cx="10234973" cy="4371133"/>
              </a:xfrm>
              <a:prstGeom prst="rect">
                <a:avLst/>
              </a:prstGeom>
              <a:blipFill>
                <a:blip r:embed="rId4"/>
                <a:stretch>
                  <a:fillRect l="-476" t="-837"/>
                </a:stretch>
              </a:blipFill>
            </p:spPr>
            <p:txBody>
              <a:bodyPr/>
              <a:lstStyle/>
              <a:p>
                <a:r>
                  <a:rPr lang="zh-CN" altLang="en-US">
                    <a:noFill/>
                  </a:rPr>
                  <a:t> </a:t>
                </a:r>
              </a:p>
            </p:txBody>
          </p:sp>
        </mc:Fallback>
      </mc:AlternateContent>
      <p:sp>
        <p:nvSpPr>
          <p:cNvPr id="9" name="右大括号 8">
            <a:extLst>
              <a:ext uri="{FF2B5EF4-FFF2-40B4-BE49-F238E27FC236}">
                <a16:creationId xmlns:a16="http://schemas.microsoft.com/office/drawing/2014/main" id="{5CCD0FE8-A585-4985-A1E4-7386EF6D7623}"/>
              </a:ext>
            </a:extLst>
          </p:cNvPr>
          <p:cNvSpPr/>
          <p:nvPr/>
        </p:nvSpPr>
        <p:spPr>
          <a:xfrm rot="16200000">
            <a:off x="6298849" y="5402317"/>
            <a:ext cx="224922" cy="1086769"/>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87E1AAFF-36C9-4750-8082-FD774D2481C1}"/>
                  </a:ext>
                </a:extLst>
              </p:cNvPr>
              <p:cNvSpPr txBox="1"/>
              <p:nvPr/>
            </p:nvSpPr>
            <p:spPr>
              <a:xfrm>
                <a:off x="6243146" y="5398113"/>
                <a:ext cx="61170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Δ</m:t>
                      </m:r>
                      <m:r>
                        <a:rPr lang="en-US" altLang="zh-CN" b="0" i="1" smtClean="0">
                          <a:latin typeface="Cambria Math" panose="02040503050406030204" pitchFamily="18" charset="0"/>
                        </a:rPr>
                        <m:t>𝑓</m:t>
                      </m:r>
                    </m:oMath>
                  </m:oMathPara>
                </a14:m>
                <a:endParaRPr lang="zh-CN" altLang="en-US" dirty="0"/>
              </a:p>
            </p:txBody>
          </p:sp>
        </mc:Choice>
        <mc:Fallback>
          <p:sp>
            <p:nvSpPr>
              <p:cNvPr id="10" name="文本框 9">
                <a:extLst>
                  <a:ext uri="{FF2B5EF4-FFF2-40B4-BE49-F238E27FC236}">
                    <a16:creationId xmlns:a16="http://schemas.microsoft.com/office/drawing/2014/main" id="{87E1AAFF-36C9-4750-8082-FD774D2481C1}"/>
                  </a:ext>
                </a:extLst>
              </p:cNvPr>
              <p:cNvSpPr txBox="1">
                <a:spLocks noRot="1" noChangeAspect="1" noMove="1" noResize="1" noEditPoints="1" noAdjustHandles="1" noChangeArrowheads="1" noChangeShapeType="1" noTextEdit="1"/>
              </p:cNvSpPr>
              <p:nvPr/>
            </p:nvSpPr>
            <p:spPr>
              <a:xfrm>
                <a:off x="6243146" y="5398113"/>
                <a:ext cx="611702" cy="369332"/>
              </a:xfrm>
              <a:prstGeom prst="rect">
                <a:avLst/>
              </a:prstGeom>
              <a:blipFill>
                <a:blip r:embed="rId5"/>
                <a:stretch>
                  <a:fillRect r="-16000" b="-13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368285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Laplace mechanism—example</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Histogram Publish</a:t>
            </a:r>
            <a:endParaRPr lang="zh-CN" altLang="en-US" b="1" dirty="0">
              <a:latin typeface="Arial" panose="020B0604020202020204" pitchFamily="34" charset="0"/>
              <a:cs typeface="Arial" panose="020B0604020202020204" pitchFamily="34" charset="0"/>
            </a:endParaRPr>
          </a:p>
        </p:txBody>
      </p:sp>
      <p:graphicFrame>
        <p:nvGraphicFramePr>
          <p:cNvPr id="2" name="表格 2">
            <a:extLst>
              <a:ext uri="{FF2B5EF4-FFF2-40B4-BE49-F238E27FC236}">
                <a16:creationId xmlns:a16="http://schemas.microsoft.com/office/drawing/2014/main" id="{1D8C3445-4051-48B3-8332-52770B5AE069}"/>
              </a:ext>
            </a:extLst>
          </p:cNvPr>
          <p:cNvGraphicFramePr>
            <a:graphicFrameLocks noGrp="1"/>
          </p:cNvGraphicFramePr>
          <p:nvPr/>
        </p:nvGraphicFramePr>
        <p:xfrm>
          <a:off x="310405" y="2674590"/>
          <a:ext cx="1972442" cy="2194560"/>
        </p:xfrm>
        <a:graphic>
          <a:graphicData uri="http://schemas.openxmlformats.org/drawingml/2006/table">
            <a:tbl>
              <a:tblPr firstRow="1" bandRow="1">
                <a:tableStyleId>{93296810-A885-4BE3-A3E7-6D5BEEA58F35}</a:tableStyleId>
              </a:tblPr>
              <a:tblGrid>
                <a:gridCol w="986221">
                  <a:extLst>
                    <a:ext uri="{9D8B030D-6E8A-4147-A177-3AD203B41FA5}">
                      <a16:colId xmlns:a16="http://schemas.microsoft.com/office/drawing/2014/main" val="1238765568"/>
                    </a:ext>
                  </a:extLst>
                </a:gridCol>
                <a:gridCol w="986221">
                  <a:extLst>
                    <a:ext uri="{9D8B030D-6E8A-4147-A177-3AD203B41FA5}">
                      <a16:colId xmlns:a16="http://schemas.microsoft.com/office/drawing/2014/main" val="2422194543"/>
                    </a:ext>
                  </a:extLst>
                </a:gridCol>
              </a:tblGrid>
              <a:tr h="353021">
                <a:tc>
                  <a:txBody>
                    <a:bodyPr/>
                    <a:lstStyle/>
                    <a:p>
                      <a:pPr marL="0" algn="ctr" defTabSz="914400" rtl="0" eaLnBrk="1" latinLnBrk="0" hangingPunct="1"/>
                      <a:r>
                        <a:rPr lang="en-US" altLang="zh-CN" sz="1800" b="1" kern="1200" dirty="0">
                          <a:solidFill>
                            <a:schemeClr val="tx1"/>
                          </a:solidFill>
                        </a:rPr>
                        <a:t>ID</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800" b="1" kern="1200" dirty="0">
                          <a:solidFill>
                            <a:schemeClr val="tx1"/>
                          </a:solidFill>
                        </a:rPr>
                        <a:t>Age</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752317120"/>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1</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800" b="1" kern="1200" dirty="0">
                          <a:solidFill>
                            <a:schemeClr val="tx1"/>
                          </a:solidFill>
                          <a:latin typeface="+mn-lt"/>
                          <a:ea typeface="+mn-ea"/>
                          <a:cs typeface="+mn-cs"/>
                        </a:rPr>
                        <a:t>10</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460415473"/>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2</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800" b="1" kern="1200" dirty="0">
                          <a:solidFill>
                            <a:schemeClr val="tx1"/>
                          </a:solidFill>
                          <a:latin typeface="+mn-lt"/>
                          <a:ea typeface="+mn-ea"/>
                          <a:cs typeface="+mn-cs"/>
                        </a:rPr>
                        <a:t>21</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582642059"/>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3</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800" b="1" kern="1200" dirty="0">
                          <a:solidFill>
                            <a:schemeClr val="tx1"/>
                          </a:solidFill>
                          <a:latin typeface="+mn-lt"/>
                          <a:ea typeface="+mn-ea"/>
                          <a:cs typeface="+mn-cs"/>
                        </a:rPr>
                        <a:t>35</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46871934"/>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289250877"/>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n</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800" b="1" kern="1200" dirty="0">
                          <a:solidFill>
                            <a:schemeClr val="tx1"/>
                          </a:solidFill>
                          <a:latin typeface="+mn-lt"/>
                          <a:ea typeface="+mn-ea"/>
                          <a:cs typeface="+mn-cs"/>
                        </a:rPr>
                        <a:t>18</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812739183"/>
                  </a:ext>
                </a:extLst>
              </a:tr>
            </a:tbl>
          </a:graphicData>
        </a:graphic>
      </p:graphicFrame>
      <p:sp>
        <p:nvSpPr>
          <p:cNvPr id="3" name="箭头: 右 2">
            <a:extLst>
              <a:ext uri="{FF2B5EF4-FFF2-40B4-BE49-F238E27FC236}">
                <a16:creationId xmlns:a16="http://schemas.microsoft.com/office/drawing/2014/main" id="{DB339647-BD80-41F7-AD3F-691A91155536}"/>
              </a:ext>
            </a:extLst>
          </p:cNvPr>
          <p:cNvSpPr/>
          <p:nvPr/>
        </p:nvSpPr>
        <p:spPr>
          <a:xfrm>
            <a:off x="2588698" y="3549560"/>
            <a:ext cx="889175" cy="4446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458A62B9-B8C9-4008-8F59-49C6DAFC8A70}"/>
              </a:ext>
            </a:extLst>
          </p:cNvPr>
          <p:cNvSpPr/>
          <p:nvPr/>
        </p:nvSpPr>
        <p:spPr>
          <a:xfrm>
            <a:off x="3783724" y="3226383"/>
            <a:ext cx="554946" cy="1090973"/>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1F68C6FB-E71B-48DC-9029-1E5FEBE4F7B8}"/>
              </a:ext>
            </a:extLst>
          </p:cNvPr>
          <p:cNvSpPr/>
          <p:nvPr/>
        </p:nvSpPr>
        <p:spPr>
          <a:xfrm>
            <a:off x="4338670" y="2629689"/>
            <a:ext cx="554946" cy="168766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3377CFCE-8950-4D1E-A2F7-250F5CBC9309}"/>
              </a:ext>
            </a:extLst>
          </p:cNvPr>
          <p:cNvSpPr/>
          <p:nvPr/>
        </p:nvSpPr>
        <p:spPr>
          <a:xfrm>
            <a:off x="4893616" y="3512557"/>
            <a:ext cx="554946" cy="80479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36B4B9DA-3786-4639-AB6E-7DEB0691AECC}"/>
              </a:ext>
            </a:extLst>
          </p:cNvPr>
          <p:cNvSpPr/>
          <p:nvPr/>
        </p:nvSpPr>
        <p:spPr>
          <a:xfrm>
            <a:off x="5448562" y="2301765"/>
            <a:ext cx="554946" cy="201994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F4BEBFE8-A7D0-4143-82F1-2930ECE1D330}"/>
              </a:ext>
            </a:extLst>
          </p:cNvPr>
          <p:cNvSpPr/>
          <p:nvPr/>
        </p:nvSpPr>
        <p:spPr>
          <a:xfrm>
            <a:off x="6003508" y="2957611"/>
            <a:ext cx="554946" cy="136409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EC0C584C-E1FC-4605-988F-E6345D0AFF78}"/>
              </a:ext>
            </a:extLst>
          </p:cNvPr>
          <p:cNvSpPr txBox="1"/>
          <p:nvPr/>
        </p:nvSpPr>
        <p:spPr>
          <a:xfrm>
            <a:off x="3783724" y="4382814"/>
            <a:ext cx="554946"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0-10</a:t>
            </a:r>
            <a:endParaRPr lang="zh-CN" altLang="en-US" sz="1200" dirty="0">
              <a:latin typeface="Arial" panose="020B0604020202020204" pitchFamily="34" charset="0"/>
              <a:cs typeface="Arial" panose="020B0604020202020204" pitchFamily="34" charset="0"/>
            </a:endParaRPr>
          </a:p>
        </p:txBody>
      </p:sp>
      <p:sp>
        <p:nvSpPr>
          <p:cNvPr id="21" name="文本框 20">
            <a:extLst>
              <a:ext uri="{FF2B5EF4-FFF2-40B4-BE49-F238E27FC236}">
                <a16:creationId xmlns:a16="http://schemas.microsoft.com/office/drawing/2014/main" id="{972DD985-87A9-469E-A592-34A4C6EF64AF}"/>
              </a:ext>
            </a:extLst>
          </p:cNvPr>
          <p:cNvSpPr txBox="1"/>
          <p:nvPr/>
        </p:nvSpPr>
        <p:spPr>
          <a:xfrm>
            <a:off x="4281914" y="4382814"/>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10-20</a:t>
            </a:r>
            <a:endParaRPr lang="zh-CN" altLang="en-US" sz="1200" dirty="0">
              <a:latin typeface="Arial" panose="020B0604020202020204" pitchFamily="34" charset="0"/>
              <a:cs typeface="Arial" panose="020B0604020202020204" pitchFamily="34" charset="0"/>
            </a:endParaRPr>
          </a:p>
        </p:txBody>
      </p:sp>
      <p:sp>
        <p:nvSpPr>
          <p:cNvPr id="22" name="文本框 21">
            <a:extLst>
              <a:ext uri="{FF2B5EF4-FFF2-40B4-BE49-F238E27FC236}">
                <a16:creationId xmlns:a16="http://schemas.microsoft.com/office/drawing/2014/main" id="{0D535C66-71A8-4883-B879-9DBFFB0671A5}"/>
              </a:ext>
            </a:extLst>
          </p:cNvPr>
          <p:cNvSpPr txBox="1"/>
          <p:nvPr/>
        </p:nvSpPr>
        <p:spPr>
          <a:xfrm>
            <a:off x="5946752" y="4382814"/>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40-50</a:t>
            </a:r>
            <a:endParaRPr lang="zh-CN" altLang="en-US" sz="1200" dirty="0">
              <a:latin typeface="Arial" panose="020B0604020202020204" pitchFamily="34" charset="0"/>
              <a:cs typeface="Arial" panose="020B0604020202020204" pitchFamily="34" charset="0"/>
            </a:endParaRPr>
          </a:p>
        </p:txBody>
      </p:sp>
      <p:sp>
        <p:nvSpPr>
          <p:cNvPr id="23" name="矩形 22">
            <a:extLst>
              <a:ext uri="{FF2B5EF4-FFF2-40B4-BE49-F238E27FC236}">
                <a16:creationId xmlns:a16="http://schemas.microsoft.com/office/drawing/2014/main" id="{E069A1F1-98FF-4A24-AE70-253014EF03ED}"/>
              </a:ext>
            </a:extLst>
          </p:cNvPr>
          <p:cNvSpPr/>
          <p:nvPr/>
        </p:nvSpPr>
        <p:spPr>
          <a:xfrm>
            <a:off x="8059331" y="3026551"/>
            <a:ext cx="554946" cy="129080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B323D52A-3C5A-437F-9BEB-ADD53F09965B}"/>
              </a:ext>
            </a:extLst>
          </p:cNvPr>
          <p:cNvSpPr/>
          <p:nvPr/>
        </p:nvSpPr>
        <p:spPr>
          <a:xfrm>
            <a:off x="8614277" y="2829523"/>
            <a:ext cx="554946" cy="148783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0A4715C7-9282-4F2F-A5F0-9532FE310513}"/>
              </a:ext>
            </a:extLst>
          </p:cNvPr>
          <p:cNvSpPr/>
          <p:nvPr/>
        </p:nvSpPr>
        <p:spPr>
          <a:xfrm>
            <a:off x="9169223" y="3582695"/>
            <a:ext cx="554946" cy="73466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7C56323F-C425-4379-A255-ACBC84C9032D}"/>
              </a:ext>
            </a:extLst>
          </p:cNvPr>
          <p:cNvSpPr/>
          <p:nvPr/>
        </p:nvSpPr>
        <p:spPr>
          <a:xfrm>
            <a:off x="9724169" y="2371135"/>
            <a:ext cx="554946" cy="195057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E864FCB2-0E02-4951-884D-047E711FCA39}"/>
              </a:ext>
            </a:extLst>
          </p:cNvPr>
          <p:cNvSpPr/>
          <p:nvPr/>
        </p:nvSpPr>
        <p:spPr>
          <a:xfrm>
            <a:off x="10279115" y="2829523"/>
            <a:ext cx="554946" cy="1492183"/>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7C034EB2-5773-49F6-8F10-615DCC49B347}"/>
              </a:ext>
            </a:extLst>
          </p:cNvPr>
          <p:cNvSpPr txBox="1"/>
          <p:nvPr/>
        </p:nvSpPr>
        <p:spPr>
          <a:xfrm>
            <a:off x="8059331" y="4382814"/>
            <a:ext cx="554946"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0-10</a:t>
            </a:r>
            <a:endParaRPr lang="zh-CN" altLang="en-US" sz="1200" dirty="0">
              <a:latin typeface="Arial" panose="020B0604020202020204" pitchFamily="34" charset="0"/>
              <a:cs typeface="Arial" panose="020B0604020202020204" pitchFamily="34" charset="0"/>
            </a:endParaRPr>
          </a:p>
        </p:txBody>
      </p:sp>
      <p:sp>
        <p:nvSpPr>
          <p:cNvPr id="29" name="文本框 28">
            <a:extLst>
              <a:ext uri="{FF2B5EF4-FFF2-40B4-BE49-F238E27FC236}">
                <a16:creationId xmlns:a16="http://schemas.microsoft.com/office/drawing/2014/main" id="{92173DDA-9F28-47C6-8169-CB912DC70445}"/>
              </a:ext>
            </a:extLst>
          </p:cNvPr>
          <p:cNvSpPr txBox="1"/>
          <p:nvPr/>
        </p:nvSpPr>
        <p:spPr>
          <a:xfrm>
            <a:off x="8557521" y="4382814"/>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10-20</a:t>
            </a:r>
            <a:endParaRPr lang="zh-CN" altLang="en-US" sz="1200" dirty="0">
              <a:latin typeface="Arial" panose="020B0604020202020204" pitchFamily="34" charset="0"/>
              <a:cs typeface="Arial" panose="020B0604020202020204" pitchFamily="34" charset="0"/>
            </a:endParaRPr>
          </a:p>
        </p:txBody>
      </p:sp>
      <p:sp>
        <p:nvSpPr>
          <p:cNvPr id="30" name="文本框 29">
            <a:extLst>
              <a:ext uri="{FF2B5EF4-FFF2-40B4-BE49-F238E27FC236}">
                <a16:creationId xmlns:a16="http://schemas.microsoft.com/office/drawing/2014/main" id="{53655539-215F-4214-9139-46A8FE84669F}"/>
              </a:ext>
            </a:extLst>
          </p:cNvPr>
          <p:cNvSpPr txBox="1"/>
          <p:nvPr/>
        </p:nvSpPr>
        <p:spPr>
          <a:xfrm>
            <a:off x="10222359" y="4382814"/>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40-50</a:t>
            </a:r>
            <a:endParaRPr lang="zh-CN" altLang="en-US" sz="1200" dirty="0">
              <a:latin typeface="Arial" panose="020B0604020202020204" pitchFamily="34" charset="0"/>
              <a:cs typeface="Arial" panose="020B0604020202020204" pitchFamily="34" charset="0"/>
            </a:endParaRPr>
          </a:p>
        </p:txBody>
      </p:sp>
      <p:sp>
        <p:nvSpPr>
          <p:cNvPr id="31" name="箭头: 右 30">
            <a:extLst>
              <a:ext uri="{FF2B5EF4-FFF2-40B4-BE49-F238E27FC236}">
                <a16:creationId xmlns:a16="http://schemas.microsoft.com/office/drawing/2014/main" id="{1F734A94-12E7-4745-9542-E1C5C7114D6D}"/>
              </a:ext>
            </a:extLst>
          </p:cNvPr>
          <p:cNvSpPr/>
          <p:nvPr/>
        </p:nvSpPr>
        <p:spPr>
          <a:xfrm>
            <a:off x="6864305" y="3549560"/>
            <a:ext cx="889175" cy="4446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Arial" panose="020B0604020202020204" pitchFamily="34" charset="0"/>
                <a:cs typeface="Arial" panose="020B0604020202020204" pitchFamily="34" charset="0"/>
              </a:rPr>
              <a:t>DP</a:t>
            </a:r>
            <a:endParaRPr lang="zh-CN" altLang="en-US" b="1" dirty="0">
              <a:latin typeface="Arial" panose="020B0604020202020204" pitchFamily="34" charset="0"/>
              <a:cs typeface="Arial" panose="020B0604020202020204" pitchFamily="34" charset="0"/>
            </a:endParaRPr>
          </a:p>
        </p:txBody>
      </p:sp>
      <p:sp>
        <p:nvSpPr>
          <p:cNvPr id="32" name="矩形 31">
            <a:extLst>
              <a:ext uri="{FF2B5EF4-FFF2-40B4-BE49-F238E27FC236}">
                <a16:creationId xmlns:a16="http://schemas.microsoft.com/office/drawing/2014/main" id="{7F589E13-0017-4591-8FDA-79F90392C6C7}"/>
              </a:ext>
            </a:extLst>
          </p:cNvPr>
          <p:cNvSpPr/>
          <p:nvPr/>
        </p:nvSpPr>
        <p:spPr>
          <a:xfrm>
            <a:off x="8614277" y="2632496"/>
            <a:ext cx="554946" cy="19702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6BD6FF1F-4083-4F9A-AE16-8CB57FB35AB6}"/>
              </a:ext>
            </a:extLst>
          </p:cNvPr>
          <p:cNvSpPr/>
          <p:nvPr/>
        </p:nvSpPr>
        <p:spPr>
          <a:xfrm>
            <a:off x="8059331" y="3026550"/>
            <a:ext cx="554946" cy="19702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B37C89A7-61BF-4EDA-88AE-F7F5F357331E}"/>
              </a:ext>
            </a:extLst>
          </p:cNvPr>
          <p:cNvSpPr/>
          <p:nvPr/>
        </p:nvSpPr>
        <p:spPr>
          <a:xfrm>
            <a:off x="9169223" y="3508208"/>
            <a:ext cx="554946" cy="7448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E7413F60-46E7-44EF-B989-4E937FE6BEA9}"/>
              </a:ext>
            </a:extLst>
          </p:cNvPr>
          <p:cNvSpPr/>
          <p:nvPr/>
        </p:nvSpPr>
        <p:spPr>
          <a:xfrm>
            <a:off x="9724169" y="2300675"/>
            <a:ext cx="554946" cy="7046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E522B57D-59D6-4A40-A235-7AF5274B73B0}"/>
              </a:ext>
            </a:extLst>
          </p:cNvPr>
          <p:cNvSpPr/>
          <p:nvPr/>
        </p:nvSpPr>
        <p:spPr>
          <a:xfrm>
            <a:off x="10279115" y="2829523"/>
            <a:ext cx="554946" cy="12914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50BEFFEA-4285-45A9-8B74-861C4822C716}"/>
              </a:ext>
            </a:extLst>
          </p:cNvPr>
          <p:cNvSpPr txBox="1"/>
          <p:nvPr/>
        </p:nvSpPr>
        <p:spPr>
          <a:xfrm>
            <a:off x="5114333" y="4382813"/>
            <a:ext cx="611702" cy="276999"/>
          </a:xfrm>
          <a:prstGeom prst="rect">
            <a:avLst/>
          </a:prstGeom>
          <a:noFill/>
        </p:spPr>
        <p:txBody>
          <a:bodyPr wrap="square" rtlCol="0">
            <a:spAutoFit/>
          </a:bodyPr>
          <a:lstStyle/>
          <a:p>
            <a:pPr algn="ctr"/>
            <a:r>
              <a:rPr lang="en-US" altLang="zh-CN" sz="1200" b="1" dirty="0">
                <a:latin typeface="Arial" panose="020B0604020202020204" pitchFamily="34" charset="0"/>
                <a:cs typeface="Arial" panose="020B0604020202020204" pitchFamily="34" charset="0"/>
              </a:rPr>
              <a:t>….</a:t>
            </a:r>
            <a:endParaRPr lang="zh-CN" altLang="en-US" sz="1200" b="1" dirty="0">
              <a:latin typeface="Arial" panose="020B0604020202020204" pitchFamily="34" charset="0"/>
              <a:cs typeface="Arial" panose="020B0604020202020204" pitchFamily="34" charset="0"/>
            </a:endParaRPr>
          </a:p>
        </p:txBody>
      </p:sp>
      <p:sp>
        <p:nvSpPr>
          <p:cNvPr id="40" name="文本框 39">
            <a:extLst>
              <a:ext uri="{FF2B5EF4-FFF2-40B4-BE49-F238E27FC236}">
                <a16:creationId xmlns:a16="http://schemas.microsoft.com/office/drawing/2014/main" id="{7DF3AA13-984F-4600-872D-F2EE653D2E48}"/>
              </a:ext>
            </a:extLst>
          </p:cNvPr>
          <p:cNvSpPr txBox="1"/>
          <p:nvPr/>
        </p:nvSpPr>
        <p:spPr>
          <a:xfrm>
            <a:off x="9402552" y="4382813"/>
            <a:ext cx="611702" cy="276999"/>
          </a:xfrm>
          <a:prstGeom prst="rect">
            <a:avLst/>
          </a:prstGeom>
          <a:noFill/>
        </p:spPr>
        <p:txBody>
          <a:bodyPr wrap="square" rtlCol="0">
            <a:spAutoFit/>
          </a:bodyPr>
          <a:lstStyle/>
          <a:p>
            <a:pPr algn="ctr"/>
            <a:r>
              <a:rPr lang="en-US" altLang="zh-CN" sz="1200" b="1" dirty="0">
                <a:latin typeface="Arial" panose="020B0604020202020204" pitchFamily="34" charset="0"/>
                <a:cs typeface="Arial" panose="020B0604020202020204" pitchFamily="34" charset="0"/>
              </a:rPr>
              <a:t>….</a:t>
            </a:r>
            <a:endParaRPr lang="zh-CN" altLang="en-US"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27981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Laplace mechanism—example</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Histogram Publish</a:t>
            </a:r>
            <a:endParaRPr lang="zh-CN" altLang="en-US" b="1" dirty="0">
              <a:latin typeface="Arial" panose="020B0604020202020204" pitchFamily="34" charset="0"/>
              <a:cs typeface="Arial" panose="020B0604020202020204" pitchFamily="34" charset="0"/>
            </a:endParaRPr>
          </a:p>
        </p:txBody>
      </p:sp>
      <p:graphicFrame>
        <p:nvGraphicFramePr>
          <p:cNvPr id="2" name="表格 2">
            <a:extLst>
              <a:ext uri="{FF2B5EF4-FFF2-40B4-BE49-F238E27FC236}">
                <a16:creationId xmlns:a16="http://schemas.microsoft.com/office/drawing/2014/main" id="{1D8C3445-4051-48B3-8332-52770B5AE069}"/>
              </a:ext>
            </a:extLst>
          </p:cNvPr>
          <p:cNvGraphicFramePr>
            <a:graphicFrameLocks noGrp="1"/>
          </p:cNvGraphicFramePr>
          <p:nvPr>
            <p:extLst>
              <p:ext uri="{D42A27DB-BD31-4B8C-83A1-F6EECF244321}">
                <p14:modId xmlns:p14="http://schemas.microsoft.com/office/powerpoint/2010/main" val="2255199735"/>
              </p:ext>
            </p:extLst>
          </p:nvPr>
        </p:nvGraphicFramePr>
        <p:xfrm>
          <a:off x="310405" y="2674590"/>
          <a:ext cx="1972442" cy="2194560"/>
        </p:xfrm>
        <a:graphic>
          <a:graphicData uri="http://schemas.openxmlformats.org/drawingml/2006/table">
            <a:tbl>
              <a:tblPr firstRow="1" bandRow="1">
                <a:tableStyleId>{93296810-A885-4BE3-A3E7-6D5BEEA58F35}</a:tableStyleId>
              </a:tblPr>
              <a:tblGrid>
                <a:gridCol w="986221">
                  <a:extLst>
                    <a:ext uri="{9D8B030D-6E8A-4147-A177-3AD203B41FA5}">
                      <a16:colId xmlns:a16="http://schemas.microsoft.com/office/drawing/2014/main" val="1238765568"/>
                    </a:ext>
                  </a:extLst>
                </a:gridCol>
                <a:gridCol w="986221">
                  <a:extLst>
                    <a:ext uri="{9D8B030D-6E8A-4147-A177-3AD203B41FA5}">
                      <a16:colId xmlns:a16="http://schemas.microsoft.com/office/drawing/2014/main" val="2422194543"/>
                    </a:ext>
                  </a:extLst>
                </a:gridCol>
              </a:tblGrid>
              <a:tr h="353021">
                <a:tc>
                  <a:txBody>
                    <a:bodyPr/>
                    <a:lstStyle/>
                    <a:p>
                      <a:pPr marL="0" algn="ctr" defTabSz="914400" rtl="0" eaLnBrk="1" latinLnBrk="0" hangingPunct="1"/>
                      <a:r>
                        <a:rPr lang="en-US" altLang="zh-CN" sz="1800" b="1" kern="1200" dirty="0">
                          <a:solidFill>
                            <a:schemeClr val="tx1"/>
                          </a:solidFill>
                        </a:rPr>
                        <a:t>ID</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800" b="1" kern="1200" dirty="0">
                          <a:solidFill>
                            <a:schemeClr val="tx1"/>
                          </a:solidFill>
                        </a:rPr>
                        <a:t>Age</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752317120"/>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1</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800" b="1" kern="1200" dirty="0">
                          <a:solidFill>
                            <a:schemeClr val="tx1"/>
                          </a:solidFill>
                          <a:latin typeface="+mn-lt"/>
                          <a:ea typeface="+mn-ea"/>
                          <a:cs typeface="+mn-cs"/>
                        </a:rPr>
                        <a:t>10</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460415473"/>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2</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800" b="1" kern="1200" dirty="0">
                          <a:solidFill>
                            <a:schemeClr val="tx1"/>
                          </a:solidFill>
                          <a:latin typeface="+mn-lt"/>
                          <a:ea typeface="+mn-ea"/>
                          <a:cs typeface="+mn-cs"/>
                        </a:rPr>
                        <a:t>21</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582642059"/>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3</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800" b="1" kern="1200" dirty="0">
                          <a:solidFill>
                            <a:schemeClr val="tx1"/>
                          </a:solidFill>
                          <a:latin typeface="+mn-lt"/>
                          <a:ea typeface="+mn-ea"/>
                          <a:cs typeface="+mn-cs"/>
                        </a:rPr>
                        <a:t>35</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46871934"/>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289250877"/>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n</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800" b="1" kern="1200" dirty="0">
                          <a:solidFill>
                            <a:schemeClr val="tx1"/>
                          </a:solidFill>
                          <a:latin typeface="+mn-lt"/>
                          <a:ea typeface="+mn-ea"/>
                          <a:cs typeface="+mn-cs"/>
                        </a:rPr>
                        <a:t>18</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812739183"/>
                  </a:ext>
                </a:extLst>
              </a:tr>
            </a:tbl>
          </a:graphicData>
        </a:graphic>
      </p:graphicFrame>
      <p:sp>
        <p:nvSpPr>
          <p:cNvPr id="3" name="箭头: 右 2">
            <a:extLst>
              <a:ext uri="{FF2B5EF4-FFF2-40B4-BE49-F238E27FC236}">
                <a16:creationId xmlns:a16="http://schemas.microsoft.com/office/drawing/2014/main" id="{DB339647-BD80-41F7-AD3F-691A91155536}"/>
              </a:ext>
            </a:extLst>
          </p:cNvPr>
          <p:cNvSpPr/>
          <p:nvPr/>
        </p:nvSpPr>
        <p:spPr>
          <a:xfrm>
            <a:off x="2588698" y="3549560"/>
            <a:ext cx="889175" cy="4446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458A62B9-B8C9-4008-8F59-49C6DAFC8A70}"/>
              </a:ext>
            </a:extLst>
          </p:cNvPr>
          <p:cNvSpPr/>
          <p:nvPr/>
        </p:nvSpPr>
        <p:spPr>
          <a:xfrm>
            <a:off x="3783724" y="3226383"/>
            <a:ext cx="554946" cy="1090973"/>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1F68C6FB-E71B-48DC-9029-1E5FEBE4F7B8}"/>
              </a:ext>
            </a:extLst>
          </p:cNvPr>
          <p:cNvSpPr/>
          <p:nvPr/>
        </p:nvSpPr>
        <p:spPr>
          <a:xfrm>
            <a:off x="4338670" y="2629689"/>
            <a:ext cx="554946" cy="168766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3377CFCE-8950-4D1E-A2F7-250F5CBC9309}"/>
              </a:ext>
            </a:extLst>
          </p:cNvPr>
          <p:cNvSpPr/>
          <p:nvPr/>
        </p:nvSpPr>
        <p:spPr>
          <a:xfrm>
            <a:off x="4893616" y="3512557"/>
            <a:ext cx="554946" cy="80479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36B4B9DA-3786-4639-AB6E-7DEB0691AECC}"/>
              </a:ext>
            </a:extLst>
          </p:cNvPr>
          <p:cNvSpPr/>
          <p:nvPr/>
        </p:nvSpPr>
        <p:spPr>
          <a:xfrm>
            <a:off x="5448562" y="2301765"/>
            <a:ext cx="554946" cy="201994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F4BEBFE8-A7D0-4143-82F1-2930ECE1D330}"/>
              </a:ext>
            </a:extLst>
          </p:cNvPr>
          <p:cNvSpPr/>
          <p:nvPr/>
        </p:nvSpPr>
        <p:spPr>
          <a:xfrm>
            <a:off x="6003508" y="2957611"/>
            <a:ext cx="554946" cy="136409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EC0C584C-E1FC-4605-988F-E6345D0AFF78}"/>
              </a:ext>
            </a:extLst>
          </p:cNvPr>
          <p:cNvSpPr txBox="1"/>
          <p:nvPr/>
        </p:nvSpPr>
        <p:spPr>
          <a:xfrm>
            <a:off x="3783724" y="4382814"/>
            <a:ext cx="554946"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0-10</a:t>
            </a:r>
            <a:endParaRPr lang="zh-CN" altLang="en-US" sz="1200" dirty="0">
              <a:latin typeface="Arial" panose="020B0604020202020204" pitchFamily="34" charset="0"/>
              <a:cs typeface="Arial" panose="020B0604020202020204" pitchFamily="34" charset="0"/>
            </a:endParaRPr>
          </a:p>
        </p:txBody>
      </p:sp>
      <p:sp>
        <p:nvSpPr>
          <p:cNvPr id="21" name="文本框 20">
            <a:extLst>
              <a:ext uri="{FF2B5EF4-FFF2-40B4-BE49-F238E27FC236}">
                <a16:creationId xmlns:a16="http://schemas.microsoft.com/office/drawing/2014/main" id="{972DD985-87A9-469E-A592-34A4C6EF64AF}"/>
              </a:ext>
            </a:extLst>
          </p:cNvPr>
          <p:cNvSpPr txBox="1"/>
          <p:nvPr/>
        </p:nvSpPr>
        <p:spPr>
          <a:xfrm>
            <a:off x="4281914" y="4382814"/>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10-20</a:t>
            </a:r>
            <a:endParaRPr lang="zh-CN" altLang="en-US" sz="1200" dirty="0">
              <a:latin typeface="Arial" panose="020B0604020202020204" pitchFamily="34" charset="0"/>
              <a:cs typeface="Arial" panose="020B0604020202020204" pitchFamily="34" charset="0"/>
            </a:endParaRPr>
          </a:p>
        </p:txBody>
      </p:sp>
      <p:sp>
        <p:nvSpPr>
          <p:cNvPr id="22" name="文本框 21">
            <a:extLst>
              <a:ext uri="{FF2B5EF4-FFF2-40B4-BE49-F238E27FC236}">
                <a16:creationId xmlns:a16="http://schemas.microsoft.com/office/drawing/2014/main" id="{0D535C66-71A8-4883-B879-9DBFFB0671A5}"/>
              </a:ext>
            </a:extLst>
          </p:cNvPr>
          <p:cNvSpPr txBox="1"/>
          <p:nvPr/>
        </p:nvSpPr>
        <p:spPr>
          <a:xfrm>
            <a:off x="5946752" y="4382814"/>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40-50</a:t>
            </a:r>
            <a:endParaRPr lang="zh-CN" altLang="en-US" sz="1200" dirty="0">
              <a:latin typeface="Arial" panose="020B0604020202020204" pitchFamily="34" charset="0"/>
              <a:cs typeface="Arial" panose="020B0604020202020204" pitchFamily="34" charset="0"/>
            </a:endParaRPr>
          </a:p>
        </p:txBody>
      </p:sp>
      <p:sp>
        <p:nvSpPr>
          <p:cNvPr id="23" name="矩形 22">
            <a:extLst>
              <a:ext uri="{FF2B5EF4-FFF2-40B4-BE49-F238E27FC236}">
                <a16:creationId xmlns:a16="http://schemas.microsoft.com/office/drawing/2014/main" id="{E069A1F1-98FF-4A24-AE70-253014EF03ED}"/>
              </a:ext>
            </a:extLst>
          </p:cNvPr>
          <p:cNvSpPr/>
          <p:nvPr/>
        </p:nvSpPr>
        <p:spPr>
          <a:xfrm>
            <a:off x="8059331" y="3026551"/>
            <a:ext cx="554946" cy="129080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B323D52A-3C5A-437F-9BEB-ADD53F09965B}"/>
              </a:ext>
            </a:extLst>
          </p:cNvPr>
          <p:cNvSpPr/>
          <p:nvPr/>
        </p:nvSpPr>
        <p:spPr>
          <a:xfrm>
            <a:off x="8614277" y="2829523"/>
            <a:ext cx="554946" cy="148783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0A4715C7-9282-4F2F-A5F0-9532FE310513}"/>
              </a:ext>
            </a:extLst>
          </p:cNvPr>
          <p:cNvSpPr/>
          <p:nvPr/>
        </p:nvSpPr>
        <p:spPr>
          <a:xfrm>
            <a:off x="9169223" y="3582695"/>
            <a:ext cx="554946" cy="73466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7C56323F-C425-4379-A255-ACBC84C9032D}"/>
              </a:ext>
            </a:extLst>
          </p:cNvPr>
          <p:cNvSpPr/>
          <p:nvPr/>
        </p:nvSpPr>
        <p:spPr>
          <a:xfrm>
            <a:off x="9724169" y="2371135"/>
            <a:ext cx="554946" cy="195057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E864FCB2-0E02-4951-884D-047E711FCA39}"/>
              </a:ext>
            </a:extLst>
          </p:cNvPr>
          <p:cNvSpPr/>
          <p:nvPr/>
        </p:nvSpPr>
        <p:spPr>
          <a:xfrm>
            <a:off x="10279115" y="2829523"/>
            <a:ext cx="554946" cy="1492183"/>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7C034EB2-5773-49F6-8F10-615DCC49B347}"/>
              </a:ext>
            </a:extLst>
          </p:cNvPr>
          <p:cNvSpPr txBox="1"/>
          <p:nvPr/>
        </p:nvSpPr>
        <p:spPr>
          <a:xfrm>
            <a:off x="8059331" y="4382814"/>
            <a:ext cx="554946"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0-10</a:t>
            </a:r>
            <a:endParaRPr lang="zh-CN" altLang="en-US" sz="1200" dirty="0">
              <a:latin typeface="Arial" panose="020B0604020202020204" pitchFamily="34" charset="0"/>
              <a:cs typeface="Arial" panose="020B0604020202020204" pitchFamily="34" charset="0"/>
            </a:endParaRPr>
          </a:p>
        </p:txBody>
      </p:sp>
      <p:sp>
        <p:nvSpPr>
          <p:cNvPr id="29" name="文本框 28">
            <a:extLst>
              <a:ext uri="{FF2B5EF4-FFF2-40B4-BE49-F238E27FC236}">
                <a16:creationId xmlns:a16="http://schemas.microsoft.com/office/drawing/2014/main" id="{92173DDA-9F28-47C6-8169-CB912DC70445}"/>
              </a:ext>
            </a:extLst>
          </p:cNvPr>
          <p:cNvSpPr txBox="1"/>
          <p:nvPr/>
        </p:nvSpPr>
        <p:spPr>
          <a:xfrm>
            <a:off x="8557521" y="4382814"/>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10-20</a:t>
            </a:r>
            <a:endParaRPr lang="zh-CN" altLang="en-US" sz="1200" dirty="0">
              <a:latin typeface="Arial" panose="020B0604020202020204" pitchFamily="34" charset="0"/>
              <a:cs typeface="Arial" panose="020B0604020202020204" pitchFamily="34" charset="0"/>
            </a:endParaRPr>
          </a:p>
        </p:txBody>
      </p:sp>
      <p:sp>
        <p:nvSpPr>
          <p:cNvPr id="30" name="文本框 29">
            <a:extLst>
              <a:ext uri="{FF2B5EF4-FFF2-40B4-BE49-F238E27FC236}">
                <a16:creationId xmlns:a16="http://schemas.microsoft.com/office/drawing/2014/main" id="{53655539-215F-4214-9139-46A8FE84669F}"/>
              </a:ext>
            </a:extLst>
          </p:cNvPr>
          <p:cNvSpPr txBox="1"/>
          <p:nvPr/>
        </p:nvSpPr>
        <p:spPr>
          <a:xfrm>
            <a:off x="10222359" y="4382814"/>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40-50</a:t>
            </a:r>
            <a:endParaRPr lang="zh-CN" altLang="en-US" sz="1200" dirty="0">
              <a:latin typeface="Arial" panose="020B0604020202020204" pitchFamily="34" charset="0"/>
              <a:cs typeface="Arial" panose="020B0604020202020204" pitchFamily="34" charset="0"/>
            </a:endParaRPr>
          </a:p>
        </p:txBody>
      </p:sp>
      <p:sp>
        <p:nvSpPr>
          <p:cNvPr id="31" name="箭头: 右 30">
            <a:extLst>
              <a:ext uri="{FF2B5EF4-FFF2-40B4-BE49-F238E27FC236}">
                <a16:creationId xmlns:a16="http://schemas.microsoft.com/office/drawing/2014/main" id="{1F734A94-12E7-4745-9542-E1C5C7114D6D}"/>
              </a:ext>
            </a:extLst>
          </p:cNvPr>
          <p:cNvSpPr/>
          <p:nvPr/>
        </p:nvSpPr>
        <p:spPr>
          <a:xfrm>
            <a:off x="6864305" y="3549560"/>
            <a:ext cx="889175" cy="4446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Arial" panose="020B0604020202020204" pitchFamily="34" charset="0"/>
                <a:cs typeface="Arial" panose="020B0604020202020204" pitchFamily="34" charset="0"/>
              </a:rPr>
              <a:t>DP</a:t>
            </a:r>
            <a:endParaRPr lang="zh-CN" altLang="en-US" b="1" dirty="0">
              <a:latin typeface="Arial" panose="020B0604020202020204" pitchFamily="34" charset="0"/>
              <a:cs typeface="Arial" panose="020B0604020202020204" pitchFamily="34" charset="0"/>
            </a:endParaRPr>
          </a:p>
        </p:txBody>
      </p:sp>
      <p:sp>
        <p:nvSpPr>
          <p:cNvPr id="32" name="矩形 31">
            <a:extLst>
              <a:ext uri="{FF2B5EF4-FFF2-40B4-BE49-F238E27FC236}">
                <a16:creationId xmlns:a16="http://schemas.microsoft.com/office/drawing/2014/main" id="{7F589E13-0017-4591-8FDA-79F90392C6C7}"/>
              </a:ext>
            </a:extLst>
          </p:cNvPr>
          <p:cNvSpPr/>
          <p:nvPr/>
        </p:nvSpPr>
        <p:spPr>
          <a:xfrm>
            <a:off x="8614277" y="2632496"/>
            <a:ext cx="554946" cy="19702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6BD6FF1F-4083-4F9A-AE16-8CB57FB35AB6}"/>
              </a:ext>
            </a:extLst>
          </p:cNvPr>
          <p:cNvSpPr/>
          <p:nvPr/>
        </p:nvSpPr>
        <p:spPr>
          <a:xfrm>
            <a:off x="8059331" y="3026550"/>
            <a:ext cx="554946" cy="19702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B37C89A7-61BF-4EDA-88AE-F7F5F357331E}"/>
              </a:ext>
            </a:extLst>
          </p:cNvPr>
          <p:cNvSpPr/>
          <p:nvPr/>
        </p:nvSpPr>
        <p:spPr>
          <a:xfrm>
            <a:off x="9169223" y="3508208"/>
            <a:ext cx="554946" cy="7448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E7413F60-46E7-44EF-B989-4E937FE6BEA9}"/>
              </a:ext>
            </a:extLst>
          </p:cNvPr>
          <p:cNvSpPr/>
          <p:nvPr/>
        </p:nvSpPr>
        <p:spPr>
          <a:xfrm>
            <a:off x="9724169" y="2300675"/>
            <a:ext cx="554946" cy="7046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E522B57D-59D6-4A40-A235-7AF5274B73B0}"/>
              </a:ext>
            </a:extLst>
          </p:cNvPr>
          <p:cNvSpPr/>
          <p:nvPr/>
        </p:nvSpPr>
        <p:spPr>
          <a:xfrm>
            <a:off x="10279115" y="2829523"/>
            <a:ext cx="554946" cy="12914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50BEFFEA-4285-45A9-8B74-861C4822C716}"/>
              </a:ext>
            </a:extLst>
          </p:cNvPr>
          <p:cNvSpPr txBox="1"/>
          <p:nvPr/>
        </p:nvSpPr>
        <p:spPr>
          <a:xfrm>
            <a:off x="5114333" y="4382813"/>
            <a:ext cx="611702" cy="276999"/>
          </a:xfrm>
          <a:prstGeom prst="rect">
            <a:avLst/>
          </a:prstGeom>
          <a:noFill/>
        </p:spPr>
        <p:txBody>
          <a:bodyPr wrap="square" rtlCol="0">
            <a:spAutoFit/>
          </a:bodyPr>
          <a:lstStyle/>
          <a:p>
            <a:pPr algn="ctr"/>
            <a:r>
              <a:rPr lang="en-US" altLang="zh-CN" sz="1200" b="1" dirty="0">
                <a:latin typeface="Arial" panose="020B0604020202020204" pitchFamily="34" charset="0"/>
                <a:cs typeface="Arial" panose="020B0604020202020204" pitchFamily="34" charset="0"/>
              </a:rPr>
              <a:t>….</a:t>
            </a:r>
            <a:endParaRPr lang="zh-CN" altLang="en-US" sz="1200" b="1" dirty="0">
              <a:latin typeface="Arial" panose="020B0604020202020204" pitchFamily="34" charset="0"/>
              <a:cs typeface="Arial" panose="020B0604020202020204" pitchFamily="34" charset="0"/>
            </a:endParaRPr>
          </a:p>
        </p:txBody>
      </p:sp>
      <p:sp>
        <p:nvSpPr>
          <p:cNvPr id="40" name="文本框 39">
            <a:extLst>
              <a:ext uri="{FF2B5EF4-FFF2-40B4-BE49-F238E27FC236}">
                <a16:creationId xmlns:a16="http://schemas.microsoft.com/office/drawing/2014/main" id="{7DF3AA13-984F-4600-872D-F2EE653D2E48}"/>
              </a:ext>
            </a:extLst>
          </p:cNvPr>
          <p:cNvSpPr txBox="1"/>
          <p:nvPr/>
        </p:nvSpPr>
        <p:spPr>
          <a:xfrm>
            <a:off x="9402552" y="4382813"/>
            <a:ext cx="611702" cy="276999"/>
          </a:xfrm>
          <a:prstGeom prst="rect">
            <a:avLst/>
          </a:prstGeom>
          <a:noFill/>
        </p:spPr>
        <p:txBody>
          <a:bodyPr wrap="square" rtlCol="0">
            <a:spAutoFit/>
          </a:bodyPr>
          <a:lstStyle/>
          <a:p>
            <a:pPr algn="ctr"/>
            <a:r>
              <a:rPr lang="en-US" altLang="zh-CN" sz="1200" b="1" dirty="0">
                <a:latin typeface="Arial" panose="020B0604020202020204" pitchFamily="34" charset="0"/>
                <a:cs typeface="Arial" panose="020B0604020202020204" pitchFamily="34" charset="0"/>
              </a:rPr>
              <a:t>….</a:t>
            </a:r>
            <a:endParaRPr lang="zh-CN" altLang="en-US" sz="12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F7ADEFD6-26A6-4CD6-8514-C38140538678}"/>
                  </a:ext>
                </a:extLst>
              </p:cNvPr>
              <p:cNvSpPr txBox="1"/>
              <p:nvPr/>
            </p:nvSpPr>
            <p:spPr>
              <a:xfrm>
                <a:off x="378372" y="5271989"/>
                <a:ext cx="11148165" cy="1060868"/>
              </a:xfrm>
              <a:prstGeom prst="rect">
                <a:avLst/>
              </a:prstGeom>
              <a:noFill/>
            </p:spPr>
            <p:txBody>
              <a:bodyPr wrap="square" rtlCol="0">
                <a:spAutoFit/>
              </a:bodyPr>
              <a:lstStyle/>
              <a:p>
                <a:pPr marL="285750" indent="-285750">
                  <a:buFont typeface="Arial" panose="020B0604020202020204" pitchFamily="34" charset="0"/>
                  <a:buChar char="•"/>
                </a:pPr>
                <a:r>
                  <a:rPr lang="en-US" altLang="zh-CN" b="0" dirty="0">
                    <a:latin typeface="Arial" panose="020B0604020202020204" pitchFamily="34" charset="0"/>
                    <a:cs typeface="Arial" panose="020B0604020202020204" pitchFamily="34" charset="0"/>
                  </a:rPr>
                  <a:t>Function</a:t>
                </a:r>
                <a:r>
                  <a:rPr lang="en-US" altLang="zh-CN" b="0" dirty="0">
                    <a:cs typeface="Arial" panose="020B0604020202020204" pitchFamily="34" charset="0"/>
                  </a:rPr>
                  <a:t> </a:t>
                </a:r>
                <a14:m>
                  <m:oMath xmlns:m="http://schemas.openxmlformats.org/officeDocument/2006/math">
                    <m:r>
                      <a:rPr lang="en-US" altLang="zh-CN" b="0" i="1" smtClean="0">
                        <a:latin typeface="Cambria Math" panose="02040503050406030204" pitchFamily="18" charset="0"/>
                        <a:cs typeface="Arial" panose="020B0604020202020204" pitchFamily="34" charset="0"/>
                      </a:rPr>
                      <m:t>𝑓</m:t>
                    </m:r>
                  </m:oMath>
                </a14:m>
                <a:r>
                  <a:rPr lang="en-US" altLang="zh-CN" dirty="0">
                    <a:latin typeface="Arial" panose="020B0604020202020204" pitchFamily="34" charset="0"/>
                    <a:cs typeface="Arial" panose="020B0604020202020204" pitchFamily="34" charset="0"/>
                  </a:rPr>
                  <a:t> is Count</a:t>
                </a:r>
              </a:p>
              <a:p>
                <a:pPr marL="285750" indent="-285750">
                  <a:buFont typeface="Arial" panose="020B0604020202020204" pitchFamily="34" charset="0"/>
                  <a:buChar char="•"/>
                </a:pPr>
                <a:r>
                  <a:rPr lang="en-US" altLang="zh-CN" dirty="0">
                    <a:latin typeface="Arial" panose="020B0604020202020204" pitchFamily="34" charset="0"/>
                    <a:cs typeface="Arial" panose="020B0604020202020204" pitchFamily="34" charset="0"/>
                  </a:rPr>
                  <a:t>Sensitivity </a:t>
                </a:r>
                <a14:m>
                  <m:oMath xmlns:m="http://schemas.openxmlformats.org/officeDocument/2006/math">
                    <m:r>
                      <m:rPr>
                        <m:sty m:val="p"/>
                      </m:rPr>
                      <a:rPr lang="en-US" altLang="zh-CN" b="0" i="0" smtClean="0">
                        <a:latin typeface="Cambria Math" panose="02040503050406030204" pitchFamily="18" charset="0"/>
                      </a:rPr>
                      <m:t>Δ</m:t>
                    </m:r>
                    <m:r>
                      <a:rPr lang="en-US" altLang="zh-CN" b="0" i="1" smtClean="0">
                        <a:latin typeface="Cambria Math" panose="02040503050406030204" pitchFamily="18" charset="0"/>
                      </a:rPr>
                      <m:t>𝑓</m:t>
                    </m:r>
                    <m:r>
                      <a:rPr lang="en-US" altLang="zh-CN" b="0" i="1" smtClean="0">
                        <a:latin typeface="Cambria Math" panose="02040503050406030204" pitchFamily="18" charset="0"/>
                      </a:rPr>
                      <m:t>=1</m:t>
                    </m:r>
                  </m:oMath>
                </a14:m>
                <a:endParaRPr lang="en-US" altLang="zh-C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zh-CN" dirty="0">
                    <a:latin typeface="Arial" panose="020B0604020202020204" pitchFamily="34" charset="0"/>
                    <a:cs typeface="Arial" panose="020B0604020202020204" pitchFamily="34" charset="0"/>
                  </a:rPr>
                  <a:t>Noise is </a:t>
                </a:r>
                <a14:m>
                  <m:oMath xmlns:m="http://schemas.openxmlformats.org/officeDocument/2006/math">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𝐿𝑎𝑝</m:t>
                        </m:r>
                        <m:d>
                          <m:dPr>
                            <m:ctrlPr>
                              <a:rPr lang="en-US" altLang="zh-CN" b="0" i="1" smtClean="0">
                                <a:latin typeface="Cambria Math" panose="02040503050406030204" pitchFamily="18" charset="0"/>
                                <a:cs typeface="Arial" panose="020B0604020202020204" pitchFamily="34" charset="0"/>
                              </a:rPr>
                            </m:ctrlPr>
                          </m:dPr>
                          <m:e>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1</m:t>
                                </m:r>
                              </m:num>
                              <m:den>
                                <m:r>
                                  <a:rPr lang="en-US" altLang="zh-CN" b="0" i="1" smtClean="0">
                                    <a:latin typeface="Cambria Math" panose="02040503050406030204" pitchFamily="18" charset="0"/>
                                    <a:cs typeface="Arial" panose="020B0604020202020204" pitchFamily="34" charset="0"/>
                                  </a:rPr>
                                  <m:t>𝜖</m:t>
                                </m:r>
                              </m:den>
                            </m:f>
                          </m:e>
                        </m:d>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𝐿𝑎𝑝</m:t>
                        </m:r>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1</m:t>
                                </m:r>
                              </m:num>
                              <m:den>
                                <m:r>
                                  <a:rPr lang="en-US" altLang="zh-CN" i="1">
                                    <a:latin typeface="Cambria Math" panose="02040503050406030204" pitchFamily="18" charset="0"/>
                                    <a:cs typeface="Arial" panose="020B0604020202020204" pitchFamily="34" charset="0"/>
                                  </a:rPr>
                                  <m:t>𝜖</m:t>
                                </m:r>
                              </m:den>
                            </m:f>
                          </m:e>
                        </m:d>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𝐿𝑎𝑝</m:t>
                        </m:r>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1</m:t>
                                </m:r>
                              </m:num>
                              <m:den>
                                <m:r>
                                  <a:rPr lang="en-US" altLang="zh-CN" i="1">
                                    <a:latin typeface="Cambria Math" panose="02040503050406030204" pitchFamily="18" charset="0"/>
                                    <a:cs typeface="Arial" panose="020B0604020202020204" pitchFamily="34" charset="0"/>
                                  </a:rPr>
                                  <m:t>𝜖</m:t>
                                </m:r>
                              </m:den>
                            </m:f>
                          </m:e>
                        </m:d>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𝐿𝑎𝑝</m:t>
                        </m:r>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1</m:t>
                                </m:r>
                              </m:num>
                              <m:den>
                                <m:r>
                                  <a:rPr lang="en-US" altLang="zh-CN" i="1">
                                    <a:latin typeface="Cambria Math" panose="02040503050406030204" pitchFamily="18" charset="0"/>
                                    <a:cs typeface="Arial" panose="020B0604020202020204" pitchFamily="34" charset="0"/>
                                  </a:rPr>
                                  <m:t>𝜖</m:t>
                                </m:r>
                              </m:den>
                            </m:f>
                          </m:e>
                        </m:d>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𝐿𝑎𝑝</m:t>
                        </m:r>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1</m:t>
                                </m:r>
                              </m:num>
                              <m:den>
                                <m:r>
                                  <a:rPr lang="en-US" altLang="zh-CN" i="1">
                                    <a:latin typeface="Cambria Math" panose="02040503050406030204" pitchFamily="18" charset="0"/>
                                    <a:cs typeface="Arial" panose="020B0604020202020204" pitchFamily="34" charset="0"/>
                                  </a:rPr>
                                  <m:t>𝜖</m:t>
                                </m:r>
                              </m:den>
                            </m:f>
                          </m:e>
                        </m:d>
                      </m:e>
                    </m:d>
                  </m:oMath>
                </a14:m>
                <a:endParaRPr lang="zh-CN" altLang="en-US" dirty="0">
                  <a:latin typeface="Arial" panose="020B0604020202020204" pitchFamily="34" charset="0"/>
                  <a:cs typeface="Arial" panose="020B0604020202020204" pitchFamily="34" charset="0"/>
                </a:endParaRPr>
              </a:p>
            </p:txBody>
          </p:sp>
        </mc:Choice>
        <mc:Fallback xmlns="">
          <p:sp>
            <p:nvSpPr>
              <p:cNvPr id="41" name="文本框 40">
                <a:extLst>
                  <a:ext uri="{FF2B5EF4-FFF2-40B4-BE49-F238E27FC236}">
                    <a16:creationId xmlns:a16="http://schemas.microsoft.com/office/drawing/2014/main" id="{F7ADEFD6-26A6-4CD6-8514-C38140538678}"/>
                  </a:ext>
                </a:extLst>
              </p:cNvPr>
              <p:cNvSpPr txBox="1">
                <a:spLocks noRot="1" noChangeAspect="1" noMove="1" noResize="1" noEditPoints="1" noAdjustHandles="1" noChangeArrowheads="1" noChangeShapeType="1" noTextEdit="1"/>
              </p:cNvSpPr>
              <p:nvPr/>
            </p:nvSpPr>
            <p:spPr>
              <a:xfrm>
                <a:off x="378372" y="5271989"/>
                <a:ext cx="11148165" cy="1060868"/>
              </a:xfrm>
              <a:prstGeom prst="rect">
                <a:avLst/>
              </a:prstGeom>
              <a:blipFill>
                <a:blip r:embed="rId2"/>
                <a:stretch>
                  <a:fillRect l="-328" t="-4023" b="-17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785705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Exponential mechanism</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1200329"/>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Goal: Publish (categorical) data analysis result </a:t>
                </a:r>
                <a14:m>
                  <m:oMath xmlns:m="http://schemas.openxmlformats.org/officeDocument/2006/math">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in DP manner.</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Detail: Let </a:t>
                </a:r>
                <a14:m>
                  <m:oMath xmlns:m="http://schemas.openxmlformats.org/officeDocument/2006/math">
                    <m:r>
                      <a:rPr lang="en-US" altLang="zh-CN" b="0" i="1" smtClean="0">
                        <a:latin typeface="Cambria Math" panose="02040503050406030204" pitchFamily="18" charset="0"/>
                        <a:cs typeface="Arial" panose="020B0604020202020204" pitchFamily="34" charset="0"/>
                      </a:rPr>
                      <m:t>𝑂</m:t>
                    </m:r>
                  </m:oMath>
                </a14:m>
                <a:r>
                  <a:rPr lang="en-US" altLang="zh-CN" dirty="0">
                    <a:latin typeface="Arial" panose="020B0604020202020204" pitchFamily="34" charset="0"/>
                    <a:cs typeface="Arial" panose="020B0604020202020204" pitchFamily="34" charset="0"/>
                  </a:rPr>
                  <a:t> denote all possible outputs of </a:t>
                </a:r>
                <a14:m>
                  <m:oMath xmlns:m="http://schemas.openxmlformats.org/officeDocument/2006/math">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oMath>
                </a14:m>
                <a:r>
                  <a:rPr lang="en-US" altLang="zh-CN" dirty="0">
                    <a:latin typeface="Arial" panose="020B0604020202020204" pitchFamily="34" charset="0"/>
                    <a:cs typeface="Arial" panose="020B0604020202020204" pitchFamily="34" charset="0"/>
                  </a:rPr>
                  <a:t>, to achieve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 publish any output </a:t>
                </a:r>
                <a14:m>
                  <m:oMath xmlns:m="http://schemas.openxmlformats.org/officeDocument/2006/math">
                    <m:r>
                      <a:rPr lang="en-US" altLang="zh-CN" b="0" i="1" smtClean="0">
                        <a:latin typeface="Cambria Math" panose="02040503050406030204" pitchFamily="18" charset="0"/>
                        <a:cs typeface="Arial" panose="020B0604020202020204" pitchFamily="34" charset="0"/>
                      </a:rPr>
                      <m:t>𝑜</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𝑂</m:t>
                    </m:r>
                  </m:oMath>
                </a14:m>
                <a:r>
                  <a:rPr lang="en-US" altLang="zh-CN" dirty="0">
                    <a:latin typeface="Arial" panose="020B0604020202020204" pitchFamily="34" charset="0"/>
                    <a:cs typeface="Arial" panose="020B0604020202020204" pitchFamily="34" charset="0"/>
                  </a:rPr>
                  <a:t> with probability.</a:t>
                </a:r>
                <a:endParaRPr lang="zh-CN" altLang="en-US"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6" y="1179261"/>
                <a:ext cx="10380016" cy="1200329"/>
              </a:xfrm>
              <a:prstGeom prst="rect">
                <a:avLst/>
              </a:prstGeom>
              <a:blipFill>
                <a:blip r:embed="rId2"/>
                <a:stretch>
                  <a:fillRect l="-529" t="-2538" b="-71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671397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Exponential mechanism—toy example</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1200329"/>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Goal: Publish (categorical) data analysis result </a:t>
                </a:r>
                <a14:m>
                  <m:oMath xmlns:m="http://schemas.openxmlformats.org/officeDocument/2006/math">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in DP manner.</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Detail: Let </a:t>
                </a:r>
                <a14:m>
                  <m:oMath xmlns:m="http://schemas.openxmlformats.org/officeDocument/2006/math">
                    <m:r>
                      <a:rPr lang="en-US" altLang="zh-CN" b="0" i="1" smtClean="0">
                        <a:latin typeface="Cambria Math" panose="02040503050406030204" pitchFamily="18" charset="0"/>
                        <a:cs typeface="Arial" panose="020B0604020202020204" pitchFamily="34" charset="0"/>
                      </a:rPr>
                      <m:t>𝑂</m:t>
                    </m:r>
                  </m:oMath>
                </a14:m>
                <a:r>
                  <a:rPr lang="en-US" altLang="zh-CN" dirty="0">
                    <a:latin typeface="Arial" panose="020B0604020202020204" pitchFamily="34" charset="0"/>
                    <a:cs typeface="Arial" panose="020B0604020202020204" pitchFamily="34" charset="0"/>
                  </a:rPr>
                  <a:t> denote all possible outputs of </a:t>
                </a:r>
                <a14:m>
                  <m:oMath xmlns:m="http://schemas.openxmlformats.org/officeDocument/2006/math">
                    <m:r>
                      <a:rPr lang="en-US" altLang="zh-CN" i="1">
                        <a:latin typeface="Cambria Math" panose="02040503050406030204" pitchFamily="18" charset="0"/>
                        <a:cs typeface="Arial" panose="020B0604020202020204" pitchFamily="34" charset="0"/>
                      </a:rPr>
                      <m:t>𝑓</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oMath>
                </a14:m>
                <a:r>
                  <a:rPr lang="en-US" altLang="zh-CN" dirty="0">
                    <a:latin typeface="Arial" panose="020B0604020202020204" pitchFamily="34" charset="0"/>
                    <a:cs typeface="Arial" panose="020B0604020202020204" pitchFamily="34" charset="0"/>
                  </a:rPr>
                  <a:t>, to achieve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 publish any output </a:t>
                </a:r>
                <a14:m>
                  <m:oMath xmlns:m="http://schemas.openxmlformats.org/officeDocument/2006/math">
                    <m:r>
                      <a:rPr lang="en-US" altLang="zh-CN" b="0" i="1" smtClean="0">
                        <a:latin typeface="Cambria Math" panose="02040503050406030204" pitchFamily="18" charset="0"/>
                        <a:cs typeface="Arial" panose="020B0604020202020204" pitchFamily="34" charset="0"/>
                      </a:rPr>
                      <m:t>𝑜</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𝑂</m:t>
                    </m:r>
                  </m:oMath>
                </a14:m>
                <a:r>
                  <a:rPr lang="en-US" altLang="zh-CN" dirty="0">
                    <a:latin typeface="Arial" panose="020B0604020202020204" pitchFamily="34" charset="0"/>
                    <a:cs typeface="Arial" panose="020B0604020202020204" pitchFamily="34" charset="0"/>
                  </a:rPr>
                  <a:t> with probability.</a:t>
                </a:r>
                <a:endParaRPr lang="zh-CN" altLang="en-US"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6" y="1179261"/>
                <a:ext cx="10380016" cy="1200329"/>
              </a:xfrm>
              <a:prstGeom prst="rect">
                <a:avLst/>
              </a:prstGeom>
              <a:blipFill>
                <a:blip r:embed="rId2"/>
                <a:stretch>
                  <a:fillRect l="-529" t="-2538" b="-7107"/>
                </a:stretch>
              </a:blipFill>
            </p:spPr>
            <p:txBody>
              <a:bodyPr/>
              <a:lstStyle/>
              <a:p>
                <a:r>
                  <a:rPr lang="zh-CN" altLang="en-US">
                    <a:noFill/>
                  </a:rPr>
                  <a:t> </a:t>
                </a:r>
              </a:p>
            </p:txBody>
          </p:sp>
        </mc:Fallback>
      </mc:AlternateContent>
      <p:graphicFrame>
        <p:nvGraphicFramePr>
          <p:cNvPr id="4" name="表格 2">
            <a:extLst>
              <a:ext uri="{FF2B5EF4-FFF2-40B4-BE49-F238E27FC236}">
                <a16:creationId xmlns:a16="http://schemas.microsoft.com/office/drawing/2014/main" id="{6C2BBFB5-E5FA-48E6-9A78-B119E8FE1B39}"/>
              </a:ext>
            </a:extLst>
          </p:cNvPr>
          <p:cNvGraphicFramePr>
            <a:graphicFrameLocks noGrp="1"/>
          </p:cNvGraphicFramePr>
          <p:nvPr>
            <p:extLst>
              <p:ext uri="{D42A27DB-BD31-4B8C-83A1-F6EECF244321}">
                <p14:modId xmlns:p14="http://schemas.microsoft.com/office/powerpoint/2010/main" val="2001273871"/>
              </p:ext>
            </p:extLst>
          </p:nvPr>
        </p:nvGraphicFramePr>
        <p:xfrm>
          <a:off x="846432" y="3645745"/>
          <a:ext cx="1972442" cy="2194560"/>
        </p:xfrm>
        <a:graphic>
          <a:graphicData uri="http://schemas.openxmlformats.org/drawingml/2006/table">
            <a:tbl>
              <a:tblPr firstRow="1" bandRow="1">
                <a:tableStyleId>{93296810-A885-4BE3-A3E7-6D5BEEA58F35}</a:tableStyleId>
              </a:tblPr>
              <a:tblGrid>
                <a:gridCol w="986221">
                  <a:extLst>
                    <a:ext uri="{9D8B030D-6E8A-4147-A177-3AD203B41FA5}">
                      <a16:colId xmlns:a16="http://schemas.microsoft.com/office/drawing/2014/main" val="1238765568"/>
                    </a:ext>
                  </a:extLst>
                </a:gridCol>
                <a:gridCol w="986221">
                  <a:extLst>
                    <a:ext uri="{9D8B030D-6E8A-4147-A177-3AD203B41FA5}">
                      <a16:colId xmlns:a16="http://schemas.microsoft.com/office/drawing/2014/main" val="2422194543"/>
                    </a:ext>
                  </a:extLst>
                </a:gridCol>
              </a:tblGrid>
              <a:tr h="353021">
                <a:tc>
                  <a:txBody>
                    <a:bodyPr/>
                    <a:lstStyle/>
                    <a:p>
                      <a:pPr marL="0" algn="ctr" defTabSz="914400" rtl="0" eaLnBrk="1" latinLnBrk="0" hangingPunct="1"/>
                      <a:r>
                        <a:rPr lang="en-US" altLang="zh-CN" sz="1800" b="1" kern="1200" dirty="0">
                          <a:solidFill>
                            <a:schemeClr val="tx1"/>
                          </a:solidFill>
                        </a:rPr>
                        <a:t>ID</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800" b="1" kern="1200" dirty="0">
                          <a:solidFill>
                            <a:schemeClr val="tx1"/>
                          </a:solidFill>
                        </a:rPr>
                        <a:t>Age</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752317120"/>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1</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800" b="1" kern="1200" dirty="0">
                          <a:solidFill>
                            <a:schemeClr val="tx1"/>
                          </a:solidFill>
                          <a:latin typeface="+mn-lt"/>
                          <a:ea typeface="+mn-ea"/>
                          <a:cs typeface="+mn-cs"/>
                        </a:rPr>
                        <a:t>10</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460415473"/>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2</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800" b="1" kern="1200" dirty="0">
                          <a:solidFill>
                            <a:schemeClr val="tx1"/>
                          </a:solidFill>
                          <a:latin typeface="+mn-lt"/>
                          <a:ea typeface="+mn-ea"/>
                          <a:cs typeface="+mn-cs"/>
                        </a:rPr>
                        <a:t>21</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582642059"/>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3</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800" b="1" kern="1200" dirty="0">
                          <a:solidFill>
                            <a:schemeClr val="tx1"/>
                          </a:solidFill>
                          <a:latin typeface="+mn-lt"/>
                          <a:ea typeface="+mn-ea"/>
                          <a:cs typeface="+mn-cs"/>
                        </a:rPr>
                        <a:t>35</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46871934"/>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289250877"/>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n</a:t>
                      </a:r>
                      <a:endParaRPr lang="zh-CN" altLang="en-US" sz="18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800" b="1" kern="1200" dirty="0">
                          <a:solidFill>
                            <a:schemeClr val="tx1"/>
                          </a:solidFill>
                          <a:latin typeface="+mn-lt"/>
                          <a:ea typeface="+mn-ea"/>
                          <a:cs typeface="+mn-cs"/>
                        </a:rPr>
                        <a:t>18</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812739183"/>
                  </a:ext>
                </a:extLst>
              </a:tr>
            </a:tbl>
          </a:graphicData>
        </a:graphic>
      </p:graphicFrame>
      <p:cxnSp>
        <p:nvCxnSpPr>
          <p:cNvPr id="3" name="直接箭头连接符 2">
            <a:extLst>
              <a:ext uri="{FF2B5EF4-FFF2-40B4-BE49-F238E27FC236}">
                <a16:creationId xmlns:a16="http://schemas.microsoft.com/office/drawing/2014/main" id="{E03788DA-73BA-47F3-A7E7-069F8E607B3C}"/>
              </a:ext>
            </a:extLst>
          </p:cNvPr>
          <p:cNvCxnSpPr/>
          <p:nvPr/>
        </p:nvCxnSpPr>
        <p:spPr>
          <a:xfrm>
            <a:off x="3146798" y="4743025"/>
            <a:ext cx="153240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0761374-D039-4132-9549-F0D74257A9EC}"/>
                  </a:ext>
                </a:extLst>
              </p:cNvPr>
              <p:cNvSpPr txBox="1"/>
              <p:nvPr/>
            </p:nvSpPr>
            <p:spPr>
              <a:xfrm>
                <a:off x="737825" y="3022674"/>
                <a:ext cx="4458489" cy="369332"/>
              </a:xfrm>
              <a:prstGeom prst="rect">
                <a:avLst/>
              </a:prstGeom>
              <a:noFill/>
            </p:spPr>
            <p:txBody>
              <a:bodyPr wrap="square" rtlCol="0">
                <a:spAutoFit/>
              </a:bodyPr>
              <a:lstStyle/>
              <a:p>
                <a14:m>
                  <m:oMath xmlns:m="http://schemas.openxmlformats.org/officeDocument/2006/math">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oMath>
                </a14:m>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how many people are 20-years-old</a:t>
                </a:r>
                <a:endParaRPr lang="zh-CN" altLang="en-US"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70761374-D039-4132-9549-F0D74257A9EC}"/>
                  </a:ext>
                </a:extLst>
              </p:cNvPr>
              <p:cNvSpPr txBox="1">
                <a:spLocks noRot="1" noChangeAspect="1" noMove="1" noResize="1" noEditPoints="1" noAdjustHandles="1" noChangeArrowheads="1" noChangeShapeType="1" noTextEdit="1"/>
              </p:cNvSpPr>
              <p:nvPr/>
            </p:nvSpPr>
            <p:spPr>
              <a:xfrm>
                <a:off x="737825" y="3022674"/>
                <a:ext cx="4458489" cy="369332"/>
              </a:xfrm>
              <a:prstGeom prst="rect">
                <a:avLst/>
              </a:prstGeom>
              <a:blipFill>
                <a:blip r:embed="rId3"/>
                <a:stretch>
                  <a:fillRect l="-410"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3957968F-0CF7-480F-BABD-7186A8BDA8F7}"/>
                  </a:ext>
                </a:extLst>
              </p:cNvPr>
              <p:cNvSpPr txBox="1"/>
              <p:nvPr/>
            </p:nvSpPr>
            <p:spPr>
              <a:xfrm>
                <a:off x="3520441" y="4351960"/>
                <a:ext cx="692106" cy="369332"/>
              </a:xfrm>
              <a:prstGeom prst="rect">
                <a:avLst/>
              </a:prstGeom>
              <a:noFill/>
            </p:spPr>
            <p:txBody>
              <a:bodyPr wrap="square">
                <a:spAutoFit/>
              </a:bodyPr>
              <a:lstStyle/>
              <a:p>
                <a14:m>
                  <m:oMath xmlns:m="http://schemas.openxmlformats.org/officeDocument/2006/math">
                    <m:r>
                      <a:rPr lang="en-US" altLang="zh-CN" b="0" i="1" smtClean="0">
                        <a:latin typeface="Cambria Math" panose="02040503050406030204" pitchFamily="18" charset="0"/>
                        <a:cs typeface="Arial" panose="020B0604020202020204" pitchFamily="34" charset="0"/>
                      </a:rPr>
                      <m:t>𝑓</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oMath>
                </a14:m>
                <a:r>
                  <a:rPr lang="zh-CN" altLang="en-US" dirty="0">
                    <a:latin typeface="Arial" panose="020B0604020202020204" pitchFamily="34" charset="0"/>
                    <a:cs typeface="Arial" panose="020B0604020202020204" pitchFamily="34" charset="0"/>
                  </a:rPr>
                  <a:t> </a:t>
                </a:r>
                <a:endParaRPr lang="zh-CN" altLang="en-US" dirty="0"/>
              </a:p>
            </p:txBody>
          </p:sp>
        </mc:Choice>
        <mc:Fallback xmlns="">
          <p:sp>
            <p:nvSpPr>
              <p:cNvPr id="9" name="文本框 8">
                <a:extLst>
                  <a:ext uri="{FF2B5EF4-FFF2-40B4-BE49-F238E27FC236}">
                    <a16:creationId xmlns:a16="http://schemas.microsoft.com/office/drawing/2014/main" id="{3957968F-0CF7-480F-BABD-7186A8BDA8F7}"/>
                  </a:ext>
                </a:extLst>
              </p:cNvPr>
              <p:cNvSpPr txBox="1">
                <a:spLocks noRot="1" noChangeAspect="1" noMove="1" noResize="1" noEditPoints="1" noAdjustHandles="1" noChangeArrowheads="1" noChangeShapeType="1" noTextEdit="1"/>
              </p:cNvSpPr>
              <p:nvPr/>
            </p:nvSpPr>
            <p:spPr>
              <a:xfrm>
                <a:off x="3520441" y="4351960"/>
                <a:ext cx="692106" cy="369332"/>
              </a:xfrm>
              <a:prstGeom prst="rect">
                <a:avLst/>
              </a:prstGeom>
              <a:blipFill>
                <a:blip r:embed="rId4"/>
                <a:stretch>
                  <a:fillRect l="-2655"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0" name="表格 2">
                <a:extLst>
                  <a:ext uri="{FF2B5EF4-FFF2-40B4-BE49-F238E27FC236}">
                    <a16:creationId xmlns:a16="http://schemas.microsoft.com/office/drawing/2014/main" id="{32CCF3C4-C67C-4946-AB7E-694B92F823EA}"/>
                  </a:ext>
                </a:extLst>
              </p:cNvPr>
              <p:cNvGraphicFramePr>
                <a:graphicFrameLocks noGrp="1"/>
              </p:cNvGraphicFramePr>
              <p:nvPr>
                <p:extLst>
                  <p:ext uri="{D42A27DB-BD31-4B8C-83A1-F6EECF244321}">
                    <p14:modId xmlns:p14="http://schemas.microsoft.com/office/powerpoint/2010/main" val="766024934"/>
                  </p:ext>
                </p:extLst>
              </p:nvPr>
            </p:nvGraphicFramePr>
            <p:xfrm>
              <a:off x="5022192" y="3645745"/>
              <a:ext cx="1681306" cy="2194560"/>
            </p:xfrm>
            <a:graphic>
              <a:graphicData uri="http://schemas.openxmlformats.org/drawingml/2006/table">
                <a:tbl>
                  <a:tblPr firstRow="1" bandRow="1">
                    <a:tableStyleId>{93296810-A885-4BE3-A3E7-6D5BEEA58F35}</a:tableStyleId>
                  </a:tblPr>
                  <a:tblGrid>
                    <a:gridCol w="1681306">
                      <a:extLst>
                        <a:ext uri="{9D8B030D-6E8A-4147-A177-3AD203B41FA5}">
                          <a16:colId xmlns:a16="http://schemas.microsoft.com/office/drawing/2014/main" val="1238765568"/>
                        </a:ext>
                      </a:extLst>
                    </a:gridCol>
                  </a:tblGrid>
                  <a:tr h="353021">
                    <a:tc>
                      <a:txBody>
                        <a:bodyPr/>
                        <a:lstStyle/>
                        <a:p>
                          <a:pPr marL="0" algn="ctr" defTabSz="914400" rtl="0" eaLnBrk="1" latinLnBrk="0" hangingPunct="1"/>
                          <a:r>
                            <a:rPr lang="en-US" altLang="zh-CN" sz="1800" b="1" kern="1200" dirty="0">
                              <a:solidFill>
                                <a:schemeClr val="tx1"/>
                              </a:solidFill>
                              <a:latin typeface="+mn-lt"/>
                              <a:ea typeface="+mn-ea"/>
                              <a:cs typeface="+mn-cs"/>
                            </a:rPr>
                            <a:t>Output set </a:t>
                          </a:r>
                          <a14:m>
                            <m:oMath xmlns:m="http://schemas.openxmlformats.org/officeDocument/2006/math">
                              <m:r>
                                <a:rPr lang="en-US" altLang="zh-CN" sz="1800" b="1" kern="1200" smtClean="0">
                                  <a:solidFill>
                                    <a:schemeClr val="tx1"/>
                                  </a:solidFill>
                                  <a:latin typeface="Cambria Math" panose="02040503050406030204" pitchFamily="18" charset="0"/>
                                  <a:ea typeface="+mn-ea"/>
                                  <a:cs typeface="+mn-cs"/>
                                </a:rPr>
                                <m:t>𝑂</m:t>
                              </m:r>
                            </m:oMath>
                          </a14:m>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752317120"/>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1</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460415473"/>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2</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582642059"/>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3 (true answer)</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46871934"/>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289250877"/>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n</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812739183"/>
                      </a:ext>
                    </a:extLst>
                  </a:tr>
                </a:tbl>
              </a:graphicData>
            </a:graphic>
          </p:graphicFrame>
        </mc:Choice>
        <mc:Fallback xmlns="">
          <p:graphicFrame>
            <p:nvGraphicFramePr>
              <p:cNvPr id="10" name="表格 2">
                <a:extLst>
                  <a:ext uri="{FF2B5EF4-FFF2-40B4-BE49-F238E27FC236}">
                    <a16:creationId xmlns:a16="http://schemas.microsoft.com/office/drawing/2014/main" id="{32CCF3C4-C67C-4946-AB7E-694B92F823EA}"/>
                  </a:ext>
                </a:extLst>
              </p:cNvPr>
              <p:cNvGraphicFramePr>
                <a:graphicFrameLocks noGrp="1"/>
              </p:cNvGraphicFramePr>
              <p:nvPr>
                <p:extLst>
                  <p:ext uri="{D42A27DB-BD31-4B8C-83A1-F6EECF244321}">
                    <p14:modId xmlns:p14="http://schemas.microsoft.com/office/powerpoint/2010/main" val="766024934"/>
                  </p:ext>
                </p:extLst>
              </p:nvPr>
            </p:nvGraphicFramePr>
            <p:xfrm>
              <a:off x="5022192" y="3645745"/>
              <a:ext cx="1681306" cy="2194560"/>
            </p:xfrm>
            <a:graphic>
              <a:graphicData uri="http://schemas.openxmlformats.org/drawingml/2006/table">
                <a:tbl>
                  <a:tblPr firstRow="1" bandRow="1">
                    <a:tableStyleId>{93296810-A885-4BE3-A3E7-6D5BEEA58F35}</a:tableStyleId>
                  </a:tblPr>
                  <a:tblGrid>
                    <a:gridCol w="1681306">
                      <a:extLst>
                        <a:ext uri="{9D8B030D-6E8A-4147-A177-3AD203B41FA5}">
                          <a16:colId xmlns:a16="http://schemas.microsoft.com/office/drawing/2014/main" val="1238765568"/>
                        </a:ext>
                      </a:extLst>
                    </a:gridCol>
                  </a:tblGrid>
                  <a:tr h="365760">
                    <a:tc>
                      <a:txBody>
                        <a:bodyPr/>
                        <a:lstStyle/>
                        <a:p>
                          <a:endParaRPr lang="zh-CN"/>
                        </a:p>
                      </a:txBody>
                      <a:tcPr anchor="ctr">
                        <a:blipFill>
                          <a:blip r:embed="rId5"/>
                          <a:stretch>
                            <a:fillRect l="-361" t="-8333" r="-1444" b="-526667"/>
                          </a:stretch>
                        </a:blipFill>
                      </a:tcPr>
                    </a:tc>
                    <a:extLst>
                      <a:ext uri="{0D108BD9-81ED-4DB2-BD59-A6C34878D82A}">
                        <a16:rowId xmlns:a16="http://schemas.microsoft.com/office/drawing/2014/main" val="2752317120"/>
                      </a:ext>
                    </a:extLst>
                  </a:tr>
                  <a:tr h="365760">
                    <a:tc>
                      <a:txBody>
                        <a:bodyPr/>
                        <a:lstStyle/>
                        <a:p>
                          <a:pPr marL="0" algn="ctr" defTabSz="914400" rtl="0" eaLnBrk="1" latinLnBrk="0" hangingPunct="1"/>
                          <a:r>
                            <a:rPr lang="en-US" altLang="zh-CN" sz="1800" b="1" kern="1200" dirty="0">
                              <a:solidFill>
                                <a:schemeClr val="tx1"/>
                              </a:solidFill>
                              <a:latin typeface="+mn-lt"/>
                              <a:ea typeface="+mn-ea"/>
                              <a:cs typeface="+mn-cs"/>
                            </a:rPr>
                            <a:t>1</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460415473"/>
                      </a:ext>
                    </a:extLst>
                  </a:tr>
                  <a:tr h="365760">
                    <a:tc>
                      <a:txBody>
                        <a:bodyPr/>
                        <a:lstStyle/>
                        <a:p>
                          <a:pPr marL="0" algn="ctr" defTabSz="914400" rtl="0" eaLnBrk="1" latinLnBrk="0" hangingPunct="1"/>
                          <a:r>
                            <a:rPr lang="en-US" altLang="zh-CN" sz="1800" b="1" kern="1200" dirty="0">
                              <a:solidFill>
                                <a:schemeClr val="tx1"/>
                              </a:solidFill>
                              <a:latin typeface="+mn-lt"/>
                              <a:ea typeface="+mn-ea"/>
                              <a:cs typeface="+mn-cs"/>
                            </a:rPr>
                            <a:t>2</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582642059"/>
                      </a:ext>
                    </a:extLst>
                  </a:tr>
                  <a:tr h="365760">
                    <a:tc>
                      <a:txBody>
                        <a:bodyPr/>
                        <a:lstStyle/>
                        <a:p>
                          <a:pPr marL="0" algn="ctr" defTabSz="914400" rtl="0" eaLnBrk="1" latinLnBrk="0" hangingPunct="1"/>
                          <a:r>
                            <a:rPr lang="en-US" altLang="zh-CN" sz="1800" b="1" kern="1200" dirty="0">
                              <a:solidFill>
                                <a:schemeClr val="tx1"/>
                              </a:solidFill>
                              <a:latin typeface="+mn-lt"/>
                              <a:ea typeface="+mn-ea"/>
                              <a:cs typeface="+mn-cs"/>
                            </a:rPr>
                            <a:t>3 (true answer)</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46871934"/>
                      </a:ext>
                    </a:extLst>
                  </a:tr>
                  <a:tr h="365760">
                    <a:tc>
                      <a:txBody>
                        <a:bodyPr/>
                        <a:lstStyle/>
                        <a:p>
                          <a:pPr marL="0" algn="ctr" defTabSz="914400" rtl="0" eaLnBrk="1" latinLnBrk="0" hangingPunct="1"/>
                          <a:r>
                            <a:rPr lang="en-US" altLang="zh-CN" sz="1800" b="1" kern="1200" dirty="0">
                              <a:solidFill>
                                <a:schemeClr val="tx1"/>
                              </a:solidFill>
                              <a:latin typeface="+mn-lt"/>
                              <a:ea typeface="+mn-ea"/>
                              <a:cs typeface="+mn-cs"/>
                            </a:rPr>
                            <a:t>…</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289250877"/>
                      </a:ext>
                    </a:extLst>
                  </a:tr>
                  <a:tr h="365760">
                    <a:tc>
                      <a:txBody>
                        <a:bodyPr/>
                        <a:lstStyle/>
                        <a:p>
                          <a:pPr marL="0" algn="ctr" defTabSz="914400" rtl="0" eaLnBrk="1" latinLnBrk="0" hangingPunct="1"/>
                          <a:r>
                            <a:rPr lang="en-US" altLang="zh-CN" sz="1800" b="1" kern="1200" dirty="0">
                              <a:solidFill>
                                <a:schemeClr val="tx1"/>
                              </a:solidFill>
                              <a:latin typeface="+mn-lt"/>
                              <a:ea typeface="+mn-ea"/>
                              <a:cs typeface="+mn-cs"/>
                            </a:rPr>
                            <a:t>n</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812739183"/>
                      </a:ext>
                    </a:extLst>
                  </a:tr>
                </a:tbl>
              </a:graphicData>
            </a:graphic>
          </p:graphicFrame>
        </mc:Fallback>
      </mc:AlternateContent>
      <p:cxnSp>
        <p:nvCxnSpPr>
          <p:cNvPr id="11" name="直接箭头连接符 10">
            <a:extLst>
              <a:ext uri="{FF2B5EF4-FFF2-40B4-BE49-F238E27FC236}">
                <a16:creationId xmlns:a16="http://schemas.microsoft.com/office/drawing/2014/main" id="{F2664B64-A024-495D-85F3-53109C2FE7B1}"/>
              </a:ext>
            </a:extLst>
          </p:cNvPr>
          <p:cNvCxnSpPr/>
          <p:nvPr/>
        </p:nvCxnSpPr>
        <p:spPr>
          <a:xfrm>
            <a:off x="6912655" y="4743025"/>
            <a:ext cx="153240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BD536B4-E5B5-46C7-BA1C-A6557F02ABE7}"/>
              </a:ext>
            </a:extLst>
          </p:cNvPr>
          <p:cNvSpPr txBox="1"/>
          <p:nvPr/>
        </p:nvSpPr>
        <p:spPr>
          <a:xfrm>
            <a:off x="6763757" y="4351960"/>
            <a:ext cx="1681306" cy="369332"/>
          </a:xfrm>
          <a:prstGeom prst="rect">
            <a:avLst/>
          </a:prstGeom>
          <a:noFill/>
        </p:spPr>
        <p:txBody>
          <a:bodyPr wrap="square">
            <a:spAutoFit/>
          </a:bodyPr>
          <a:lstStyle/>
          <a:p>
            <a:r>
              <a:rPr lang="en-US" altLang="zh-CN" dirty="0">
                <a:latin typeface="Arial" panose="020B0604020202020204" pitchFamily="34" charset="0"/>
                <a:cs typeface="Arial" panose="020B0604020202020204" pitchFamily="34" charset="0"/>
              </a:rPr>
              <a:t>Calculate prob.</a:t>
            </a:r>
            <a:endParaRPr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14" name="表格 2">
                <a:extLst>
                  <a:ext uri="{FF2B5EF4-FFF2-40B4-BE49-F238E27FC236}">
                    <a16:creationId xmlns:a16="http://schemas.microsoft.com/office/drawing/2014/main" id="{6754BE6A-1834-4C90-881D-F18C120C9939}"/>
                  </a:ext>
                </a:extLst>
              </p:cNvPr>
              <p:cNvGraphicFramePr>
                <a:graphicFrameLocks noGrp="1"/>
              </p:cNvGraphicFramePr>
              <p:nvPr>
                <p:extLst>
                  <p:ext uri="{D42A27DB-BD31-4B8C-83A1-F6EECF244321}">
                    <p14:modId xmlns:p14="http://schemas.microsoft.com/office/powerpoint/2010/main" val="2668982121"/>
                  </p:ext>
                </p:extLst>
              </p:nvPr>
            </p:nvGraphicFramePr>
            <p:xfrm>
              <a:off x="8654220" y="3645745"/>
              <a:ext cx="1681306" cy="2194560"/>
            </p:xfrm>
            <a:graphic>
              <a:graphicData uri="http://schemas.openxmlformats.org/drawingml/2006/table">
                <a:tbl>
                  <a:tblPr firstRow="1" bandRow="1">
                    <a:tableStyleId>{93296810-A885-4BE3-A3E7-6D5BEEA58F35}</a:tableStyleId>
                  </a:tblPr>
                  <a:tblGrid>
                    <a:gridCol w="1681306">
                      <a:extLst>
                        <a:ext uri="{9D8B030D-6E8A-4147-A177-3AD203B41FA5}">
                          <a16:colId xmlns:a16="http://schemas.microsoft.com/office/drawing/2014/main" val="1238765568"/>
                        </a:ext>
                      </a:extLst>
                    </a:gridCol>
                  </a:tblGrid>
                  <a:tr h="353021">
                    <a:tc>
                      <a:txBody>
                        <a:bodyPr/>
                        <a:lstStyle/>
                        <a:p>
                          <a:pPr marL="0" algn="ctr" defTabSz="914400" rtl="0" eaLnBrk="1" latinLnBrk="0" hangingPunct="1"/>
                          <a:r>
                            <a:rPr lang="en-US" altLang="zh-CN" sz="1800" b="1" kern="1200" dirty="0">
                              <a:solidFill>
                                <a:schemeClr val="tx1"/>
                              </a:solidFill>
                              <a:latin typeface="+mn-lt"/>
                              <a:ea typeface="+mn-ea"/>
                              <a:cs typeface="+mn-cs"/>
                            </a:rPr>
                            <a:t>Output set </a:t>
                          </a:r>
                          <a14:m>
                            <m:oMath xmlns:m="http://schemas.openxmlformats.org/officeDocument/2006/math">
                              <m:r>
                                <a:rPr lang="en-US" altLang="zh-CN" sz="1800" b="1" kern="1200" smtClean="0">
                                  <a:solidFill>
                                    <a:schemeClr val="tx1"/>
                                  </a:solidFill>
                                  <a:latin typeface="Cambria Math" panose="02040503050406030204" pitchFamily="18" charset="0"/>
                                  <a:ea typeface="+mn-ea"/>
                                  <a:cs typeface="+mn-cs"/>
                                </a:rPr>
                                <m:t>𝑂</m:t>
                              </m:r>
                            </m:oMath>
                          </a14:m>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752317120"/>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1 (</a:t>
                          </a:r>
                          <a14:m>
                            <m:oMath xmlns:m="http://schemas.openxmlformats.org/officeDocument/2006/math">
                              <m:r>
                                <a:rPr lang="en-US" altLang="zh-CN" sz="1800" b="1" i="1" kern="1200" smtClean="0">
                                  <a:solidFill>
                                    <a:schemeClr val="tx1"/>
                                  </a:solidFill>
                                  <a:latin typeface="Cambria Math" panose="02040503050406030204" pitchFamily="18" charset="0"/>
                                  <a:ea typeface="+mn-ea"/>
                                  <a:cs typeface="+mn-cs"/>
                                </a:rPr>
                                <m:t>𝒑</m:t>
                              </m:r>
                              <m:r>
                                <a:rPr lang="en-US" altLang="zh-CN" sz="1800" b="1" i="1" kern="1200" smtClean="0">
                                  <a:solidFill>
                                    <a:schemeClr val="tx1"/>
                                  </a:solidFill>
                                  <a:latin typeface="Cambria Math" panose="02040503050406030204" pitchFamily="18" charset="0"/>
                                  <a:ea typeface="+mn-ea"/>
                                  <a:cs typeface="+mn-cs"/>
                                </a:rPr>
                                <m:t>=</m:t>
                              </m:r>
                              <m:r>
                                <a:rPr lang="en-US" altLang="zh-CN" sz="1800" b="1" i="1" kern="1200" smtClean="0">
                                  <a:solidFill>
                                    <a:schemeClr val="tx1"/>
                                  </a:solidFill>
                                  <a:latin typeface="Cambria Math" panose="02040503050406030204" pitchFamily="18" charset="0"/>
                                  <a:ea typeface="+mn-ea"/>
                                  <a:cs typeface="+mn-cs"/>
                                </a:rPr>
                                <m:t>𝟎</m:t>
                              </m:r>
                              <m:r>
                                <a:rPr lang="en-US" altLang="zh-CN" sz="1800" b="1" i="1" kern="1200" smtClean="0">
                                  <a:solidFill>
                                    <a:schemeClr val="tx1"/>
                                  </a:solidFill>
                                  <a:latin typeface="Cambria Math" panose="02040503050406030204" pitchFamily="18" charset="0"/>
                                  <a:ea typeface="+mn-ea"/>
                                  <a:cs typeface="+mn-cs"/>
                                </a:rPr>
                                <m:t>.</m:t>
                              </m:r>
                              <m:r>
                                <a:rPr lang="en-US" altLang="zh-CN" sz="1800" b="1" i="1" kern="1200" smtClean="0">
                                  <a:solidFill>
                                    <a:schemeClr val="tx1"/>
                                  </a:solidFill>
                                  <a:latin typeface="Cambria Math" panose="02040503050406030204" pitchFamily="18" charset="0"/>
                                  <a:ea typeface="+mn-ea"/>
                                  <a:cs typeface="+mn-cs"/>
                                </a:rPr>
                                <m:t>𝟏</m:t>
                              </m:r>
                            </m:oMath>
                          </a14:m>
                          <a:r>
                            <a:rPr lang="en-US" altLang="zh-CN" sz="1800" b="1" kern="1200" dirty="0">
                              <a:solidFill>
                                <a:schemeClr val="tx1"/>
                              </a:solidFill>
                              <a:latin typeface="+mn-lt"/>
                              <a:ea typeface="+mn-ea"/>
                              <a:cs typeface="+mn-cs"/>
                            </a:rPr>
                            <a:t>)</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460415473"/>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2 (</a:t>
                          </a:r>
                          <a14:m>
                            <m:oMath xmlns:m="http://schemas.openxmlformats.org/officeDocument/2006/math">
                              <m:r>
                                <a:rPr lang="en-US" altLang="zh-CN" sz="1800" b="1" i="1" kern="1200" smtClean="0">
                                  <a:solidFill>
                                    <a:schemeClr val="tx1"/>
                                  </a:solidFill>
                                  <a:latin typeface="Cambria Math" panose="02040503050406030204" pitchFamily="18" charset="0"/>
                                  <a:ea typeface="+mn-ea"/>
                                  <a:cs typeface="+mn-cs"/>
                                </a:rPr>
                                <m:t>𝒑</m:t>
                              </m:r>
                              <m:r>
                                <a:rPr lang="en-US" altLang="zh-CN" sz="1800" b="1" i="1" kern="1200" smtClean="0">
                                  <a:solidFill>
                                    <a:schemeClr val="tx1"/>
                                  </a:solidFill>
                                  <a:latin typeface="Cambria Math" panose="02040503050406030204" pitchFamily="18" charset="0"/>
                                  <a:ea typeface="+mn-ea"/>
                                  <a:cs typeface="+mn-cs"/>
                                </a:rPr>
                                <m:t>=</m:t>
                              </m:r>
                              <m:r>
                                <a:rPr lang="en-US" altLang="zh-CN" sz="1800" b="1" i="1" kern="1200" smtClean="0">
                                  <a:solidFill>
                                    <a:schemeClr val="tx1"/>
                                  </a:solidFill>
                                  <a:latin typeface="Cambria Math" panose="02040503050406030204" pitchFamily="18" charset="0"/>
                                  <a:ea typeface="+mn-ea"/>
                                  <a:cs typeface="+mn-cs"/>
                                </a:rPr>
                                <m:t>𝟎</m:t>
                              </m:r>
                              <m:r>
                                <a:rPr lang="en-US" altLang="zh-CN" sz="1800" b="1" i="1" kern="1200" smtClean="0">
                                  <a:solidFill>
                                    <a:schemeClr val="tx1"/>
                                  </a:solidFill>
                                  <a:latin typeface="Cambria Math" panose="02040503050406030204" pitchFamily="18" charset="0"/>
                                  <a:ea typeface="+mn-ea"/>
                                  <a:cs typeface="+mn-cs"/>
                                </a:rPr>
                                <m:t>.</m:t>
                              </m:r>
                              <m:r>
                                <a:rPr lang="en-US" altLang="zh-CN" sz="1800" b="1" i="1" kern="1200" smtClean="0">
                                  <a:solidFill>
                                    <a:schemeClr val="tx1"/>
                                  </a:solidFill>
                                  <a:latin typeface="Cambria Math" panose="02040503050406030204" pitchFamily="18" charset="0"/>
                                  <a:ea typeface="+mn-ea"/>
                                  <a:cs typeface="+mn-cs"/>
                                </a:rPr>
                                <m:t>𝟐</m:t>
                              </m:r>
                            </m:oMath>
                          </a14:m>
                          <a:r>
                            <a:rPr lang="en-US" altLang="zh-CN" sz="1800" b="1" kern="1200" dirty="0">
                              <a:solidFill>
                                <a:schemeClr val="tx1"/>
                              </a:solidFill>
                              <a:latin typeface="+mn-lt"/>
                              <a:ea typeface="+mn-ea"/>
                              <a:cs typeface="+mn-cs"/>
                            </a:rPr>
                            <a:t>)</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582642059"/>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3 (</a:t>
                          </a:r>
                          <a14:m>
                            <m:oMath xmlns:m="http://schemas.openxmlformats.org/officeDocument/2006/math">
                              <m:r>
                                <a:rPr lang="en-US" altLang="zh-CN" sz="1800" b="1" i="1" kern="1200" smtClean="0">
                                  <a:solidFill>
                                    <a:schemeClr val="tx1"/>
                                  </a:solidFill>
                                  <a:latin typeface="Cambria Math" panose="02040503050406030204" pitchFamily="18" charset="0"/>
                                  <a:ea typeface="+mn-ea"/>
                                  <a:cs typeface="+mn-cs"/>
                                </a:rPr>
                                <m:t>𝒑</m:t>
                              </m:r>
                              <m:r>
                                <a:rPr lang="en-US" altLang="zh-CN" sz="1800" b="1" i="1" kern="1200" smtClean="0">
                                  <a:solidFill>
                                    <a:schemeClr val="tx1"/>
                                  </a:solidFill>
                                  <a:latin typeface="Cambria Math" panose="02040503050406030204" pitchFamily="18" charset="0"/>
                                  <a:ea typeface="+mn-ea"/>
                                  <a:cs typeface="+mn-cs"/>
                                </a:rPr>
                                <m:t>=</m:t>
                              </m:r>
                              <m:r>
                                <a:rPr lang="en-US" altLang="zh-CN" sz="1800" b="1" i="1" kern="1200" smtClean="0">
                                  <a:solidFill>
                                    <a:schemeClr val="tx1"/>
                                  </a:solidFill>
                                  <a:latin typeface="Cambria Math" panose="02040503050406030204" pitchFamily="18" charset="0"/>
                                  <a:ea typeface="+mn-ea"/>
                                  <a:cs typeface="+mn-cs"/>
                                </a:rPr>
                                <m:t>𝟎</m:t>
                              </m:r>
                              <m:r>
                                <a:rPr lang="en-US" altLang="zh-CN" sz="1800" b="1" i="1" kern="1200" smtClean="0">
                                  <a:solidFill>
                                    <a:schemeClr val="tx1"/>
                                  </a:solidFill>
                                  <a:latin typeface="Cambria Math" panose="02040503050406030204" pitchFamily="18" charset="0"/>
                                  <a:ea typeface="+mn-ea"/>
                                  <a:cs typeface="+mn-cs"/>
                                </a:rPr>
                                <m:t>.</m:t>
                              </m:r>
                              <m:r>
                                <a:rPr lang="en-US" altLang="zh-CN" sz="1800" b="1" i="1" kern="1200" smtClean="0">
                                  <a:solidFill>
                                    <a:schemeClr val="tx1"/>
                                  </a:solidFill>
                                  <a:latin typeface="Cambria Math" panose="02040503050406030204" pitchFamily="18" charset="0"/>
                                  <a:ea typeface="+mn-ea"/>
                                  <a:cs typeface="+mn-cs"/>
                                </a:rPr>
                                <m:t>𝟓</m:t>
                              </m:r>
                            </m:oMath>
                          </a14:m>
                          <a:r>
                            <a:rPr lang="en-US" altLang="zh-CN" sz="1800" b="1" kern="1200" dirty="0">
                              <a:solidFill>
                                <a:schemeClr val="tx1"/>
                              </a:solidFill>
                              <a:latin typeface="+mn-lt"/>
                              <a:ea typeface="+mn-ea"/>
                              <a:cs typeface="+mn-cs"/>
                            </a:rPr>
                            <a:t>)</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46871934"/>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289250877"/>
                      </a:ext>
                    </a:extLst>
                  </a:tr>
                  <a:tr h="353021">
                    <a:tc>
                      <a:txBody>
                        <a:bodyPr/>
                        <a:lstStyle/>
                        <a:p>
                          <a:pPr marL="0" algn="ctr" defTabSz="914400" rtl="0" eaLnBrk="1" latinLnBrk="0" hangingPunct="1"/>
                          <a:r>
                            <a:rPr lang="en-US" altLang="zh-CN" sz="1800" b="1" kern="1200" dirty="0">
                              <a:solidFill>
                                <a:schemeClr val="tx1"/>
                              </a:solidFill>
                              <a:latin typeface="+mn-lt"/>
                              <a:ea typeface="+mn-ea"/>
                              <a:cs typeface="+mn-cs"/>
                            </a:rPr>
                            <a:t>n (</a:t>
                          </a:r>
                          <a14:m>
                            <m:oMath xmlns:m="http://schemas.openxmlformats.org/officeDocument/2006/math">
                              <m:r>
                                <a:rPr lang="en-US" altLang="zh-CN" sz="1800" b="1" i="1" kern="1200" smtClean="0">
                                  <a:solidFill>
                                    <a:schemeClr val="tx1"/>
                                  </a:solidFill>
                                  <a:latin typeface="Cambria Math" panose="02040503050406030204" pitchFamily="18" charset="0"/>
                                  <a:ea typeface="+mn-ea"/>
                                  <a:cs typeface="+mn-cs"/>
                                </a:rPr>
                                <m:t>𝒑</m:t>
                              </m:r>
                              <m:r>
                                <a:rPr lang="en-US" altLang="zh-CN" sz="1800" b="1" i="1" kern="1200" smtClean="0">
                                  <a:solidFill>
                                    <a:schemeClr val="tx1"/>
                                  </a:solidFill>
                                  <a:latin typeface="Cambria Math" panose="02040503050406030204" pitchFamily="18" charset="0"/>
                                  <a:ea typeface="+mn-ea"/>
                                  <a:cs typeface="+mn-cs"/>
                                </a:rPr>
                                <m:t>=</m:t>
                              </m:r>
                              <m:r>
                                <a:rPr lang="en-US" altLang="zh-CN" sz="1800" b="1" i="1" kern="1200" smtClean="0">
                                  <a:solidFill>
                                    <a:schemeClr val="tx1"/>
                                  </a:solidFill>
                                  <a:latin typeface="Cambria Math" panose="02040503050406030204" pitchFamily="18" charset="0"/>
                                  <a:ea typeface="+mn-ea"/>
                                  <a:cs typeface="+mn-cs"/>
                                </a:rPr>
                                <m:t>𝟎</m:t>
                              </m:r>
                              <m:r>
                                <a:rPr lang="en-US" altLang="zh-CN" sz="1800" b="1" i="1" kern="1200" smtClean="0">
                                  <a:solidFill>
                                    <a:schemeClr val="tx1"/>
                                  </a:solidFill>
                                  <a:latin typeface="Cambria Math" panose="02040503050406030204" pitchFamily="18" charset="0"/>
                                  <a:ea typeface="+mn-ea"/>
                                  <a:cs typeface="+mn-cs"/>
                                </a:rPr>
                                <m:t>.</m:t>
                              </m:r>
                              <m:r>
                                <a:rPr lang="en-US" altLang="zh-CN" sz="1800" b="1" i="1" kern="1200" smtClean="0">
                                  <a:solidFill>
                                    <a:schemeClr val="tx1"/>
                                  </a:solidFill>
                                  <a:latin typeface="Cambria Math" panose="02040503050406030204" pitchFamily="18" charset="0"/>
                                  <a:ea typeface="+mn-ea"/>
                                  <a:cs typeface="+mn-cs"/>
                                </a:rPr>
                                <m:t>𝟎𝟏</m:t>
                              </m:r>
                            </m:oMath>
                          </a14:m>
                          <a:r>
                            <a:rPr lang="en-US" altLang="zh-CN" sz="1800" b="1" kern="1200" dirty="0">
                              <a:solidFill>
                                <a:schemeClr val="tx1"/>
                              </a:solidFill>
                              <a:latin typeface="+mn-lt"/>
                              <a:ea typeface="+mn-ea"/>
                              <a:cs typeface="+mn-cs"/>
                            </a:rPr>
                            <a:t>)</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2812739183"/>
                      </a:ext>
                    </a:extLst>
                  </a:tr>
                </a:tbl>
              </a:graphicData>
            </a:graphic>
          </p:graphicFrame>
        </mc:Choice>
        <mc:Fallback xmlns="">
          <p:graphicFrame>
            <p:nvGraphicFramePr>
              <p:cNvPr id="14" name="表格 2">
                <a:extLst>
                  <a:ext uri="{FF2B5EF4-FFF2-40B4-BE49-F238E27FC236}">
                    <a16:creationId xmlns:a16="http://schemas.microsoft.com/office/drawing/2014/main" id="{6754BE6A-1834-4C90-881D-F18C120C9939}"/>
                  </a:ext>
                </a:extLst>
              </p:cNvPr>
              <p:cNvGraphicFramePr>
                <a:graphicFrameLocks noGrp="1"/>
              </p:cNvGraphicFramePr>
              <p:nvPr>
                <p:extLst>
                  <p:ext uri="{D42A27DB-BD31-4B8C-83A1-F6EECF244321}">
                    <p14:modId xmlns:p14="http://schemas.microsoft.com/office/powerpoint/2010/main" val="2668982121"/>
                  </p:ext>
                </p:extLst>
              </p:nvPr>
            </p:nvGraphicFramePr>
            <p:xfrm>
              <a:off x="8654220" y="3645745"/>
              <a:ext cx="1681306" cy="2194560"/>
            </p:xfrm>
            <a:graphic>
              <a:graphicData uri="http://schemas.openxmlformats.org/drawingml/2006/table">
                <a:tbl>
                  <a:tblPr firstRow="1" bandRow="1">
                    <a:tableStyleId>{93296810-A885-4BE3-A3E7-6D5BEEA58F35}</a:tableStyleId>
                  </a:tblPr>
                  <a:tblGrid>
                    <a:gridCol w="1681306">
                      <a:extLst>
                        <a:ext uri="{9D8B030D-6E8A-4147-A177-3AD203B41FA5}">
                          <a16:colId xmlns:a16="http://schemas.microsoft.com/office/drawing/2014/main" val="1238765568"/>
                        </a:ext>
                      </a:extLst>
                    </a:gridCol>
                  </a:tblGrid>
                  <a:tr h="365760">
                    <a:tc>
                      <a:txBody>
                        <a:bodyPr/>
                        <a:lstStyle/>
                        <a:p>
                          <a:endParaRPr lang="zh-CN"/>
                        </a:p>
                      </a:txBody>
                      <a:tcPr anchor="ctr">
                        <a:blipFill>
                          <a:blip r:embed="rId6"/>
                          <a:stretch>
                            <a:fillRect l="-361" t="-8333" r="-1444" b="-526667"/>
                          </a:stretch>
                        </a:blipFill>
                      </a:tcPr>
                    </a:tc>
                    <a:extLst>
                      <a:ext uri="{0D108BD9-81ED-4DB2-BD59-A6C34878D82A}">
                        <a16:rowId xmlns:a16="http://schemas.microsoft.com/office/drawing/2014/main" val="2752317120"/>
                      </a:ext>
                    </a:extLst>
                  </a:tr>
                  <a:tr h="365760">
                    <a:tc>
                      <a:txBody>
                        <a:bodyPr/>
                        <a:lstStyle/>
                        <a:p>
                          <a:endParaRPr lang="zh-CN"/>
                        </a:p>
                      </a:txBody>
                      <a:tcPr anchor="ctr">
                        <a:blipFill>
                          <a:blip r:embed="rId6"/>
                          <a:stretch>
                            <a:fillRect l="-361" t="-108333" r="-1444" b="-426667"/>
                          </a:stretch>
                        </a:blipFill>
                      </a:tcPr>
                    </a:tc>
                    <a:extLst>
                      <a:ext uri="{0D108BD9-81ED-4DB2-BD59-A6C34878D82A}">
                        <a16:rowId xmlns:a16="http://schemas.microsoft.com/office/drawing/2014/main" val="2460415473"/>
                      </a:ext>
                    </a:extLst>
                  </a:tr>
                  <a:tr h="365760">
                    <a:tc>
                      <a:txBody>
                        <a:bodyPr/>
                        <a:lstStyle/>
                        <a:p>
                          <a:endParaRPr lang="zh-CN"/>
                        </a:p>
                      </a:txBody>
                      <a:tcPr anchor="ctr">
                        <a:blipFill>
                          <a:blip r:embed="rId6"/>
                          <a:stretch>
                            <a:fillRect l="-361" t="-204918" r="-1444" b="-319672"/>
                          </a:stretch>
                        </a:blipFill>
                      </a:tcPr>
                    </a:tc>
                    <a:extLst>
                      <a:ext uri="{0D108BD9-81ED-4DB2-BD59-A6C34878D82A}">
                        <a16:rowId xmlns:a16="http://schemas.microsoft.com/office/drawing/2014/main" val="3582642059"/>
                      </a:ext>
                    </a:extLst>
                  </a:tr>
                  <a:tr h="365760">
                    <a:tc>
                      <a:txBody>
                        <a:bodyPr/>
                        <a:lstStyle/>
                        <a:p>
                          <a:endParaRPr lang="zh-CN"/>
                        </a:p>
                      </a:txBody>
                      <a:tcPr anchor="ctr">
                        <a:blipFill>
                          <a:blip r:embed="rId6"/>
                          <a:stretch>
                            <a:fillRect l="-361" t="-310000" r="-1444" b="-225000"/>
                          </a:stretch>
                        </a:blipFill>
                      </a:tcPr>
                    </a:tc>
                    <a:extLst>
                      <a:ext uri="{0D108BD9-81ED-4DB2-BD59-A6C34878D82A}">
                        <a16:rowId xmlns:a16="http://schemas.microsoft.com/office/drawing/2014/main" val="346871934"/>
                      </a:ext>
                    </a:extLst>
                  </a:tr>
                  <a:tr h="365760">
                    <a:tc>
                      <a:txBody>
                        <a:bodyPr/>
                        <a:lstStyle/>
                        <a:p>
                          <a:pPr marL="0" algn="ctr" defTabSz="914400" rtl="0" eaLnBrk="1" latinLnBrk="0" hangingPunct="1"/>
                          <a:r>
                            <a:rPr lang="en-US" altLang="zh-CN" sz="1800" b="1" kern="1200" dirty="0">
                              <a:solidFill>
                                <a:schemeClr val="tx1"/>
                              </a:solidFill>
                              <a:latin typeface="+mn-lt"/>
                              <a:ea typeface="+mn-ea"/>
                              <a:cs typeface="+mn-cs"/>
                            </a:rPr>
                            <a:t>…</a:t>
                          </a:r>
                          <a:endParaRPr lang="zh-CN" altLang="en-US" sz="1800" b="1" kern="1200" dirty="0">
                            <a:solidFill>
                              <a:schemeClr val="tx1"/>
                            </a:solidFill>
                            <a:latin typeface="+mn-lt"/>
                            <a:ea typeface="+mn-ea"/>
                            <a:cs typeface="+mn-cs"/>
                          </a:endParaRPr>
                        </a:p>
                      </a:txBody>
                      <a:tcPr anchor="ctr"/>
                    </a:tc>
                    <a:extLst>
                      <a:ext uri="{0D108BD9-81ED-4DB2-BD59-A6C34878D82A}">
                        <a16:rowId xmlns:a16="http://schemas.microsoft.com/office/drawing/2014/main" val="3289250877"/>
                      </a:ext>
                    </a:extLst>
                  </a:tr>
                  <a:tr h="365760">
                    <a:tc>
                      <a:txBody>
                        <a:bodyPr/>
                        <a:lstStyle/>
                        <a:p>
                          <a:endParaRPr lang="zh-CN"/>
                        </a:p>
                      </a:txBody>
                      <a:tcPr anchor="ctr">
                        <a:blipFill>
                          <a:blip r:embed="rId6"/>
                          <a:stretch>
                            <a:fillRect l="-361" t="-510000" r="-1444" b="-25000"/>
                          </a:stretch>
                        </a:blipFill>
                      </a:tcPr>
                    </a:tc>
                    <a:extLst>
                      <a:ext uri="{0D108BD9-81ED-4DB2-BD59-A6C34878D82A}">
                        <a16:rowId xmlns:a16="http://schemas.microsoft.com/office/drawing/2014/main" val="2812739183"/>
                      </a:ext>
                    </a:extLst>
                  </a:tr>
                </a:tbl>
              </a:graphicData>
            </a:graphic>
          </p:graphicFrame>
        </mc:Fallback>
      </mc:AlternateContent>
    </p:spTree>
    <p:extLst>
      <p:ext uri="{BB962C8B-B14F-4D97-AF65-F5344CB8AC3E}">
        <p14:creationId xmlns:p14="http://schemas.microsoft.com/office/powerpoint/2010/main" val="93325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Exponential mechanism</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2985689"/>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Definition. For any quality function </a:t>
                </a:r>
                <a14:m>
                  <m:oMath xmlns:m="http://schemas.openxmlformats.org/officeDocument/2006/math">
                    <m:r>
                      <a:rPr lang="en-US" altLang="zh-CN" b="0" i="1" smtClean="0">
                        <a:latin typeface="Cambria Math" panose="02040503050406030204" pitchFamily="18" charset="0"/>
                        <a:cs typeface="Arial" panose="020B0604020202020204" pitchFamily="34" charset="0"/>
                      </a:rPr>
                      <m:t>𝑞</m:t>
                    </m:r>
                    <m:r>
                      <a:rPr lang="en-US" altLang="zh-CN" b="0" i="1" smtClean="0">
                        <a:latin typeface="Cambria Math" panose="02040503050406030204" pitchFamily="18" charset="0"/>
                        <a:cs typeface="Arial" panose="020B0604020202020204" pitchFamily="34" charset="0"/>
                      </a:rPr>
                      <m:t>:</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𝑂</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𝑅</m:t>
                    </m:r>
                  </m:oMath>
                </a14:m>
                <a:r>
                  <a:rPr lang="en-US" altLang="zh-CN" dirty="0">
                    <a:latin typeface="Arial" panose="020B0604020202020204" pitchFamily="34" charset="0"/>
                    <a:cs typeface="Arial" panose="020B0604020202020204" pitchFamily="34" charset="0"/>
                  </a:rPr>
                  <a:t>, and a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 the exponential mechanism </a:t>
                </a:r>
                <a14:m>
                  <m:oMath xmlns:m="http://schemas.openxmlformats.org/officeDocument/2006/math">
                    <m:r>
                      <a:rPr lang="en-US" altLang="zh-CN" b="0" i="1" smtClean="0">
                        <a:latin typeface="Cambria Math" panose="02040503050406030204" pitchFamily="18" charset="0"/>
                        <a:cs typeface="Arial" panose="020B0604020202020204" pitchFamily="34" charset="0"/>
                      </a:rPr>
                      <m:t>𝑀</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outputs </a:t>
                </a:r>
                <a14:m>
                  <m:oMath xmlns:m="http://schemas.openxmlformats.org/officeDocument/2006/math">
                    <m:r>
                      <a:rPr lang="en-US" altLang="zh-CN" b="0" i="1" smtClean="0">
                        <a:latin typeface="Cambria Math" panose="02040503050406030204" pitchFamily="18" charset="0"/>
                        <a:cs typeface="Arial" panose="020B0604020202020204" pitchFamily="34" charset="0"/>
                      </a:rPr>
                      <m:t>𝑜</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𝑂</m:t>
                    </m:r>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with probability proportional to </a:t>
                </a:r>
                <a14:m>
                  <m:oMath xmlns:m="http://schemas.openxmlformats.org/officeDocument/2006/math">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𝜖</m:t>
                            </m:r>
                            <m:r>
                              <a:rPr lang="en-US" altLang="zh-CN" b="0" i="1" smtClean="0">
                                <a:latin typeface="Cambria Math" panose="02040503050406030204" pitchFamily="18" charset="0"/>
                                <a:cs typeface="Arial" panose="020B0604020202020204" pitchFamily="34" charset="0"/>
                              </a:rPr>
                              <m:t> </m:t>
                            </m:r>
                            <m:r>
                              <a:rPr lang="en-US" altLang="zh-CN" b="0" i="1" smtClean="0">
                                <a:latin typeface="Cambria Math" panose="02040503050406030204" pitchFamily="18" charset="0"/>
                                <a:cs typeface="Arial" panose="020B0604020202020204" pitchFamily="34" charset="0"/>
                              </a:rPr>
                              <m:t>𝑞</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r>
                              <a:rPr lang="en-US" altLang="zh-CN" b="0" i="1" smtClean="0">
                                <a:latin typeface="Cambria Math" panose="02040503050406030204" pitchFamily="18" charset="0"/>
                                <a:cs typeface="Arial" panose="020B0604020202020204" pitchFamily="34" charset="0"/>
                              </a:rPr>
                              <m:t>)</m:t>
                            </m:r>
                          </m:num>
                          <m:den>
                            <m:r>
                              <a:rPr lang="en-US" altLang="zh-CN" b="0" i="1" smtClean="0">
                                <a:latin typeface="Cambria Math" panose="02040503050406030204" pitchFamily="18" charset="0"/>
                                <a:cs typeface="Arial" panose="020B0604020202020204" pitchFamily="34" charset="0"/>
                              </a:rPr>
                              <m:t>2 </m:t>
                            </m:r>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𝑞</m:t>
                            </m:r>
                          </m:den>
                        </m:f>
                        <m:r>
                          <a:rPr lang="en-US" altLang="zh-CN" b="0" i="1" smtClean="0">
                            <a:latin typeface="Cambria Math" panose="02040503050406030204" pitchFamily="18" charset="0"/>
                            <a:cs typeface="Arial" panose="020B0604020202020204" pitchFamily="34" charset="0"/>
                          </a:rPr>
                          <m:t>)</m:t>
                        </m:r>
                      </m:sup>
                    </m:sSup>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𝑞</m:t>
                      </m:r>
                      <m:r>
                        <a:rPr lang="en-US" altLang="zh-CN" b="0" i="1" smtClean="0">
                          <a:latin typeface="Cambria Math" panose="02040503050406030204" pitchFamily="18" charset="0"/>
                          <a:cs typeface="Arial" panose="020B0604020202020204" pitchFamily="34" charset="0"/>
                        </a:rPr>
                        <m:t>=</m:t>
                      </m:r>
                      <m:func>
                        <m:funcPr>
                          <m:ctrlPr>
                            <a:rPr lang="en-US" altLang="zh-CN" i="1">
                              <a:latin typeface="Cambria Math" panose="02040503050406030204" pitchFamily="18" charset="0"/>
                              <a:cs typeface="Arial" panose="020B0604020202020204" pitchFamily="34" charset="0"/>
                            </a:rPr>
                          </m:ctrlPr>
                        </m:funcPr>
                        <m:fName>
                          <m:limLow>
                            <m:limLowPr>
                              <m:ctrlPr>
                                <a:rPr lang="en-US" altLang="zh-CN" i="1">
                                  <a:latin typeface="Cambria Math" panose="02040503050406030204" pitchFamily="18" charset="0"/>
                                  <a:cs typeface="Arial" panose="020B0604020202020204" pitchFamily="34" charset="0"/>
                                </a:rPr>
                              </m:ctrlPr>
                            </m:limLowPr>
                            <m:e>
                              <m:r>
                                <m:rPr>
                                  <m:sty m:val="p"/>
                                </m:rPr>
                                <a:rPr lang="en-US" altLang="zh-CN">
                                  <a:latin typeface="Cambria Math" panose="02040503050406030204" pitchFamily="18" charset="0"/>
                                  <a:cs typeface="Arial" panose="020B0604020202020204" pitchFamily="34" charset="0"/>
                                </a:rPr>
                                <m:t>max</m:t>
                              </m:r>
                            </m:e>
                            <m:lim>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lim>
                          </m:limLow>
                        </m:fName>
                        <m:e>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e>
                              </m:d>
                              <m:r>
                                <a:rPr lang="en-US" altLang="zh-CN" i="1">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𝑞</m:t>
                              </m:r>
                              <m:d>
                                <m:dPr>
                                  <m:ctrlPr>
                                    <a:rPr lang="en-US" altLang="zh-CN" b="0" i="1" smtClean="0">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e>
                              </m:d>
                            </m:e>
                          </m:d>
                        </m:e>
                      </m:func>
                    </m:oMath>
                  </m:oMathPara>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Put another way,</a:t>
                </a:r>
              </a:p>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e>
                          </m:d>
                        </m:e>
                      </m:func>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𝐷</m:t>
                                  </m:r>
                                  <m:r>
                                    <a:rPr lang="en-US" altLang="zh-CN" i="1">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r>
                                <a:rPr lang="en-US" altLang="zh-CN" i="1">
                                  <a:latin typeface="Cambria Math" panose="02040503050406030204" pitchFamily="18" charset="0"/>
                                  <a:cs typeface="Arial" panose="020B0604020202020204" pitchFamily="34" charset="0"/>
                                </a:rPr>
                                <m:t>)</m:t>
                              </m:r>
                            </m:sup>
                          </m:sSup>
                        </m:num>
                        <m:den>
                          <m:nary>
                            <m:naryPr>
                              <m:chr m:val="∑"/>
                              <m:limLoc m:val="subSup"/>
                              <m:supHide m:val="on"/>
                              <m:ctrlPr>
                                <a:rPr lang="en-US" altLang="zh-CN" b="0" i="1" smtClean="0">
                                  <a:latin typeface="Cambria Math" panose="02040503050406030204" pitchFamily="18" charset="0"/>
                                  <a:cs typeface="Arial" panose="020B0604020202020204" pitchFamily="34" charset="0"/>
                                </a:rPr>
                              </m:ctrlPr>
                            </m:naryPr>
                            <m:sub>
                              <m:r>
                                <m:rPr>
                                  <m:brk m:alnAt="9"/>
                                </m:rPr>
                                <a:rPr lang="en-US" altLang="zh-CN" b="0" i="1" smtClean="0">
                                  <a:latin typeface="Cambria Math" panose="02040503050406030204" pitchFamily="18" charset="0"/>
                                  <a:cs typeface="Arial" panose="020B0604020202020204" pitchFamily="34" charset="0"/>
                                </a:rPr>
                                <m:t>𝑜</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𝑂</m:t>
                              </m:r>
                            </m:sub>
                            <m:sup/>
                            <m:e>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𝐷</m:t>
                                      </m:r>
                                      <m:r>
                                        <a:rPr lang="en-US" altLang="zh-CN" i="1">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r>
                                    <a:rPr lang="en-US" altLang="zh-CN" i="1">
                                      <a:latin typeface="Cambria Math" panose="02040503050406030204" pitchFamily="18" charset="0"/>
                                      <a:cs typeface="Arial" panose="020B0604020202020204" pitchFamily="34" charset="0"/>
                                    </a:rPr>
                                    <m:t>)</m:t>
                                  </m:r>
                                </m:sup>
                              </m:sSup>
                            </m:e>
                          </m:nary>
                        </m:den>
                      </m:f>
                    </m:oMath>
                  </m:oMathPara>
                </a14:m>
                <a:endParaRPr lang="zh-CN" altLang="en-US"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6" y="1179261"/>
                <a:ext cx="10380016" cy="2985689"/>
              </a:xfrm>
              <a:prstGeom prst="rect">
                <a:avLst/>
              </a:prstGeom>
              <a:blipFill>
                <a:blip r:embed="rId2"/>
                <a:stretch>
                  <a:fillRect l="-529" t="-10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693609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Exponential mechanism</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4695644"/>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Theorem.</a:t>
                </a:r>
                <a:r>
                  <a:rPr lang="en-US" altLang="zh-CN" dirty="0">
                    <a:latin typeface="Arial" panose="020B0604020202020204" pitchFamily="34" charset="0"/>
                    <a:cs typeface="Arial" panose="020B0604020202020204" pitchFamily="34" charset="0"/>
                  </a:rPr>
                  <a:t> The exponential mechanism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Proof. For any two neighbor datasets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 and any output </a:t>
                </a:r>
                <a14:m>
                  <m:oMath xmlns:m="http://schemas.openxmlformats.org/officeDocument/2006/math">
                    <m:r>
                      <a:rPr lang="en-US" altLang="zh-CN" b="0" i="1" smtClean="0">
                        <a:latin typeface="Cambria Math" panose="02040503050406030204" pitchFamily="18" charset="0"/>
                        <a:cs typeface="Arial" panose="020B0604020202020204" pitchFamily="34" charset="0"/>
                      </a:rPr>
                      <m:t>𝑜</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𝑂</m:t>
                    </m:r>
                  </m:oMath>
                </a14:m>
                <a:r>
                  <a:rPr lang="en-US" altLang="zh-CN" dirty="0">
                    <a:latin typeface="Arial" panose="020B0604020202020204" pitchFamily="34" charset="0"/>
                    <a:cs typeface="Arial" panose="020B0604020202020204" pitchFamily="34" charset="0"/>
                  </a:rPr>
                  <a:t>,</a:t>
                </a:r>
              </a:p>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cs typeface="Arial" panose="020B0604020202020204" pitchFamily="34" charset="0"/>
                            </a:rPr>
                          </m:ctrlPr>
                        </m:fPr>
                        <m:num>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num>
                        <m:den>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den>
                      </m:f>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𝜖</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𝑞</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𝑞</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r>
                                <a:rPr lang="en-US" altLang="zh-CN" b="0" i="1" smtClean="0">
                                  <a:latin typeface="Cambria Math" panose="02040503050406030204" pitchFamily="18" charset="0"/>
                                  <a:cs typeface="Arial" panose="020B0604020202020204" pitchFamily="34" charset="0"/>
                                </a:rPr>
                                <m:t>))</m:t>
                              </m:r>
                            </m:num>
                            <m:den>
                              <m:r>
                                <a:rPr lang="en-US" altLang="zh-CN" b="0" i="1" smtClean="0">
                                  <a:latin typeface="Cambria Math" panose="02040503050406030204" pitchFamily="18" charset="0"/>
                                  <a:cs typeface="Arial" panose="020B0604020202020204" pitchFamily="34" charset="0"/>
                                </a:rPr>
                                <m:t>2</m:t>
                              </m:r>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𝑞</m:t>
                              </m:r>
                            </m:den>
                          </m:f>
                        </m:sup>
                      </m:sSup>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r>
                            <a:rPr lang="en-US" altLang="zh-CN" b="0" i="1" smtClean="0">
                              <a:latin typeface="Cambria Math" panose="02040503050406030204" pitchFamily="18" charset="0"/>
                              <a:cs typeface="Arial" panose="020B0604020202020204" pitchFamily="34" charset="0"/>
                            </a:rPr>
                            <m:t>/2</m:t>
                          </m:r>
                        </m:sup>
                      </m:sSup>
                    </m:oMath>
                  </m:oMathPara>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Because of the symmetry of neighboring, we also have </a:t>
                </a:r>
                <a14:m>
                  <m:oMath xmlns:m="http://schemas.openxmlformats.org/officeDocument/2006/math">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r>
                          <a:rPr lang="en-US" altLang="zh-CN" b="0" i="1" smtClean="0">
                            <a:latin typeface="Cambria Math" panose="02040503050406030204" pitchFamily="18" charset="0"/>
                            <a:cs typeface="Arial" panose="020B0604020202020204" pitchFamily="34" charset="0"/>
                          </a:rPr>
                          <m:t>/2</m:t>
                        </m:r>
                      </m:sup>
                    </m:sSup>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oMath>
                </a14:m>
                <a:r>
                  <a:rPr lang="en-US" altLang="zh-CN" dirty="0">
                    <a:latin typeface="Arial" panose="020B0604020202020204" pitchFamily="34" charset="0"/>
                    <a:cs typeface="Arial" panose="020B0604020202020204" pitchFamily="34" charset="0"/>
                  </a:rPr>
                  <a:t>, then</a:t>
                </a:r>
              </a:p>
              <a:p>
                <a:endParaRPr lang="en-US" altLang="zh-CN"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cs typeface="Arial" panose="020B0604020202020204" pitchFamily="34" charset="0"/>
                            </a:rPr>
                          </m:ctrlPr>
                        </m:fPr>
                        <m:num>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r>
                            <a:rPr lang="en-US" altLang="zh-CN" b="0" i="1" smtClean="0">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𝑀</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den>
                      </m:f>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f>
                            <m:fPr>
                              <m:ctrlPr>
                                <a:rPr lang="en-US" altLang="zh-CN" i="1">
                                  <a:latin typeface="Cambria Math" panose="02040503050406030204" pitchFamily="18" charset="0"/>
                                  <a:cs typeface="Arial" panose="020B0604020202020204" pitchFamily="34" charset="0"/>
                                </a:rPr>
                              </m:ctrlPr>
                            </m:fPr>
                            <m:num>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num>
                            <m:den>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𝑂</m:t>
                                  </m:r>
                                </m:sub>
                                <m:sup/>
                                <m:e>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e>
                              </m:nary>
                            </m:den>
                          </m:f>
                        </m:num>
                        <m:den>
                          <m:f>
                            <m:fPr>
                              <m:ctrlPr>
                                <a:rPr lang="en-US" altLang="zh-CN" i="1">
                                  <a:latin typeface="Cambria Math" panose="02040503050406030204" pitchFamily="18" charset="0"/>
                                  <a:cs typeface="Arial" panose="020B0604020202020204" pitchFamily="34" charset="0"/>
                                </a:rPr>
                              </m:ctrlPr>
                            </m:fPr>
                            <m:num>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num>
                            <m:den>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𝑂</m:t>
                                  </m:r>
                                </m:sub>
                                <m:sup/>
                                <m:e>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e>
                              </m:nary>
                            </m:den>
                          </m:f>
                        </m:den>
                      </m:f>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num>
                        <m:den>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den>
                      </m:f>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𝑂</m:t>
                              </m:r>
                            </m:sub>
                            <m:sup/>
                            <m:e>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e>
                          </m:nary>
                        </m:num>
                        <m:den>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𝑂</m:t>
                              </m:r>
                            </m:sub>
                            <m:sup/>
                            <m:e>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e>
                          </m:nary>
                        </m:den>
                      </m:f>
                      <m:r>
                        <a:rPr lang="en-US" altLang="zh-CN" b="0" i="1" smtClean="0">
                          <a:latin typeface="Cambria Math" panose="02040503050406030204" pitchFamily="18" charset="0"/>
                          <a:cs typeface="Arial" panose="020B0604020202020204" pitchFamily="34" charset="0"/>
                        </a:rPr>
                        <m:t>≤</m:t>
                      </m:r>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i="1">
                                  <a:latin typeface="Cambria Math" panose="02040503050406030204" pitchFamily="18" charset="0"/>
                                  <a:cs typeface="Arial" panose="020B0604020202020204" pitchFamily="34" charset="0"/>
                                </a:rPr>
                                <m:t>2</m:t>
                              </m:r>
                            </m:den>
                          </m:f>
                        </m:sup>
                      </m:sSup>
                      <m:f>
                        <m:fPr>
                          <m:ctrlPr>
                            <a:rPr lang="en-US" altLang="zh-CN" i="1" smtClean="0">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𝑂</m:t>
                              </m:r>
                            </m:sub>
                            <m:sup/>
                            <m:e>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i="1">
                                          <a:latin typeface="Cambria Math" panose="02040503050406030204" pitchFamily="18" charset="0"/>
                                          <a:cs typeface="Arial" panose="020B0604020202020204" pitchFamily="34" charset="0"/>
                                        </a:rPr>
                                        <m:t>2</m:t>
                                      </m:r>
                                    </m:den>
                                  </m:f>
                                </m:sup>
                              </m:sSup>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e>
                          </m:nary>
                        </m:num>
                        <m:den>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𝑂</m:t>
                              </m:r>
                            </m:sub>
                            <m:sup/>
                            <m:e>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a:rPr lang="en-US" altLang="zh-CN" i="1">
                                              <a:latin typeface="Cambria Math" panose="02040503050406030204" pitchFamily="18" charset="0"/>
                                              <a:cs typeface="Arial" panose="020B0604020202020204" pitchFamily="34" charset="0"/>
                                            </a:rPr>
                                            <m:t>2 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e>
                          </m:nary>
                        </m:den>
                      </m:f>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oMath>
                  </m:oMathPara>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6" y="1179261"/>
                <a:ext cx="10380016" cy="4695644"/>
              </a:xfrm>
              <a:prstGeom prst="rect">
                <a:avLst/>
              </a:prstGeom>
              <a:blipFill>
                <a:blip r:embed="rId2"/>
                <a:stretch>
                  <a:fillRect l="-529" t="-6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217357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Exponential mechanism</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162769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Accuracy Improvement</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If the quality function </a:t>
                </a:r>
                <a14:m>
                  <m:oMath xmlns:m="http://schemas.openxmlformats.org/officeDocument/2006/math">
                    <m:r>
                      <a:rPr lang="en-US" altLang="zh-CN" b="0" i="1" smtClean="0">
                        <a:latin typeface="Cambria Math" panose="02040503050406030204" pitchFamily="18" charset="0"/>
                        <a:cs typeface="Arial" panose="020B0604020202020204" pitchFamily="34" charset="0"/>
                      </a:rPr>
                      <m:t>𝑞</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is monotonic, i.e., for any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 either </a:t>
                </a:r>
                <a14:m>
                  <m:oMath xmlns:m="http://schemas.openxmlformats.org/officeDocument/2006/math">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𝑂</m:t>
                    </m:r>
                  </m:oMath>
                </a14:m>
                <a:r>
                  <a:rPr lang="en-US" altLang="zh-CN" dirty="0">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cs typeface="Arial" panose="020B0604020202020204" pitchFamily="34" charset="0"/>
                      </a:rPr>
                      <m:t>𝑞</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e>
                    </m:d>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𝑞</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or </a:t>
                </a:r>
                <a14:m>
                  <m:oMath xmlns:m="http://schemas.openxmlformats.org/officeDocument/2006/math">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𝑂</m:t>
                    </m:r>
                  </m:oMath>
                </a14:m>
                <a:r>
                  <a:rPr lang="en-US" altLang="zh-CN" dirty="0">
                    <a:latin typeface="Arial" panose="020B0604020202020204" pitchFamily="34" charset="0"/>
                    <a:cs typeface="Arial" panose="020B0604020202020204" pitchFamily="34" charset="0"/>
                  </a:rPr>
                  <a:t>, </a:t>
                </a:r>
                <a14:m>
                  <m:oMath xmlns:m="http://schemas.openxmlformats.org/officeDocument/2006/math">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oMath>
                </a14:m>
                <a:r>
                  <a:rPr lang="en-US" altLang="zh-CN" dirty="0">
                    <a:latin typeface="Arial" panose="020B0604020202020204" pitchFamily="34" charset="0"/>
                    <a:cs typeface="Arial" panose="020B0604020202020204" pitchFamily="34" charset="0"/>
                  </a:rPr>
                  <a:t>, the exponential mechanism </a:t>
                </a:r>
                <a14:m>
                  <m:oMath xmlns:m="http://schemas.openxmlformats.org/officeDocument/2006/math">
                    <m:r>
                      <a:rPr lang="en-US" altLang="zh-CN" b="0" i="1" smtClean="0">
                        <a:latin typeface="Cambria Math" panose="02040503050406030204" pitchFamily="18" charset="0"/>
                        <a:cs typeface="Arial" panose="020B0604020202020204" pitchFamily="34" charset="0"/>
                      </a:rPr>
                      <m:t>𝑀</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outputs with probability proportional to </a:t>
                </a:r>
                <a14:m>
                  <m:oMath xmlns:m="http://schemas.openxmlformats.org/officeDocument/2006/math">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𝜖</m:t>
                            </m:r>
                            <m:r>
                              <a:rPr lang="en-US" altLang="zh-CN" b="0" i="1" smtClean="0">
                                <a:latin typeface="Cambria Math" panose="02040503050406030204" pitchFamily="18" charset="0"/>
                                <a:cs typeface="Arial" panose="020B0604020202020204" pitchFamily="34" charset="0"/>
                              </a:rPr>
                              <m:t>𝑞</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e>
                            </m:d>
                          </m:num>
                          <m:den>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𝑞</m:t>
                            </m:r>
                          </m:den>
                        </m:f>
                      </m:sup>
                    </m:sSup>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a:t>
                </a: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6" y="1179261"/>
                <a:ext cx="10380016" cy="1627690"/>
              </a:xfrm>
              <a:prstGeom prst="rect">
                <a:avLst/>
              </a:prstGeom>
              <a:blipFill>
                <a:blip r:embed="rId2"/>
                <a:stretch>
                  <a:fillRect l="-529" t="-1873" r="-646" b="-52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805013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Exponential mechanism</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6" y="1179261"/>
                <a:ext cx="10380016" cy="4638257"/>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Accuracy Improvement</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If the quality function </a:t>
                </a:r>
                <a14:m>
                  <m:oMath xmlns:m="http://schemas.openxmlformats.org/officeDocument/2006/math">
                    <m:r>
                      <a:rPr lang="en-US" altLang="zh-CN" b="0" i="1" smtClean="0">
                        <a:latin typeface="Cambria Math" panose="02040503050406030204" pitchFamily="18" charset="0"/>
                        <a:cs typeface="Arial" panose="020B0604020202020204" pitchFamily="34" charset="0"/>
                      </a:rPr>
                      <m:t>𝑞</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is monotonic, i.e., for any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 either </a:t>
                </a:r>
                <a14:m>
                  <m:oMath xmlns:m="http://schemas.openxmlformats.org/officeDocument/2006/math">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𝑂</m:t>
                    </m:r>
                  </m:oMath>
                </a14:m>
                <a:r>
                  <a:rPr lang="en-US" altLang="zh-CN" dirty="0">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cs typeface="Arial" panose="020B0604020202020204" pitchFamily="34" charset="0"/>
                      </a:rPr>
                      <m:t>𝑞</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e>
                    </m:d>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𝑞</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or </a:t>
                </a:r>
                <a14:m>
                  <m:oMath xmlns:m="http://schemas.openxmlformats.org/officeDocument/2006/math">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𝑂</m:t>
                    </m:r>
                  </m:oMath>
                </a14:m>
                <a:r>
                  <a:rPr lang="en-US" altLang="zh-CN" dirty="0">
                    <a:latin typeface="Arial" panose="020B0604020202020204" pitchFamily="34" charset="0"/>
                    <a:cs typeface="Arial" panose="020B0604020202020204" pitchFamily="34" charset="0"/>
                  </a:rPr>
                  <a:t>, </a:t>
                </a:r>
                <a14:m>
                  <m:oMath xmlns:m="http://schemas.openxmlformats.org/officeDocument/2006/math">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oMath>
                </a14:m>
                <a:r>
                  <a:rPr lang="en-US" altLang="zh-CN" dirty="0">
                    <a:latin typeface="Arial" panose="020B0604020202020204" pitchFamily="34" charset="0"/>
                    <a:cs typeface="Arial" panose="020B0604020202020204" pitchFamily="34" charset="0"/>
                  </a:rPr>
                  <a:t>, the exponential mechanism </a:t>
                </a:r>
                <a14:m>
                  <m:oMath xmlns:m="http://schemas.openxmlformats.org/officeDocument/2006/math">
                    <m:r>
                      <a:rPr lang="en-US" altLang="zh-CN" b="0" i="1" smtClean="0">
                        <a:latin typeface="Cambria Math" panose="02040503050406030204" pitchFamily="18" charset="0"/>
                        <a:cs typeface="Arial" panose="020B0604020202020204" pitchFamily="34" charset="0"/>
                      </a:rPr>
                      <m:t>𝑀</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outputs with probability proportional to </a:t>
                </a:r>
                <a14:m>
                  <m:oMath xmlns:m="http://schemas.openxmlformats.org/officeDocument/2006/math">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𝜖</m:t>
                            </m:r>
                            <m:r>
                              <a:rPr lang="en-US" altLang="zh-CN" b="0" i="1" smtClean="0">
                                <a:latin typeface="Cambria Math" panose="02040503050406030204" pitchFamily="18" charset="0"/>
                                <a:cs typeface="Arial" panose="020B0604020202020204" pitchFamily="34" charset="0"/>
                              </a:rPr>
                              <m:t>𝑞</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e>
                            </m:d>
                          </m:num>
                          <m:den>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𝑞</m:t>
                            </m:r>
                          </m:den>
                        </m:f>
                      </m:sup>
                    </m:sSup>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Proof. Suppose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𝑟</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cs typeface="Arial" panose="020B0604020202020204" pitchFamily="34" charset="0"/>
                      </a:rPr>
                      <m:t>𝑞</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is monotonically increasing with the dataset size,</a:t>
                </a:r>
              </a:p>
              <a:p>
                <a:endParaRPr lang="en-US" altLang="zh-CN"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cs typeface="Arial" panose="020B0604020202020204" pitchFamily="34" charset="0"/>
                            </a:rPr>
                          </m:ctrlPr>
                        </m:fPr>
                        <m:num>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num>
                        <m:den>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den>
                      </m:f>
                      <m:r>
                        <a:rPr lang="en-US" altLang="zh-CN" b="0" i="1" smtClean="0">
                          <a:latin typeface="Cambria Math" panose="02040503050406030204" pitchFamily="18" charset="0"/>
                          <a:cs typeface="Arial" panose="020B0604020202020204" pitchFamily="34" charset="0"/>
                        </a:rPr>
                        <m:t>≤1,   </m:t>
                      </m:r>
                      <m:f>
                        <m:fPr>
                          <m:ctrlPr>
                            <a:rPr lang="en-US" altLang="zh-CN" i="1">
                              <a:latin typeface="Cambria Math" panose="02040503050406030204" pitchFamily="18" charset="0"/>
                              <a:cs typeface="Arial" panose="020B0604020202020204" pitchFamily="34" charset="0"/>
                            </a:rPr>
                          </m:ctrlPr>
                        </m:fPr>
                        <m:num>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num>
                        <m:den>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den>
                      </m:f>
                      <m:r>
                        <a:rPr lang="en-US" altLang="zh-CN" i="1">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oMath>
                  </m:oMathPara>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cs typeface="Arial" panose="020B0604020202020204" pitchFamily="34" charset="0"/>
                            </a:rPr>
                          </m:ctrlPr>
                        </m:fPr>
                        <m:num>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r>
                            <a:rPr lang="en-US" altLang="zh-CN" b="0" i="1" smtClean="0">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𝑀</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den>
                      </m:f>
                      <m:r>
                        <a:rPr lang="en-US" altLang="zh-CN" b="0" i="1" smtClean="0">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num>
                        <m:den>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den>
                      </m:f>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𝑂</m:t>
                              </m:r>
                            </m:sub>
                            <m:sup/>
                            <m:e>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e>
                          </m:nary>
                        </m:num>
                        <m:den>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𝑂</m:t>
                              </m:r>
                            </m:sub>
                            <m:sup/>
                            <m:e>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e>
                                  </m:d>
                                </m:sup>
                              </m:sSup>
                            </m:e>
                          </m:nary>
                        </m:den>
                      </m:f>
                      <m:r>
                        <a:rPr lang="en-US" altLang="zh-CN" b="0" i="1" smtClean="0">
                          <a:latin typeface="Cambria Math" panose="02040503050406030204" pitchFamily="18" charset="0"/>
                          <a:cs typeface="Arial" panose="020B0604020202020204" pitchFamily="34" charset="0"/>
                        </a:rPr>
                        <m:t>=1×</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oMath>
                  </m:oMathPara>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6" y="1179261"/>
                <a:ext cx="10380016" cy="4638257"/>
              </a:xfrm>
              <a:prstGeom prst="rect">
                <a:avLst/>
              </a:prstGeom>
              <a:blipFill>
                <a:blip r:embed="rId2"/>
                <a:stretch>
                  <a:fillRect l="-529" t="-657" r="-6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769084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Exponential mechanism—example</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92333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Mode Publish</a:t>
                </a:r>
              </a:p>
              <a:p>
                <a:endParaRPr lang="en-US" altLang="zh-CN" b="1"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Suppose a dataset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∈[0, 1000000]</m:t>
                    </m:r>
                  </m:oMath>
                </a14:m>
                <a:r>
                  <a:rPr lang="en-US" altLang="zh-CN" dirty="0">
                    <a:latin typeface="Arial" panose="020B0604020202020204" pitchFamily="34" charset="0"/>
                    <a:cs typeface="Arial" panose="020B0604020202020204" pitchFamily="34" charset="0"/>
                  </a:rPr>
                  <a:t>, we want to publish the mode of </a:t>
                </a:r>
                <a14:m>
                  <m:oMath xmlns:m="http://schemas.openxmlformats.org/officeDocument/2006/math">
                    <m:r>
                      <a:rPr lang="en-US" altLang="zh-CN" i="1">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using exponential mechanism.</a:t>
                </a: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923330"/>
              </a:xfrm>
              <a:prstGeom prst="rect">
                <a:avLst/>
              </a:prstGeom>
              <a:blipFill>
                <a:blip r:embed="rId2"/>
                <a:stretch>
                  <a:fillRect l="-498" t="-3289" b="-92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054450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Exponential mechanism—example</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1754326"/>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Mode Publish</a:t>
                </a:r>
              </a:p>
              <a:p>
                <a:endParaRPr lang="en-US" altLang="zh-CN" b="1"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Suppose a dataset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∈[0, 1000000]</m:t>
                    </m:r>
                  </m:oMath>
                </a14:m>
                <a:r>
                  <a:rPr lang="en-US" altLang="zh-CN" dirty="0">
                    <a:latin typeface="Arial" panose="020B0604020202020204" pitchFamily="34" charset="0"/>
                    <a:cs typeface="Arial" panose="020B0604020202020204" pitchFamily="34" charset="0"/>
                  </a:rPr>
                  <a:t>, we want to publish the mode of </a:t>
                </a:r>
                <a14:m>
                  <m:oMath xmlns:m="http://schemas.openxmlformats.org/officeDocument/2006/math">
                    <m:r>
                      <a:rPr lang="en-US" altLang="zh-CN" i="1">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using exponential mechanism.</a:t>
                </a: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zh-CN" dirty="0">
                    <a:latin typeface="Arial" panose="020B0604020202020204" pitchFamily="34" charset="0"/>
                    <a:cs typeface="Arial" panose="020B0604020202020204" pitchFamily="34" charset="0"/>
                  </a:rPr>
                  <a:t>Possible output: integer from 0 to 1000000</a:t>
                </a: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1754326"/>
              </a:xfrm>
              <a:prstGeom prst="rect">
                <a:avLst/>
              </a:prstGeom>
              <a:blipFill>
                <a:blip r:embed="rId2"/>
                <a:stretch>
                  <a:fillRect l="-498" t="-1736" b="-45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074231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Exponential mechanism—example</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2031325"/>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Mode Publish</a:t>
                </a:r>
              </a:p>
              <a:p>
                <a:endParaRPr lang="en-US" altLang="zh-CN" b="1"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Suppose a dataset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∈[0, 1000000]</m:t>
                    </m:r>
                  </m:oMath>
                </a14:m>
                <a:r>
                  <a:rPr lang="en-US" altLang="zh-CN" dirty="0">
                    <a:latin typeface="Arial" panose="020B0604020202020204" pitchFamily="34" charset="0"/>
                    <a:cs typeface="Arial" panose="020B0604020202020204" pitchFamily="34" charset="0"/>
                  </a:rPr>
                  <a:t>, we want to publish the mode of </a:t>
                </a:r>
                <a14:m>
                  <m:oMath xmlns:m="http://schemas.openxmlformats.org/officeDocument/2006/math">
                    <m:r>
                      <a:rPr lang="en-US" altLang="zh-CN" i="1">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using exponential mechanism.</a:t>
                </a: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zh-CN" dirty="0">
                    <a:latin typeface="Arial" panose="020B0604020202020204" pitchFamily="34" charset="0"/>
                    <a:cs typeface="Arial" panose="020B0604020202020204" pitchFamily="34" charset="0"/>
                  </a:rPr>
                  <a:t>Possible output: integer from 0 to 1000000</a:t>
                </a:r>
              </a:p>
              <a:p>
                <a:pPr marL="285750" indent="-285750">
                  <a:buFont typeface="Arial" panose="020B0604020202020204" pitchFamily="34" charset="0"/>
                  <a:buChar char="•"/>
                </a:pPr>
                <a:r>
                  <a:rPr lang="en-US" altLang="zh-CN" dirty="0">
                    <a:latin typeface="Arial" panose="020B0604020202020204" pitchFamily="34" charset="0"/>
                    <a:cs typeface="Arial" panose="020B0604020202020204" pitchFamily="34" charset="0"/>
                  </a:rPr>
                  <a:t>Quality function: </a:t>
                </a:r>
                <a14:m>
                  <m:oMath xmlns:m="http://schemas.openxmlformats.org/officeDocument/2006/math">
                    <m:r>
                      <a:rPr lang="en-US" altLang="zh-CN" b="0" i="1" smtClean="0">
                        <a:latin typeface="Cambria Math" panose="02040503050406030204" pitchFamily="18" charset="0"/>
                        <a:cs typeface="Arial" panose="020B0604020202020204" pitchFamily="34" charset="0"/>
                      </a:rPr>
                      <m:t>𝑞</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e>
                    </m:d>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𝑛</m:t>
                        </m:r>
                      </m:e>
                      <m: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sub>
                    </m:sSub>
                    <m:r>
                      <a:rPr lang="en-US" altLang="zh-CN" b="0" i="0" smtClean="0">
                        <a:latin typeface="Cambria Math" panose="02040503050406030204" pitchFamily="18" charset="0"/>
                        <a:cs typeface="Arial" panose="020B0604020202020204" pitchFamily="34" charset="0"/>
                      </a:rPr>
                      <m:t>, </m:t>
                    </m:r>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𝑞</m:t>
                    </m:r>
                    <m:r>
                      <a:rPr lang="en-US" altLang="zh-CN" b="0" i="1" smtClean="0">
                        <a:latin typeface="Cambria Math" panose="02040503050406030204" pitchFamily="18" charset="0"/>
                        <a:cs typeface="Arial" panose="020B0604020202020204" pitchFamily="34" charset="0"/>
                      </a:rPr>
                      <m:t>=1</m:t>
                    </m:r>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2031325"/>
              </a:xfrm>
              <a:prstGeom prst="rect">
                <a:avLst/>
              </a:prstGeom>
              <a:blipFill>
                <a:blip r:embed="rId2"/>
                <a:stretch>
                  <a:fillRect l="-498" t="-1497" b="-35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322887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Exponential mechanism—example</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2308324"/>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Mode Publish</a:t>
                </a:r>
              </a:p>
              <a:p>
                <a:endParaRPr lang="en-US" altLang="zh-CN" b="1"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Suppose a dataset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∈[0, 1000000]</m:t>
                    </m:r>
                  </m:oMath>
                </a14:m>
                <a:r>
                  <a:rPr lang="en-US" altLang="zh-CN" dirty="0">
                    <a:latin typeface="Arial" panose="020B0604020202020204" pitchFamily="34" charset="0"/>
                    <a:cs typeface="Arial" panose="020B0604020202020204" pitchFamily="34" charset="0"/>
                  </a:rPr>
                  <a:t>, we want to publish the mode of </a:t>
                </a:r>
                <a14:m>
                  <m:oMath xmlns:m="http://schemas.openxmlformats.org/officeDocument/2006/math">
                    <m:r>
                      <a:rPr lang="en-US" altLang="zh-CN" i="1">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using exponential mechanism.</a:t>
                </a: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zh-CN" dirty="0">
                    <a:latin typeface="Arial" panose="020B0604020202020204" pitchFamily="34" charset="0"/>
                    <a:cs typeface="Arial" panose="020B0604020202020204" pitchFamily="34" charset="0"/>
                  </a:rPr>
                  <a:t>Possible output: integer from 0 to 1000000</a:t>
                </a:r>
              </a:p>
              <a:p>
                <a:pPr marL="285750" indent="-285750">
                  <a:buFont typeface="Arial" panose="020B0604020202020204" pitchFamily="34" charset="0"/>
                  <a:buChar char="•"/>
                </a:pPr>
                <a:r>
                  <a:rPr lang="en-US" altLang="zh-CN" dirty="0">
                    <a:latin typeface="Arial" panose="020B0604020202020204" pitchFamily="34" charset="0"/>
                    <a:cs typeface="Arial" panose="020B0604020202020204" pitchFamily="34" charset="0"/>
                  </a:rPr>
                  <a:t>Quality function: </a:t>
                </a:r>
                <a14:m>
                  <m:oMath xmlns:m="http://schemas.openxmlformats.org/officeDocument/2006/math">
                    <m:r>
                      <a:rPr lang="en-US" altLang="zh-CN" b="0" i="1" smtClean="0">
                        <a:latin typeface="Cambria Math" panose="02040503050406030204" pitchFamily="18" charset="0"/>
                        <a:cs typeface="Arial" panose="020B0604020202020204" pitchFamily="34" charset="0"/>
                      </a:rPr>
                      <m:t>𝑞</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e>
                    </m:d>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𝑛</m:t>
                        </m:r>
                      </m:e>
                      <m: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sub>
                    </m:sSub>
                    <m:r>
                      <a:rPr lang="en-US" altLang="zh-CN" b="0" i="1" smtClean="0">
                        <a:latin typeface="Cambria Math" panose="02040503050406030204" pitchFamily="18" charset="0"/>
                        <a:cs typeface="Arial" panose="020B0604020202020204" pitchFamily="34" charset="0"/>
                      </a:rPr>
                      <m:t>,</m:t>
                    </m:r>
                    <m:r>
                      <a:rPr lang="en-US" altLang="zh-CN" b="0" i="0" smtClean="0">
                        <a:latin typeface="Cambria Math" panose="02040503050406030204" pitchFamily="18" charset="0"/>
                        <a:cs typeface="Arial" panose="020B0604020202020204" pitchFamily="34" charset="0"/>
                      </a:rPr>
                      <m:t> </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r>
                      <a:rPr lang="en-US" altLang="zh-CN" i="1">
                        <a:latin typeface="Cambria Math" panose="02040503050406030204" pitchFamily="18" charset="0"/>
                        <a:cs typeface="Arial" panose="020B0604020202020204" pitchFamily="34" charset="0"/>
                      </a:rPr>
                      <m:t>=1</m:t>
                    </m:r>
                  </m:oMath>
                </a14:m>
                <a:endParaRPr lang="en-US" altLang="zh-C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zh-CN" dirty="0">
                    <a:latin typeface="Arial" panose="020B0604020202020204" pitchFamily="34" charset="0"/>
                    <a:cs typeface="Arial" panose="020B0604020202020204" pitchFamily="34" charset="0"/>
                  </a:rPr>
                  <a:t>Monotonic: </a:t>
                </a:r>
                <a14:m>
                  <m:oMath xmlns:m="http://schemas.openxmlformats.org/officeDocument/2006/math">
                    <m:r>
                      <a:rPr lang="en-US" altLang="zh-CN" b="0" i="1" smtClean="0">
                        <a:latin typeface="Cambria Math" panose="02040503050406030204" pitchFamily="18" charset="0"/>
                        <a:cs typeface="Arial" panose="020B0604020202020204" pitchFamily="34" charset="0"/>
                      </a:rPr>
                      <m:t>𝑞</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e>
                    </m:d>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𝑛</m:t>
                        </m:r>
                      </m:e>
                      <m: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𝑛</m:t>
                        </m:r>
                      </m:e>
                      <m: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sub>
                    </m:sSub>
                  </m:oMath>
                </a14:m>
                <a:r>
                  <a:rPr lang="en-US" altLang="zh-CN" dirty="0">
                    <a:latin typeface="Arial" panose="020B0604020202020204" pitchFamily="34" charset="0"/>
                    <a:cs typeface="Arial" panose="020B0604020202020204" pitchFamily="34" charset="0"/>
                  </a:rPr>
                  <a:t> or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𝑛</m:t>
                        </m:r>
                      </m:e>
                      <m: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sub>
                    </m:sSub>
                    <m:r>
                      <a:rPr lang="en-US" altLang="zh-CN" b="0" i="1" smtClean="0">
                        <a:latin typeface="Cambria Math" panose="02040503050406030204" pitchFamily="18" charset="0"/>
                        <a:cs typeface="Arial" panose="020B0604020202020204" pitchFamily="34" charset="0"/>
                      </a:rPr>
                      <m:t>+1</m:t>
                    </m:r>
                  </m:oMath>
                </a14:m>
                <a:r>
                  <a:rPr lang="en-US" altLang="zh-CN" dirty="0">
                    <a:latin typeface="Arial" panose="020B0604020202020204" pitchFamily="34" charset="0"/>
                    <a:cs typeface="Arial" panose="020B0604020202020204" pitchFamily="34" charset="0"/>
                  </a:rPr>
                  <a:t>, so </a:t>
                </a:r>
                <a14:m>
                  <m:oMath xmlns:m="http://schemas.openxmlformats.org/officeDocument/2006/math">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2308324"/>
              </a:xfrm>
              <a:prstGeom prst="rect">
                <a:avLst/>
              </a:prstGeom>
              <a:blipFill>
                <a:blip r:embed="rId2"/>
                <a:stretch>
                  <a:fillRect l="-498" t="-1319" b="-316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673279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Exponential mechanism—example</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3831049"/>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Mode Publish</a:t>
                </a:r>
              </a:p>
              <a:p>
                <a:endParaRPr lang="en-US" altLang="zh-CN" b="1"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Suppose a dataset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∈[0, 1000000]</m:t>
                    </m:r>
                  </m:oMath>
                </a14:m>
                <a:r>
                  <a:rPr lang="en-US" altLang="zh-CN" dirty="0">
                    <a:latin typeface="Arial" panose="020B0604020202020204" pitchFamily="34" charset="0"/>
                    <a:cs typeface="Arial" panose="020B0604020202020204" pitchFamily="34" charset="0"/>
                  </a:rPr>
                  <a:t>, we want to publish the mode of </a:t>
                </a:r>
                <a14:m>
                  <m:oMath xmlns:m="http://schemas.openxmlformats.org/officeDocument/2006/math">
                    <m:r>
                      <a:rPr lang="en-US" altLang="zh-CN" i="1">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using exponential mechanism.</a:t>
                </a: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zh-CN" dirty="0">
                    <a:latin typeface="Arial" panose="020B0604020202020204" pitchFamily="34" charset="0"/>
                    <a:cs typeface="Arial" panose="020B0604020202020204" pitchFamily="34" charset="0"/>
                  </a:rPr>
                  <a:t>Possible output: integer from 0 to 1000000</a:t>
                </a:r>
              </a:p>
              <a:p>
                <a:pPr marL="285750" indent="-285750">
                  <a:buFont typeface="Arial" panose="020B0604020202020204" pitchFamily="34" charset="0"/>
                  <a:buChar char="•"/>
                </a:pPr>
                <a:r>
                  <a:rPr lang="en-US" altLang="zh-CN" dirty="0">
                    <a:latin typeface="Arial" panose="020B0604020202020204" pitchFamily="34" charset="0"/>
                    <a:cs typeface="Arial" panose="020B0604020202020204" pitchFamily="34" charset="0"/>
                  </a:rPr>
                  <a:t>Quality function: </a:t>
                </a:r>
                <a14:m>
                  <m:oMath xmlns:m="http://schemas.openxmlformats.org/officeDocument/2006/math">
                    <m:r>
                      <a:rPr lang="en-US" altLang="zh-CN" b="0" i="1" smtClean="0">
                        <a:latin typeface="Cambria Math" panose="02040503050406030204" pitchFamily="18" charset="0"/>
                        <a:cs typeface="Arial" panose="020B0604020202020204" pitchFamily="34" charset="0"/>
                      </a:rPr>
                      <m:t>𝑞</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e>
                    </m:d>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𝑛</m:t>
                        </m:r>
                      </m:e>
                      <m: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sub>
                    </m:sSub>
                    <m:r>
                      <a:rPr lang="en-US" altLang="zh-CN" b="0" i="1" smtClean="0">
                        <a:latin typeface="Cambria Math" panose="02040503050406030204" pitchFamily="18" charset="0"/>
                        <a:cs typeface="Arial" panose="020B0604020202020204" pitchFamily="34" charset="0"/>
                      </a:rPr>
                      <m:t>,</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r>
                      <a:rPr lang="en-US" altLang="zh-CN" i="1">
                        <a:latin typeface="Cambria Math" panose="02040503050406030204" pitchFamily="18" charset="0"/>
                        <a:cs typeface="Arial" panose="020B0604020202020204" pitchFamily="34" charset="0"/>
                      </a:rPr>
                      <m:t>=1</m:t>
                    </m:r>
                  </m:oMath>
                </a14:m>
                <a:endParaRPr lang="en-US" altLang="zh-C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zh-CN" dirty="0">
                    <a:latin typeface="Arial" panose="020B0604020202020204" pitchFamily="34" charset="0"/>
                    <a:cs typeface="Arial" panose="020B0604020202020204" pitchFamily="34" charset="0"/>
                  </a:rPr>
                  <a:t>Monotonic: </a:t>
                </a:r>
                <a14:m>
                  <m:oMath xmlns:m="http://schemas.openxmlformats.org/officeDocument/2006/math">
                    <m:r>
                      <a:rPr lang="en-US" altLang="zh-CN" b="0" i="1" smtClean="0">
                        <a:latin typeface="Cambria Math" panose="02040503050406030204" pitchFamily="18" charset="0"/>
                        <a:cs typeface="Arial" panose="020B0604020202020204" pitchFamily="34" charset="0"/>
                      </a:rPr>
                      <m:t>𝑞</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e>
                    </m:d>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𝑛</m:t>
                        </m:r>
                      </m:e>
                      <m: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𝑜</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𝑛</m:t>
                        </m:r>
                      </m:e>
                      <m: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sub>
                    </m:sSub>
                  </m:oMath>
                </a14:m>
                <a:r>
                  <a:rPr lang="en-US" altLang="zh-CN" dirty="0">
                    <a:latin typeface="Arial" panose="020B0604020202020204" pitchFamily="34" charset="0"/>
                    <a:cs typeface="Arial" panose="020B0604020202020204" pitchFamily="34" charset="0"/>
                  </a:rPr>
                  <a:t> or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𝑛</m:t>
                        </m:r>
                      </m:e>
                      <m: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sub>
                    </m:sSub>
                    <m:r>
                      <a:rPr lang="en-US" altLang="zh-CN" b="0" i="1" smtClean="0">
                        <a:latin typeface="Cambria Math" panose="02040503050406030204" pitchFamily="18" charset="0"/>
                        <a:cs typeface="Arial" panose="020B0604020202020204" pitchFamily="34" charset="0"/>
                      </a:rPr>
                      <m:t>+1</m:t>
                    </m:r>
                  </m:oMath>
                </a14:m>
                <a:r>
                  <a:rPr lang="en-US" altLang="zh-CN" dirty="0">
                    <a:latin typeface="Arial" panose="020B0604020202020204" pitchFamily="34" charset="0"/>
                    <a:cs typeface="Arial" panose="020B0604020202020204" pitchFamily="34" charset="0"/>
                  </a:rPr>
                  <a:t>, so </a:t>
                </a:r>
                <a14:m>
                  <m:oMath xmlns:m="http://schemas.openxmlformats.org/officeDocument/2006/math">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𝑞</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e>
                    </m:d>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Output </a:t>
                </a:r>
                <a14:m>
                  <m:oMath xmlns:m="http://schemas.openxmlformats.org/officeDocument/2006/math">
                    <m:r>
                      <a:rPr lang="en-US" altLang="zh-CN" b="0" i="1" smtClean="0">
                        <a:latin typeface="Cambria Math" panose="02040503050406030204" pitchFamily="18" charset="0"/>
                        <a:cs typeface="Arial" panose="020B0604020202020204" pitchFamily="34" charset="0"/>
                      </a:rPr>
                      <m:t>𝑥</m:t>
                    </m:r>
                  </m:oMath>
                </a14:m>
                <a:r>
                  <a:rPr lang="en-US" altLang="zh-CN" dirty="0">
                    <a:latin typeface="Arial" panose="020B0604020202020204" pitchFamily="34" charset="0"/>
                    <a:cs typeface="Arial" panose="020B0604020202020204" pitchFamily="34" charset="0"/>
                  </a:rPr>
                  <a:t> with probability</a:t>
                </a:r>
              </a:p>
              <a:p>
                <a:pPr/>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pitchFamily="18" charset="0"/>
                              <a:cs typeface="Arial" panose="020B0604020202020204" pitchFamily="34" charset="0"/>
                            </a:rPr>
                          </m:ctrlPr>
                        </m:fPr>
                        <m:num>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𝐷</m:t>
                                  </m:r>
                                  <m:r>
                                    <a:rPr lang="en-US" altLang="zh-CN" i="1">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r>
                                <a:rPr lang="en-US" altLang="zh-CN" i="1">
                                  <a:latin typeface="Cambria Math" panose="02040503050406030204" pitchFamily="18" charset="0"/>
                                  <a:cs typeface="Arial" panose="020B0604020202020204" pitchFamily="34" charset="0"/>
                                </a:rPr>
                                <m:t>)</m:t>
                              </m:r>
                            </m:sup>
                          </m:sSup>
                        </m:num>
                        <m:den>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𝑂</m:t>
                              </m:r>
                            </m:sub>
                            <m:sup/>
                            <m:e>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𝑞</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𝐷</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𝑜</m:t>
                                      </m:r>
                                      <m:r>
                                        <a:rPr lang="en-US" altLang="zh-CN" i="1">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𝑞</m:t>
                                      </m:r>
                                    </m:den>
                                  </m:f>
                                  <m:r>
                                    <a:rPr lang="en-US" altLang="zh-CN" i="1">
                                      <a:latin typeface="Cambria Math" panose="02040503050406030204" pitchFamily="18" charset="0"/>
                                      <a:cs typeface="Arial" panose="020B0604020202020204" pitchFamily="34" charset="0"/>
                                    </a:rPr>
                                    <m:t>)</m:t>
                                  </m:r>
                                </m:sup>
                              </m:sSup>
                            </m:e>
                          </m:nary>
                        </m:den>
                      </m:f>
                      <m:r>
                        <a:rPr lang="en-US" altLang="zh-CN" b="0" i="1" smtClean="0">
                          <a:latin typeface="Cambria Math" panose="02040503050406030204" pitchFamily="18" charset="0"/>
                          <a:cs typeface="Arial" panose="020B0604020202020204" pitchFamily="34" charset="0"/>
                        </a:rPr>
                        <m:t>=</m:t>
                      </m:r>
                      <m:f>
                        <m:fPr>
                          <m:ctrlPr>
                            <a:rPr lang="en-US" altLang="zh-CN" i="1" smtClean="0">
                              <a:latin typeface="Cambria Math" panose="02040503050406030204" pitchFamily="18" charset="0"/>
                              <a:cs typeface="Arial" panose="020B0604020202020204" pitchFamily="34" charset="0"/>
                            </a:rPr>
                          </m:ctrlPr>
                        </m:fPr>
                        <m:num>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r>
                                <a:rPr lang="en-US" altLang="zh-CN" b="0" i="1" smtClean="0">
                                  <a:latin typeface="Cambria Math" panose="02040503050406030204" pitchFamily="18" charset="0"/>
                                  <a:cs typeface="Arial" panose="020B0604020202020204" pitchFamily="34" charset="0"/>
                                </a:rPr>
                                <m:t> </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𝑛</m:t>
                                  </m:r>
                                </m:e>
                                <m: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𝑥</m:t>
                                  </m:r>
                                </m:sub>
                              </m:sSub>
                            </m:sup>
                          </m:sSup>
                        </m:num>
                        <m:den>
                          <m:nary>
                            <m:naryPr>
                              <m:chr m:val="∑"/>
                              <m:limLoc m:val="subSup"/>
                              <m:ctrlPr>
                                <a:rPr lang="en-US" altLang="zh-CN" i="1" smtClean="0">
                                  <a:latin typeface="Cambria Math" panose="02040503050406030204" pitchFamily="18" charset="0"/>
                                  <a:cs typeface="Arial" panose="020B0604020202020204" pitchFamily="34" charset="0"/>
                                </a:rPr>
                              </m:ctrlPr>
                            </m:naryPr>
                            <m:sub>
                              <m:r>
                                <m:rPr>
                                  <m:brk m:alnAt="25"/>
                                </m:rP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=0</m:t>
                              </m:r>
                            </m:sub>
                            <m:sup>
                              <m:r>
                                <a:rPr lang="en-US" altLang="zh-CN" b="0" i="1" smtClean="0">
                                  <a:latin typeface="Cambria Math" panose="02040503050406030204" pitchFamily="18" charset="0"/>
                                  <a:cs typeface="Arial" panose="020B0604020202020204" pitchFamily="34" charset="0"/>
                                </a:rPr>
                                <m:t>1000000</m:t>
                              </m:r>
                            </m:sup>
                            <m:e>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r>
                                    <a:rPr lang="en-US" altLang="zh-CN" b="0" i="1" smtClean="0">
                                      <a:latin typeface="Cambria Math" panose="02040503050406030204" pitchFamily="18" charset="0"/>
                                      <a:cs typeface="Arial" panose="020B0604020202020204" pitchFamily="34" charset="0"/>
                                    </a:rPr>
                                    <m:t> </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𝑛</m:t>
                                      </m:r>
                                    </m:e>
                                    <m: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𝑖</m:t>
                                      </m:r>
                                    </m:sub>
                                  </m:sSub>
                                </m:sup>
                              </m:sSup>
                            </m:e>
                          </m:nary>
                        </m:den>
                      </m:f>
                    </m:oMath>
                  </m:oMathPara>
                </a14:m>
                <a:endParaRPr lang="en-US" altLang="zh-CN" dirty="0">
                  <a:latin typeface="Arial" panose="020B0604020202020204" pitchFamily="34" charset="0"/>
                  <a:cs typeface="Arial" panose="020B0604020202020204" pitchFamily="34" charset="0"/>
                </a:endParaRPr>
              </a:p>
            </p:txBody>
          </p:sp>
        </mc:Choice>
        <mc:Fallback>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3831049"/>
              </a:xfrm>
              <a:prstGeom prst="rect">
                <a:avLst/>
              </a:prstGeom>
              <a:blipFill>
                <a:blip r:embed="rId2"/>
                <a:stretch>
                  <a:fillRect l="-498" t="-7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663377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B015B40-4C34-413F-A0EC-2229EFC09CAA}"/>
              </a:ext>
            </a:extLst>
          </p:cNvPr>
          <p:cNvSpPr txBox="1"/>
          <p:nvPr/>
        </p:nvSpPr>
        <p:spPr>
          <a:xfrm>
            <a:off x="791110" y="440077"/>
            <a:ext cx="9529281" cy="584775"/>
          </a:xfrm>
          <a:prstGeom prst="rect">
            <a:avLst/>
          </a:prstGeom>
          <a:noFill/>
        </p:spPr>
        <p:txBody>
          <a:bodyPr wrap="square" rtlCol="0">
            <a:spAutoFit/>
          </a:bodyPr>
          <a:lstStyle/>
          <a:p>
            <a:r>
              <a:rPr lang="en-US" altLang="zh-CN" sz="3200" b="1" dirty="0">
                <a:latin typeface="Arial" panose="020B0604020202020204" pitchFamily="34" charset="0"/>
                <a:cs typeface="Arial" panose="020B0604020202020204" pitchFamily="34" charset="0"/>
              </a:rPr>
              <a:t>Contents</a:t>
            </a:r>
            <a:endParaRPr lang="zh-CN" altLang="en-US" sz="3200" b="1" dirty="0">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CC470D65-0FD5-4A94-8F24-7424D3E983D8}"/>
              </a:ext>
            </a:extLst>
          </p:cNvPr>
          <p:cNvSpPr txBox="1"/>
          <p:nvPr/>
        </p:nvSpPr>
        <p:spPr>
          <a:xfrm>
            <a:off x="868166" y="1443519"/>
            <a:ext cx="9529281" cy="389048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Intuition and Definition</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Common DP Mechanisms</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Properties</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Numerical Query</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Other Composition Theorems</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Hierarchy Technique</a:t>
            </a:r>
          </a:p>
        </p:txBody>
      </p:sp>
    </p:spTree>
    <p:extLst>
      <p:ext uri="{BB962C8B-B14F-4D97-AF65-F5344CB8AC3E}">
        <p14:creationId xmlns:p14="http://schemas.microsoft.com/office/powerpoint/2010/main" val="10295992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Question: Can we use differentially private result arbitrarily?</a:t>
            </a:r>
          </a:p>
        </p:txBody>
      </p:sp>
    </p:spTree>
    <p:extLst>
      <p:ext uri="{BB962C8B-B14F-4D97-AF65-F5344CB8AC3E}">
        <p14:creationId xmlns:p14="http://schemas.microsoft.com/office/powerpoint/2010/main" val="4818066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3930307"/>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Question: Can we use differentially private result arbitrarily?</a:t>
                </a:r>
              </a:p>
              <a:p>
                <a:endParaRPr lang="en-US" altLang="zh-CN" b="1"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Answer: Yes, DP is immune to post-processing algorithms</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Given </a:t>
                </a:r>
                <a14:m>
                  <m:oMath xmlns:m="http://schemas.openxmlformats.org/officeDocument/2006/math">
                    <m:r>
                      <a:rPr lang="en-US" altLang="zh-CN" b="0" i="1" smtClean="0">
                        <a:latin typeface="Cambria Math" panose="02040503050406030204" pitchFamily="18" charset="0"/>
                        <a:cs typeface="Arial" panose="020B0604020202020204" pitchFamily="34" charset="0"/>
                      </a:rPr>
                      <m:t>𝑀</m:t>
                    </m:r>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 then for any algorithm </a:t>
                </a:r>
                <a14:m>
                  <m:oMath xmlns:m="http://schemas.openxmlformats.org/officeDocument/2006/math">
                    <m:r>
                      <a:rPr lang="en-US" altLang="zh-CN" b="0" i="1" smtClean="0">
                        <a:latin typeface="Cambria Math" panose="02040503050406030204" pitchFamily="18" charset="0"/>
                        <a:cs typeface="Arial" panose="020B0604020202020204" pitchFamily="34" charset="0"/>
                      </a:rPr>
                      <m:t>𝐴</m:t>
                    </m:r>
                  </m:oMath>
                </a14:m>
                <a:r>
                  <a:rPr lang="en-US" altLang="zh-CN" dirty="0">
                    <a:latin typeface="Arial" panose="020B0604020202020204" pitchFamily="34" charset="0"/>
                    <a:cs typeface="Arial" panose="020B0604020202020204" pitchFamily="34" charset="0"/>
                  </a:rPr>
                  <a:t>, the composition of </a:t>
                </a:r>
                <a14:m>
                  <m:oMath xmlns:m="http://schemas.openxmlformats.org/officeDocument/2006/math">
                    <m:r>
                      <a:rPr lang="en-US" altLang="zh-CN" i="1">
                        <a:latin typeface="Cambria Math" panose="02040503050406030204" pitchFamily="18" charset="0"/>
                        <a:cs typeface="Arial" panose="020B0604020202020204" pitchFamily="34" charset="0"/>
                      </a:rPr>
                      <m:t>𝐴</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b="0" i="1" smtClean="0">
                        <a:latin typeface="Cambria Math" panose="02040503050406030204" pitchFamily="18" charset="0"/>
                        <a:cs typeface="Arial" panose="020B0604020202020204" pitchFamily="34" charset="0"/>
                      </a:rPr>
                      <m:t>𝑀</m:t>
                    </m:r>
                  </m:oMath>
                </a14:m>
                <a:r>
                  <a:rPr lang="en-US" altLang="zh-CN" dirty="0">
                    <a:latin typeface="Arial" panose="020B0604020202020204" pitchFamily="34" charset="0"/>
                    <a:cs typeface="Arial" panose="020B0604020202020204" pitchFamily="34" charset="0"/>
                  </a:rPr>
                  <a:t>, i.e., </a:t>
                </a:r>
                <a14:m>
                  <m:oMath xmlns:m="http://schemas.openxmlformats.org/officeDocument/2006/math">
                    <m:r>
                      <a:rPr lang="en-US" altLang="zh-CN" i="1">
                        <a:latin typeface="Cambria Math" panose="02040503050406030204" pitchFamily="18" charset="0"/>
                        <a:cs typeface="Arial" panose="020B0604020202020204" pitchFamily="34" charset="0"/>
                      </a:rPr>
                      <m:t>𝐴</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𝑀</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Proof. Let </a:t>
                </a:r>
                <a14:m>
                  <m:oMath xmlns:m="http://schemas.openxmlformats.org/officeDocument/2006/math">
                    <m:r>
                      <a:rPr lang="en-US" altLang="zh-CN" b="0" i="1" smtClean="0">
                        <a:latin typeface="Cambria Math" panose="02040503050406030204" pitchFamily="18" charset="0"/>
                        <a:cs typeface="Arial" panose="020B0604020202020204" pitchFamily="34" charset="0"/>
                      </a:rPr>
                      <m:t>𝑆</m:t>
                    </m:r>
                  </m:oMath>
                </a14:m>
                <a:r>
                  <a:rPr lang="en-US" altLang="zh-CN" dirty="0">
                    <a:latin typeface="Arial" panose="020B0604020202020204" pitchFamily="34" charset="0"/>
                    <a:cs typeface="Arial" panose="020B0604020202020204" pitchFamily="34" charset="0"/>
                  </a:rPr>
                  <a:t> be </a:t>
                </a:r>
                <a14:m>
                  <m:oMath xmlns:m="http://schemas.openxmlformats.org/officeDocument/2006/math">
                    <m:r>
                      <a:rPr lang="en-US" altLang="zh-CN" b="0" i="1" dirty="0" smtClean="0">
                        <a:latin typeface="Cambria Math" panose="02040503050406030204" pitchFamily="18" charset="0"/>
                        <a:cs typeface="Arial" panose="020B0604020202020204" pitchFamily="34" charset="0"/>
                      </a:rPr>
                      <m:t>𝑅</m:t>
                    </m:r>
                    <m:r>
                      <a:rPr lang="en-US" altLang="zh-CN" i="1" dirty="0" smtClean="0">
                        <a:latin typeface="Cambria Math" panose="02040503050406030204" pitchFamily="18" charset="0"/>
                        <a:cs typeface="Arial" panose="020B0604020202020204" pitchFamily="34" charset="0"/>
                      </a:rPr>
                      <m:t>𝑎𝑛𝑔𝑒</m:t>
                    </m:r>
                    <m:r>
                      <a:rPr lang="en-US" altLang="zh-CN" b="0"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𝑀</m:t>
                    </m:r>
                    <m:r>
                      <a:rPr lang="en-US" altLang="zh-CN" b="0" i="1" dirty="0"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for any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𝑅𝑎𝑛𝑔𝑒</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𝐴</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we have</a:t>
                </a:r>
              </a:p>
              <a:p>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𝐴</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nary>
                        <m:naryPr>
                          <m:chr m:val="∑"/>
                          <m:supHide m:val="on"/>
                          <m:ctrlPr>
                            <a:rPr lang="en-US" altLang="zh-CN" b="0" i="1" smtClean="0">
                              <a:latin typeface="Cambria Math" panose="02040503050406030204" pitchFamily="18" charset="0"/>
                              <a:cs typeface="Arial" panose="020B0604020202020204" pitchFamily="34" charset="0"/>
                            </a:rPr>
                          </m:ctrlPr>
                        </m:naryPr>
                        <m:sub>
                          <m:r>
                            <m:rPr>
                              <m:brk m:alnAt="7"/>
                            </m:rPr>
                            <a:rPr lang="en-US" altLang="zh-CN" b="0" i="1" smtClean="0">
                              <a:latin typeface="Cambria Math" panose="02040503050406030204" pitchFamily="18" charset="0"/>
                              <a:cs typeface="Arial" panose="020B0604020202020204" pitchFamily="34" charset="0"/>
                            </a:rPr>
                            <m:t>𝑠</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𝑆</m:t>
                          </m:r>
                        </m:sub>
                        <m:sup/>
                        <m:e>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𝑠</m:t>
                                  </m:r>
                                </m:e>
                              </m:d>
                            </m:e>
                          </m:func>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𝐴</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𝑠</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e>
                      </m:nary>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nary>
                        <m:naryPr>
                          <m:chr m:val="∑"/>
                          <m:supHide m:val="on"/>
                          <m:ctrlPr>
                            <a:rPr lang="en-US" altLang="zh-CN" i="1">
                              <a:latin typeface="Cambria Math" panose="02040503050406030204" pitchFamily="18" charset="0"/>
                              <a:cs typeface="Arial" panose="020B0604020202020204" pitchFamily="34" charset="0"/>
                            </a:rPr>
                          </m:ctrlPr>
                        </m:naryPr>
                        <m:sub>
                          <m:r>
                            <m:rPr>
                              <m:brk m:alnAt="7"/>
                            </m:rPr>
                            <a:rPr lang="en-US" altLang="zh-CN" i="1">
                              <a:latin typeface="Cambria Math" panose="02040503050406030204" pitchFamily="18" charset="0"/>
                              <a:cs typeface="Arial" panose="020B0604020202020204" pitchFamily="34" charset="0"/>
                            </a:rPr>
                            <m:t>𝑠</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𝑆</m:t>
                          </m:r>
                        </m:sub>
                        <m:sup/>
                        <m:e>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𝑀</m:t>
                                  </m:r>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𝑠</m:t>
                                  </m:r>
                                </m:e>
                              </m:d>
                            </m:e>
                          </m:func>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𝐴</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𝑠</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e>
                      </m:nary>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𝐴</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oMath>
                  </m:oMathPara>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3930307"/>
              </a:xfrm>
              <a:prstGeom prst="rect">
                <a:avLst/>
              </a:prstGeom>
              <a:blipFill>
                <a:blip r:embed="rId2"/>
                <a:stretch>
                  <a:fillRect l="-498" t="-775" b="-10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7CD369A-3825-4535-85F9-B41FDAB579CB}"/>
                  </a:ext>
                </a:extLst>
              </p:cNvPr>
              <p:cNvSpPr txBox="1"/>
              <p:nvPr/>
            </p:nvSpPr>
            <p:spPr>
              <a:xfrm>
                <a:off x="794582" y="5852160"/>
                <a:ext cx="10575509"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Notice: </a:t>
                </a:r>
                <a:r>
                  <a:rPr lang="en-US" altLang="zh-CN" dirty="0">
                    <a:latin typeface="Arial" panose="020B0604020202020204" pitchFamily="34" charset="0"/>
                    <a:cs typeface="Arial" panose="020B0604020202020204" pitchFamily="34" charset="0"/>
                  </a:rPr>
                  <a:t>Algorithm </a:t>
                </a:r>
                <a14:m>
                  <m:oMath xmlns:m="http://schemas.openxmlformats.org/officeDocument/2006/math">
                    <m:r>
                      <a:rPr lang="en-US" altLang="zh-CN" b="0" i="1" smtClean="0">
                        <a:latin typeface="Cambria Math" panose="02040503050406030204" pitchFamily="18" charset="0"/>
                        <a:cs typeface="Arial" panose="020B0604020202020204" pitchFamily="34" charset="0"/>
                      </a:rPr>
                      <m:t>𝐴</m:t>
                    </m:r>
                  </m:oMath>
                </a14:m>
                <a:r>
                  <a:rPr lang="zh-CN" altLang="en-US" b="1"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can only access the output of </a:t>
                </a:r>
                <a14:m>
                  <m:oMath xmlns:m="http://schemas.openxmlformats.org/officeDocument/2006/math">
                    <m:r>
                      <a:rPr lang="en-US" altLang="zh-CN" b="0" i="1" smtClean="0">
                        <a:latin typeface="Cambria Math" panose="02040503050406030204" pitchFamily="18" charset="0"/>
                        <a:cs typeface="Arial" panose="020B0604020202020204" pitchFamily="34" charset="0"/>
                      </a:rPr>
                      <m:t>𝑀</m:t>
                    </m:r>
                  </m:oMath>
                </a14:m>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mc:Choice>
        <mc:Fallback xmlns="">
          <p:sp>
            <p:nvSpPr>
              <p:cNvPr id="2" name="文本框 1">
                <a:extLst>
                  <a:ext uri="{FF2B5EF4-FFF2-40B4-BE49-F238E27FC236}">
                    <a16:creationId xmlns:a16="http://schemas.microsoft.com/office/drawing/2014/main" id="{57CD369A-3825-4535-85F9-B41FDAB579CB}"/>
                  </a:ext>
                </a:extLst>
              </p:cNvPr>
              <p:cNvSpPr txBox="1">
                <a:spLocks noRot="1" noChangeAspect="1" noMove="1" noResize="1" noEditPoints="1" noAdjustHandles="1" noChangeArrowheads="1" noChangeShapeType="1" noTextEdit="1"/>
              </p:cNvSpPr>
              <p:nvPr/>
            </p:nvSpPr>
            <p:spPr>
              <a:xfrm>
                <a:off x="794582" y="5852160"/>
                <a:ext cx="10575509" cy="369332"/>
              </a:xfrm>
              <a:prstGeom prst="rect">
                <a:avLst/>
              </a:prstGeom>
              <a:blipFill>
                <a:blip r:embed="rId3"/>
                <a:stretch>
                  <a:fillRect l="-461" t="-8197"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728821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Question: Can we use DP mechanism multiple times?</a:t>
            </a:r>
          </a:p>
        </p:txBody>
      </p:sp>
      <p:sp>
        <p:nvSpPr>
          <p:cNvPr id="2" name="圆柱体 1">
            <a:extLst>
              <a:ext uri="{FF2B5EF4-FFF2-40B4-BE49-F238E27FC236}">
                <a16:creationId xmlns:a16="http://schemas.microsoft.com/office/drawing/2014/main" id="{E2CD593D-F440-4E33-98DC-68387BB1E3A8}"/>
              </a:ext>
            </a:extLst>
          </p:cNvPr>
          <p:cNvSpPr/>
          <p:nvPr/>
        </p:nvSpPr>
        <p:spPr>
          <a:xfrm>
            <a:off x="2156723" y="3600845"/>
            <a:ext cx="1721594" cy="147565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Arial" panose="020B0604020202020204" pitchFamily="34" charset="0"/>
                <a:cs typeface="Arial" panose="020B0604020202020204" pitchFamily="34" charset="0"/>
              </a:rPr>
              <a:t>Dataset</a:t>
            </a:r>
            <a:endParaRPr lang="zh-CN" altLang="en-US" sz="2800" b="1" dirty="0">
              <a:solidFill>
                <a:schemeClr val="tx1"/>
              </a:solidFill>
              <a:latin typeface="Arial" panose="020B0604020202020204" pitchFamily="34" charset="0"/>
              <a:cs typeface="Arial" panose="020B0604020202020204" pitchFamily="34" charset="0"/>
            </a:endParaRPr>
          </a:p>
        </p:txBody>
      </p:sp>
      <p:cxnSp>
        <p:nvCxnSpPr>
          <p:cNvPr id="4" name="直接箭头连接符 3">
            <a:extLst>
              <a:ext uri="{FF2B5EF4-FFF2-40B4-BE49-F238E27FC236}">
                <a16:creationId xmlns:a16="http://schemas.microsoft.com/office/drawing/2014/main" id="{A97DBCE7-4F3E-4CEC-9CB8-5ECBF72D11D0}"/>
              </a:ext>
            </a:extLst>
          </p:cNvPr>
          <p:cNvCxnSpPr/>
          <p:nvPr/>
        </p:nvCxnSpPr>
        <p:spPr>
          <a:xfrm>
            <a:off x="3966604" y="3960299"/>
            <a:ext cx="228915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5B5B958D-452F-4448-99DC-E6263E4C8D00}"/>
              </a:ext>
            </a:extLst>
          </p:cNvPr>
          <p:cNvCxnSpPr/>
          <p:nvPr/>
        </p:nvCxnSpPr>
        <p:spPr>
          <a:xfrm>
            <a:off x="3966604" y="4673952"/>
            <a:ext cx="228915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030BBBB-5C98-4BEF-9771-E752E378A0D9}"/>
                  </a:ext>
                </a:extLst>
              </p:cNvPr>
              <p:cNvSpPr txBox="1"/>
              <p:nvPr/>
            </p:nvSpPr>
            <p:spPr>
              <a:xfrm>
                <a:off x="4433264" y="3525170"/>
                <a:ext cx="12549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5" name="文本框 4">
                <a:extLst>
                  <a:ext uri="{FF2B5EF4-FFF2-40B4-BE49-F238E27FC236}">
                    <a16:creationId xmlns:a16="http://schemas.microsoft.com/office/drawing/2014/main" id="{8030BBBB-5C98-4BEF-9771-E752E378A0D9}"/>
                  </a:ext>
                </a:extLst>
              </p:cNvPr>
              <p:cNvSpPr txBox="1">
                <a:spLocks noRot="1" noChangeAspect="1" noMove="1" noResize="1" noEditPoints="1" noAdjustHandles="1" noChangeArrowheads="1" noChangeShapeType="1" noTextEdit="1"/>
              </p:cNvSpPr>
              <p:nvPr/>
            </p:nvSpPr>
            <p:spPr>
              <a:xfrm>
                <a:off x="4433264" y="3525170"/>
                <a:ext cx="1254935" cy="36933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3AF390B5-5869-4BC8-8517-288CC4185D3B}"/>
                  </a:ext>
                </a:extLst>
              </p:cNvPr>
              <p:cNvSpPr txBox="1"/>
              <p:nvPr/>
            </p:nvSpPr>
            <p:spPr>
              <a:xfrm>
                <a:off x="4433263" y="4304620"/>
                <a:ext cx="12549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9" name="文本框 8">
                <a:extLst>
                  <a:ext uri="{FF2B5EF4-FFF2-40B4-BE49-F238E27FC236}">
                    <a16:creationId xmlns:a16="http://schemas.microsoft.com/office/drawing/2014/main" id="{3AF390B5-5869-4BC8-8517-288CC4185D3B}"/>
                  </a:ext>
                </a:extLst>
              </p:cNvPr>
              <p:cNvSpPr txBox="1">
                <a:spLocks noRot="1" noChangeAspect="1" noMove="1" noResize="1" noEditPoints="1" noAdjustHandles="1" noChangeArrowheads="1" noChangeShapeType="1" noTextEdit="1"/>
              </p:cNvSpPr>
              <p:nvPr/>
            </p:nvSpPr>
            <p:spPr>
              <a:xfrm>
                <a:off x="4433263" y="4304620"/>
                <a:ext cx="1254935" cy="369332"/>
              </a:xfrm>
              <a:prstGeom prst="rect">
                <a:avLst/>
              </a:prstGeom>
              <a:blipFill>
                <a:blip r:embed="rId3"/>
                <a:stretch>
                  <a:fillRect/>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D767FF52-A5A9-405C-A250-6F082AC02C00}"/>
              </a:ext>
            </a:extLst>
          </p:cNvPr>
          <p:cNvPicPr>
            <a:picLocks noChangeAspect="1"/>
          </p:cNvPicPr>
          <p:nvPr/>
        </p:nvPicPr>
        <p:blipFill rotWithShape="1">
          <a:blip r:embed="rId4">
            <a:extLst>
              <a:ext uri="{28A0092B-C50C-407E-A947-70E740481C1C}">
                <a14:useLocalDpi xmlns:a14="http://schemas.microsoft.com/office/drawing/2010/main" val="0"/>
              </a:ext>
            </a:extLst>
          </a:blip>
          <a:srcRect l="27216" t="13590" r="21743" b="15508"/>
          <a:stretch/>
        </p:blipFill>
        <p:spPr>
          <a:xfrm>
            <a:off x="6538066" y="3468415"/>
            <a:ext cx="1069115" cy="1485106"/>
          </a:xfrm>
          <a:prstGeom prst="rect">
            <a:avLst/>
          </a:prstGeom>
          <a:noFill/>
        </p:spPr>
      </p:pic>
      <mc:AlternateContent xmlns:mc="http://schemas.openxmlformats.org/markup-compatibility/2006" xmlns:a14="http://schemas.microsoft.com/office/drawing/2010/main">
        <mc:Choice Requires="a14">
          <p:sp>
            <p:nvSpPr>
              <p:cNvPr id="12" name="思想气泡: 云 11">
                <a:extLst>
                  <a:ext uri="{FF2B5EF4-FFF2-40B4-BE49-F238E27FC236}">
                    <a16:creationId xmlns:a16="http://schemas.microsoft.com/office/drawing/2014/main" id="{90DC3BC9-722A-4904-BEE6-6EB685F64A9F}"/>
                  </a:ext>
                </a:extLst>
              </p:cNvPr>
              <p:cNvSpPr/>
              <p:nvPr/>
            </p:nvSpPr>
            <p:spPr>
              <a:xfrm>
                <a:off x="7523305" y="2301766"/>
                <a:ext cx="3140491" cy="1538714"/>
              </a:xfrm>
              <a:prstGeom prst="cloudCallout">
                <a:avLst>
                  <a:gd name="adj1" fmla="val -40736"/>
                  <a:gd name="adj2" fmla="val 61863"/>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Arial" panose="020B0604020202020204" pitchFamily="34" charset="0"/>
                    <a:cs typeface="Arial" panose="020B0604020202020204" pitchFamily="34" charset="0"/>
                  </a:rPr>
                  <a:t>What privacy guarantee can </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𝑀</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𝑀</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oMath>
                </a14:m>
                <a:r>
                  <a:rPr lang="en-US" altLang="zh-CN" dirty="0">
                    <a:solidFill>
                      <a:schemeClr val="tx1"/>
                    </a:solidFill>
                    <a:latin typeface="Arial" panose="020B0604020202020204" pitchFamily="34" charset="0"/>
                    <a:cs typeface="Arial" panose="020B0604020202020204" pitchFamily="34" charset="0"/>
                  </a:rPr>
                  <a:t> provide?</a:t>
                </a:r>
                <a:endParaRPr lang="zh-CN" altLang="en-US" dirty="0">
                  <a:solidFill>
                    <a:schemeClr val="tx1"/>
                  </a:solidFill>
                  <a:latin typeface="Arial" panose="020B0604020202020204" pitchFamily="34" charset="0"/>
                  <a:cs typeface="Arial" panose="020B0604020202020204" pitchFamily="34" charset="0"/>
                </a:endParaRPr>
              </a:p>
            </p:txBody>
          </p:sp>
        </mc:Choice>
        <mc:Fallback xmlns="">
          <p:sp>
            <p:nvSpPr>
              <p:cNvPr id="12" name="思想气泡: 云 11">
                <a:extLst>
                  <a:ext uri="{FF2B5EF4-FFF2-40B4-BE49-F238E27FC236}">
                    <a16:creationId xmlns:a16="http://schemas.microsoft.com/office/drawing/2014/main" id="{90DC3BC9-722A-4904-BEE6-6EB685F64A9F}"/>
                  </a:ext>
                </a:extLst>
              </p:cNvPr>
              <p:cNvSpPr>
                <a:spLocks noRot="1" noChangeAspect="1" noMove="1" noResize="1" noEditPoints="1" noAdjustHandles="1" noChangeArrowheads="1" noChangeShapeType="1" noTextEdit="1"/>
              </p:cNvSpPr>
              <p:nvPr/>
            </p:nvSpPr>
            <p:spPr>
              <a:xfrm>
                <a:off x="7523305" y="2301766"/>
                <a:ext cx="3140491" cy="1538714"/>
              </a:xfrm>
              <a:prstGeom prst="cloudCallout">
                <a:avLst>
                  <a:gd name="adj1" fmla="val -40736"/>
                  <a:gd name="adj2" fmla="val 61863"/>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648541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4242956"/>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Question: Can we use DP mechanism multiple times?</a:t>
                </a:r>
              </a:p>
              <a:p>
                <a:endParaRPr lang="en-US" altLang="zh-CN" b="1"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Answer: Yes, sequential composition bounds the privacy guarantee</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Special case:</a:t>
                </a:r>
                <a:r>
                  <a:rPr lang="en-US" altLang="zh-CN" dirty="0">
                    <a:latin typeface="Arial" panose="020B0604020202020204" pitchFamily="34" charset="0"/>
                    <a:cs typeface="Arial" panose="020B0604020202020204" pitchFamily="34" charset="0"/>
                  </a:rPr>
                  <a:t> Given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-DP and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-DP, then the combination </a:t>
                </a:r>
                <a14:m>
                  <m:oMath xmlns:m="http://schemas.openxmlformats.org/officeDocument/2006/math">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 </m:t>
                        </m:r>
                        <m:r>
                          <a:rPr lang="en-US" altLang="zh-CN" b="0" i="1" smtClean="0">
                            <a:latin typeface="Cambria Math" panose="02040503050406030204" pitchFamily="18" charset="0"/>
                            <a:cs typeface="Arial" panose="020B0604020202020204" pitchFamily="34" charset="0"/>
                          </a:rPr>
                          <m:t>𝐷</m:t>
                        </m:r>
                      </m:e>
                    </m:d>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-DP.</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Proof. Let </a:t>
                </a:r>
                <a14:m>
                  <m:oMath xmlns:m="http://schemas.openxmlformats.org/officeDocument/2006/math">
                    <m:r>
                      <a:rPr lang="en-US" altLang="zh-CN" b="0" i="1" smtClean="0">
                        <a:latin typeface="Cambria Math" panose="02040503050406030204" pitchFamily="18" charset="0"/>
                        <a:cs typeface="Arial" panose="020B0604020202020204" pitchFamily="34" charset="0"/>
                      </a:rPr>
                      <m:t>𝑆</m:t>
                    </m:r>
                  </m:oMath>
                </a14:m>
                <a:r>
                  <a:rPr lang="en-US" altLang="zh-CN" dirty="0">
                    <a:latin typeface="Arial" panose="020B0604020202020204" pitchFamily="34" charset="0"/>
                    <a:cs typeface="Arial" panose="020B0604020202020204" pitchFamily="34" charset="0"/>
                  </a:rPr>
                  <a:t> be </a:t>
                </a:r>
                <a14:m>
                  <m:oMath xmlns:m="http://schemas.openxmlformats.org/officeDocument/2006/math">
                    <m:r>
                      <a:rPr lang="en-US" altLang="zh-CN" b="0" i="1" dirty="0" smtClean="0">
                        <a:latin typeface="Cambria Math" panose="02040503050406030204" pitchFamily="18" charset="0"/>
                        <a:cs typeface="Arial" panose="020B0604020202020204" pitchFamily="34" charset="0"/>
                      </a:rPr>
                      <m:t>𝑅</m:t>
                    </m:r>
                    <m:r>
                      <a:rPr lang="en-US" altLang="zh-CN" i="1" dirty="0" smtClean="0">
                        <a:latin typeface="Cambria Math" panose="02040503050406030204" pitchFamily="18" charset="0"/>
                        <a:cs typeface="Arial" panose="020B0604020202020204" pitchFamily="34" charset="0"/>
                      </a:rPr>
                      <m:t>𝑎𝑛𝑔𝑒</m:t>
                    </m:r>
                    <m:r>
                      <a:rPr lang="en-US" altLang="zh-CN" b="0" i="1" dirty="0" smtClean="0">
                        <a:latin typeface="Cambria Math" panose="02040503050406030204" pitchFamily="18" charset="0"/>
                        <a:cs typeface="Arial" panose="020B0604020202020204" pitchFamily="34" charset="0"/>
                      </a:rPr>
                      <m:t>(</m:t>
                    </m:r>
                    <m:sSub>
                      <m:sSubPr>
                        <m:ctrlPr>
                          <a:rPr lang="en-US" altLang="zh-CN" b="0" i="1" dirty="0" smtClean="0">
                            <a:latin typeface="Cambria Math" panose="02040503050406030204" pitchFamily="18" charset="0"/>
                            <a:cs typeface="Arial" panose="020B0604020202020204" pitchFamily="34" charset="0"/>
                          </a:rPr>
                        </m:ctrlPr>
                      </m:sSubPr>
                      <m:e>
                        <m:r>
                          <a:rPr lang="en-US" altLang="zh-CN" b="0" i="1" dirty="0" smtClean="0">
                            <a:latin typeface="Cambria Math" panose="02040503050406030204" pitchFamily="18" charset="0"/>
                            <a:cs typeface="Arial" panose="020B0604020202020204" pitchFamily="34" charset="0"/>
                          </a:rPr>
                          <m:t>𝑀</m:t>
                        </m:r>
                      </m:e>
                      <m:sub>
                        <m:r>
                          <a:rPr lang="en-US" altLang="zh-CN" b="0" i="1" dirty="0" smtClean="0">
                            <a:latin typeface="Cambria Math" panose="02040503050406030204" pitchFamily="18" charset="0"/>
                            <a:cs typeface="Arial" panose="020B0604020202020204" pitchFamily="34" charset="0"/>
                          </a:rPr>
                          <m:t>1</m:t>
                        </m:r>
                      </m:sub>
                    </m:sSub>
                    <m:r>
                      <a:rPr lang="en-US" altLang="zh-CN" b="0" i="1" dirty="0"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for any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𝑅𝑎𝑛𝑔𝑒</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we have</a:t>
                </a:r>
              </a:p>
              <a:p>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nary>
                        <m:naryPr>
                          <m:chr m:val="∑"/>
                          <m:supHide m:val="on"/>
                          <m:ctrlPr>
                            <a:rPr lang="en-US" altLang="zh-CN" b="0" i="1" smtClean="0">
                              <a:latin typeface="Cambria Math" panose="02040503050406030204" pitchFamily="18" charset="0"/>
                              <a:cs typeface="Arial" panose="020B0604020202020204" pitchFamily="34" charset="0"/>
                            </a:rPr>
                          </m:ctrlPr>
                        </m:naryPr>
                        <m:sub>
                          <m:r>
                            <m:rPr>
                              <m:brk m:alnAt="7"/>
                            </m:rPr>
                            <a:rPr lang="en-US" altLang="zh-CN" b="0" i="1" smtClean="0">
                              <a:latin typeface="Cambria Math" panose="02040503050406030204" pitchFamily="18" charset="0"/>
                              <a:cs typeface="Arial" panose="020B0604020202020204" pitchFamily="34" charset="0"/>
                            </a:rPr>
                            <m:t>𝑠</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𝑆</m:t>
                          </m:r>
                        </m:sub>
                        <m:sup/>
                        <m:e>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𝑠</m:t>
                                  </m:r>
                                </m:e>
                              </m:d>
                            </m:e>
                          </m:func>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𝑠</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e>
                      </m:nary>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nary>
                        <m:naryPr>
                          <m:chr m:val="∑"/>
                          <m:supHide m:val="on"/>
                          <m:ctrlPr>
                            <a:rPr lang="en-US" altLang="zh-CN" i="1">
                              <a:latin typeface="Cambria Math" panose="02040503050406030204" pitchFamily="18" charset="0"/>
                              <a:cs typeface="Arial" panose="020B0604020202020204" pitchFamily="34" charset="0"/>
                            </a:rPr>
                          </m:ctrlPr>
                        </m:naryPr>
                        <m:sub>
                          <m:r>
                            <m:rPr>
                              <m:brk m:alnAt="7"/>
                            </m:rPr>
                            <a:rPr lang="en-US" altLang="zh-CN" i="1">
                              <a:latin typeface="Cambria Math" panose="02040503050406030204" pitchFamily="18" charset="0"/>
                              <a:cs typeface="Arial" panose="020B0604020202020204" pitchFamily="34" charset="0"/>
                            </a:rPr>
                            <m:t>𝑠</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𝑆</m:t>
                          </m:r>
                        </m:sub>
                        <m:sup/>
                        <m:e>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1</m:t>
                                  </m:r>
                                </m:sub>
                              </m:sSub>
                            </m:sup>
                          </m:sSup>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𝑠</m:t>
                                  </m:r>
                                </m:e>
                              </m:d>
                            </m:e>
                          </m:func>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2</m:t>
                                  </m:r>
                                </m:sub>
                              </m:sSub>
                            </m:sup>
                          </m:sSup>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𝑠</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e>
                      </m:nary>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2</m:t>
                              </m:r>
                            </m:sub>
                          </m:sSub>
                        </m:sup>
                      </m:sSup>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oMath>
                  </m:oMathPara>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4242956"/>
              </a:xfrm>
              <a:prstGeom prst="rect">
                <a:avLst/>
              </a:prstGeom>
              <a:blipFill>
                <a:blip r:embed="rId2"/>
                <a:stretch>
                  <a:fillRect l="-498" t="-718" b="-1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593907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512666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Question: Can we use DP mechanism multiple times?</a:t>
                </a:r>
              </a:p>
              <a:p>
                <a:endParaRPr lang="en-US" altLang="zh-CN" b="1"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Answer: Yes, sequential composition bounds the privacy guarantee</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General case:</a:t>
                </a:r>
                <a:r>
                  <a:rPr lang="en-US" altLang="zh-CN" dirty="0">
                    <a:latin typeface="Arial" panose="020B0604020202020204" pitchFamily="34" charset="0"/>
                    <a:cs typeface="Arial" panose="020B0604020202020204" pitchFamily="34" charset="0"/>
                  </a:rPr>
                  <a:t> Let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be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-DP,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-DP, …,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-DP, publishing</a:t>
                </a:r>
              </a:p>
              <a:p>
                <a:endParaRPr lang="en-US" altLang="zh-CN" b="0" i="1" dirty="0">
                  <a:latin typeface="Cambria Math" panose="02040503050406030204" pitchFamily="18" charset="0"/>
                  <a:cs typeface="Arial" panose="020B0604020202020204" pitchFamily="34" charset="0"/>
                </a:endParaRPr>
              </a:p>
              <a:p>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=&lt;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𝑘</m:t>
                        </m:r>
                      </m:sub>
                    </m:sSub>
                    <m:r>
                      <a:rPr lang="en-US" altLang="zh-CN" b="0" i="1" smtClean="0">
                        <a:latin typeface="Cambria Math" panose="02040503050406030204" pitchFamily="18" charset="0"/>
                        <a:cs typeface="Arial" panose="020B0604020202020204" pitchFamily="34" charset="0"/>
                      </a:rPr>
                      <m:t>&gt;</m:t>
                    </m:r>
                  </m:oMath>
                </a14:m>
                <a:r>
                  <a:rPr lang="en-US" altLang="zh-CN" dirty="0">
                    <a:latin typeface="Arial" panose="020B0604020202020204" pitchFamily="34" charset="0"/>
                    <a:cs typeface="Arial" panose="020B0604020202020204" pitchFamily="34" charset="0"/>
                  </a:rPr>
                  <a:t>, where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 </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𝑘</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𝑘</m:t>
                        </m:r>
                      </m:sub>
                    </m:sSub>
                    <m:r>
                      <a:rPr lang="en-US" altLang="zh-CN" i="1">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&lt;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𝑘</m:t>
                        </m:r>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&gt;</m:t>
                    </m:r>
                    <m:r>
                      <a:rPr lang="en-US" altLang="zh-CN" i="1">
                        <a:latin typeface="Cambria Math" panose="02040503050406030204" pitchFamily="18" charset="0"/>
                        <a:cs typeface="Arial" panose="020B0604020202020204" pitchFamily="34" charset="0"/>
                      </a:rPr>
                      <m:t>𝐷</m:t>
                    </m:r>
                    <m:r>
                      <a:rPr lang="en-US" altLang="zh-CN" i="1">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satisfies </a:t>
                </a:r>
                <a14:m>
                  <m:oMath xmlns:m="http://schemas.openxmlformats.org/officeDocument/2006/math">
                    <m:r>
                      <a:rPr lang="en-US" altLang="zh-CN" b="0" i="0" smtClean="0">
                        <a:latin typeface="Cambria Math" panose="02040503050406030204" pitchFamily="18" charset="0"/>
                        <a:cs typeface="Arial" panose="020B0604020202020204" pitchFamily="34" charset="0"/>
                      </a:rPr>
                      <m:t>(</m:t>
                    </m:r>
                    <m:nary>
                      <m:naryPr>
                        <m:chr m:val="∑"/>
                        <m:limLoc m:val="subSup"/>
                        <m:ctrlPr>
                          <a:rPr lang="en-US" altLang="zh-CN" b="0" i="1" smtClean="0">
                            <a:latin typeface="Cambria Math" panose="02040503050406030204" pitchFamily="18" charset="0"/>
                            <a:cs typeface="Arial" panose="020B0604020202020204" pitchFamily="34" charset="0"/>
                          </a:rPr>
                        </m:ctrlPr>
                      </m:naryPr>
                      <m:sub>
                        <m:r>
                          <m:rPr>
                            <m:brk m:alnAt="25"/>
                          </m:rP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=1</m:t>
                        </m:r>
                      </m:sub>
                      <m:sup>
                        <m:r>
                          <a:rPr lang="en-US" altLang="zh-CN" b="0" i="1" smtClean="0">
                            <a:latin typeface="Cambria Math" panose="02040503050406030204" pitchFamily="18" charset="0"/>
                            <a:cs typeface="Arial" panose="020B0604020202020204" pitchFamily="34" charset="0"/>
                          </a:rPr>
                          <m:t>𝑘</m:t>
                        </m:r>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i="1">
                                <a:latin typeface="Cambria Math" panose="02040503050406030204" pitchFamily="18" charset="0"/>
                                <a:cs typeface="Arial" panose="020B0604020202020204" pitchFamily="34" charset="0"/>
                              </a:rPr>
                              <m:t>𝑖</m:t>
                            </m:r>
                          </m:sub>
                        </m:sSub>
                      </m:e>
                    </m:nary>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-DP.</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Proof. Mathematical induction. Let </a:t>
                </a:r>
                <a14:m>
                  <m:oMath xmlns:m="http://schemas.openxmlformats.org/officeDocument/2006/math">
                    <m:r>
                      <a:rPr lang="en-US" altLang="zh-CN" b="0" i="1" smtClean="0">
                        <a:latin typeface="Cambria Math" panose="02040503050406030204" pitchFamily="18" charset="0"/>
                        <a:cs typeface="Arial" panose="020B0604020202020204" pitchFamily="34" charset="0"/>
                      </a:rPr>
                      <m:t>𝑆</m:t>
                    </m:r>
                  </m:oMath>
                </a14:m>
                <a:r>
                  <a:rPr lang="en-US" altLang="zh-CN" dirty="0">
                    <a:latin typeface="Arial" panose="020B0604020202020204" pitchFamily="34" charset="0"/>
                    <a:cs typeface="Arial" panose="020B0604020202020204" pitchFamily="34" charset="0"/>
                  </a:rPr>
                  <a:t> be </a:t>
                </a:r>
                <a14:m>
                  <m:oMath xmlns:m="http://schemas.openxmlformats.org/officeDocument/2006/math">
                    <m:r>
                      <a:rPr lang="en-US" altLang="zh-CN" b="0" i="1" dirty="0" smtClean="0">
                        <a:latin typeface="Cambria Math" panose="02040503050406030204" pitchFamily="18" charset="0"/>
                        <a:cs typeface="Arial" panose="020B0604020202020204" pitchFamily="34" charset="0"/>
                      </a:rPr>
                      <m:t>𝑅</m:t>
                    </m:r>
                    <m:r>
                      <a:rPr lang="en-US" altLang="zh-CN" i="1" dirty="0" smtClean="0">
                        <a:latin typeface="Cambria Math" panose="02040503050406030204" pitchFamily="18" charset="0"/>
                        <a:cs typeface="Arial" panose="020B0604020202020204" pitchFamily="34" charset="0"/>
                      </a:rPr>
                      <m:t>𝑎𝑛𝑔𝑒</m:t>
                    </m:r>
                    <m:r>
                      <a:rPr lang="en-US" altLang="zh-CN" b="0" i="1" dirty="0" smtClean="0">
                        <a:latin typeface="Cambria Math" panose="02040503050406030204" pitchFamily="18" charset="0"/>
                        <a:cs typeface="Arial" panose="020B0604020202020204" pitchFamily="34" charset="0"/>
                      </a:rPr>
                      <m:t>(</m:t>
                    </m:r>
                    <m:sSub>
                      <m:sSubPr>
                        <m:ctrlPr>
                          <a:rPr lang="en-US" altLang="zh-CN" b="0" i="1" dirty="0" smtClean="0">
                            <a:latin typeface="Cambria Math" panose="02040503050406030204" pitchFamily="18" charset="0"/>
                            <a:cs typeface="Arial" panose="020B0604020202020204" pitchFamily="34" charset="0"/>
                          </a:rPr>
                        </m:ctrlPr>
                      </m:sSubPr>
                      <m:e>
                        <m:r>
                          <a:rPr lang="en-US" altLang="zh-CN" b="0" i="1" dirty="0" smtClean="0">
                            <a:latin typeface="Cambria Math" panose="02040503050406030204" pitchFamily="18" charset="0"/>
                            <a:cs typeface="Arial" panose="020B0604020202020204" pitchFamily="34" charset="0"/>
                          </a:rPr>
                          <m:t>𝑀</m:t>
                        </m:r>
                      </m:e>
                      <m:sub>
                        <m:r>
                          <a:rPr lang="en-US" altLang="zh-CN" b="0" i="1" dirty="0" smtClean="0">
                            <a:latin typeface="Cambria Math" panose="02040503050406030204" pitchFamily="18" charset="0"/>
                            <a:cs typeface="Arial" panose="020B0604020202020204" pitchFamily="34" charset="0"/>
                          </a:rPr>
                          <m:t>1</m:t>
                        </m:r>
                      </m:sub>
                    </m:sSub>
                    <m:r>
                      <a:rPr lang="en-US" altLang="zh-CN" b="0" i="1" dirty="0"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for any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𝑅𝑎𝑛𝑔𝑒</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we have</a:t>
                </a:r>
              </a:p>
              <a:p>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𝑘</m:t>
                                  </m:r>
                                </m:sub>
                              </m:sSub>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nary>
                        <m:naryPr>
                          <m:chr m:val="∑"/>
                          <m:supHide m:val="on"/>
                          <m:ctrlPr>
                            <a:rPr lang="en-US" altLang="zh-CN" b="0" i="1" smtClean="0">
                              <a:latin typeface="Cambria Math" panose="02040503050406030204" pitchFamily="18" charset="0"/>
                              <a:cs typeface="Arial" panose="020B0604020202020204" pitchFamily="34" charset="0"/>
                            </a:rPr>
                          </m:ctrlPr>
                        </m:naryPr>
                        <m:sub>
                          <m:r>
                            <m:rPr>
                              <m:brk m:alnAt="7"/>
                            </m:rPr>
                            <a:rPr lang="en-US" altLang="zh-CN" b="0" i="1" smtClean="0">
                              <a:latin typeface="Cambria Math" panose="02040503050406030204" pitchFamily="18" charset="0"/>
                              <a:cs typeface="Arial" panose="020B0604020202020204" pitchFamily="34" charset="0"/>
                            </a:rPr>
                            <m:t>𝑠</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𝑆</m:t>
                          </m:r>
                        </m:sub>
                        <m:sup/>
                        <m:e>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𝑘</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𝑠</m:t>
                                  </m:r>
                                </m:e>
                              </m:d>
                            </m:e>
                          </m:func>
                          <m:r>
                            <a:rPr lang="en-US" altLang="zh-CN" b="0" i="1" smtClean="0">
                              <a:latin typeface="Cambria Math" panose="02040503050406030204" pitchFamily="18" charset="0"/>
                              <a:cs typeface="Arial" panose="020B0604020202020204" pitchFamily="34" charset="0"/>
                            </a:rPr>
                            <m:t>…</m:t>
                          </m:r>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𝑠</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e>
                      </m:nary>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nary>
                        <m:naryPr>
                          <m:chr m:val="∑"/>
                          <m:supHide m:val="on"/>
                          <m:ctrlPr>
                            <a:rPr lang="en-US" altLang="zh-CN" i="1">
                              <a:latin typeface="Cambria Math" panose="02040503050406030204" pitchFamily="18" charset="0"/>
                              <a:cs typeface="Arial" panose="020B0604020202020204" pitchFamily="34" charset="0"/>
                            </a:rPr>
                          </m:ctrlPr>
                        </m:naryPr>
                        <m:sub>
                          <m:r>
                            <m:rPr>
                              <m:brk m:alnAt="7"/>
                            </m:rPr>
                            <a:rPr lang="en-US" altLang="zh-CN" i="1">
                              <a:latin typeface="Cambria Math" panose="02040503050406030204" pitchFamily="18" charset="0"/>
                              <a:cs typeface="Arial" panose="020B0604020202020204" pitchFamily="34" charset="0"/>
                            </a:rPr>
                            <m:t>𝑠</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𝑆</m:t>
                          </m:r>
                        </m:sub>
                        <m:sup/>
                        <m:e>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1</m:t>
                                  </m:r>
                                </m:sub>
                              </m:sSub>
                            </m:sup>
                          </m:sSup>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𝑠</m:t>
                                  </m:r>
                                </m:e>
                              </m:d>
                            </m:e>
                          </m:func>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2</m:t>
                                  </m:r>
                                </m:sub>
                              </m:sSub>
                            </m:sup>
                          </m:sSup>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𝑠</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𝑘</m:t>
                                  </m:r>
                                </m:sub>
                              </m:sSub>
                            </m:sup>
                          </m:sSup>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𝑘</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𝑠</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e>
                      </m:nary>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nary>
                            <m:naryPr>
                              <m:chr m:val="∑"/>
                              <m:limLoc m:val="subSup"/>
                              <m:ctrlPr>
                                <a:rPr lang="en-US" altLang="zh-CN" i="1">
                                  <a:latin typeface="Cambria Math" panose="02040503050406030204" pitchFamily="18" charset="0"/>
                                  <a:cs typeface="Arial" panose="020B0604020202020204" pitchFamily="34" charset="0"/>
                                </a:rPr>
                              </m:ctrlPr>
                            </m:naryPr>
                            <m:sub>
                              <m:r>
                                <m:rPr>
                                  <m:brk m:alnAt="25"/>
                                </m:rPr>
                                <a:rPr lang="en-US" altLang="zh-CN" i="1">
                                  <a:latin typeface="Cambria Math" panose="02040503050406030204" pitchFamily="18" charset="0"/>
                                  <a:cs typeface="Arial" panose="020B0604020202020204" pitchFamily="34" charset="0"/>
                                </a:rPr>
                                <m:t>𝑖</m:t>
                              </m:r>
                              <m:r>
                                <a:rPr lang="en-US" altLang="zh-CN" i="1">
                                  <a:latin typeface="Cambria Math" panose="02040503050406030204" pitchFamily="18" charset="0"/>
                                  <a:cs typeface="Arial" panose="020B0604020202020204" pitchFamily="34" charset="0"/>
                                </a:rPr>
                                <m:t>=1</m:t>
                              </m:r>
                            </m:sub>
                            <m:sup>
                              <m:r>
                                <a:rPr lang="en-US" altLang="zh-CN" i="1">
                                  <a:latin typeface="Cambria Math" panose="02040503050406030204" pitchFamily="18" charset="0"/>
                                  <a:cs typeface="Arial" panose="020B0604020202020204" pitchFamily="34" charset="0"/>
                                </a:rPr>
                                <m:t>𝑘</m:t>
                              </m:r>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i="1">
                                      <a:latin typeface="Cambria Math" panose="02040503050406030204" pitchFamily="18" charset="0"/>
                                      <a:cs typeface="Arial" panose="020B0604020202020204" pitchFamily="34" charset="0"/>
                                    </a:rPr>
                                    <m:t>𝑖</m:t>
                                  </m:r>
                                </m:sub>
                              </m:sSub>
                            </m:e>
                          </m:nary>
                        </m:sup>
                      </m:sSup>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oMath>
                  </m:oMathPara>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5126660"/>
              </a:xfrm>
              <a:prstGeom prst="rect">
                <a:avLst/>
              </a:prstGeom>
              <a:blipFill>
                <a:blip r:embed="rId2"/>
                <a:stretch>
                  <a:fillRect l="-498" t="-595" b="-68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880688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4DE697A7-3223-4A2C-8C79-9761B4043A12}"/>
              </a:ext>
            </a:extLst>
          </p:cNvPr>
          <p:cNvSpPr txBox="1"/>
          <p:nvPr/>
        </p:nvSpPr>
        <p:spPr>
          <a:xfrm>
            <a:off x="526094" y="1084249"/>
            <a:ext cx="11018413"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Compare post-processing with sequential composition</a:t>
            </a:r>
          </a:p>
        </p:txBody>
      </p:sp>
      <p:sp>
        <p:nvSpPr>
          <p:cNvPr id="2" name="圆柱体 1">
            <a:extLst>
              <a:ext uri="{FF2B5EF4-FFF2-40B4-BE49-F238E27FC236}">
                <a16:creationId xmlns:a16="http://schemas.microsoft.com/office/drawing/2014/main" id="{E2CD593D-F440-4E33-98DC-68387BB1E3A8}"/>
              </a:ext>
            </a:extLst>
          </p:cNvPr>
          <p:cNvSpPr/>
          <p:nvPr/>
        </p:nvSpPr>
        <p:spPr>
          <a:xfrm>
            <a:off x="6817010" y="3172023"/>
            <a:ext cx="1721594" cy="147565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Arial" panose="020B0604020202020204" pitchFamily="34" charset="0"/>
                <a:cs typeface="Arial" panose="020B0604020202020204" pitchFamily="34" charset="0"/>
              </a:rPr>
              <a:t>Dataset</a:t>
            </a:r>
            <a:endParaRPr lang="zh-CN" altLang="en-US" sz="2800" b="1" dirty="0">
              <a:solidFill>
                <a:schemeClr val="tx1"/>
              </a:solidFill>
              <a:latin typeface="Arial" panose="020B0604020202020204" pitchFamily="34" charset="0"/>
              <a:cs typeface="Arial" panose="020B0604020202020204" pitchFamily="34" charset="0"/>
            </a:endParaRPr>
          </a:p>
        </p:txBody>
      </p:sp>
      <p:cxnSp>
        <p:nvCxnSpPr>
          <p:cNvPr id="4" name="直接箭头连接符 3">
            <a:extLst>
              <a:ext uri="{FF2B5EF4-FFF2-40B4-BE49-F238E27FC236}">
                <a16:creationId xmlns:a16="http://schemas.microsoft.com/office/drawing/2014/main" id="{A97DBCE7-4F3E-4CEC-9CB8-5ECBF72D11D0}"/>
              </a:ext>
            </a:extLst>
          </p:cNvPr>
          <p:cNvCxnSpPr>
            <a:cxnSpLocks/>
          </p:cNvCxnSpPr>
          <p:nvPr/>
        </p:nvCxnSpPr>
        <p:spPr>
          <a:xfrm>
            <a:off x="8626891" y="3531477"/>
            <a:ext cx="135583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5B5B958D-452F-4448-99DC-E6263E4C8D00}"/>
              </a:ext>
            </a:extLst>
          </p:cNvPr>
          <p:cNvCxnSpPr>
            <a:cxnSpLocks/>
          </p:cNvCxnSpPr>
          <p:nvPr/>
        </p:nvCxnSpPr>
        <p:spPr>
          <a:xfrm>
            <a:off x="8626891" y="4245130"/>
            <a:ext cx="135583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030BBBB-5C98-4BEF-9771-E752E378A0D9}"/>
                  </a:ext>
                </a:extLst>
              </p:cNvPr>
              <p:cNvSpPr txBox="1"/>
              <p:nvPr/>
            </p:nvSpPr>
            <p:spPr>
              <a:xfrm>
                <a:off x="8898059" y="3118216"/>
                <a:ext cx="6747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5" name="文本框 4">
                <a:extLst>
                  <a:ext uri="{FF2B5EF4-FFF2-40B4-BE49-F238E27FC236}">
                    <a16:creationId xmlns:a16="http://schemas.microsoft.com/office/drawing/2014/main" id="{8030BBBB-5C98-4BEF-9771-E752E378A0D9}"/>
                  </a:ext>
                </a:extLst>
              </p:cNvPr>
              <p:cNvSpPr txBox="1">
                <a:spLocks noRot="1" noChangeAspect="1" noMove="1" noResize="1" noEditPoints="1" noAdjustHandles="1" noChangeArrowheads="1" noChangeShapeType="1" noTextEdit="1"/>
              </p:cNvSpPr>
              <p:nvPr/>
            </p:nvSpPr>
            <p:spPr>
              <a:xfrm>
                <a:off x="8898059" y="3118216"/>
                <a:ext cx="674762" cy="36933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3AF390B5-5869-4BC8-8517-288CC4185D3B}"/>
                  </a:ext>
                </a:extLst>
              </p:cNvPr>
              <p:cNvSpPr txBox="1"/>
              <p:nvPr/>
            </p:nvSpPr>
            <p:spPr>
              <a:xfrm>
                <a:off x="8702567" y="3875798"/>
                <a:ext cx="106574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9" name="文本框 8">
                <a:extLst>
                  <a:ext uri="{FF2B5EF4-FFF2-40B4-BE49-F238E27FC236}">
                    <a16:creationId xmlns:a16="http://schemas.microsoft.com/office/drawing/2014/main" id="{3AF390B5-5869-4BC8-8517-288CC4185D3B}"/>
                  </a:ext>
                </a:extLst>
              </p:cNvPr>
              <p:cNvSpPr txBox="1">
                <a:spLocks noRot="1" noChangeAspect="1" noMove="1" noResize="1" noEditPoints="1" noAdjustHandles="1" noChangeArrowheads="1" noChangeShapeType="1" noTextEdit="1"/>
              </p:cNvSpPr>
              <p:nvPr/>
            </p:nvSpPr>
            <p:spPr>
              <a:xfrm>
                <a:off x="8702567" y="3875798"/>
                <a:ext cx="1065747" cy="369332"/>
              </a:xfrm>
              <a:prstGeom prst="rect">
                <a:avLst/>
              </a:prstGeom>
              <a:blipFill>
                <a:blip r:embed="rId3"/>
                <a:stretch>
                  <a:fillRect/>
                </a:stretch>
              </a:blipFill>
            </p:spPr>
            <p:txBody>
              <a:bodyPr/>
              <a:lstStyle/>
              <a:p>
                <a:r>
                  <a:rPr lang="zh-CN" altLang="en-US">
                    <a:noFill/>
                  </a:rPr>
                  <a:t> </a:t>
                </a:r>
              </a:p>
            </p:txBody>
          </p:sp>
        </mc:Fallback>
      </mc:AlternateContent>
      <p:sp>
        <p:nvSpPr>
          <p:cNvPr id="13" name="圆柱体 12">
            <a:extLst>
              <a:ext uri="{FF2B5EF4-FFF2-40B4-BE49-F238E27FC236}">
                <a16:creationId xmlns:a16="http://schemas.microsoft.com/office/drawing/2014/main" id="{F25DA6C8-310C-4D2D-A23E-B59CDE043B92}"/>
              </a:ext>
            </a:extLst>
          </p:cNvPr>
          <p:cNvSpPr/>
          <p:nvPr/>
        </p:nvSpPr>
        <p:spPr>
          <a:xfrm>
            <a:off x="655845" y="3172023"/>
            <a:ext cx="1721594" cy="147565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Arial" panose="020B0604020202020204" pitchFamily="34" charset="0"/>
                <a:cs typeface="Arial" panose="020B0604020202020204" pitchFamily="34" charset="0"/>
              </a:rPr>
              <a:t>Dataset</a:t>
            </a:r>
            <a:endParaRPr lang="zh-CN" altLang="en-US" sz="2800" b="1" dirty="0">
              <a:solidFill>
                <a:schemeClr val="tx1"/>
              </a:solidFill>
              <a:latin typeface="Arial" panose="020B0604020202020204" pitchFamily="34" charset="0"/>
              <a:cs typeface="Arial" panose="020B0604020202020204" pitchFamily="34" charset="0"/>
            </a:endParaRPr>
          </a:p>
        </p:txBody>
      </p:sp>
      <p:cxnSp>
        <p:nvCxnSpPr>
          <p:cNvPr id="14" name="直接箭头连接符 13">
            <a:extLst>
              <a:ext uri="{FF2B5EF4-FFF2-40B4-BE49-F238E27FC236}">
                <a16:creationId xmlns:a16="http://schemas.microsoft.com/office/drawing/2014/main" id="{1180FD37-41B9-46EC-9423-BE5B729C066F}"/>
              </a:ext>
            </a:extLst>
          </p:cNvPr>
          <p:cNvCxnSpPr>
            <a:cxnSpLocks/>
            <a:stCxn id="13" idx="4"/>
            <a:endCxn id="16" idx="1"/>
          </p:cNvCxnSpPr>
          <p:nvPr/>
        </p:nvCxnSpPr>
        <p:spPr>
          <a:xfrm>
            <a:off x="2377439" y="3909849"/>
            <a:ext cx="55494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A6852F4E-9EA6-4F85-92E6-03A99B246D8B}"/>
                  </a:ext>
                </a:extLst>
              </p:cNvPr>
              <p:cNvSpPr txBox="1"/>
              <p:nvPr/>
            </p:nvSpPr>
            <p:spPr>
              <a:xfrm>
                <a:off x="2932385" y="3725183"/>
                <a:ext cx="42474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16" name="文本框 15">
                <a:extLst>
                  <a:ext uri="{FF2B5EF4-FFF2-40B4-BE49-F238E27FC236}">
                    <a16:creationId xmlns:a16="http://schemas.microsoft.com/office/drawing/2014/main" id="{A6852F4E-9EA6-4F85-92E6-03A99B246D8B}"/>
                  </a:ext>
                </a:extLst>
              </p:cNvPr>
              <p:cNvSpPr txBox="1">
                <a:spLocks noRot="1" noChangeAspect="1" noMove="1" noResize="1" noEditPoints="1" noAdjustHandles="1" noChangeArrowheads="1" noChangeShapeType="1" noTextEdit="1"/>
              </p:cNvSpPr>
              <p:nvPr/>
            </p:nvSpPr>
            <p:spPr>
              <a:xfrm>
                <a:off x="2932385" y="3725183"/>
                <a:ext cx="424747"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5FE345BD-6AC1-454F-A9EA-8991459FF35B}"/>
                  </a:ext>
                </a:extLst>
              </p:cNvPr>
              <p:cNvSpPr txBox="1"/>
              <p:nvPr/>
            </p:nvSpPr>
            <p:spPr>
              <a:xfrm>
                <a:off x="3962531" y="3725183"/>
                <a:ext cx="34868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𝐴</m:t>
                      </m:r>
                    </m:oMath>
                  </m:oMathPara>
                </a14:m>
                <a:endParaRPr lang="zh-CN" altLang="en-US" dirty="0"/>
              </a:p>
            </p:txBody>
          </p:sp>
        </mc:Choice>
        <mc:Fallback xmlns="">
          <p:sp>
            <p:nvSpPr>
              <p:cNvPr id="17" name="文本框 16">
                <a:extLst>
                  <a:ext uri="{FF2B5EF4-FFF2-40B4-BE49-F238E27FC236}">
                    <a16:creationId xmlns:a16="http://schemas.microsoft.com/office/drawing/2014/main" id="{5FE345BD-6AC1-454F-A9EA-8991459FF35B}"/>
                  </a:ext>
                </a:extLst>
              </p:cNvPr>
              <p:cNvSpPr txBox="1">
                <a:spLocks noRot="1" noChangeAspect="1" noMove="1" noResize="1" noEditPoints="1" noAdjustHandles="1" noChangeArrowheads="1" noChangeShapeType="1" noTextEdit="1"/>
              </p:cNvSpPr>
              <p:nvPr/>
            </p:nvSpPr>
            <p:spPr>
              <a:xfrm>
                <a:off x="3962531" y="3725183"/>
                <a:ext cx="348682" cy="369332"/>
              </a:xfrm>
              <a:prstGeom prst="rect">
                <a:avLst/>
              </a:prstGeom>
              <a:blipFill>
                <a:blip r:embed="rId5"/>
                <a:stretch>
                  <a:fillRect/>
                </a:stretch>
              </a:blipFill>
            </p:spPr>
            <p:txBody>
              <a:bodyPr/>
              <a:lstStyle/>
              <a:p>
                <a:r>
                  <a:rPr lang="zh-CN" altLang="en-US">
                    <a:noFill/>
                  </a:rPr>
                  <a:t> </a:t>
                </a:r>
              </a:p>
            </p:txBody>
          </p:sp>
        </mc:Fallback>
      </mc:AlternateContent>
      <p:cxnSp>
        <p:nvCxnSpPr>
          <p:cNvPr id="18" name="直接箭头连接符 17">
            <a:extLst>
              <a:ext uri="{FF2B5EF4-FFF2-40B4-BE49-F238E27FC236}">
                <a16:creationId xmlns:a16="http://schemas.microsoft.com/office/drawing/2014/main" id="{BC6142B4-B58C-4D3F-A4BA-74EB45F4405A}"/>
              </a:ext>
            </a:extLst>
          </p:cNvPr>
          <p:cNvCxnSpPr>
            <a:cxnSpLocks/>
            <a:stCxn id="16" idx="3"/>
            <a:endCxn id="17" idx="1"/>
          </p:cNvCxnSpPr>
          <p:nvPr/>
        </p:nvCxnSpPr>
        <p:spPr>
          <a:xfrm>
            <a:off x="3357132" y="3909849"/>
            <a:ext cx="60539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思想气泡: 云 28">
            <a:extLst>
              <a:ext uri="{FF2B5EF4-FFF2-40B4-BE49-F238E27FC236}">
                <a16:creationId xmlns:a16="http://schemas.microsoft.com/office/drawing/2014/main" id="{CEAB11BB-8F2B-4667-A7CF-CA31599B3510}"/>
              </a:ext>
            </a:extLst>
          </p:cNvPr>
          <p:cNvSpPr/>
          <p:nvPr/>
        </p:nvSpPr>
        <p:spPr>
          <a:xfrm>
            <a:off x="1713056" y="4786412"/>
            <a:ext cx="3140491" cy="1538714"/>
          </a:xfrm>
          <a:prstGeom prst="cloudCallout">
            <a:avLst>
              <a:gd name="adj1" fmla="val 25328"/>
              <a:gd name="adj2" fmla="val -90596"/>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Arial" panose="020B0604020202020204" pitchFamily="34" charset="0"/>
                <a:cs typeface="Arial" panose="020B0604020202020204" pitchFamily="34" charset="0"/>
              </a:rPr>
              <a:t>Post-processing </a:t>
            </a:r>
            <a:r>
              <a:rPr lang="en-US" altLang="zh-CN" dirty="0">
                <a:solidFill>
                  <a:srgbClr val="FF0000"/>
                </a:solidFill>
                <a:latin typeface="Arial" panose="020B0604020202020204" pitchFamily="34" charset="0"/>
                <a:cs typeface="Arial" panose="020B0604020202020204" pitchFamily="34" charset="0"/>
              </a:rPr>
              <a:t>cannot</a:t>
            </a:r>
            <a:r>
              <a:rPr lang="en-US" altLang="zh-CN" dirty="0">
                <a:solidFill>
                  <a:schemeClr val="tx1"/>
                </a:solidFill>
                <a:latin typeface="Arial" panose="020B0604020202020204" pitchFamily="34" charset="0"/>
                <a:cs typeface="Arial" panose="020B0604020202020204" pitchFamily="34" charset="0"/>
              </a:rPr>
              <a:t> access dataset</a:t>
            </a:r>
            <a:endParaRPr lang="zh-CN" altLang="en-US" dirty="0">
              <a:solidFill>
                <a:schemeClr val="tx1"/>
              </a:solidFill>
              <a:latin typeface="Arial" panose="020B0604020202020204" pitchFamily="34" charset="0"/>
              <a:cs typeface="Arial" panose="020B0604020202020204" pitchFamily="34" charset="0"/>
            </a:endParaRPr>
          </a:p>
        </p:txBody>
      </p:sp>
      <p:cxnSp>
        <p:nvCxnSpPr>
          <p:cNvPr id="31" name="直接连接符 30">
            <a:extLst>
              <a:ext uri="{FF2B5EF4-FFF2-40B4-BE49-F238E27FC236}">
                <a16:creationId xmlns:a16="http://schemas.microsoft.com/office/drawing/2014/main" id="{2CEAFF12-EDC0-41F8-BE70-C512F86ED47F}"/>
              </a:ext>
            </a:extLst>
          </p:cNvPr>
          <p:cNvCxnSpPr/>
          <p:nvPr/>
        </p:nvCxnSpPr>
        <p:spPr>
          <a:xfrm>
            <a:off x="5839548" y="1891862"/>
            <a:ext cx="0" cy="4508938"/>
          </a:xfrm>
          <a:prstGeom prst="line">
            <a:avLst/>
          </a:prstGeom>
          <a:ln w="285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D291A628-9F01-436A-9BB4-AD82866EF6EA}"/>
              </a:ext>
            </a:extLst>
          </p:cNvPr>
          <p:cNvSpPr txBox="1"/>
          <p:nvPr/>
        </p:nvSpPr>
        <p:spPr>
          <a:xfrm>
            <a:off x="526094" y="2115313"/>
            <a:ext cx="4462116"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Post processing</a:t>
            </a:r>
          </a:p>
        </p:txBody>
      </p:sp>
      <p:sp>
        <p:nvSpPr>
          <p:cNvPr id="33" name="文本框 32">
            <a:extLst>
              <a:ext uri="{FF2B5EF4-FFF2-40B4-BE49-F238E27FC236}">
                <a16:creationId xmlns:a16="http://schemas.microsoft.com/office/drawing/2014/main" id="{29FB4881-902F-4F5E-8C9D-7AC723DFA517}"/>
              </a:ext>
            </a:extLst>
          </p:cNvPr>
          <p:cNvSpPr txBox="1"/>
          <p:nvPr/>
        </p:nvSpPr>
        <p:spPr>
          <a:xfrm>
            <a:off x="6568491" y="2115313"/>
            <a:ext cx="4462116"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Sequential composition</a:t>
            </a:r>
          </a:p>
        </p:txBody>
      </p:sp>
      <p:sp>
        <p:nvSpPr>
          <p:cNvPr id="34" name="思想气泡: 云 33">
            <a:extLst>
              <a:ext uri="{FF2B5EF4-FFF2-40B4-BE49-F238E27FC236}">
                <a16:creationId xmlns:a16="http://schemas.microsoft.com/office/drawing/2014/main" id="{650FA1A2-8617-4974-8697-18D297DFF0FB}"/>
              </a:ext>
            </a:extLst>
          </p:cNvPr>
          <p:cNvSpPr/>
          <p:nvPr/>
        </p:nvSpPr>
        <p:spPr>
          <a:xfrm>
            <a:off x="7775554" y="5071243"/>
            <a:ext cx="3140491" cy="1538714"/>
          </a:xfrm>
          <a:prstGeom prst="cloudCallout">
            <a:avLst>
              <a:gd name="adj1" fmla="val 25328"/>
              <a:gd name="adj2" fmla="val -90596"/>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Arial" panose="020B0604020202020204" pitchFamily="34" charset="0"/>
                <a:cs typeface="Arial" panose="020B0604020202020204" pitchFamily="34" charset="0"/>
              </a:rPr>
              <a:t>Sequential composition </a:t>
            </a:r>
            <a:r>
              <a:rPr lang="en-US" altLang="zh-CN" dirty="0">
                <a:solidFill>
                  <a:srgbClr val="FF0000"/>
                </a:solidFill>
                <a:latin typeface="Arial" panose="020B0604020202020204" pitchFamily="34" charset="0"/>
                <a:cs typeface="Arial" panose="020B0604020202020204" pitchFamily="34" charset="0"/>
              </a:rPr>
              <a:t>requires to</a:t>
            </a:r>
            <a:r>
              <a:rPr lang="en-US" altLang="zh-CN" dirty="0">
                <a:solidFill>
                  <a:schemeClr val="tx1"/>
                </a:solidFill>
                <a:latin typeface="Arial" panose="020B0604020202020204" pitchFamily="34" charset="0"/>
                <a:cs typeface="Arial" panose="020B0604020202020204" pitchFamily="34" charset="0"/>
              </a:rPr>
              <a:t> access dataset</a:t>
            </a:r>
            <a:endParaRPr lang="zh-CN" alt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28773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柱体 15">
            <a:extLst>
              <a:ext uri="{FF2B5EF4-FFF2-40B4-BE49-F238E27FC236}">
                <a16:creationId xmlns:a16="http://schemas.microsoft.com/office/drawing/2014/main" id="{A7EA6964-9464-47F1-8054-F5AC3A66AC9C}"/>
              </a:ext>
            </a:extLst>
          </p:cNvPr>
          <p:cNvSpPr/>
          <p:nvPr/>
        </p:nvSpPr>
        <p:spPr>
          <a:xfrm>
            <a:off x="1716758" y="4234672"/>
            <a:ext cx="1721594" cy="547063"/>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Arial" panose="020B0604020202020204" pitchFamily="34" charset="0"/>
                <a:cs typeface="Arial" panose="020B0604020202020204" pitchFamily="34" charset="0"/>
              </a:rPr>
              <a:t>Part 4</a:t>
            </a:r>
            <a:endParaRPr lang="zh-CN" altLang="en-US" sz="2000" b="1" dirty="0">
              <a:solidFill>
                <a:schemeClr val="tx1"/>
              </a:solidFill>
              <a:latin typeface="Arial" panose="020B0604020202020204" pitchFamily="34" charset="0"/>
              <a:cs typeface="Arial" panose="020B0604020202020204" pitchFamily="34" charset="0"/>
            </a:endParaRPr>
          </a:p>
        </p:txBody>
      </p:sp>
      <p:sp>
        <p:nvSpPr>
          <p:cNvPr id="15" name="圆柱体 14">
            <a:extLst>
              <a:ext uri="{FF2B5EF4-FFF2-40B4-BE49-F238E27FC236}">
                <a16:creationId xmlns:a16="http://schemas.microsoft.com/office/drawing/2014/main" id="{4D2FB7E0-AABD-493B-BEE5-8C5FC2BE7753}"/>
              </a:ext>
            </a:extLst>
          </p:cNvPr>
          <p:cNvSpPr/>
          <p:nvPr/>
        </p:nvSpPr>
        <p:spPr>
          <a:xfrm>
            <a:off x="1716758" y="3775103"/>
            <a:ext cx="1721594" cy="547063"/>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Arial" panose="020B0604020202020204" pitchFamily="34" charset="0"/>
                <a:cs typeface="Arial" panose="020B0604020202020204" pitchFamily="34" charset="0"/>
              </a:rPr>
              <a:t>Part 3</a:t>
            </a:r>
            <a:endParaRPr lang="zh-CN" altLang="en-US" sz="2000" b="1" dirty="0">
              <a:solidFill>
                <a:schemeClr val="tx1"/>
              </a:solidFill>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Question: What if multiple mechanisms access disjoint parts of dataset?</a:t>
            </a:r>
          </a:p>
        </p:txBody>
      </p:sp>
      <p:cxnSp>
        <p:nvCxnSpPr>
          <p:cNvPr id="4" name="直接箭头连接符 3">
            <a:extLst>
              <a:ext uri="{FF2B5EF4-FFF2-40B4-BE49-F238E27FC236}">
                <a16:creationId xmlns:a16="http://schemas.microsoft.com/office/drawing/2014/main" id="{A97DBCE7-4F3E-4CEC-9CB8-5ECBF72D11D0}"/>
              </a:ext>
            </a:extLst>
          </p:cNvPr>
          <p:cNvCxnSpPr>
            <a:cxnSpLocks/>
            <a:stCxn id="2" idx="4"/>
          </p:cNvCxnSpPr>
          <p:nvPr/>
        </p:nvCxnSpPr>
        <p:spPr>
          <a:xfrm>
            <a:off x="3438352" y="3117629"/>
            <a:ext cx="2407501" cy="1634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5B5B958D-452F-4448-99DC-E6263E4C8D00}"/>
              </a:ext>
            </a:extLst>
          </p:cNvPr>
          <p:cNvCxnSpPr>
            <a:cxnSpLocks/>
            <a:stCxn id="16" idx="4"/>
          </p:cNvCxnSpPr>
          <p:nvPr/>
        </p:nvCxnSpPr>
        <p:spPr>
          <a:xfrm>
            <a:off x="3438352" y="4508204"/>
            <a:ext cx="2363358" cy="276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030BBBB-5C98-4BEF-9771-E752E378A0D9}"/>
                  </a:ext>
                </a:extLst>
              </p:cNvPr>
              <p:cNvSpPr txBox="1"/>
              <p:nvPr/>
            </p:nvSpPr>
            <p:spPr>
              <a:xfrm>
                <a:off x="3923195" y="2764638"/>
                <a:ext cx="12549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5" name="文本框 4">
                <a:extLst>
                  <a:ext uri="{FF2B5EF4-FFF2-40B4-BE49-F238E27FC236}">
                    <a16:creationId xmlns:a16="http://schemas.microsoft.com/office/drawing/2014/main" id="{8030BBBB-5C98-4BEF-9771-E752E378A0D9}"/>
                  </a:ext>
                </a:extLst>
              </p:cNvPr>
              <p:cNvSpPr txBox="1">
                <a:spLocks noRot="1" noChangeAspect="1" noMove="1" noResize="1" noEditPoints="1" noAdjustHandles="1" noChangeArrowheads="1" noChangeShapeType="1" noTextEdit="1"/>
              </p:cNvSpPr>
              <p:nvPr/>
            </p:nvSpPr>
            <p:spPr>
              <a:xfrm>
                <a:off x="3923195" y="2764638"/>
                <a:ext cx="1254935" cy="36933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3AF390B5-5869-4BC8-8517-288CC4185D3B}"/>
                  </a:ext>
                </a:extLst>
              </p:cNvPr>
              <p:cNvSpPr txBox="1"/>
              <p:nvPr/>
            </p:nvSpPr>
            <p:spPr>
              <a:xfrm>
                <a:off x="3923194" y="3230140"/>
                <a:ext cx="12549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9" name="文本框 8">
                <a:extLst>
                  <a:ext uri="{FF2B5EF4-FFF2-40B4-BE49-F238E27FC236}">
                    <a16:creationId xmlns:a16="http://schemas.microsoft.com/office/drawing/2014/main" id="{3AF390B5-5869-4BC8-8517-288CC4185D3B}"/>
                  </a:ext>
                </a:extLst>
              </p:cNvPr>
              <p:cNvSpPr txBox="1">
                <a:spLocks noRot="1" noChangeAspect="1" noMove="1" noResize="1" noEditPoints="1" noAdjustHandles="1" noChangeArrowheads="1" noChangeShapeType="1" noTextEdit="1"/>
              </p:cNvSpPr>
              <p:nvPr/>
            </p:nvSpPr>
            <p:spPr>
              <a:xfrm>
                <a:off x="3923194" y="3230140"/>
                <a:ext cx="1254935" cy="369332"/>
              </a:xfrm>
              <a:prstGeom prst="rect">
                <a:avLst/>
              </a:prstGeom>
              <a:blipFill>
                <a:blip r:embed="rId3"/>
                <a:stretch>
                  <a:fillRect/>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D767FF52-A5A9-405C-A250-6F082AC02C00}"/>
              </a:ext>
            </a:extLst>
          </p:cNvPr>
          <p:cNvPicPr>
            <a:picLocks noChangeAspect="1"/>
          </p:cNvPicPr>
          <p:nvPr/>
        </p:nvPicPr>
        <p:blipFill rotWithShape="1">
          <a:blip r:embed="rId4">
            <a:extLst>
              <a:ext uri="{28A0092B-C50C-407E-A947-70E740481C1C}">
                <a14:useLocalDpi xmlns:a14="http://schemas.microsoft.com/office/drawing/2010/main" val="0"/>
              </a:ext>
            </a:extLst>
          </a:blip>
          <a:srcRect l="27216" t="13590" r="21743" b="15508"/>
          <a:stretch/>
        </p:blipFill>
        <p:spPr>
          <a:xfrm>
            <a:off x="6270051" y="3090041"/>
            <a:ext cx="1069115" cy="1485106"/>
          </a:xfrm>
          <a:prstGeom prst="rect">
            <a:avLst/>
          </a:prstGeom>
          <a:noFill/>
        </p:spPr>
      </p:pic>
      <mc:AlternateContent xmlns:mc="http://schemas.openxmlformats.org/markup-compatibility/2006" xmlns:a14="http://schemas.microsoft.com/office/drawing/2010/main">
        <mc:Choice Requires="a14">
          <p:sp>
            <p:nvSpPr>
              <p:cNvPr id="12" name="思想气泡: 云 11">
                <a:extLst>
                  <a:ext uri="{FF2B5EF4-FFF2-40B4-BE49-F238E27FC236}">
                    <a16:creationId xmlns:a16="http://schemas.microsoft.com/office/drawing/2014/main" id="{90DC3BC9-722A-4904-BEE6-6EB685F64A9F}"/>
                  </a:ext>
                </a:extLst>
              </p:cNvPr>
              <p:cNvSpPr/>
              <p:nvPr/>
            </p:nvSpPr>
            <p:spPr>
              <a:xfrm>
                <a:off x="7422405" y="2044417"/>
                <a:ext cx="3884624" cy="1538714"/>
              </a:xfrm>
              <a:prstGeom prst="cloudCallout">
                <a:avLst>
                  <a:gd name="adj1" fmla="val -40736"/>
                  <a:gd name="adj2" fmla="val 61863"/>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Arial" panose="020B0604020202020204" pitchFamily="34" charset="0"/>
                    <a:cs typeface="Arial" panose="020B0604020202020204" pitchFamily="34" charset="0"/>
                  </a:rPr>
                  <a:t>What privacy guarantee can </a:t>
                </a: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𝑀</m:t>
                        </m:r>
                      </m:e>
                      <m:sub>
                        <m:r>
                          <a:rPr lang="en-US" altLang="zh-CN" b="0" i="1" smtClean="0">
                            <a:solidFill>
                              <a:schemeClr val="tx1"/>
                            </a:solidFill>
                            <a:latin typeface="Cambria Math" panose="02040503050406030204" pitchFamily="18" charset="0"/>
                          </a:rPr>
                          <m:t>4</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𝑀</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oMath>
                </a14:m>
                <a:r>
                  <a:rPr lang="en-US" altLang="zh-CN" dirty="0">
                    <a:solidFill>
                      <a:schemeClr val="tx1"/>
                    </a:solidFill>
                    <a:latin typeface="Arial" panose="020B0604020202020204" pitchFamily="34" charset="0"/>
                    <a:cs typeface="Arial" panose="020B0604020202020204" pitchFamily="34" charset="0"/>
                  </a:rPr>
                  <a:t> </a:t>
                </a:r>
              </a:p>
              <a:p>
                <a:pPr algn="ctr"/>
                <a:r>
                  <a:rPr lang="en-US" altLang="zh-CN" dirty="0">
                    <a:solidFill>
                      <a:schemeClr val="tx1"/>
                    </a:solidFill>
                    <a:latin typeface="Arial" panose="020B0604020202020204" pitchFamily="34" charset="0"/>
                    <a:cs typeface="Arial" panose="020B0604020202020204" pitchFamily="34" charset="0"/>
                  </a:rPr>
                  <a:t>provide?</a:t>
                </a:r>
                <a:endParaRPr lang="zh-CN" altLang="en-US" dirty="0">
                  <a:solidFill>
                    <a:schemeClr val="tx1"/>
                  </a:solidFill>
                  <a:latin typeface="Arial" panose="020B0604020202020204" pitchFamily="34" charset="0"/>
                  <a:cs typeface="Arial" panose="020B0604020202020204" pitchFamily="34" charset="0"/>
                </a:endParaRPr>
              </a:p>
            </p:txBody>
          </p:sp>
        </mc:Choice>
        <mc:Fallback xmlns="">
          <p:sp>
            <p:nvSpPr>
              <p:cNvPr id="12" name="思想气泡: 云 11">
                <a:extLst>
                  <a:ext uri="{FF2B5EF4-FFF2-40B4-BE49-F238E27FC236}">
                    <a16:creationId xmlns:a16="http://schemas.microsoft.com/office/drawing/2014/main" id="{90DC3BC9-722A-4904-BEE6-6EB685F64A9F}"/>
                  </a:ext>
                </a:extLst>
              </p:cNvPr>
              <p:cNvSpPr>
                <a:spLocks noRot="1" noChangeAspect="1" noMove="1" noResize="1" noEditPoints="1" noAdjustHandles="1" noChangeArrowheads="1" noChangeShapeType="1" noTextEdit="1"/>
              </p:cNvSpPr>
              <p:nvPr/>
            </p:nvSpPr>
            <p:spPr>
              <a:xfrm>
                <a:off x="7422405" y="2044417"/>
                <a:ext cx="3884624" cy="1538714"/>
              </a:xfrm>
              <a:prstGeom prst="cloudCallout">
                <a:avLst>
                  <a:gd name="adj1" fmla="val -40736"/>
                  <a:gd name="adj2" fmla="val 61863"/>
                </a:avLst>
              </a:prstGeom>
              <a:blipFill>
                <a:blip r:embed="rId5"/>
                <a:stretch>
                  <a:fillRect/>
                </a:stretch>
              </a:blipFill>
            </p:spPr>
            <p:txBody>
              <a:bodyPr/>
              <a:lstStyle/>
              <a:p>
                <a:r>
                  <a:rPr lang="zh-CN" altLang="en-US">
                    <a:noFill/>
                  </a:rPr>
                  <a:t> </a:t>
                </a:r>
              </a:p>
            </p:txBody>
          </p:sp>
        </mc:Fallback>
      </mc:AlternateContent>
      <p:sp>
        <p:nvSpPr>
          <p:cNvPr id="14" name="圆柱体 13">
            <a:extLst>
              <a:ext uri="{FF2B5EF4-FFF2-40B4-BE49-F238E27FC236}">
                <a16:creationId xmlns:a16="http://schemas.microsoft.com/office/drawing/2014/main" id="{53319609-BD30-4C61-AB97-63685B084007}"/>
              </a:ext>
            </a:extLst>
          </p:cNvPr>
          <p:cNvSpPr/>
          <p:nvPr/>
        </p:nvSpPr>
        <p:spPr>
          <a:xfrm>
            <a:off x="1716758" y="3309600"/>
            <a:ext cx="1721594" cy="547063"/>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Arial" panose="020B0604020202020204" pitchFamily="34" charset="0"/>
                <a:cs typeface="Arial" panose="020B0604020202020204" pitchFamily="34" charset="0"/>
              </a:rPr>
              <a:t>Part 2</a:t>
            </a:r>
            <a:endParaRPr lang="zh-CN" altLang="en-US" sz="2000" b="1" dirty="0">
              <a:solidFill>
                <a:schemeClr val="tx1"/>
              </a:solidFill>
              <a:latin typeface="Arial" panose="020B0604020202020204" pitchFamily="34" charset="0"/>
              <a:cs typeface="Arial" panose="020B0604020202020204" pitchFamily="34" charset="0"/>
            </a:endParaRPr>
          </a:p>
        </p:txBody>
      </p:sp>
      <p:sp>
        <p:nvSpPr>
          <p:cNvPr id="2" name="圆柱体 1">
            <a:extLst>
              <a:ext uri="{FF2B5EF4-FFF2-40B4-BE49-F238E27FC236}">
                <a16:creationId xmlns:a16="http://schemas.microsoft.com/office/drawing/2014/main" id="{E2CD593D-F440-4E33-98DC-68387BB1E3A8}"/>
              </a:ext>
            </a:extLst>
          </p:cNvPr>
          <p:cNvSpPr/>
          <p:nvPr/>
        </p:nvSpPr>
        <p:spPr>
          <a:xfrm>
            <a:off x="1716758" y="2844097"/>
            <a:ext cx="1721594" cy="547063"/>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Arial" panose="020B0604020202020204" pitchFamily="34" charset="0"/>
                <a:cs typeface="Arial" panose="020B0604020202020204" pitchFamily="34" charset="0"/>
              </a:rPr>
              <a:t>Part 1</a:t>
            </a:r>
            <a:endParaRPr lang="zh-CN" altLang="en-US" sz="2000" b="1" dirty="0">
              <a:solidFill>
                <a:schemeClr val="tx1"/>
              </a:solidFill>
              <a:latin typeface="Arial" panose="020B0604020202020204" pitchFamily="34" charset="0"/>
              <a:cs typeface="Arial" panose="020B0604020202020204" pitchFamily="34" charset="0"/>
            </a:endParaRPr>
          </a:p>
        </p:txBody>
      </p:sp>
      <p:sp>
        <p:nvSpPr>
          <p:cNvPr id="17" name="文本框 16">
            <a:extLst>
              <a:ext uri="{FF2B5EF4-FFF2-40B4-BE49-F238E27FC236}">
                <a16:creationId xmlns:a16="http://schemas.microsoft.com/office/drawing/2014/main" id="{D7A21516-2536-4302-8109-72EF575B7D2C}"/>
              </a:ext>
            </a:extLst>
          </p:cNvPr>
          <p:cNvSpPr txBox="1"/>
          <p:nvPr/>
        </p:nvSpPr>
        <p:spPr>
          <a:xfrm>
            <a:off x="1864953" y="4781735"/>
            <a:ext cx="1425203" cy="461665"/>
          </a:xfrm>
          <a:prstGeom prst="rect">
            <a:avLst/>
          </a:prstGeom>
          <a:noFill/>
        </p:spPr>
        <p:txBody>
          <a:bodyPr wrap="square">
            <a:spAutoFit/>
          </a:bodyPr>
          <a:lstStyle/>
          <a:p>
            <a:pPr algn="ctr"/>
            <a:r>
              <a:rPr lang="en-US" altLang="zh-CN" sz="2400" b="1" dirty="0">
                <a:solidFill>
                  <a:schemeClr val="tx1"/>
                </a:solidFill>
                <a:latin typeface="Arial" panose="020B0604020202020204" pitchFamily="34" charset="0"/>
                <a:cs typeface="Arial" panose="020B0604020202020204" pitchFamily="34" charset="0"/>
              </a:rPr>
              <a:t>Dataset</a:t>
            </a:r>
            <a:endParaRPr lang="zh-CN" altLang="en-US" sz="2400" b="1" dirty="0">
              <a:solidFill>
                <a:schemeClr val="tx1"/>
              </a:solidFill>
              <a:latin typeface="Arial" panose="020B0604020202020204" pitchFamily="34" charset="0"/>
              <a:cs typeface="Arial" panose="020B0604020202020204" pitchFamily="34" charset="0"/>
            </a:endParaRPr>
          </a:p>
        </p:txBody>
      </p:sp>
      <p:cxnSp>
        <p:nvCxnSpPr>
          <p:cNvPr id="19" name="直接箭头连接符 18">
            <a:extLst>
              <a:ext uri="{FF2B5EF4-FFF2-40B4-BE49-F238E27FC236}">
                <a16:creationId xmlns:a16="http://schemas.microsoft.com/office/drawing/2014/main" id="{64024744-7294-45A7-B2FF-346FFC28A06E}"/>
              </a:ext>
            </a:extLst>
          </p:cNvPr>
          <p:cNvCxnSpPr>
            <a:cxnSpLocks/>
            <a:stCxn id="14" idx="4"/>
          </p:cNvCxnSpPr>
          <p:nvPr/>
        </p:nvCxnSpPr>
        <p:spPr>
          <a:xfrm>
            <a:off x="3438352" y="3583132"/>
            <a:ext cx="236335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9293FB01-758D-4A59-819B-04E3F24F7CDF}"/>
              </a:ext>
            </a:extLst>
          </p:cNvPr>
          <p:cNvCxnSpPr>
            <a:cxnSpLocks/>
            <a:stCxn id="15" idx="4"/>
          </p:cNvCxnSpPr>
          <p:nvPr/>
        </p:nvCxnSpPr>
        <p:spPr>
          <a:xfrm>
            <a:off x="3438352" y="4048635"/>
            <a:ext cx="2363358" cy="2167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E4B0E5B6-14EE-43C4-B767-99780F306A2E}"/>
                  </a:ext>
                </a:extLst>
              </p:cNvPr>
              <p:cNvSpPr txBox="1"/>
              <p:nvPr/>
            </p:nvSpPr>
            <p:spPr>
              <a:xfrm>
                <a:off x="3917623" y="3690142"/>
                <a:ext cx="12549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3</m:t>
                          </m:r>
                        </m:sub>
                      </m:sSub>
                    </m:oMath>
                  </m:oMathPara>
                </a14:m>
                <a:endParaRPr lang="zh-CN" altLang="en-US" dirty="0"/>
              </a:p>
            </p:txBody>
          </p:sp>
        </mc:Choice>
        <mc:Fallback xmlns="">
          <p:sp>
            <p:nvSpPr>
              <p:cNvPr id="25" name="文本框 24">
                <a:extLst>
                  <a:ext uri="{FF2B5EF4-FFF2-40B4-BE49-F238E27FC236}">
                    <a16:creationId xmlns:a16="http://schemas.microsoft.com/office/drawing/2014/main" id="{E4B0E5B6-14EE-43C4-B767-99780F306A2E}"/>
                  </a:ext>
                </a:extLst>
              </p:cNvPr>
              <p:cNvSpPr txBox="1">
                <a:spLocks noRot="1" noChangeAspect="1" noMove="1" noResize="1" noEditPoints="1" noAdjustHandles="1" noChangeArrowheads="1" noChangeShapeType="1" noTextEdit="1"/>
              </p:cNvSpPr>
              <p:nvPr/>
            </p:nvSpPr>
            <p:spPr>
              <a:xfrm>
                <a:off x="3917623" y="3690142"/>
                <a:ext cx="1254935"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9C0F3844-E537-4F62-AF34-855AC5C4A213}"/>
                  </a:ext>
                </a:extLst>
              </p:cNvPr>
              <p:cNvSpPr txBox="1"/>
              <p:nvPr/>
            </p:nvSpPr>
            <p:spPr>
              <a:xfrm>
                <a:off x="3917623" y="4166483"/>
                <a:ext cx="12549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4</m:t>
                          </m:r>
                        </m:sub>
                      </m:sSub>
                    </m:oMath>
                  </m:oMathPara>
                </a14:m>
                <a:endParaRPr lang="zh-CN" altLang="en-US" dirty="0"/>
              </a:p>
            </p:txBody>
          </p:sp>
        </mc:Choice>
        <mc:Fallback xmlns="">
          <p:sp>
            <p:nvSpPr>
              <p:cNvPr id="28" name="文本框 27">
                <a:extLst>
                  <a:ext uri="{FF2B5EF4-FFF2-40B4-BE49-F238E27FC236}">
                    <a16:creationId xmlns:a16="http://schemas.microsoft.com/office/drawing/2014/main" id="{9C0F3844-E537-4F62-AF34-855AC5C4A213}"/>
                  </a:ext>
                </a:extLst>
              </p:cNvPr>
              <p:cNvSpPr txBox="1">
                <a:spLocks noRot="1" noChangeAspect="1" noMove="1" noResize="1" noEditPoints="1" noAdjustHandles="1" noChangeArrowheads="1" noChangeShapeType="1" noTextEdit="1"/>
              </p:cNvSpPr>
              <p:nvPr/>
            </p:nvSpPr>
            <p:spPr>
              <a:xfrm>
                <a:off x="3917623" y="4166483"/>
                <a:ext cx="1254935" cy="369332"/>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557072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5308633"/>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Question: What if multiple mechanisms access disjoint parts of dataset?</a:t>
                </a:r>
              </a:p>
              <a:p>
                <a:r>
                  <a:rPr lang="en-US" altLang="zh-CN" b="1" dirty="0">
                    <a:latin typeface="Arial" panose="020B0604020202020204" pitchFamily="34" charset="0"/>
                    <a:cs typeface="Arial" panose="020B0604020202020204" pitchFamily="34" charset="0"/>
                  </a:rPr>
                  <a:t>Answer: parallel composition offers privacy guarantee</a:t>
                </a:r>
              </a:p>
              <a:p>
                <a:endParaRPr lang="en-US" altLang="zh-CN" b="1"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Let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be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-DP,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-DP, …,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-DP. Given a partition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publishing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𝑘</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limLow>
                          <m:limLowPr>
                            <m:ctrlPr>
                              <a:rPr lang="en-US" altLang="zh-CN" b="0" i="1" smtClean="0">
                                <a:latin typeface="Cambria Math" panose="02040503050406030204" pitchFamily="18" charset="0"/>
                                <a:cs typeface="Arial" panose="020B0604020202020204" pitchFamily="34" charset="0"/>
                              </a:rPr>
                            </m:ctrlPr>
                          </m:limLowPr>
                          <m:e>
                            <m:r>
                              <m:rPr>
                                <m:sty m:val="p"/>
                              </m:rPr>
                              <a:rPr lang="en-US" altLang="zh-CN" b="0" i="0" smtClean="0">
                                <a:latin typeface="Cambria Math" panose="02040503050406030204" pitchFamily="18" charset="0"/>
                                <a:cs typeface="Arial" panose="020B0604020202020204" pitchFamily="34" charset="0"/>
                              </a:rPr>
                              <m:t>max</m:t>
                            </m:r>
                          </m:e>
                          <m:lim>
                            <m: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∈[1,…,</m:t>
                            </m:r>
                            <m:r>
                              <a:rPr lang="en-US" altLang="zh-CN" b="0" i="1" smtClean="0">
                                <a:latin typeface="Cambria Math" panose="02040503050406030204" pitchFamily="18" charset="0"/>
                                <a:cs typeface="Arial" panose="020B0604020202020204" pitchFamily="34" charset="0"/>
                              </a:rPr>
                              <m:t>𝑘</m:t>
                            </m:r>
                            <m:r>
                              <a:rPr lang="en-US" altLang="zh-CN" b="0" i="1" smtClean="0">
                                <a:latin typeface="Cambria Math" panose="02040503050406030204" pitchFamily="18" charset="0"/>
                                <a:cs typeface="Arial" panose="020B0604020202020204" pitchFamily="34" charset="0"/>
                              </a:rPr>
                              <m:t>]</m:t>
                            </m:r>
                          </m:lim>
                        </m:limLow>
                      </m:fName>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𝑖</m:t>
                            </m:r>
                          </m:sub>
                        </m:sSub>
                      </m:e>
                    </m:func>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-DP.</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Proof. </a:t>
                </a:r>
                <a:r>
                  <a:rPr lang="en-US" altLang="zh-CN" dirty="0">
                    <a:latin typeface="Arial" panose="020B0604020202020204" pitchFamily="34" charset="0"/>
                    <a:cs typeface="Arial" panose="020B0604020202020204" pitchFamily="34" charset="0"/>
                  </a:rPr>
                  <a:t>Suppose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𝑟</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let the partition of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be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up>
                        <m:r>
                          <a:rPr lang="en-US" altLang="zh-CN" b="0" i="1" smtClean="0">
                            <a:latin typeface="Cambria Math" panose="02040503050406030204" pitchFamily="18" charset="0"/>
                            <a:cs typeface="Arial" panose="020B0604020202020204" pitchFamily="34" charset="0"/>
                          </a:rPr>
                          <m:t>′</m:t>
                        </m:r>
                      </m:sup>
                    </m:sSubSup>
                    <m:r>
                      <a:rPr lang="en-US" altLang="zh-CN" i="1">
                        <a:latin typeface="Cambria Math" panose="02040503050406030204" pitchFamily="18" charset="0"/>
                        <a:cs typeface="Arial" panose="020B0604020202020204" pitchFamily="34" charset="0"/>
                      </a:rPr>
                      <m:t>,…,</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up>
                        <m:r>
                          <a:rPr lang="en-US" altLang="zh-CN" i="1">
                            <a:latin typeface="Cambria Math" panose="02040503050406030204" pitchFamily="18" charset="0"/>
                            <a:cs typeface="Arial" panose="020B0604020202020204" pitchFamily="34" charset="0"/>
                          </a:rPr>
                          <m:t>′</m:t>
                        </m:r>
                      </m:sup>
                    </m:sSubSup>
                  </m:oMath>
                </a14:m>
                <a:r>
                  <a:rPr lang="en-US" altLang="zh-CN" dirty="0">
                    <a:latin typeface="Arial" panose="020B0604020202020204" pitchFamily="34" charset="0"/>
                    <a:cs typeface="Arial" panose="020B0604020202020204" pitchFamily="34" charset="0"/>
                  </a:rPr>
                  <a:t>. There exists </a:t>
                </a:r>
                <a14:m>
                  <m:oMath xmlns:m="http://schemas.openxmlformats.org/officeDocument/2006/math">
                    <m:r>
                      <a:rPr lang="en-US" altLang="zh-CN" b="0" i="1" smtClean="0">
                        <a:latin typeface="Cambria Math" panose="02040503050406030204" pitchFamily="18" charset="0"/>
                        <a:cs typeface="Arial" panose="020B0604020202020204" pitchFamily="34" charset="0"/>
                      </a:rPr>
                      <m:t>𝑗</m:t>
                    </m:r>
                  </m:oMath>
                </a14:m>
                <a:r>
                  <a:rPr lang="en-US" altLang="zh-CN" dirty="0">
                    <a:latin typeface="Arial" panose="020B0604020202020204" pitchFamily="34" charset="0"/>
                    <a:cs typeface="Arial" panose="020B0604020202020204" pitchFamily="34" charset="0"/>
                  </a:rPr>
                  <a:t> such that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Sub>
                    <m:r>
                      <a:rPr lang="en-US" altLang="zh-CN" b="0" i="1" smtClean="0">
                        <a:latin typeface="Cambria Math" panose="02040503050406030204" pitchFamily="18" charset="0"/>
                        <a:cs typeface="Arial" panose="020B0604020202020204" pitchFamily="34" charset="0"/>
                      </a:rPr>
                      <m:t>=</m:t>
                    </m:r>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up>
                        <m:r>
                          <a:rPr lang="en-US" altLang="zh-CN" b="0" i="1" smtClean="0">
                            <a:latin typeface="Cambria Math" panose="02040503050406030204" pitchFamily="18" charset="0"/>
                            <a:cs typeface="Arial" panose="020B0604020202020204" pitchFamily="34" charset="0"/>
                          </a:rPr>
                          <m:t>′</m:t>
                        </m:r>
                      </m:sup>
                    </m:sSubSup>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𝑟</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and for other </a:t>
                </a:r>
                <a14:m>
                  <m:oMath xmlns:m="http://schemas.openxmlformats.org/officeDocument/2006/math">
                    <m: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𝑗</m:t>
                    </m:r>
                  </m:oMath>
                </a14:m>
                <a:r>
                  <a:rPr lang="en-US" altLang="zh-CN" dirty="0">
                    <a:latin typeface="Arial" panose="020B0604020202020204" pitchFamily="34" charset="0"/>
                    <a:cs typeface="Arial" panose="020B0604020202020204" pitchFamily="34" charset="0"/>
                  </a:rPr>
                  <a:t>,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Sub>
                    <m:r>
                      <a:rPr lang="en-US" altLang="zh-CN" i="1">
                        <a:latin typeface="Cambria Math" panose="02040503050406030204" pitchFamily="18" charset="0"/>
                        <a:cs typeface="Arial" panose="020B0604020202020204" pitchFamily="34" charset="0"/>
                      </a:rPr>
                      <m:t>=</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up>
                        <m:r>
                          <a:rPr lang="en-US" altLang="zh-CN" i="1">
                            <a:latin typeface="Cambria Math" panose="02040503050406030204" pitchFamily="18" charset="0"/>
                            <a:cs typeface="Arial" panose="020B0604020202020204" pitchFamily="34" charset="0"/>
                          </a:rPr>
                          <m:t>′</m:t>
                        </m:r>
                      </m:sup>
                    </m:sSubSup>
                  </m:oMath>
                </a14:m>
                <a:r>
                  <a:rPr lang="en-US" altLang="zh-CN" dirty="0">
                    <a:latin typeface="Arial" panose="020B0604020202020204" pitchFamily="34" charset="0"/>
                    <a:cs typeface="Arial" panose="020B0604020202020204" pitchFamily="34" charset="0"/>
                  </a:rPr>
                  <a:t>.</a:t>
                </a:r>
              </a:p>
              <a:p>
                <a:endParaRPr lang="en-US" altLang="zh-CN" dirty="0">
                  <a:latin typeface="Arial" panose="020B0604020202020204" pitchFamily="34" charset="0"/>
                  <a:cs typeface="Arial" panose="020B0604020202020204" pitchFamily="34" charset="0"/>
                </a:endParaRPr>
              </a:p>
              <a:p>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=&lt;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𝑘</m:t>
                        </m:r>
                      </m:sub>
                    </m:sSub>
                    <m:r>
                      <a:rPr lang="en-US" altLang="zh-CN" b="0" i="1" smtClean="0">
                        <a:latin typeface="Cambria Math" panose="02040503050406030204" pitchFamily="18" charset="0"/>
                        <a:cs typeface="Arial" panose="020B0604020202020204" pitchFamily="34" charset="0"/>
                      </a:rPr>
                      <m:t>&gt;</m:t>
                    </m:r>
                  </m:oMath>
                </a14:m>
                <a:r>
                  <a:rPr lang="en-US" altLang="zh-CN" dirty="0">
                    <a:latin typeface="Arial" panose="020B0604020202020204" pitchFamily="34" charset="0"/>
                    <a:cs typeface="Arial" panose="020B0604020202020204" pitchFamily="34" charset="0"/>
                  </a:rPr>
                  <a:t>, where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 </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𝑘</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𝑘</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Sub>
                    <m:r>
                      <a:rPr lang="en-US" altLang="zh-CN" i="1">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𝑗</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Sub>
                        </m:e>
                      </m:d>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𝑗</m:t>
                          </m:r>
                        </m:sub>
                      </m:sSub>
                      <m:r>
                        <a:rPr lang="en-US" altLang="zh-CN" b="0" i="1" smtClean="0">
                          <a:latin typeface="Cambria Math" panose="02040503050406030204" pitchFamily="18" charset="0"/>
                          <a:cs typeface="Arial" panose="020B0604020202020204" pitchFamily="34" charset="0"/>
                        </a:rPr>
                        <m:t>]</m:t>
                      </m:r>
                      <m:nary>
                        <m:naryPr>
                          <m:chr m:val="∏"/>
                          <m:supHide m:val="on"/>
                          <m:ctrlPr>
                            <a:rPr lang="en-US" altLang="zh-CN" b="0" i="1" smtClean="0">
                              <a:latin typeface="Cambria Math" panose="02040503050406030204" pitchFamily="18" charset="0"/>
                              <a:cs typeface="Arial" panose="020B0604020202020204" pitchFamily="34" charset="0"/>
                            </a:rPr>
                          </m:ctrlPr>
                        </m:naryPr>
                        <m:sub>
                          <m:r>
                            <m:rPr>
                              <m:brk m:alnAt="7"/>
                            </m:rP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𝑗</m:t>
                          </m:r>
                        </m:sub>
                        <m:sup/>
                        <m:e>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𝑖</m:t>
                              </m:r>
                            </m:sub>
                          </m:sSub>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Sub>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𝑖</m:t>
                              </m:r>
                            </m:sub>
                          </m:sSub>
                          <m:r>
                            <a:rPr lang="en-US" altLang="zh-CN" i="1">
                              <a:latin typeface="Cambria Math" panose="02040503050406030204" pitchFamily="18" charset="0"/>
                              <a:cs typeface="Arial" panose="020B0604020202020204" pitchFamily="34" charset="0"/>
                            </a:rPr>
                            <m:t>]</m:t>
                          </m:r>
                        </m:e>
                      </m:nary>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𝑗</m:t>
                              </m:r>
                            </m:sub>
                          </m:sSub>
                        </m:sup>
                      </m:sSup>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𝑗</m:t>
                          </m:r>
                        </m:sub>
                      </m:sSub>
                      <m:d>
                        <m:dPr>
                          <m:ctrlPr>
                            <a:rPr lang="en-US" altLang="zh-CN" i="1">
                              <a:latin typeface="Cambria Math" panose="02040503050406030204" pitchFamily="18" charset="0"/>
                              <a:cs typeface="Arial" panose="020B0604020202020204" pitchFamily="34" charset="0"/>
                            </a:rPr>
                          </m:ctrlPr>
                        </m:dPr>
                        <m:e>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up>
                              <m:r>
                                <a:rPr lang="en-US" altLang="zh-CN" b="0" i="1" smtClean="0">
                                  <a:latin typeface="Cambria Math" panose="02040503050406030204" pitchFamily="18" charset="0"/>
                                  <a:cs typeface="Arial" panose="020B0604020202020204" pitchFamily="34" charset="0"/>
                                </a:rPr>
                                <m:t>′</m:t>
                              </m:r>
                            </m:sup>
                          </m:sSubSup>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𝑗</m:t>
                          </m:r>
                        </m:sub>
                      </m:sSub>
                      <m:r>
                        <a:rPr lang="en-US" altLang="zh-CN" b="0" i="1" smtClean="0">
                          <a:latin typeface="Cambria Math" panose="02040503050406030204" pitchFamily="18" charset="0"/>
                          <a:cs typeface="Arial" panose="020B0604020202020204" pitchFamily="34" charset="0"/>
                        </a:rPr>
                        <m:t>]</m:t>
                      </m:r>
                      <m:nary>
                        <m:naryPr>
                          <m:chr m:val="∏"/>
                          <m:supHide m:val="on"/>
                          <m:ctrlPr>
                            <a:rPr lang="en-US" altLang="zh-CN" i="1">
                              <a:latin typeface="Cambria Math" panose="02040503050406030204" pitchFamily="18" charset="0"/>
                              <a:cs typeface="Arial" panose="020B0604020202020204" pitchFamily="34" charset="0"/>
                            </a:rPr>
                          </m:ctrlPr>
                        </m:naryPr>
                        <m:sub>
                          <m:r>
                            <m:rPr>
                              <m:brk m:alnAt="7"/>
                            </m:rPr>
                            <a:rPr lang="en-US" altLang="zh-CN" i="1">
                              <a:latin typeface="Cambria Math" panose="02040503050406030204" pitchFamily="18" charset="0"/>
                              <a:cs typeface="Arial" panose="020B0604020202020204" pitchFamily="34" charset="0"/>
                            </a:rPr>
                            <m:t>𝑖</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𝑗</m:t>
                          </m:r>
                        </m:sub>
                        <m:sup/>
                        <m:e>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𝑖</m:t>
                              </m:r>
                            </m:sub>
                          </m:sSub>
                          <m:d>
                            <m:dPr>
                              <m:ctrlPr>
                                <a:rPr lang="en-US" altLang="zh-CN" i="1">
                                  <a:latin typeface="Cambria Math" panose="02040503050406030204" pitchFamily="18" charset="0"/>
                                  <a:cs typeface="Arial" panose="020B0604020202020204" pitchFamily="34" charset="0"/>
                                </a:rPr>
                              </m:ctrlPr>
                            </m:dPr>
                            <m:e>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up>
                                  <m:r>
                                    <a:rPr lang="en-US" altLang="zh-CN" i="1">
                                      <a:latin typeface="Cambria Math" panose="02040503050406030204" pitchFamily="18" charset="0"/>
                                      <a:cs typeface="Arial" panose="020B0604020202020204" pitchFamily="34" charset="0"/>
                                    </a:rPr>
                                    <m:t>′</m:t>
                                  </m:r>
                                </m:sup>
                              </m:sSubSup>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𝑖</m:t>
                              </m:r>
                            </m:sub>
                          </m:sSub>
                          <m:r>
                            <a:rPr lang="en-US" altLang="zh-CN" i="1">
                              <a:latin typeface="Cambria Math" panose="02040503050406030204" pitchFamily="18" charset="0"/>
                              <a:cs typeface="Arial" panose="020B0604020202020204" pitchFamily="34" charset="0"/>
                            </a:rPr>
                            <m:t>]</m:t>
                          </m:r>
                        </m:e>
                      </m:nary>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max</m:t>
                              </m:r>
                            </m:fName>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𝑖</m:t>
                                  </m:r>
                                </m:sub>
                              </m:sSub>
                            </m:e>
                          </m:func>
                        </m:sup>
                      </m:sSup>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𝑗</m:t>
                          </m:r>
                        </m:sub>
                      </m:sSub>
                      <m:d>
                        <m:dPr>
                          <m:ctrlPr>
                            <a:rPr lang="en-US" altLang="zh-CN" i="1">
                              <a:latin typeface="Cambria Math" panose="02040503050406030204" pitchFamily="18" charset="0"/>
                              <a:cs typeface="Arial" panose="020B0604020202020204" pitchFamily="34" charset="0"/>
                            </a:rPr>
                          </m:ctrlPr>
                        </m:dPr>
                        <m:e>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𝑗</m:t>
                              </m:r>
                            </m:sub>
                            <m:sup>
                              <m:r>
                                <a:rPr lang="en-US" altLang="zh-CN" i="1">
                                  <a:latin typeface="Cambria Math" panose="02040503050406030204" pitchFamily="18" charset="0"/>
                                  <a:cs typeface="Arial" panose="020B0604020202020204" pitchFamily="34" charset="0"/>
                                </a:rPr>
                                <m:t>′</m:t>
                              </m:r>
                            </m:sup>
                          </m:sSubSup>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𝑗</m:t>
                          </m:r>
                        </m:sub>
                      </m:sSub>
                      <m:r>
                        <a:rPr lang="en-US" altLang="zh-CN" i="1">
                          <a:latin typeface="Cambria Math" panose="02040503050406030204" pitchFamily="18" charset="0"/>
                          <a:cs typeface="Arial" panose="020B0604020202020204" pitchFamily="34" charset="0"/>
                        </a:rPr>
                        <m:t>]</m:t>
                      </m:r>
                      <m:nary>
                        <m:naryPr>
                          <m:chr m:val="∏"/>
                          <m:supHide m:val="on"/>
                          <m:ctrlPr>
                            <a:rPr lang="en-US" altLang="zh-CN" i="1">
                              <a:latin typeface="Cambria Math" panose="02040503050406030204" pitchFamily="18" charset="0"/>
                              <a:cs typeface="Arial" panose="020B0604020202020204" pitchFamily="34" charset="0"/>
                            </a:rPr>
                          </m:ctrlPr>
                        </m:naryPr>
                        <m:sub>
                          <m:r>
                            <m:rPr>
                              <m:brk m:alnAt="7"/>
                            </m:rPr>
                            <a:rPr lang="en-US" altLang="zh-CN" i="1">
                              <a:latin typeface="Cambria Math" panose="02040503050406030204" pitchFamily="18" charset="0"/>
                              <a:cs typeface="Arial" panose="020B0604020202020204" pitchFamily="34" charset="0"/>
                            </a:rPr>
                            <m:t>𝑖</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𝑗</m:t>
                          </m:r>
                        </m:sub>
                        <m:sup/>
                        <m:e>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𝑖</m:t>
                              </m:r>
                            </m:sub>
                          </m:sSub>
                          <m:d>
                            <m:dPr>
                              <m:ctrlPr>
                                <a:rPr lang="en-US" altLang="zh-CN" i="1">
                                  <a:latin typeface="Cambria Math" panose="02040503050406030204" pitchFamily="18" charset="0"/>
                                  <a:cs typeface="Arial" panose="020B0604020202020204" pitchFamily="34" charset="0"/>
                                </a:rPr>
                              </m:ctrlPr>
                            </m:dPr>
                            <m:e>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𝑖</m:t>
                                  </m:r>
                                </m:sub>
                                <m:sup>
                                  <m:r>
                                    <a:rPr lang="en-US" altLang="zh-CN" i="1">
                                      <a:latin typeface="Cambria Math" panose="02040503050406030204" pitchFamily="18" charset="0"/>
                                      <a:cs typeface="Arial" panose="020B0604020202020204" pitchFamily="34" charset="0"/>
                                    </a:rPr>
                                    <m:t>′</m:t>
                                  </m:r>
                                </m:sup>
                              </m:sSubSup>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𝑖</m:t>
                              </m:r>
                            </m:sub>
                          </m:sSub>
                          <m:r>
                            <a:rPr lang="en-US" altLang="zh-CN" i="1">
                              <a:latin typeface="Cambria Math" panose="02040503050406030204" pitchFamily="18" charset="0"/>
                              <a:cs typeface="Arial" panose="020B0604020202020204" pitchFamily="34" charset="0"/>
                            </a:rPr>
                            <m:t>]</m:t>
                          </m:r>
                        </m:e>
                      </m:nary>
                    </m:oMath>
                  </m:oMathPara>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5308633"/>
              </a:xfrm>
              <a:prstGeom prst="rect">
                <a:avLst/>
              </a:prstGeom>
              <a:blipFill>
                <a:blip r:embed="rId2"/>
                <a:stretch>
                  <a:fillRect l="-498" t="-5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417022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5308633"/>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Question: What if multiple mechanisms access disjoint parts of dataset?</a:t>
                </a:r>
              </a:p>
              <a:p>
                <a:r>
                  <a:rPr lang="en-US" altLang="zh-CN" b="1" dirty="0">
                    <a:latin typeface="Arial" panose="020B0604020202020204" pitchFamily="34" charset="0"/>
                    <a:cs typeface="Arial" panose="020B0604020202020204" pitchFamily="34" charset="0"/>
                  </a:rPr>
                  <a:t>Answer: parallel composition offers privacy guarantee</a:t>
                </a:r>
              </a:p>
              <a:p>
                <a:endParaRPr lang="en-US" altLang="zh-CN" b="1"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Let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be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-DP,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-DP, …,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-DP. Given a partition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publishing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𝑘</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limLow>
                          <m:limLowPr>
                            <m:ctrlPr>
                              <a:rPr lang="en-US" altLang="zh-CN" b="0" i="1" smtClean="0">
                                <a:latin typeface="Cambria Math" panose="02040503050406030204" pitchFamily="18" charset="0"/>
                                <a:cs typeface="Arial" panose="020B0604020202020204" pitchFamily="34" charset="0"/>
                              </a:rPr>
                            </m:ctrlPr>
                          </m:limLowPr>
                          <m:e>
                            <m:r>
                              <m:rPr>
                                <m:sty m:val="p"/>
                              </m:rPr>
                              <a:rPr lang="en-US" altLang="zh-CN" b="0" i="0" smtClean="0">
                                <a:latin typeface="Cambria Math" panose="02040503050406030204" pitchFamily="18" charset="0"/>
                                <a:cs typeface="Arial" panose="020B0604020202020204" pitchFamily="34" charset="0"/>
                              </a:rPr>
                              <m:t>max</m:t>
                            </m:r>
                          </m:e>
                          <m:lim>
                            <m: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∈[1,…,</m:t>
                            </m:r>
                            <m:r>
                              <a:rPr lang="en-US" altLang="zh-CN" b="0" i="1" smtClean="0">
                                <a:latin typeface="Cambria Math" panose="02040503050406030204" pitchFamily="18" charset="0"/>
                                <a:cs typeface="Arial" panose="020B0604020202020204" pitchFamily="34" charset="0"/>
                              </a:rPr>
                              <m:t>𝑘</m:t>
                            </m:r>
                            <m:r>
                              <a:rPr lang="en-US" altLang="zh-CN" b="0" i="1" smtClean="0">
                                <a:latin typeface="Cambria Math" panose="02040503050406030204" pitchFamily="18" charset="0"/>
                                <a:cs typeface="Arial" panose="020B0604020202020204" pitchFamily="34" charset="0"/>
                              </a:rPr>
                              <m:t>]</m:t>
                            </m:r>
                          </m:lim>
                        </m:limLow>
                      </m:fName>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𝑖</m:t>
                            </m:r>
                          </m:sub>
                        </m:sSub>
                      </m:e>
                    </m:func>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-DP.</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Proof. </a:t>
                </a:r>
                <a:r>
                  <a:rPr lang="en-US" altLang="zh-CN" dirty="0">
                    <a:latin typeface="Arial" panose="020B0604020202020204" pitchFamily="34" charset="0"/>
                    <a:cs typeface="Arial" panose="020B0604020202020204" pitchFamily="34" charset="0"/>
                  </a:rPr>
                  <a:t>Suppose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𝑟</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let the partition of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be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up>
                        <m:r>
                          <a:rPr lang="en-US" altLang="zh-CN" b="0" i="1" smtClean="0">
                            <a:latin typeface="Cambria Math" panose="02040503050406030204" pitchFamily="18" charset="0"/>
                            <a:cs typeface="Arial" panose="020B0604020202020204" pitchFamily="34" charset="0"/>
                          </a:rPr>
                          <m:t>′</m:t>
                        </m:r>
                      </m:sup>
                    </m:sSubSup>
                    <m:r>
                      <a:rPr lang="en-US" altLang="zh-CN" i="1">
                        <a:latin typeface="Cambria Math" panose="02040503050406030204" pitchFamily="18" charset="0"/>
                        <a:cs typeface="Arial" panose="020B0604020202020204" pitchFamily="34" charset="0"/>
                      </a:rPr>
                      <m:t>,…,</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up>
                        <m:r>
                          <a:rPr lang="en-US" altLang="zh-CN" i="1">
                            <a:latin typeface="Cambria Math" panose="02040503050406030204" pitchFamily="18" charset="0"/>
                            <a:cs typeface="Arial" panose="020B0604020202020204" pitchFamily="34" charset="0"/>
                          </a:rPr>
                          <m:t>′</m:t>
                        </m:r>
                      </m:sup>
                    </m:sSubSup>
                  </m:oMath>
                </a14:m>
                <a:r>
                  <a:rPr lang="en-US" altLang="zh-CN" dirty="0">
                    <a:latin typeface="Arial" panose="020B0604020202020204" pitchFamily="34" charset="0"/>
                    <a:cs typeface="Arial" panose="020B0604020202020204" pitchFamily="34" charset="0"/>
                  </a:rPr>
                  <a:t>. There exists </a:t>
                </a:r>
                <a14:m>
                  <m:oMath xmlns:m="http://schemas.openxmlformats.org/officeDocument/2006/math">
                    <m:r>
                      <a:rPr lang="en-US" altLang="zh-CN" b="0" i="1" smtClean="0">
                        <a:latin typeface="Cambria Math" panose="02040503050406030204" pitchFamily="18" charset="0"/>
                        <a:cs typeface="Arial" panose="020B0604020202020204" pitchFamily="34" charset="0"/>
                      </a:rPr>
                      <m:t>𝑗</m:t>
                    </m:r>
                  </m:oMath>
                </a14:m>
                <a:r>
                  <a:rPr lang="en-US" altLang="zh-CN" dirty="0">
                    <a:latin typeface="Arial" panose="020B0604020202020204" pitchFamily="34" charset="0"/>
                    <a:cs typeface="Arial" panose="020B0604020202020204" pitchFamily="34" charset="0"/>
                  </a:rPr>
                  <a:t> such that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Sub>
                    <m:r>
                      <a:rPr lang="en-US" altLang="zh-CN" b="0" i="1" smtClean="0">
                        <a:latin typeface="Cambria Math" panose="02040503050406030204" pitchFamily="18" charset="0"/>
                        <a:cs typeface="Arial" panose="020B0604020202020204" pitchFamily="34" charset="0"/>
                      </a:rPr>
                      <m:t>=</m:t>
                    </m:r>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up>
                        <m:r>
                          <a:rPr lang="en-US" altLang="zh-CN" b="0" i="1" smtClean="0">
                            <a:latin typeface="Cambria Math" panose="02040503050406030204" pitchFamily="18" charset="0"/>
                            <a:cs typeface="Arial" panose="020B0604020202020204" pitchFamily="34" charset="0"/>
                          </a:rPr>
                          <m:t>′</m:t>
                        </m:r>
                      </m:sup>
                    </m:sSubSup>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𝑟</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and for other </a:t>
                </a:r>
                <a14:m>
                  <m:oMath xmlns:m="http://schemas.openxmlformats.org/officeDocument/2006/math">
                    <m: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𝑗</m:t>
                    </m:r>
                  </m:oMath>
                </a14:m>
                <a:r>
                  <a:rPr lang="en-US" altLang="zh-CN" dirty="0">
                    <a:latin typeface="Arial" panose="020B0604020202020204" pitchFamily="34" charset="0"/>
                    <a:cs typeface="Arial" panose="020B0604020202020204" pitchFamily="34" charset="0"/>
                  </a:rPr>
                  <a:t>,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Sub>
                    <m:r>
                      <a:rPr lang="en-US" altLang="zh-CN" i="1">
                        <a:latin typeface="Cambria Math" panose="02040503050406030204" pitchFamily="18" charset="0"/>
                        <a:cs typeface="Arial" panose="020B0604020202020204" pitchFamily="34" charset="0"/>
                      </a:rPr>
                      <m:t>=</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up>
                        <m:r>
                          <a:rPr lang="en-US" altLang="zh-CN" i="1">
                            <a:latin typeface="Cambria Math" panose="02040503050406030204" pitchFamily="18" charset="0"/>
                            <a:cs typeface="Arial" panose="020B0604020202020204" pitchFamily="34" charset="0"/>
                          </a:rPr>
                          <m:t>′</m:t>
                        </m:r>
                      </m:sup>
                    </m:sSubSup>
                  </m:oMath>
                </a14:m>
                <a:r>
                  <a:rPr lang="en-US" altLang="zh-CN" dirty="0">
                    <a:latin typeface="Arial" panose="020B0604020202020204" pitchFamily="34" charset="0"/>
                    <a:cs typeface="Arial" panose="020B0604020202020204" pitchFamily="34" charset="0"/>
                  </a:rPr>
                  <a:t>.</a:t>
                </a:r>
              </a:p>
              <a:p>
                <a:endParaRPr lang="en-US" altLang="zh-CN" dirty="0">
                  <a:latin typeface="Arial" panose="020B0604020202020204" pitchFamily="34" charset="0"/>
                  <a:cs typeface="Arial" panose="020B0604020202020204" pitchFamily="34" charset="0"/>
                </a:endParaRPr>
              </a:p>
              <a:p>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=&lt;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𝑘</m:t>
                        </m:r>
                      </m:sub>
                    </m:sSub>
                    <m:r>
                      <a:rPr lang="en-US" altLang="zh-CN" b="0" i="1" smtClean="0">
                        <a:latin typeface="Cambria Math" panose="02040503050406030204" pitchFamily="18" charset="0"/>
                        <a:cs typeface="Arial" panose="020B0604020202020204" pitchFamily="34" charset="0"/>
                      </a:rPr>
                      <m:t>&gt;</m:t>
                    </m:r>
                  </m:oMath>
                </a14:m>
                <a:r>
                  <a:rPr lang="en-US" altLang="zh-CN" dirty="0">
                    <a:latin typeface="Arial" panose="020B0604020202020204" pitchFamily="34" charset="0"/>
                    <a:cs typeface="Arial" panose="020B0604020202020204" pitchFamily="34" charset="0"/>
                  </a:rPr>
                  <a:t>, where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 </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𝑘</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𝑘</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Sub>
                    <m:r>
                      <a:rPr lang="en-US" altLang="zh-CN" i="1">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𝑗</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Sub>
                        </m:e>
                      </m:d>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𝑗</m:t>
                          </m:r>
                        </m:sub>
                      </m:sSub>
                      <m:r>
                        <a:rPr lang="en-US" altLang="zh-CN" b="0" i="1" smtClean="0">
                          <a:latin typeface="Cambria Math" panose="02040503050406030204" pitchFamily="18" charset="0"/>
                          <a:cs typeface="Arial" panose="020B0604020202020204" pitchFamily="34" charset="0"/>
                        </a:rPr>
                        <m:t>]</m:t>
                      </m:r>
                      <m:nary>
                        <m:naryPr>
                          <m:chr m:val="∏"/>
                          <m:supHide m:val="on"/>
                          <m:ctrlPr>
                            <a:rPr lang="en-US" altLang="zh-CN" b="0" i="1" smtClean="0">
                              <a:latin typeface="Cambria Math" panose="02040503050406030204" pitchFamily="18" charset="0"/>
                              <a:cs typeface="Arial" panose="020B0604020202020204" pitchFamily="34" charset="0"/>
                            </a:rPr>
                          </m:ctrlPr>
                        </m:naryPr>
                        <m:sub>
                          <m:r>
                            <m:rPr>
                              <m:brk m:alnAt="7"/>
                            </m:rP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𝑗</m:t>
                          </m:r>
                        </m:sub>
                        <m:sup/>
                        <m:e>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𝑖</m:t>
                              </m:r>
                            </m:sub>
                          </m:sSub>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Sub>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b="0" i="1" smtClean="0">
                                  <a:latin typeface="Cambria Math" panose="02040503050406030204" pitchFamily="18" charset="0"/>
                                  <a:cs typeface="Arial" panose="020B0604020202020204" pitchFamily="34" charset="0"/>
                                </a:rPr>
                                <m:t>𝑖</m:t>
                              </m:r>
                            </m:sub>
                          </m:sSub>
                          <m:r>
                            <a:rPr lang="en-US" altLang="zh-CN" i="1">
                              <a:latin typeface="Cambria Math" panose="02040503050406030204" pitchFamily="18" charset="0"/>
                              <a:cs typeface="Arial" panose="020B0604020202020204" pitchFamily="34" charset="0"/>
                            </a:rPr>
                            <m:t>]</m:t>
                          </m:r>
                        </m:e>
                      </m:nary>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𝑗</m:t>
                              </m:r>
                            </m:sub>
                          </m:sSub>
                        </m:sup>
                      </m:sSup>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𝑗</m:t>
                          </m:r>
                        </m:sub>
                      </m:sSub>
                      <m:d>
                        <m:dPr>
                          <m:ctrlPr>
                            <a:rPr lang="en-US" altLang="zh-CN" i="1">
                              <a:latin typeface="Cambria Math" panose="02040503050406030204" pitchFamily="18" charset="0"/>
                              <a:cs typeface="Arial" panose="020B0604020202020204" pitchFamily="34" charset="0"/>
                            </a:rPr>
                          </m:ctrlPr>
                        </m:dPr>
                        <m:e>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up>
                              <m:r>
                                <a:rPr lang="en-US" altLang="zh-CN" b="0" i="1" smtClean="0">
                                  <a:latin typeface="Cambria Math" panose="02040503050406030204" pitchFamily="18" charset="0"/>
                                  <a:cs typeface="Arial" panose="020B0604020202020204" pitchFamily="34" charset="0"/>
                                </a:rPr>
                                <m:t>′</m:t>
                              </m:r>
                            </m:sup>
                          </m:sSubSup>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𝑗</m:t>
                          </m:r>
                        </m:sub>
                      </m:sSub>
                      <m:r>
                        <a:rPr lang="en-US" altLang="zh-CN" b="0" i="1" smtClean="0">
                          <a:latin typeface="Cambria Math" panose="02040503050406030204" pitchFamily="18" charset="0"/>
                          <a:cs typeface="Arial" panose="020B0604020202020204" pitchFamily="34" charset="0"/>
                        </a:rPr>
                        <m:t>]</m:t>
                      </m:r>
                      <m:nary>
                        <m:naryPr>
                          <m:chr m:val="∏"/>
                          <m:supHide m:val="on"/>
                          <m:ctrlPr>
                            <a:rPr lang="en-US" altLang="zh-CN" i="1">
                              <a:latin typeface="Cambria Math" panose="02040503050406030204" pitchFamily="18" charset="0"/>
                              <a:cs typeface="Arial" panose="020B0604020202020204" pitchFamily="34" charset="0"/>
                            </a:rPr>
                          </m:ctrlPr>
                        </m:naryPr>
                        <m:sub>
                          <m:r>
                            <m:rPr>
                              <m:brk m:alnAt="7"/>
                            </m:rPr>
                            <a:rPr lang="en-US" altLang="zh-CN" i="1">
                              <a:latin typeface="Cambria Math" panose="02040503050406030204" pitchFamily="18" charset="0"/>
                              <a:cs typeface="Arial" panose="020B0604020202020204" pitchFamily="34" charset="0"/>
                            </a:rPr>
                            <m:t>𝑖</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𝑗</m:t>
                          </m:r>
                        </m:sub>
                        <m:sup/>
                        <m:e>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𝑖</m:t>
                              </m:r>
                            </m:sub>
                          </m:sSub>
                          <m:d>
                            <m:dPr>
                              <m:ctrlPr>
                                <a:rPr lang="en-US" altLang="zh-CN" i="1">
                                  <a:latin typeface="Cambria Math" panose="02040503050406030204" pitchFamily="18" charset="0"/>
                                  <a:cs typeface="Arial" panose="020B0604020202020204" pitchFamily="34" charset="0"/>
                                </a:rPr>
                              </m:ctrlPr>
                            </m:dPr>
                            <m:e>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up>
                                  <m:r>
                                    <a:rPr lang="en-US" altLang="zh-CN" i="1">
                                      <a:latin typeface="Cambria Math" panose="02040503050406030204" pitchFamily="18" charset="0"/>
                                      <a:cs typeface="Arial" panose="020B0604020202020204" pitchFamily="34" charset="0"/>
                                    </a:rPr>
                                    <m:t>′</m:t>
                                  </m:r>
                                </m:sup>
                              </m:sSubSup>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𝑖</m:t>
                              </m:r>
                            </m:sub>
                          </m:sSub>
                          <m:r>
                            <a:rPr lang="en-US" altLang="zh-CN" i="1">
                              <a:latin typeface="Cambria Math" panose="02040503050406030204" pitchFamily="18" charset="0"/>
                              <a:cs typeface="Arial" panose="020B0604020202020204" pitchFamily="34" charset="0"/>
                            </a:rPr>
                            <m:t>]</m:t>
                          </m:r>
                        </m:e>
                      </m:nary>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max</m:t>
                              </m:r>
                            </m:fName>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𝑖</m:t>
                                  </m:r>
                                </m:sub>
                              </m:sSub>
                            </m:e>
                          </m:func>
                        </m:sup>
                      </m:sSup>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𝑗</m:t>
                          </m:r>
                        </m:sub>
                      </m:sSub>
                      <m:d>
                        <m:dPr>
                          <m:ctrlPr>
                            <a:rPr lang="en-US" altLang="zh-CN" i="1">
                              <a:latin typeface="Cambria Math" panose="02040503050406030204" pitchFamily="18" charset="0"/>
                              <a:cs typeface="Arial" panose="020B0604020202020204" pitchFamily="34" charset="0"/>
                            </a:rPr>
                          </m:ctrlPr>
                        </m:dPr>
                        <m:e>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𝑗</m:t>
                              </m:r>
                            </m:sub>
                            <m:sup>
                              <m:r>
                                <a:rPr lang="en-US" altLang="zh-CN" i="1">
                                  <a:latin typeface="Cambria Math" panose="02040503050406030204" pitchFamily="18" charset="0"/>
                                  <a:cs typeface="Arial" panose="020B0604020202020204" pitchFamily="34" charset="0"/>
                                </a:rPr>
                                <m:t>′</m:t>
                              </m:r>
                            </m:sup>
                          </m:sSubSup>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𝑗</m:t>
                          </m:r>
                        </m:sub>
                      </m:sSub>
                      <m:r>
                        <a:rPr lang="en-US" altLang="zh-CN" i="1">
                          <a:latin typeface="Cambria Math" panose="02040503050406030204" pitchFamily="18" charset="0"/>
                          <a:cs typeface="Arial" panose="020B0604020202020204" pitchFamily="34" charset="0"/>
                        </a:rPr>
                        <m:t>]</m:t>
                      </m:r>
                      <m:nary>
                        <m:naryPr>
                          <m:chr m:val="∏"/>
                          <m:supHide m:val="on"/>
                          <m:ctrlPr>
                            <a:rPr lang="en-US" altLang="zh-CN" i="1">
                              <a:latin typeface="Cambria Math" panose="02040503050406030204" pitchFamily="18" charset="0"/>
                              <a:cs typeface="Arial" panose="020B0604020202020204" pitchFamily="34" charset="0"/>
                            </a:rPr>
                          </m:ctrlPr>
                        </m:naryPr>
                        <m:sub>
                          <m:r>
                            <m:rPr>
                              <m:brk m:alnAt="7"/>
                            </m:rPr>
                            <a:rPr lang="en-US" altLang="zh-CN" i="1">
                              <a:latin typeface="Cambria Math" panose="02040503050406030204" pitchFamily="18" charset="0"/>
                              <a:cs typeface="Arial" panose="020B0604020202020204" pitchFamily="34" charset="0"/>
                            </a:rPr>
                            <m:t>𝑖</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𝑗</m:t>
                          </m:r>
                        </m:sub>
                        <m:sup/>
                        <m:e>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𝑖</m:t>
                              </m:r>
                            </m:sub>
                          </m:sSub>
                          <m:d>
                            <m:dPr>
                              <m:ctrlPr>
                                <a:rPr lang="en-US" altLang="zh-CN" i="1">
                                  <a:latin typeface="Cambria Math" panose="02040503050406030204" pitchFamily="18" charset="0"/>
                                  <a:cs typeface="Arial" panose="020B0604020202020204" pitchFamily="34" charset="0"/>
                                </a:rPr>
                              </m:ctrlPr>
                            </m:dPr>
                            <m:e>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𝑖</m:t>
                                  </m:r>
                                </m:sub>
                                <m:sup>
                                  <m:r>
                                    <a:rPr lang="en-US" altLang="zh-CN" i="1">
                                      <a:latin typeface="Cambria Math" panose="02040503050406030204" pitchFamily="18" charset="0"/>
                                      <a:cs typeface="Arial" panose="020B0604020202020204" pitchFamily="34" charset="0"/>
                                    </a:rPr>
                                    <m:t>′</m:t>
                                  </m:r>
                                </m:sup>
                              </m:sSubSup>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𝑖</m:t>
                              </m:r>
                            </m:sub>
                          </m:sSub>
                          <m:r>
                            <a:rPr lang="en-US" altLang="zh-CN" i="1">
                              <a:latin typeface="Cambria Math" panose="02040503050406030204" pitchFamily="18" charset="0"/>
                              <a:cs typeface="Arial" panose="020B0604020202020204" pitchFamily="34" charset="0"/>
                            </a:rPr>
                            <m:t>]</m:t>
                          </m:r>
                        </m:e>
                      </m:nary>
                    </m:oMath>
                  </m:oMathPara>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5308633"/>
              </a:xfrm>
              <a:prstGeom prst="rect">
                <a:avLst/>
              </a:prstGeom>
              <a:blipFill>
                <a:blip r:embed="rId2"/>
                <a:stretch>
                  <a:fillRect l="-498" t="-574"/>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5F8DDBFF-F4F9-4B68-B302-E32B48A59E9A}"/>
              </a:ext>
            </a:extLst>
          </p:cNvPr>
          <p:cNvSpPr/>
          <p:nvPr/>
        </p:nvSpPr>
        <p:spPr>
          <a:xfrm>
            <a:off x="1169327" y="3153104"/>
            <a:ext cx="1365768" cy="3531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4061011A-FBE0-4CE8-8CD6-916B807E67F8}"/>
              </a:ext>
            </a:extLst>
          </p:cNvPr>
          <p:cNvSpPr txBox="1"/>
          <p:nvPr/>
        </p:nvSpPr>
        <p:spPr>
          <a:xfrm>
            <a:off x="336908" y="3506252"/>
            <a:ext cx="2072063" cy="369332"/>
          </a:xfrm>
          <a:prstGeom prst="rect">
            <a:avLst/>
          </a:prstGeom>
          <a:noFill/>
        </p:spPr>
        <p:txBody>
          <a:bodyPr wrap="square" rtlCol="0">
            <a:spAutoFit/>
          </a:bodyPr>
          <a:lstStyle/>
          <a:p>
            <a:r>
              <a:rPr lang="en-US" altLang="zh-CN" dirty="0">
                <a:solidFill>
                  <a:srgbClr val="FF0000"/>
                </a:solidFill>
                <a:latin typeface="Arial" panose="020B0604020202020204" pitchFamily="34" charset="0"/>
                <a:cs typeface="Arial" panose="020B0604020202020204" pitchFamily="34" charset="0"/>
              </a:rPr>
              <a:t>Unbounded DP</a:t>
            </a:r>
            <a:endParaRPr lang="zh-CN" altLang="en-US"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21636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2461508"/>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Question: What if multiple mechanisms access disjoint parts of dataset?</a:t>
                </a:r>
              </a:p>
              <a:p>
                <a:r>
                  <a:rPr lang="en-US" altLang="zh-CN" b="1" dirty="0">
                    <a:latin typeface="Arial" panose="020B0604020202020204" pitchFamily="34" charset="0"/>
                    <a:cs typeface="Arial" panose="020B0604020202020204" pitchFamily="34" charset="0"/>
                  </a:rPr>
                  <a:t>Answer: parallel composition offers privacy guarantee</a:t>
                </a:r>
              </a:p>
              <a:p>
                <a:endParaRPr lang="en-US" altLang="zh-CN" b="1"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Let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be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-DP,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-DP, …,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-DP. Given a partition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publishing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𝑘</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limLow>
                          <m:limLowPr>
                            <m:ctrlPr>
                              <a:rPr lang="en-US" altLang="zh-CN" b="0" i="1" smtClean="0">
                                <a:latin typeface="Cambria Math" panose="02040503050406030204" pitchFamily="18" charset="0"/>
                                <a:cs typeface="Arial" panose="020B0604020202020204" pitchFamily="34" charset="0"/>
                              </a:rPr>
                            </m:ctrlPr>
                          </m:limLowPr>
                          <m:e>
                            <m:r>
                              <m:rPr>
                                <m:sty m:val="p"/>
                              </m:rPr>
                              <a:rPr lang="en-US" altLang="zh-CN" b="0" i="0" smtClean="0">
                                <a:latin typeface="Cambria Math" panose="02040503050406030204" pitchFamily="18" charset="0"/>
                                <a:cs typeface="Arial" panose="020B0604020202020204" pitchFamily="34" charset="0"/>
                              </a:rPr>
                              <m:t>max</m:t>
                            </m:r>
                          </m:e>
                          <m:lim>
                            <m: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∈[1,…,</m:t>
                            </m:r>
                            <m:r>
                              <a:rPr lang="en-US" altLang="zh-CN" b="0" i="1" smtClean="0">
                                <a:latin typeface="Cambria Math" panose="02040503050406030204" pitchFamily="18" charset="0"/>
                                <a:cs typeface="Arial" panose="020B0604020202020204" pitchFamily="34" charset="0"/>
                              </a:rPr>
                              <m:t>𝑘</m:t>
                            </m:r>
                            <m:r>
                              <a:rPr lang="en-US" altLang="zh-CN" b="0" i="1" smtClean="0">
                                <a:latin typeface="Cambria Math" panose="02040503050406030204" pitchFamily="18" charset="0"/>
                                <a:cs typeface="Arial" panose="020B0604020202020204" pitchFamily="34" charset="0"/>
                              </a:rPr>
                              <m:t>]</m:t>
                            </m:r>
                          </m:lim>
                        </m:limLow>
                      </m:fName>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𝑖</m:t>
                            </m:r>
                          </m:sub>
                        </m:sSub>
                      </m:e>
                    </m:func>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-DP.</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Proof. </a:t>
                </a:r>
                <a:r>
                  <a:rPr lang="en-US" altLang="zh-CN" dirty="0">
                    <a:latin typeface="Arial" panose="020B0604020202020204" pitchFamily="34" charset="0"/>
                    <a:cs typeface="Arial" panose="020B0604020202020204" pitchFamily="34" charset="0"/>
                  </a:rPr>
                  <a:t>We replace one element in </a:t>
                </a:r>
                <a14:m>
                  <m:oMath xmlns:m="http://schemas.openxmlformats.org/officeDocument/2006/math">
                    <m:r>
                      <a:rPr lang="en-US" altLang="zh-CN" i="1">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to generate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i="1">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let the partition of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be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up>
                        <m:r>
                          <a:rPr lang="en-US" altLang="zh-CN" b="0" i="1" smtClean="0">
                            <a:latin typeface="Cambria Math" panose="02040503050406030204" pitchFamily="18" charset="0"/>
                            <a:cs typeface="Arial" panose="020B0604020202020204" pitchFamily="34" charset="0"/>
                          </a:rPr>
                          <m:t>′</m:t>
                        </m:r>
                      </m:sup>
                    </m:sSubSup>
                    <m:r>
                      <a:rPr lang="en-US" altLang="zh-CN" i="1">
                        <a:latin typeface="Cambria Math" panose="02040503050406030204" pitchFamily="18" charset="0"/>
                        <a:cs typeface="Arial" panose="020B0604020202020204" pitchFamily="34" charset="0"/>
                      </a:rPr>
                      <m:t>,…,</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up>
                        <m:r>
                          <a:rPr lang="en-US" altLang="zh-CN" i="1">
                            <a:latin typeface="Cambria Math" panose="02040503050406030204" pitchFamily="18" charset="0"/>
                            <a:cs typeface="Arial" panose="020B0604020202020204" pitchFamily="34" charset="0"/>
                          </a:rPr>
                          <m:t>′</m:t>
                        </m:r>
                      </m:sup>
                    </m:sSubSup>
                  </m:oMath>
                </a14:m>
                <a:r>
                  <a:rPr lang="en-US" altLang="zh-CN" dirty="0">
                    <a:latin typeface="Arial" panose="020B0604020202020204" pitchFamily="34" charset="0"/>
                    <a:cs typeface="Arial" panose="020B0604020202020204" pitchFamily="34" charset="0"/>
                  </a:rPr>
                  <a:t>. There exists </a:t>
                </a:r>
                <a14:m>
                  <m:oMath xmlns:m="http://schemas.openxmlformats.org/officeDocument/2006/math">
                    <m:r>
                      <a:rPr lang="en-US" altLang="zh-CN" b="0" i="1" smtClean="0">
                        <a:latin typeface="Cambria Math" panose="02040503050406030204" pitchFamily="18" charset="0"/>
                        <a:cs typeface="Arial" panose="020B0604020202020204" pitchFamily="34" charset="0"/>
                      </a:rPr>
                      <m:t>𝑗</m:t>
                    </m:r>
                  </m:oMath>
                </a14:m>
                <a:r>
                  <a:rPr lang="en-US" altLang="zh-CN" dirty="0">
                    <a:latin typeface="Arial" panose="020B0604020202020204" pitchFamily="34" charset="0"/>
                    <a:cs typeface="Arial" panose="020B0604020202020204" pitchFamily="34" charset="0"/>
                  </a:rPr>
                  <a:t> such that one element in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𝑗</m:t>
                        </m:r>
                      </m:sub>
                    </m:sSub>
                  </m:oMath>
                </a14:m>
                <a:r>
                  <a:rPr lang="en-US" altLang="zh-CN" dirty="0">
                    <a:latin typeface="Arial" panose="020B0604020202020204" pitchFamily="34" charset="0"/>
                    <a:cs typeface="Arial" panose="020B0604020202020204" pitchFamily="34" charset="0"/>
                  </a:rPr>
                  <a:t> is replaced with another element to generate </a:t>
                </a:r>
                <a14:m>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up>
                        <m:r>
                          <a:rPr lang="en-US" altLang="zh-CN" b="0" i="1" smtClean="0">
                            <a:latin typeface="Cambria Math" panose="02040503050406030204" pitchFamily="18" charset="0"/>
                            <a:cs typeface="Arial" panose="020B0604020202020204" pitchFamily="34" charset="0"/>
                          </a:rPr>
                          <m:t>′</m:t>
                        </m:r>
                      </m:sup>
                    </m:sSubSup>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2461508"/>
              </a:xfrm>
              <a:prstGeom prst="rect">
                <a:avLst/>
              </a:prstGeom>
              <a:blipFill>
                <a:blip r:embed="rId2"/>
                <a:stretch>
                  <a:fillRect l="-460" t="-1026" r="-115" b="-1538"/>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5F8DDBFF-F4F9-4B68-B302-E32B48A59E9A}"/>
              </a:ext>
            </a:extLst>
          </p:cNvPr>
          <p:cNvSpPr/>
          <p:nvPr/>
        </p:nvSpPr>
        <p:spPr>
          <a:xfrm>
            <a:off x="2013211" y="3252426"/>
            <a:ext cx="7920497" cy="3531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118351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332405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Question: What if multiple mechanisms access disjoint parts of dataset?</a:t>
                </a:r>
              </a:p>
              <a:p>
                <a:r>
                  <a:rPr lang="en-US" altLang="zh-CN" b="1" dirty="0">
                    <a:latin typeface="Arial" panose="020B0604020202020204" pitchFamily="34" charset="0"/>
                    <a:cs typeface="Arial" panose="020B0604020202020204" pitchFamily="34" charset="0"/>
                  </a:rPr>
                  <a:t>Answer: parallel composition offers privacy guarantee</a:t>
                </a:r>
              </a:p>
              <a:p>
                <a:endParaRPr lang="en-US" altLang="zh-CN" b="1"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Let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be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-DP,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-DP, …,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-DP. Given a partition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publishing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𝑘</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limLow>
                          <m:limLowPr>
                            <m:ctrlPr>
                              <a:rPr lang="en-US" altLang="zh-CN" b="0" i="1" smtClean="0">
                                <a:latin typeface="Cambria Math" panose="02040503050406030204" pitchFamily="18" charset="0"/>
                                <a:cs typeface="Arial" panose="020B0604020202020204" pitchFamily="34" charset="0"/>
                              </a:rPr>
                            </m:ctrlPr>
                          </m:limLowPr>
                          <m:e>
                            <m:r>
                              <m:rPr>
                                <m:sty m:val="p"/>
                              </m:rPr>
                              <a:rPr lang="en-US" altLang="zh-CN" b="0" i="0" smtClean="0">
                                <a:latin typeface="Cambria Math" panose="02040503050406030204" pitchFamily="18" charset="0"/>
                                <a:cs typeface="Arial" panose="020B0604020202020204" pitchFamily="34" charset="0"/>
                              </a:rPr>
                              <m:t>max</m:t>
                            </m:r>
                          </m:e>
                          <m:lim>
                            <m: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∈[1,…,</m:t>
                            </m:r>
                            <m:r>
                              <a:rPr lang="en-US" altLang="zh-CN" b="0" i="1" smtClean="0">
                                <a:latin typeface="Cambria Math" panose="02040503050406030204" pitchFamily="18" charset="0"/>
                                <a:cs typeface="Arial" panose="020B0604020202020204" pitchFamily="34" charset="0"/>
                              </a:rPr>
                              <m:t>𝑘</m:t>
                            </m:r>
                            <m:r>
                              <a:rPr lang="en-US" altLang="zh-CN" b="0" i="1" smtClean="0">
                                <a:latin typeface="Cambria Math" panose="02040503050406030204" pitchFamily="18" charset="0"/>
                                <a:cs typeface="Arial" panose="020B0604020202020204" pitchFamily="34" charset="0"/>
                              </a:rPr>
                              <m:t>]</m:t>
                            </m:r>
                          </m:lim>
                        </m:limLow>
                      </m:fName>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𝑖</m:t>
                            </m:r>
                          </m:sub>
                        </m:sSub>
                      </m:e>
                    </m:func>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-DP.</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Proof. </a:t>
                </a:r>
                <a:r>
                  <a:rPr lang="en-US" altLang="zh-CN" dirty="0">
                    <a:latin typeface="Arial" panose="020B0604020202020204" pitchFamily="34" charset="0"/>
                    <a:cs typeface="Arial" panose="020B0604020202020204" pitchFamily="34" charset="0"/>
                  </a:rPr>
                  <a:t>We replace one element in </a:t>
                </a:r>
                <a14:m>
                  <m:oMath xmlns:m="http://schemas.openxmlformats.org/officeDocument/2006/math">
                    <m:r>
                      <a:rPr lang="en-US" altLang="zh-CN" i="1">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to generate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let the partition of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be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up>
                        <m:r>
                          <a:rPr lang="en-US" altLang="zh-CN" b="0" i="1" smtClean="0">
                            <a:latin typeface="Cambria Math" panose="02040503050406030204" pitchFamily="18" charset="0"/>
                            <a:cs typeface="Arial" panose="020B0604020202020204" pitchFamily="34" charset="0"/>
                          </a:rPr>
                          <m:t>′</m:t>
                        </m:r>
                      </m:sup>
                    </m:sSubSup>
                    <m:r>
                      <a:rPr lang="en-US" altLang="zh-CN" i="1">
                        <a:latin typeface="Cambria Math" panose="02040503050406030204" pitchFamily="18" charset="0"/>
                        <a:cs typeface="Arial" panose="020B0604020202020204" pitchFamily="34" charset="0"/>
                      </a:rPr>
                      <m:t>,…,</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up>
                        <m:r>
                          <a:rPr lang="en-US" altLang="zh-CN" i="1">
                            <a:latin typeface="Cambria Math" panose="02040503050406030204" pitchFamily="18" charset="0"/>
                            <a:cs typeface="Arial" panose="020B0604020202020204" pitchFamily="34" charset="0"/>
                          </a:rPr>
                          <m:t>′</m:t>
                        </m:r>
                      </m:sup>
                    </m:sSubSup>
                  </m:oMath>
                </a14:m>
                <a:r>
                  <a:rPr lang="en-US" altLang="zh-CN" dirty="0">
                    <a:latin typeface="Arial" panose="020B0604020202020204" pitchFamily="34" charset="0"/>
                    <a:cs typeface="Arial" panose="020B0604020202020204" pitchFamily="34" charset="0"/>
                  </a:rPr>
                  <a:t>. There exists </a:t>
                </a:r>
                <a14:m>
                  <m:oMath xmlns:m="http://schemas.openxmlformats.org/officeDocument/2006/math">
                    <m:r>
                      <a:rPr lang="en-US" altLang="zh-CN" b="0" i="1" smtClean="0">
                        <a:latin typeface="Cambria Math" panose="02040503050406030204" pitchFamily="18" charset="0"/>
                        <a:cs typeface="Arial" panose="020B0604020202020204" pitchFamily="34" charset="0"/>
                      </a:rPr>
                      <m:t>𝑗</m:t>
                    </m:r>
                  </m:oMath>
                </a14:m>
                <a:r>
                  <a:rPr lang="en-US" altLang="zh-CN" dirty="0">
                    <a:latin typeface="Arial" panose="020B0604020202020204" pitchFamily="34" charset="0"/>
                    <a:cs typeface="Arial" panose="020B0604020202020204" pitchFamily="34" charset="0"/>
                  </a:rPr>
                  <a:t> such that one element in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𝑗</m:t>
                        </m:r>
                      </m:sub>
                    </m:sSub>
                  </m:oMath>
                </a14:m>
                <a:r>
                  <a:rPr lang="en-US" altLang="zh-CN" dirty="0">
                    <a:latin typeface="Arial" panose="020B0604020202020204" pitchFamily="34" charset="0"/>
                    <a:cs typeface="Arial" panose="020B0604020202020204" pitchFamily="34" charset="0"/>
                  </a:rPr>
                  <a:t> is replaced with another element to generate </a:t>
                </a:r>
                <a14:m>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up>
                        <m:r>
                          <a:rPr lang="en-US" altLang="zh-CN" b="0" i="1" smtClean="0">
                            <a:latin typeface="Cambria Math" panose="02040503050406030204" pitchFamily="18" charset="0"/>
                            <a:cs typeface="Arial" panose="020B0604020202020204" pitchFamily="34" charset="0"/>
                          </a:rPr>
                          <m:t>′</m:t>
                        </m:r>
                      </m:sup>
                    </m:sSubSup>
                  </m:oMath>
                </a14:m>
                <a:r>
                  <a:rPr lang="en-US" altLang="zh-CN" dirty="0">
                    <a:latin typeface="Arial" panose="020B0604020202020204" pitchFamily="34" charset="0"/>
                    <a:cs typeface="Arial" panose="020B0604020202020204" pitchFamily="34" charset="0"/>
                  </a:rPr>
                  <a:t>, we may be in the situation that there exist </a:t>
                </a:r>
                <a14:m>
                  <m:oMath xmlns:m="http://schemas.openxmlformats.org/officeDocument/2006/math">
                    <m: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𝑗</m:t>
                    </m:r>
                  </m:oMath>
                </a14:m>
                <a:r>
                  <a:rPr lang="en-US" altLang="zh-CN" dirty="0">
                    <a:latin typeface="Arial" panose="020B0604020202020204" pitchFamily="34" charset="0"/>
                    <a:cs typeface="Arial" panose="020B0604020202020204" pitchFamily="34" charset="0"/>
                  </a:rPr>
                  <a:t>, such that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Sub>
                    <m:r>
                      <a:rPr lang="en-US" altLang="zh-CN" b="0" i="1" smtClean="0">
                        <a:latin typeface="Cambria Math" panose="02040503050406030204" pitchFamily="18" charset="0"/>
                        <a:cs typeface="Arial" panose="020B0604020202020204" pitchFamily="34" charset="0"/>
                      </a:rPr>
                      <m:t>=</m:t>
                    </m:r>
                    <m:sSubSup>
                      <m:sSubSupPr>
                        <m:ctrlPr>
                          <a:rPr lang="en-US" altLang="zh-CN" b="0" i="1" smtClean="0">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up>
                        <m:r>
                          <a:rPr lang="en-US" altLang="zh-CN" i="1">
                            <a:latin typeface="Cambria Math" panose="02040503050406030204" pitchFamily="18" charset="0"/>
                            <a:cs typeface="Arial" panose="020B0604020202020204" pitchFamily="34" charset="0"/>
                          </a:rPr>
                          <m:t>′</m:t>
                        </m:r>
                      </m:sup>
                    </m:sSubSup>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𝑟</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𝑟</m:t>
                    </m:r>
                    <m:r>
                      <a:rPr lang="en-US" altLang="zh-CN" i="1">
                        <a:latin typeface="Cambria Math" panose="02040503050406030204" pitchFamily="18" charset="0"/>
                        <a:cs typeface="Arial" panose="020B0604020202020204" pitchFamily="34" charset="0"/>
                      </a:rPr>
                      <m:t>}=</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up>
                        <m:r>
                          <a:rPr lang="en-US" altLang="zh-CN" i="1">
                            <a:latin typeface="Cambria Math" panose="02040503050406030204" pitchFamily="18" charset="0"/>
                            <a:cs typeface="Arial" panose="020B0604020202020204" pitchFamily="34" charset="0"/>
                          </a:rPr>
                          <m:t>′</m:t>
                        </m:r>
                      </m:sup>
                    </m:sSubSup>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3324052"/>
              </a:xfrm>
              <a:prstGeom prst="rect">
                <a:avLst/>
              </a:prstGeom>
              <a:blipFill>
                <a:blip r:embed="rId2"/>
                <a:stretch>
                  <a:fillRect l="-460" t="-760" r="-115"/>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5F8DDBFF-F4F9-4B68-B302-E32B48A59E9A}"/>
              </a:ext>
            </a:extLst>
          </p:cNvPr>
          <p:cNvSpPr/>
          <p:nvPr/>
        </p:nvSpPr>
        <p:spPr>
          <a:xfrm>
            <a:off x="1995439" y="3254046"/>
            <a:ext cx="7861162" cy="3531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392000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2675604"/>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Question: What if multiple mechanisms access disjoint parts of dataset?</a:t>
                </a:r>
              </a:p>
              <a:p>
                <a:r>
                  <a:rPr lang="en-US" altLang="zh-CN" b="1" dirty="0">
                    <a:latin typeface="Arial" panose="020B0604020202020204" pitchFamily="34" charset="0"/>
                    <a:cs typeface="Arial" panose="020B0604020202020204" pitchFamily="34" charset="0"/>
                  </a:rPr>
                  <a:t>Answer: parallel composition offers privacy guarantee</a:t>
                </a:r>
              </a:p>
              <a:p>
                <a:endParaRPr lang="en-US" altLang="zh-CN" b="1"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Let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be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-DP,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-DP, …,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-DP. Given a partition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publishing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𝑘</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limLow>
                          <m:limLowPr>
                            <m:ctrlPr>
                              <a:rPr lang="en-US" altLang="zh-CN" b="0" i="1" smtClean="0">
                                <a:latin typeface="Cambria Math" panose="02040503050406030204" pitchFamily="18" charset="0"/>
                                <a:cs typeface="Arial" panose="020B0604020202020204" pitchFamily="34" charset="0"/>
                              </a:rPr>
                            </m:ctrlPr>
                          </m:limLowPr>
                          <m:e>
                            <m:r>
                              <m:rPr>
                                <m:sty m:val="p"/>
                              </m:rPr>
                              <a:rPr lang="en-US" altLang="zh-CN" b="0" i="0" smtClean="0">
                                <a:latin typeface="Cambria Math" panose="02040503050406030204" pitchFamily="18" charset="0"/>
                                <a:cs typeface="Arial" panose="020B0604020202020204" pitchFamily="34" charset="0"/>
                              </a:rPr>
                              <m:t>max</m:t>
                            </m:r>
                          </m:e>
                          <m:lim>
                            <m: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∈[1,…,</m:t>
                            </m:r>
                            <m:r>
                              <a:rPr lang="en-US" altLang="zh-CN" b="0" i="1" smtClean="0">
                                <a:latin typeface="Cambria Math" panose="02040503050406030204" pitchFamily="18" charset="0"/>
                                <a:cs typeface="Arial" panose="020B0604020202020204" pitchFamily="34" charset="0"/>
                              </a:rPr>
                              <m:t>𝑘</m:t>
                            </m:r>
                            <m:r>
                              <a:rPr lang="en-US" altLang="zh-CN" b="0" i="1" smtClean="0">
                                <a:latin typeface="Cambria Math" panose="02040503050406030204" pitchFamily="18" charset="0"/>
                                <a:cs typeface="Arial" panose="020B0604020202020204" pitchFamily="34" charset="0"/>
                              </a:rPr>
                              <m:t>]</m:t>
                            </m:r>
                          </m:lim>
                        </m:limLow>
                      </m:fName>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𝑖</m:t>
                            </m:r>
                          </m:sub>
                        </m:sSub>
                      </m:e>
                    </m:func>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-DP.</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Proof. </a:t>
                </a:r>
                <a:r>
                  <a:rPr lang="en-US" altLang="zh-CN" dirty="0">
                    <a:latin typeface="Arial" panose="020B0604020202020204" pitchFamily="34" charset="0"/>
                    <a:cs typeface="Arial" panose="020B0604020202020204" pitchFamily="34" charset="0"/>
                  </a:rPr>
                  <a:t>We replace one element in </a:t>
                </a:r>
                <a14:m>
                  <m:oMath xmlns:m="http://schemas.openxmlformats.org/officeDocument/2006/math">
                    <m:r>
                      <a:rPr lang="en-US" altLang="zh-CN" i="1">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to generate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let the partition of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be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up>
                        <m:r>
                          <a:rPr lang="en-US" altLang="zh-CN" b="0" i="1" smtClean="0">
                            <a:latin typeface="Cambria Math" panose="02040503050406030204" pitchFamily="18" charset="0"/>
                            <a:cs typeface="Arial" panose="020B0604020202020204" pitchFamily="34" charset="0"/>
                          </a:rPr>
                          <m:t>′</m:t>
                        </m:r>
                      </m:sup>
                    </m:sSubSup>
                    <m:r>
                      <a:rPr lang="en-US" altLang="zh-CN" i="1">
                        <a:latin typeface="Cambria Math" panose="02040503050406030204" pitchFamily="18" charset="0"/>
                        <a:cs typeface="Arial" panose="020B0604020202020204" pitchFamily="34" charset="0"/>
                      </a:rPr>
                      <m:t>,…,</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up>
                        <m:r>
                          <a:rPr lang="en-US" altLang="zh-CN" i="1">
                            <a:latin typeface="Cambria Math" panose="02040503050406030204" pitchFamily="18" charset="0"/>
                            <a:cs typeface="Arial" panose="020B0604020202020204" pitchFamily="34" charset="0"/>
                          </a:rPr>
                          <m:t>′</m:t>
                        </m:r>
                      </m:sup>
                    </m:sSubSup>
                  </m:oMath>
                </a14:m>
                <a:r>
                  <a:rPr lang="en-US" altLang="zh-CN" dirty="0">
                    <a:latin typeface="Arial" panose="020B0604020202020204" pitchFamily="34" charset="0"/>
                    <a:cs typeface="Arial" panose="020B0604020202020204" pitchFamily="34" charset="0"/>
                  </a:rPr>
                  <a:t>. There exists </a:t>
                </a:r>
                <a14:m>
                  <m:oMath xmlns:m="http://schemas.openxmlformats.org/officeDocument/2006/math">
                    <m:r>
                      <a:rPr lang="en-US" altLang="zh-CN" b="0" i="1" smtClean="0">
                        <a:latin typeface="Cambria Math" panose="02040503050406030204" pitchFamily="18" charset="0"/>
                        <a:cs typeface="Arial" panose="020B0604020202020204" pitchFamily="34" charset="0"/>
                      </a:rPr>
                      <m:t>𝑗</m:t>
                    </m:r>
                  </m:oMath>
                </a14:m>
                <a:r>
                  <a:rPr lang="en-US" altLang="zh-CN" dirty="0">
                    <a:latin typeface="Arial" panose="020B0604020202020204" pitchFamily="34" charset="0"/>
                    <a:cs typeface="Arial" panose="020B0604020202020204" pitchFamily="34" charset="0"/>
                  </a:rPr>
                  <a:t> such that one element in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𝑗</m:t>
                        </m:r>
                      </m:sub>
                    </m:sSub>
                  </m:oMath>
                </a14:m>
                <a:r>
                  <a:rPr lang="en-US" altLang="zh-CN" dirty="0">
                    <a:latin typeface="Arial" panose="020B0604020202020204" pitchFamily="34" charset="0"/>
                    <a:cs typeface="Arial" panose="020B0604020202020204" pitchFamily="34" charset="0"/>
                  </a:rPr>
                  <a:t> is replaced with another element to generate </a:t>
                </a:r>
                <a14:m>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up>
                        <m:r>
                          <a:rPr lang="en-US" altLang="zh-CN" b="0" i="1" smtClean="0">
                            <a:latin typeface="Cambria Math" panose="02040503050406030204" pitchFamily="18" charset="0"/>
                            <a:cs typeface="Arial" panose="020B0604020202020204" pitchFamily="34" charset="0"/>
                          </a:rPr>
                          <m:t>′</m:t>
                        </m:r>
                      </m:sup>
                    </m:sSubSup>
                  </m:oMath>
                </a14:m>
                <a:r>
                  <a:rPr lang="en-US" altLang="zh-CN" dirty="0">
                    <a:latin typeface="Arial" panose="020B0604020202020204" pitchFamily="34" charset="0"/>
                    <a:cs typeface="Arial" panose="020B0604020202020204" pitchFamily="34" charset="0"/>
                  </a:rPr>
                  <a:t>, we may be in the situation that there exist </a:t>
                </a:r>
                <a14:m>
                  <m:oMath xmlns:m="http://schemas.openxmlformats.org/officeDocument/2006/math">
                    <m: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𝑗</m:t>
                    </m:r>
                  </m:oMath>
                </a14:m>
                <a:r>
                  <a:rPr lang="en-US" altLang="zh-CN" dirty="0">
                    <a:latin typeface="Arial" panose="020B0604020202020204" pitchFamily="34" charset="0"/>
                    <a:cs typeface="Arial" panose="020B0604020202020204" pitchFamily="34" charset="0"/>
                  </a:rPr>
                  <a:t>, such that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Sub>
                    <m:r>
                      <a:rPr lang="en-US" altLang="zh-CN" b="0" i="1" smtClean="0">
                        <a:latin typeface="Cambria Math" panose="02040503050406030204" pitchFamily="18" charset="0"/>
                        <a:cs typeface="Arial" panose="020B0604020202020204" pitchFamily="34" charset="0"/>
                      </a:rPr>
                      <m:t>=</m:t>
                    </m:r>
                    <m:sSubSup>
                      <m:sSubSupPr>
                        <m:ctrlPr>
                          <a:rPr lang="en-US" altLang="zh-CN" b="0" i="1" smtClean="0">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up>
                        <m:r>
                          <a:rPr lang="en-US" altLang="zh-CN" i="1">
                            <a:latin typeface="Cambria Math" panose="02040503050406030204" pitchFamily="18" charset="0"/>
                            <a:cs typeface="Arial" panose="020B0604020202020204" pitchFamily="34" charset="0"/>
                          </a:rPr>
                          <m:t>′</m:t>
                        </m:r>
                      </m:sup>
                    </m:sSubSup>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𝑟</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𝑟</m:t>
                    </m:r>
                    <m:r>
                      <a:rPr lang="en-US" altLang="zh-CN" i="1">
                        <a:latin typeface="Cambria Math" panose="02040503050406030204" pitchFamily="18" charset="0"/>
                        <a:cs typeface="Arial" panose="020B0604020202020204" pitchFamily="34" charset="0"/>
                      </a:rPr>
                      <m:t>}=</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up>
                        <m:r>
                          <a:rPr lang="en-US" altLang="zh-CN" i="1">
                            <a:latin typeface="Cambria Math" panose="02040503050406030204" pitchFamily="18" charset="0"/>
                            <a:cs typeface="Arial" panose="020B0604020202020204" pitchFamily="34" charset="0"/>
                          </a:rPr>
                          <m:t>′</m:t>
                        </m:r>
                      </m:sup>
                    </m:sSubSup>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2675604"/>
              </a:xfrm>
              <a:prstGeom prst="rect">
                <a:avLst/>
              </a:prstGeom>
              <a:blipFill>
                <a:blip r:embed="rId2"/>
                <a:stretch>
                  <a:fillRect l="-498" t="-1139" r="-111" b="-1367"/>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5F8DDBFF-F4F9-4B68-B302-E32B48A59E9A}"/>
              </a:ext>
            </a:extLst>
          </p:cNvPr>
          <p:cNvSpPr/>
          <p:nvPr/>
        </p:nvSpPr>
        <p:spPr>
          <a:xfrm>
            <a:off x="1995439" y="3230295"/>
            <a:ext cx="7861162" cy="3531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表格 2">
            <a:extLst>
              <a:ext uri="{FF2B5EF4-FFF2-40B4-BE49-F238E27FC236}">
                <a16:creationId xmlns:a16="http://schemas.microsoft.com/office/drawing/2014/main" id="{AB9F512F-30C0-472E-83DD-5E95B3862F46}"/>
              </a:ext>
            </a:extLst>
          </p:cNvPr>
          <p:cNvGraphicFramePr>
            <a:graphicFrameLocks noGrp="1"/>
          </p:cNvGraphicFramePr>
          <p:nvPr>
            <p:extLst>
              <p:ext uri="{D42A27DB-BD31-4B8C-83A1-F6EECF244321}">
                <p14:modId xmlns:p14="http://schemas.microsoft.com/office/powerpoint/2010/main" val="3453957288"/>
              </p:ext>
            </p:extLst>
          </p:nvPr>
        </p:nvGraphicFramePr>
        <p:xfrm>
          <a:off x="742381" y="4344796"/>
          <a:ext cx="1590916" cy="1676400"/>
        </p:xfrm>
        <a:graphic>
          <a:graphicData uri="http://schemas.openxmlformats.org/drawingml/2006/table">
            <a:tbl>
              <a:tblPr firstRow="1" bandRow="1">
                <a:tableStyleId>{93296810-A885-4BE3-A3E7-6D5BEEA58F35}</a:tableStyleId>
              </a:tblPr>
              <a:tblGrid>
                <a:gridCol w="795458">
                  <a:extLst>
                    <a:ext uri="{9D8B030D-6E8A-4147-A177-3AD203B41FA5}">
                      <a16:colId xmlns:a16="http://schemas.microsoft.com/office/drawing/2014/main" val="1238765568"/>
                    </a:ext>
                  </a:extLst>
                </a:gridCol>
                <a:gridCol w="795458">
                  <a:extLst>
                    <a:ext uri="{9D8B030D-6E8A-4147-A177-3AD203B41FA5}">
                      <a16:colId xmlns:a16="http://schemas.microsoft.com/office/drawing/2014/main" val="2422194543"/>
                    </a:ext>
                  </a:extLst>
                </a:gridCol>
              </a:tblGrid>
              <a:tr h="309911">
                <a:tc>
                  <a:txBody>
                    <a:bodyPr/>
                    <a:lstStyle/>
                    <a:p>
                      <a:pPr marL="0" algn="ctr" defTabSz="914400" rtl="0" eaLnBrk="1" latinLnBrk="0" hangingPunct="1"/>
                      <a:r>
                        <a:rPr lang="en-US" altLang="zh-CN" sz="1600" b="1" kern="1200" dirty="0">
                          <a:solidFill>
                            <a:schemeClr val="tx1"/>
                          </a:solidFill>
                        </a:rPr>
                        <a:t>ID</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rPr>
                        <a:t>Age</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2752317120"/>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rgbClr val="FF0000"/>
                          </a:solidFill>
                          <a:latin typeface="+mn-lt"/>
                          <a:ea typeface="+mn-ea"/>
                          <a:cs typeface="+mn-cs"/>
                        </a:rPr>
                        <a:t>10</a:t>
                      </a:r>
                      <a:endParaRPr lang="zh-CN" altLang="en-US" sz="1600" b="1" kern="1200" dirty="0">
                        <a:solidFill>
                          <a:srgbClr val="FF0000"/>
                        </a:solidFill>
                        <a:latin typeface="+mn-lt"/>
                        <a:ea typeface="+mn-ea"/>
                        <a:cs typeface="+mn-cs"/>
                      </a:endParaRPr>
                    </a:p>
                  </a:txBody>
                  <a:tcPr anchor="ctr"/>
                </a:tc>
                <a:extLst>
                  <a:ext uri="{0D108BD9-81ED-4DB2-BD59-A6C34878D82A}">
                    <a16:rowId xmlns:a16="http://schemas.microsoft.com/office/drawing/2014/main" val="2460415473"/>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2</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21</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582642059"/>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3</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35</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46871934"/>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289250877"/>
                  </a:ext>
                </a:extLst>
              </a:tr>
            </a:tbl>
          </a:graphicData>
        </a:graphic>
      </p:graphicFrame>
      <p:sp>
        <p:nvSpPr>
          <p:cNvPr id="9" name="箭头: 右 8">
            <a:extLst>
              <a:ext uri="{FF2B5EF4-FFF2-40B4-BE49-F238E27FC236}">
                <a16:creationId xmlns:a16="http://schemas.microsoft.com/office/drawing/2014/main" id="{6F37016E-2FC3-4709-8C0A-19DA2EEC9E08}"/>
              </a:ext>
            </a:extLst>
          </p:cNvPr>
          <p:cNvSpPr/>
          <p:nvPr/>
        </p:nvSpPr>
        <p:spPr>
          <a:xfrm>
            <a:off x="2576087" y="4990265"/>
            <a:ext cx="889175" cy="4446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8B43C8B1-463B-4C7B-9251-3B5B386167CE}"/>
              </a:ext>
            </a:extLst>
          </p:cNvPr>
          <p:cNvSpPr/>
          <p:nvPr/>
        </p:nvSpPr>
        <p:spPr>
          <a:xfrm>
            <a:off x="3726971" y="4924390"/>
            <a:ext cx="554946" cy="7543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0A32405D-2ECD-44BA-94CC-37B52391E4C2}"/>
              </a:ext>
            </a:extLst>
          </p:cNvPr>
          <p:cNvSpPr/>
          <p:nvPr/>
        </p:nvSpPr>
        <p:spPr>
          <a:xfrm>
            <a:off x="4281917" y="4571948"/>
            <a:ext cx="554946" cy="110679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679675E5-C1C4-4156-A0CD-9B89DAA95E37}"/>
              </a:ext>
            </a:extLst>
          </p:cNvPr>
          <p:cNvSpPr/>
          <p:nvPr/>
        </p:nvSpPr>
        <p:spPr>
          <a:xfrm>
            <a:off x="4836863" y="4256638"/>
            <a:ext cx="554946" cy="142210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8ABF828F-AE40-43D1-AAF6-A120EA8B3C26}"/>
              </a:ext>
            </a:extLst>
          </p:cNvPr>
          <p:cNvSpPr txBox="1"/>
          <p:nvPr/>
        </p:nvSpPr>
        <p:spPr>
          <a:xfrm>
            <a:off x="3726971" y="5744197"/>
            <a:ext cx="554946"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0-10</a:t>
            </a:r>
            <a:endParaRPr lang="zh-CN" altLang="en-US" sz="1200" dirty="0">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19FA5360-7ADB-4D9A-8F3B-F4B5849CC176}"/>
              </a:ext>
            </a:extLst>
          </p:cNvPr>
          <p:cNvSpPr txBox="1"/>
          <p:nvPr/>
        </p:nvSpPr>
        <p:spPr>
          <a:xfrm>
            <a:off x="4225161" y="5744197"/>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10-20</a:t>
            </a:r>
            <a:endParaRPr lang="zh-CN" altLang="en-US" sz="1200" dirty="0">
              <a:latin typeface="Arial" panose="020B0604020202020204" pitchFamily="34" charset="0"/>
              <a:cs typeface="Arial" panose="020B0604020202020204" pitchFamily="34" charset="0"/>
            </a:endParaRPr>
          </a:p>
        </p:txBody>
      </p:sp>
      <p:sp>
        <p:nvSpPr>
          <p:cNvPr id="34" name="文本框 33">
            <a:extLst>
              <a:ext uri="{FF2B5EF4-FFF2-40B4-BE49-F238E27FC236}">
                <a16:creationId xmlns:a16="http://schemas.microsoft.com/office/drawing/2014/main" id="{B88F686A-8BFA-4701-977E-711C0B472058}"/>
              </a:ext>
            </a:extLst>
          </p:cNvPr>
          <p:cNvSpPr txBox="1"/>
          <p:nvPr/>
        </p:nvSpPr>
        <p:spPr>
          <a:xfrm>
            <a:off x="4780107" y="5730385"/>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20-30</a:t>
            </a:r>
            <a:endParaRPr lang="zh-CN" altLang="en-US" sz="1200" dirty="0">
              <a:latin typeface="Arial" panose="020B0604020202020204" pitchFamily="34" charset="0"/>
              <a:cs typeface="Arial" panose="020B0604020202020204" pitchFamily="34" charset="0"/>
            </a:endParaRPr>
          </a:p>
        </p:txBody>
      </p:sp>
      <p:sp>
        <p:nvSpPr>
          <p:cNvPr id="35" name="矩形 34">
            <a:extLst>
              <a:ext uri="{FF2B5EF4-FFF2-40B4-BE49-F238E27FC236}">
                <a16:creationId xmlns:a16="http://schemas.microsoft.com/office/drawing/2014/main" id="{550E374F-1C7F-4423-ACFB-74918BE5B4F6}"/>
              </a:ext>
            </a:extLst>
          </p:cNvPr>
          <p:cNvSpPr/>
          <p:nvPr/>
        </p:nvSpPr>
        <p:spPr>
          <a:xfrm>
            <a:off x="6508010" y="5095415"/>
            <a:ext cx="554946" cy="5833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8B9EAED0-559B-4C15-8D31-C6834CD628B2}"/>
              </a:ext>
            </a:extLst>
          </p:cNvPr>
          <p:cNvSpPr/>
          <p:nvPr/>
        </p:nvSpPr>
        <p:spPr>
          <a:xfrm>
            <a:off x="7062956" y="4571948"/>
            <a:ext cx="554946" cy="110679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D0D796A6-EC02-469D-8607-99C97646B164}"/>
              </a:ext>
            </a:extLst>
          </p:cNvPr>
          <p:cNvSpPr/>
          <p:nvPr/>
        </p:nvSpPr>
        <p:spPr>
          <a:xfrm>
            <a:off x="7617902" y="4092728"/>
            <a:ext cx="554946" cy="158601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55BD68AA-702B-4259-AAF6-42CB628D8FED}"/>
              </a:ext>
            </a:extLst>
          </p:cNvPr>
          <p:cNvSpPr txBox="1"/>
          <p:nvPr/>
        </p:nvSpPr>
        <p:spPr>
          <a:xfrm>
            <a:off x="6508010" y="5744197"/>
            <a:ext cx="554946"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0-10</a:t>
            </a:r>
            <a:endParaRPr lang="zh-CN" altLang="en-US" sz="1200" dirty="0">
              <a:latin typeface="Arial" panose="020B0604020202020204" pitchFamily="34" charset="0"/>
              <a:cs typeface="Arial" panose="020B0604020202020204" pitchFamily="34" charset="0"/>
            </a:endParaRPr>
          </a:p>
        </p:txBody>
      </p:sp>
      <p:sp>
        <p:nvSpPr>
          <p:cNvPr id="39" name="文本框 38">
            <a:extLst>
              <a:ext uri="{FF2B5EF4-FFF2-40B4-BE49-F238E27FC236}">
                <a16:creationId xmlns:a16="http://schemas.microsoft.com/office/drawing/2014/main" id="{11C82762-5C0B-4C09-9723-604CF9230EDD}"/>
              </a:ext>
            </a:extLst>
          </p:cNvPr>
          <p:cNvSpPr txBox="1"/>
          <p:nvPr/>
        </p:nvSpPr>
        <p:spPr>
          <a:xfrm>
            <a:off x="7006200" y="5744197"/>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10-20</a:t>
            </a:r>
            <a:endParaRPr lang="zh-CN" altLang="en-US" sz="1200" dirty="0">
              <a:latin typeface="Arial" panose="020B0604020202020204" pitchFamily="34" charset="0"/>
              <a:cs typeface="Arial" panose="020B0604020202020204" pitchFamily="34" charset="0"/>
            </a:endParaRPr>
          </a:p>
        </p:txBody>
      </p:sp>
      <p:sp>
        <p:nvSpPr>
          <p:cNvPr id="40" name="文本框 39">
            <a:extLst>
              <a:ext uri="{FF2B5EF4-FFF2-40B4-BE49-F238E27FC236}">
                <a16:creationId xmlns:a16="http://schemas.microsoft.com/office/drawing/2014/main" id="{CD58D845-CA2F-453B-B768-40A367A8FE91}"/>
              </a:ext>
            </a:extLst>
          </p:cNvPr>
          <p:cNvSpPr txBox="1"/>
          <p:nvPr/>
        </p:nvSpPr>
        <p:spPr>
          <a:xfrm>
            <a:off x="7561146" y="5730385"/>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20-30</a:t>
            </a:r>
            <a:endParaRPr lang="zh-CN" altLang="en-US" sz="1200" dirty="0">
              <a:latin typeface="Arial" panose="020B0604020202020204" pitchFamily="34" charset="0"/>
              <a:cs typeface="Arial" panose="020B0604020202020204" pitchFamily="34" charset="0"/>
            </a:endParaRPr>
          </a:p>
        </p:txBody>
      </p:sp>
      <p:graphicFrame>
        <p:nvGraphicFramePr>
          <p:cNvPr id="41" name="表格 2">
            <a:extLst>
              <a:ext uri="{FF2B5EF4-FFF2-40B4-BE49-F238E27FC236}">
                <a16:creationId xmlns:a16="http://schemas.microsoft.com/office/drawing/2014/main" id="{7ECC0A15-D4A2-437D-B31A-7617AED095AF}"/>
              </a:ext>
            </a:extLst>
          </p:cNvPr>
          <p:cNvGraphicFramePr>
            <a:graphicFrameLocks noGrp="1"/>
          </p:cNvGraphicFramePr>
          <p:nvPr>
            <p:extLst>
              <p:ext uri="{D42A27DB-BD31-4B8C-83A1-F6EECF244321}">
                <p14:modId xmlns:p14="http://schemas.microsoft.com/office/powerpoint/2010/main" val="3262658423"/>
              </p:ext>
            </p:extLst>
          </p:nvPr>
        </p:nvGraphicFramePr>
        <p:xfrm>
          <a:off x="9780939" y="4344615"/>
          <a:ext cx="1590916" cy="1676400"/>
        </p:xfrm>
        <a:graphic>
          <a:graphicData uri="http://schemas.openxmlformats.org/drawingml/2006/table">
            <a:tbl>
              <a:tblPr firstRow="1" bandRow="1">
                <a:tableStyleId>{93296810-A885-4BE3-A3E7-6D5BEEA58F35}</a:tableStyleId>
              </a:tblPr>
              <a:tblGrid>
                <a:gridCol w="795458">
                  <a:extLst>
                    <a:ext uri="{9D8B030D-6E8A-4147-A177-3AD203B41FA5}">
                      <a16:colId xmlns:a16="http://schemas.microsoft.com/office/drawing/2014/main" val="1238765568"/>
                    </a:ext>
                  </a:extLst>
                </a:gridCol>
                <a:gridCol w="795458">
                  <a:extLst>
                    <a:ext uri="{9D8B030D-6E8A-4147-A177-3AD203B41FA5}">
                      <a16:colId xmlns:a16="http://schemas.microsoft.com/office/drawing/2014/main" val="2422194543"/>
                    </a:ext>
                  </a:extLst>
                </a:gridCol>
              </a:tblGrid>
              <a:tr h="309911">
                <a:tc>
                  <a:txBody>
                    <a:bodyPr/>
                    <a:lstStyle/>
                    <a:p>
                      <a:pPr marL="0" algn="ctr" defTabSz="914400" rtl="0" eaLnBrk="1" latinLnBrk="0" hangingPunct="1"/>
                      <a:r>
                        <a:rPr lang="en-US" altLang="zh-CN" sz="1600" b="1" kern="1200" dirty="0">
                          <a:solidFill>
                            <a:schemeClr val="tx1"/>
                          </a:solidFill>
                        </a:rPr>
                        <a:t>ID</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rPr>
                        <a:t>Age</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2752317120"/>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rgbClr val="FF0000"/>
                          </a:solidFill>
                          <a:latin typeface="+mn-lt"/>
                          <a:ea typeface="+mn-ea"/>
                          <a:cs typeface="+mn-cs"/>
                        </a:rPr>
                        <a:t>30</a:t>
                      </a:r>
                      <a:endParaRPr lang="zh-CN" altLang="en-US" sz="1600" b="1" kern="1200" dirty="0">
                        <a:solidFill>
                          <a:srgbClr val="FF0000"/>
                        </a:solidFill>
                        <a:latin typeface="+mn-lt"/>
                        <a:ea typeface="+mn-ea"/>
                        <a:cs typeface="+mn-cs"/>
                      </a:endParaRPr>
                    </a:p>
                  </a:txBody>
                  <a:tcPr anchor="ctr"/>
                </a:tc>
                <a:extLst>
                  <a:ext uri="{0D108BD9-81ED-4DB2-BD59-A6C34878D82A}">
                    <a16:rowId xmlns:a16="http://schemas.microsoft.com/office/drawing/2014/main" val="2460415473"/>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2</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21</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582642059"/>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3</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35</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46871934"/>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289250877"/>
                  </a:ext>
                </a:extLst>
              </a:tr>
            </a:tbl>
          </a:graphicData>
        </a:graphic>
      </p:graphicFrame>
      <p:sp>
        <p:nvSpPr>
          <p:cNvPr id="43" name="箭头: 右 42">
            <a:extLst>
              <a:ext uri="{FF2B5EF4-FFF2-40B4-BE49-F238E27FC236}">
                <a16:creationId xmlns:a16="http://schemas.microsoft.com/office/drawing/2014/main" id="{455ABE0A-3712-49A9-A35F-F638E7DB7CF0}"/>
              </a:ext>
            </a:extLst>
          </p:cNvPr>
          <p:cNvSpPr/>
          <p:nvPr/>
        </p:nvSpPr>
        <p:spPr>
          <a:xfrm rot="10800000">
            <a:off x="8650015" y="4990265"/>
            <a:ext cx="889175" cy="4446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716F445D-DA61-4EB5-B441-C35A34DB0867}"/>
              </a:ext>
            </a:extLst>
          </p:cNvPr>
          <p:cNvSpPr/>
          <p:nvPr/>
        </p:nvSpPr>
        <p:spPr>
          <a:xfrm>
            <a:off x="6506961" y="4924390"/>
            <a:ext cx="554946" cy="17102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A9045567-E893-417D-90A3-D6093366C439}"/>
              </a:ext>
            </a:extLst>
          </p:cNvPr>
          <p:cNvSpPr/>
          <p:nvPr/>
        </p:nvSpPr>
        <p:spPr>
          <a:xfrm flipV="1">
            <a:off x="7617894" y="4092729"/>
            <a:ext cx="554946" cy="166374"/>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31709A85-2A13-4856-B72B-734F6D792C8C}"/>
                  </a:ext>
                </a:extLst>
              </p:cNvPr>
              <p:cNvSpPr txBox="1"/>
              <p:nvPr/>
            </p:nvSpPr>
            <p:spPr>
              <a:xfrm>
                <a:off x="3802219" y="6007384"/>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oMath>
                  </m:oMathPara>
                </a14:m>
                <a:endParaRPr lang="zh-CN" altLang="en-US" dirty="0"/>
              </a:p>
            </p:txBody>
          </p:sp>
        </mc:Choice>
        <mc:Fallback xmlns="">
          <p:sp>
            <p:nvSpPr>
              <p:cNvPr id="50" name="文本框 49">
                <a:extLst>
                  <a:ext uri="{FF2B5EF4-FFF2-40B4-BE49-F238E27FC236}">
                    <a16:creationId xmlns:a16="http://schemas.microsoft.com/office/drawing/2014/main" id="{31709A85-2A13-4856-B72B-734F6D792C8C}"/>
                  </a:ext>
                </a:extLst>
              </p:cNvPr>
              <p:cNvSpPr txBox="1">
                <a:spLocks noRot="1" noChangeAspect="1" noMove="1" noResize="1" noEditPoints="1" noAdjustHandles="1" noChangeArrowheads="1" noChangeShapeType="1" noTextEdit="1"/>
              </p:cNvSpPr>
              <p:nvPr/>
            </p:nvSpPr>
            <p:spPr>
              <a:xfrm>
                <a:off x="3802219" y="6007384"/>
                <a:ext cx="347685" cy="369332"/>
              </a:xfrm>
              <a:prstGeom prst="rect">
                <a:avLst/>
              </a:prstGeom>
              <a:blipFill>
                <a:blip r:embed="rId3"/>
                <a:stretch>
                  <a:fillRect r="-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C9B20830-EA85-4B1C-8ECB-AD8AFB95ECA3}"/>
                  </a:ext>
                </a:extLst>
              </p:cNvPr>
              <p:cNvSpPr txBox="1"/>
              <p:nvPr/>
            </p:nvSpPr>
            <p:spPr>
              <a:xfrm>
                <a:off x="4360320" y="6007384"/>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oMath>
                  </m:oMathPara>
                </a14:m>
                <a:endParaRPr lang="zh-CN" altLang="en-US" dirty="0"/>
              </a:p>
            </p:txBody>
          </p:sp>
        </mc:Choice>
        <mc:Fallback xmlns="">
          <p:sp>
            <p:nvSpPr>
              <p:cNvPr id="51" name="文本框 50">
                <a:extLst>
                  <a:ext uri="{FF2B5EF4-FFF2-40B4-BE49-F238E27FC236}">
                    <a16:creationId xmlns:a16="http://schemas.microsoft.com/office/drawing/2014/main" id="{C9B20830-EA85-4B1C-8ECB-AD8AFB95ECA3}"/>
                  </a:ext>
                </a:extLst>
              </p:cNvPr>
              <p:cNvSpPr txBox="1">
                <a:spLocks noRot="1" noChangeAspect="1" noMove="1" noResize="1" noEditPoints="1" noAdjustHandles="1" noChangeArrowheads="1" noChangeShapeType="1" noTextEdit="1"/>
              </p:cNvSpPr>
              <p:nvPr/>
            </p:nvSpPr>
            <p:spPr>
              <a:xfrm>
                <a:off x="4360320" y="6007384"/>
                <a:ext cx="347685" cy="369332"/>
              </a:xfrm>
              <a:prstGeom prst="rect">
                <a:avLst/>
              </a:prstGeom>
              <a:blipFill>
                <a:blip r:embed="rId4"/>
                <a:stretch>
                  <a:fillRect r="-140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B0B5F023-88E3-476B-9635-799FF5423BDF}"/>
                  </a:ext>
                </a:extLst>
              </p:cNvPr>
              <p:cNvSpPr txBox="1"/>
              <p:nvPr/>
            </p:nvSpPr>
            <p:spPr>
              <a:xfrm>
                <a:off x="4904769" y="6021015"/>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3</m:t>
                          </m:r>
                        </m:sub>
                      </m:sSub>
                    </m:oMath>
                  </m:oMathPara>
                </a14:m>
                <a:endParaRPr lang="zh-CN" altLang="en-US" dirty="0"/>
              </a:p>
            </p:txBody>
          </p:sp>
        </mc:Choice>
        <mc:Fallback xmlns="">
          <p:sp>
            <p:nvSpPr>
              <p:cNvPr id="52" name="文本框 51">
                <a:extLst>
                  <a:ext uri="{FF2B5EF4-FFF2-40B4-BE49-F238E27FC236}">
                    <a16:creationId xmlns:a16="http://schemas.microsoft.com/office/drawing/2014/main" id="{B0B5F023-88E3-476B-9635-799FF5423BDF}"/>
                  </a:ext>
                </a:extLst>
              </p:cNvPr>
              <p:cNvSpPr txBox="1">
                <a:spLocks noRot="1" noChangeAspect="1" noMove="1" noResize="1" noEditPoints="1" noAdjustHandles="1" noChangeArrowheads="1" noChangeShapeType="1" noTextEdit="1"/>
              </p:cNvSpPr>
              <p:nvPr/>
            </p:nvSpPr>
            <p:spPr>
              <a:xfrm>
                <a:off x="4904769" y="6021015"/>
                <a:ext cx="347685" cy="369332"/>
              </a:xfrm>
              <a:prstGeom prst="rect">
                <a:avLst/>
              </a:prstGeom>
              <a:blipFill>
                <a:blip r:embed="rId5"/>
                <a:stretch>
                  <a:fillRect r="-122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0AF9F75D-D276-47CF-976A-2789BD1801AA}"/>
                  </a:ext>
                </a:extLst>
              </p:cNvPr>
              <p:cNvSpPr txBox="1"/>
              <p:nvPr/>
            </p:nvSpPr>
            <p:spPr>
              <a:xfrm>
                <a:off x="6594280" y="6017550"/>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up>
                          <m:r>
                            <a:rPr lang="en-US" altLang="zh-CN" b="0" i="1" smtClean="0">
                              <a:latin typeface="Cambria Math" panose="02040503050406030204" pitchFamily="18" charset="0"/>
                              <a:cs typeface="Arial" panose="020B0604020202020204" pitchFamily="34" charset="0"/>
                            </a:rPr>
                            <m:t>′</m:t>
                          </m:r>
                        </m:sup>
                      </m:sSubSup>
                    </m:oMath>
                  </m:oMathPara>
                </a14:m>
                <a:endParaRPr lang="zh-CN" altLang="en-US" dirty="0"/>
              </a:p>
            </p:txBody>
          </p:sp>
        </mc:Choice>
        <mc:Fallback xmlns="">
          <p:sp>
            <p:nvSpPr>
              <p:cNvPr id="53" name="文本框 52">
                <a:extLst>
                  <a:ext uri="{FF2B5EF4-FFF2-40B4-BE49-F238E27FC236}">
                    <a16:creationId xmlns:a16="http://schemas.microsoft.com/office/drawing/2014/main" id="{0AF9F75D-D276-47CF-976A-2789BD1801AA}"/>
                  </a:ext>
                </a:extLst>
              </p:cNvPr>
              <p:cNvSpPr txBox="1">
                <a:spLocks noRot="1" noChangeAspect="1" noMove="1" noResize="1" noEditPoints="1" noAdjustHandles="1" noChangeArrowheads="1" noChangeShapeType="1" noTextEdit="1"/>
              </p:cNvSpPr>
              <p:nvPr/>
            </p:nvSpPr>
            <p:spPr>
              <a:xfrm>
                <a:off x="6594280" y="6017550"/>
                <a:ext cx="347685" cy="369332"/>
              </a:xfrm>
              <a:prstGeom prst="rect">
                <a:avLst/>
              </a:prstGeom>
              <a:blipFill>
                <a:blip r:embed="rId6"/>
                <a:stretch>
                  <a:fillRect r="-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65F3037C-592C-4279-B520-22DCE0831461}"/>
                  </a:ext>
                </a:extLst>
              </p:cNvPr>
              <p:cNvSpPr txBox="1"/>
              <p:nvPr/>
            </p:nvSpPr>
            <p:spPr>
              <a:xfrm>
                <a:off x="7166586" y="6007384"/>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up>
                          <m:r>
                            <a:rPr lang="en-US" altLang="zh-CN" b="0" i="1" smtClean="0">
                              <a:latin typeface="Cambria Math" panose="02040503050406030204" pitchFamily="18" charset="0"/>
                              <a:cs typeface="Arial" panose="020B0604020202020204" pitchFamily="34" charset="0"/>
                            </a:rPr>
                            <m:t>′</m:t>
                          </m:r>
                        </m:sup>
                      </m:sSubSup>
                    </m:oMath>
                  </m:oMathPara>
                </a14:m>
                <a:endParaRPr lang="zh-CN" altLang="en-US" dirty="0"/>
              </a:p>
            </p:txBody>
          </p:sp>
        </mc:Choice>
        <mc:Fallback xmlns="">
          <p:sp>
            <p:nvSpPr>
              <p:cNvPr id="57" name="文本框 56">
                <a:extLst>
                  <a:ext uri="{FF2B5EF4-FFF2-40B4-BE49-F238E27FC236}">
                    <a16:creationId xmlns:a16="http://schemas.microsoft.com/office/drawing/2014/main" id="{65F3037C-592C-4279-B520-22DCE0831461}"/>
                  </a:ext>
                </a:extLst>
              </p:cNvPr>
              <p:cNvSpPr txBox="1">
                <a:spLocks noRot="1" noChangeAspect="1" noMove="1" noResize="1" noEditPoints="1" noAdjustHandles="1" noChangeArrowheads="1" noChangeShapeType="1" noTextEdit="1"/>
              </p:cNvSpPr>
              <p:nvPr/>
            </p:nvSpPr>
            <p:spPr>
              <a:xfrm>
                <a:off x="7166586" y="6007384"/>
                <a:ext cx="347685" cy="369332"/>
              </a:xfrm>
              <a:prstGeom prst="rect">
                <a:avLst/>
              </a:prstGeom>
              <a:blipFill>
                <a:blip r:embed="rId7"/>
                <a:stretch>
                  <a:fillRect r="-122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789274D7-AB69-4558-BA01-6702C1EF0796}"/>
                  </a:ext>
                </a:extLst>
              </p:cNvPr>
              <p:cNvSpPr txBox="1"/>
              <p:nvPr/>
            </p:nvSpPr>
            <p:spPr>
              <a:xfrm>
                <a:off x="7693154" y="5981898"/>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3</m:t>
                          </m:r>
                        </m:sub>
                        <m:sup>
                          <m:r>
                            <a:rPr lang="en-US" altLang="zh-CN" b="0" i="1" smtClean="0">
                              <a:latin typeface="Cambria Math" panose="02040503050406030204" pitchFamily="18" charset="0"/>
                              <a:cs typeface="Arial" panose="020B0604020202020204" pitchFamily="34" charset="0"/>
                            </a:rPr>
                            <m:t>′</m:t>
                          </m:r>
                        </m:sup>
                      </m:sSubSup>
                    </m:oMath>
                  </m:oMathPara>
                </a14:m>
                <a:endParaRPr lang="zh-CN" altLang="en-US" dirty="0"/>
              </a:p>
            </p:txBody>
          </p:sp>
        </mc:Choice>
        <mc:Fallback xmlns="">
          <p:sp>
            <p:nvSpPr>
              <p:cNvPr id="58" name="文本框 57">
                <a:extLst>
                  <a:ext uri="{FF2B5EF4-FFF2-40B4-BE49-F238E27FC236}">
                    <a16:creationId xmlns:a16="http://schemas.microsoft.com/office/drawing/2014/main" id="{789274D7-AB69-4558-BA01-6702C1EF0796}"/>
                  </a:ext>
                </a:extLst>
              </p:cNvPr>
              <p:cNvSpPr txBox="1">
                <a:spLocks noRot="1" noChangeAspect="1" noMove="1" noResize="1" noEditPoints="1" noAdjustHandles="1" noChangeArrowheads="1" noChangeShapeType="1" noTextEdit="1"/>
              </p:cNvSpPr>
              <p:nvPr/>
            </p:nvSpPr>
            <p:spPr>
              <a:xfrm>
                <a:off x="7693154" y="5981898"/>
                <a:ext cx="347685" cy="369332"/>
              </a:xfrm>
              <a:prstGeom prst="rect">
                <a:avLst/>
              </a:prstGeom>
              <a:blipFill>
                <a:blip r:embed="rId8"/>
                <a:stretch>
                  <a:fillRect r="-122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219668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1844608"/>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Let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be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-DP,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-DP, …,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-DP. Given a partition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publishing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𝑘</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limLow>
                          <m:limLowPr>
                            <m:ctrlPr>
                              <a:rPr lang="en-US" altLang="zh-CN" b="0" i="1" smtClean="0">
                                <a:latin typeface="Cambria Math" panose="02040503050406030204" pitchFamily="18" charset="0"/>
                                <a:cs typeface="Arial" panose="020B0604020202020204" pitchFamily="34" charset="0"/>
                              </a:rPr>
                            </m:ctrlPr>
                          </m:limLowPr>
                          <m:e>
                            <m:r>
                              <m:rPr>
                                <m:sty m:val="p"/>
                              </m:rPr>
                              <a:rPr lang="en-US" altLang="zh-CN" b="0" i="0" smtClean="0">
                                <a:latin typeface="Cambria Math" panose="02040503050406030204" pitchFamily="18" charset="0"/>
                                <a:cs typeface="Arial" panose="020B0604020202020204" pitchFamily="34" charset="0"/>
                              </a:rPr>
                              <m:t>max</m:t>
                            </m:r>
                          </m:e>
                          <m:lim>
                            <m: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∈[1,…,</m:t>
                            </m:r>
                            <m:r>
                              <a:rPr lang="en-US" altLang="zh-CN" b="0" i="1" smtClean="0">
                                <a:latin typeface="Cambria Math" panose="02040503050406030204" pitchFamily="18" charset="0"/>
                                <a:cs typeface="Arial" panose="020B0604020202020204" pitchFamily="34" charset="0"/>
                              </a:rPr>
                              <m:t>𝑘</m:t>
                            </m:r>
                            <m:r>
                              <a:rPr lang="en-US" altLang="zh-CN" b="0" i="1" smtClean="0">
                                <a:latin typeface="Cambria Math" panose="02040503050406030204" pitchFamily="18" charset="0"/>
                                <a:cs typeface="Arial" panose="020B0604020202020204" pitchFamily="34" charset="0"/>
                              </a:rPr>
                              <m:t>]</m:t>
                            </m:r>
                          </m:lim>
                        </m:limLow>
                      </m:fName>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𝑖</m:t>
                            </m:r>
                          </m:sub>
                        </m:sSub>
                      </m:e>
                    </m:func>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-DP.</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Proof. </a:t>
                </a:r>
                <a:r>
                  <a:rPr lang="en-US" altLang="zh-CN" dirty="0">
                    <a:latin typeface="Arial" panose="020B0604020202020204" pitchFamily="34" charset="0"/>
                    <a:cs typeface="Arial" panose="020B0604020202020204" pitchFamily="34" charset="0"/>
                  </a:rPr>
                  <a:t>We replace one element in </a:t>
                </a:r>
                <a14:m>
                  <m:oMath xmlns:m="http://schemas.openxmlformats.org/officeDocument/2006/math">
                    <m:r>
                      <a:rPr lang="en-US" altLang="zh-CN" i="1">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to generate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let the partition of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be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up>
                        <m:r>
                          <a:rPr lang="en-US" altLang="zh-CN" b="0" i="1" smtClean="0">
                            <a:latin typeface="Cambria Math" panose="02040503050406030204" pitchFamily="18" charset="0"/>
                            <a:cs typeface="Arial" panose="020B0604020202020204" pitchFamily="34" charset="0"/>
                          </a:rPr>
                          <m:t>′</m:t>
                        </m:r>
                      </m:sup>
                    </m:sSubSup>
                    <m:r>
                      <a:rPr lang="en-US" altLang="zh-CN" i="1">
                        <a:latin typeface="Cambria Math" panose="02040503050406030204" pitchFamily="18" charset="0"/>
                        <a:cs typeface="Arial" panose="020B0604020202020204" pitchFamily="34" charset="0"/>
                      </a:rPr>
                      <m:t>,…,</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up>
                        <m:r>
                          <a:rPr lang="en-US" altLang="zh-CN" i="1">
                            <a:latin typeface="Cambria Math" panose="02040503050406030204" pitchFamily="18" charset="0"/>
                            <a:cs typeface="Arial" panose="020B0604020202020204" pitchFamily="34" charset="0"/>
                          </a:rPr>
                          <m:t>′</m:t>
                        </m:r>
                      </m:sup>
                    </m:sSubSup>
                  </m:oMath>
                </a14:m>
                <a:r>
                  <a:rPr lang="en-US" altLang="zh-CN" dirty="0">
                    <a:latin typeface="Arial" panose="020B0604020202020204" pitchFamily="34" charset="0"/>
                    <a:cs typeface="Arial" panose="020B0604020202020204" pitchFamily="34" charset="0"/>
                  </a:rPr>
                  <a:t>. There exists </a:t>
                </a:r>
                <a14:m>
                  <m:oMath xmlns:m="http://schemas.openxmlformats.org/officeDocument/2006/math">
                    <m:r>
                      <a:rPr lang="en-US" altLang="zh-CN" b="0" i="1" smtClean="0">
                        <a:latin typeface="Cambria Math" panose="02040503050406030204" pitchFamily="18" charset="0"/>
                        <a:cs typeface="Arial" panose="020B0604020202020204" pitchFamily="34" charset="0"/>
                      </a:rPr>
                      <m:t>𝑗</m:t>
                    </m:r>
                  </m:oMath>
                </a14:m>
                <a:r>
                  <a:rPr lang="en-US" altLang="zh-CN" dirty="0">
                    <a:latin typeface="Arial" panose="020B0604020202020204" pitchFamily="34" charset="0"/>
                    <a:cs typeface="Arial" panose="020B0604020202020204" pitchFamily="34" charset="0"/>
                  </a:rPr>
                  <a:t> such that one element in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𝑗</m:t>
                        </m:r>
                      </m:sub>
                    </m:sSub>
                  </m:oMath>
                </a14:m>
                <a:r>
                  <a:rPr lang="en-US" altLang="zh-CN" dirty="0">
                    <a:latin typeface="Arial" panose="020B0604020202020204" pitchFamily="34" charset="0"/>
                    <a:cs typeface="Arial" panose="020B0604020202020204" pitchFamily="34" charset="0"/>
                  </a:rPr>
                  <a:t> is replaced with another element to generate </a:t>
                </a:r>
                <a14:m>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up>
                        <m:r>
                          <a:rPr lang="en-US" altLang="zh-CN" b="0" i="1" smtClean="0">
                            <a:latin typeface="Cambria Math" panose="02040503050406030204" pitchFamily="18" charset="0"/>
                            <a:cs typeface="Arial" panose="020B0604020202020204" pitchFamily="34" charset="0"/>
                          </a:rPr>
                          <m:t>′</m:t>
                        </m:r>
                      </m:sup>
                    </m:sSubSup>
                  </m:oMath>
                </a14:m>
                <a:r>
                  <a:rPr lang="en-US" altLang="zh-CN" dirty="0">
                    <a:latin typeface="Arial" panose="020B0604020202020204" pitchFamily="34" charset="0"/>
                    <a:cs typeface="Arial" panose="020B0604020202020204" pitchFamily="34" charset="0"/>
                  </a:rPr>
                  <a:t>, we may be in the situation that there exist </a:t>
                </a:r>
                <a14:m>
                  <m:oMath xmlns:m="http://schemas.openxmlformats.org/officeDocument/2006/math">
                    <m: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𝑗</m:t>
                    </m:r>
                  </m:oMath>
                </a14:m>
                <a:r>
                  <a:rPr lang="en-US" altLang="zh-CN" dirty="0">
                    <a:latin typeface="Arial" panose="020B0604020202020204" pitchFamily="34" charset="0"/>
                    <a:cs typeface="Arial" panose="020B0604020202020204" pitchFamily="34" charset="0"/>
                  </a:rPr>
                  <a:t>, such that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Sub>
                    <m:r>
                      <a:rPr lang="en-US" altLang="zh-CN" b="0" i="1" smtClean="0">
                        <a:latin typeface="Cambria Math" panose="02040503050406030204" pitchFamily="18" charset="0"/>
                        <a:cs typeface="Arial" panose="020B0604020202020204" pitchFamily="34" charset="0"/>
                      </a:rPr>
                      <m:t>=</m:t>
                    </m:r>
                    <m:sSubSup>
                      <m:sSubSupPr>
                        <m:ctrlPr>
                          <a:rPr lang="en-US" altLang="zh-CN" b="0" i="1" smtClean="0">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up>
                        <m:r>
                          <a:rPr lang="en-US" altLang="zh-CN" i="1">
                            <a:latin typeface="Cambria Math" panose="02040503050406030204" pitchFamily="18" charset="0"/>
                            <a:cs typeface="Arial" panose="020B0604020202020204" pitchFamily="34" charset="0"/>
                          </a:rPr>
                          <m:t>′</m:t>
                        </m:r>
                      </m:sup>
                    </m:sSubSup>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𝑟</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𝑟</m:t>
                    </m:r>
                    <m:r>
                      <a:rPr lang="en-US" altLang="zh-CN" i="1">
                        <a:latin typeface="Cambria Math" panose="02040503050406030204" pitchFamily="18" charset="0"/>
                        <a:cs typeface="Arial" panose="020B0604020202020204" pitchFamily="34" charset="0"/>
                      </a:rPr>
                      <m:t>}=</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up>
                        <m:r>
                          <a:rPr lang="en-US" altLang="zh-CN" i="1">
                            <a:latin typeface="Cambria Math" panose="02040503050406030204" pitchFamily="18" charset="0"/>
                            <a:cs typeface="Arial" panose="020B0604020202020204" pitchFamily="34" charset="0"/>
                          </a:rPr>
                          <m:t>′</m:t>
                        </m:r>
                      </m:sup>
                    </m:sSubSup>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1844608"/>
              </a:xfrm>
              <a:prstGeom prst="rect">
                <a:avLst/>
              </a:prstGeom>
              <a:blipFill>
                <a:blip r:embed="rId2"/>
                <a:stretch>
                  <a:fillRect l="-498" t="-1650" r="-111" b="-2310"/>
                </a:stretch>
              </a:blipFill>
            </p:spPr>
            <p:txBody>
              <a:bodyPr/>
              <a:lstStyle/>
              <a:p>
                <a:r>
                  <a:rPr lang="zh-CN" altLang="en-US">
                    <a:noFill/>
                  </a:rPr>
                  <a:t> </a:t>
                </a:r>
              </a:p>
            </p:txBody>
          </p:sp>
        </mc:Fallback>
      </mc:AlternateContent>
      <p:graphicFrame>
        <p:nvGraphicFramePr>
          <p:cNvPr id="8" name="表格 2">
            <a:extLst>
              <a:ext uri="{FF2B5EF4-FFF2-40B4-BE49-F238E27FC236}">
                <a16:creationId xmlns:a16="http://schemas.microsoft.com/office/drawing/2014/main" id="{AB9F512F-30C0-472E-83DD-5E95B3862F46}"/>
              </a:ext>
            </a:extLst>
          </p:cNvPr>
          <p:cNvGraphicFramePr>
            <a:graphicFrameLocks noGrp="1"/>
          </p:cNvGraphicFramePr>
          <p:nvPr>
            <p:extLst>
              <p:ext uri="{D42A27DB-BD31-4B8C-83A1-F6EECF244321}">
                <p14:modId xmlns:p14="http://schemas.microsoft.com/office/powerpoint/2010/main" val="1893918375"/>
              </p:ext>
            </p:extLst>
          </p:nvPr>
        </p:nvGraphicFramePr>
        <p:xfrm>
          <a:off x="655845" y="3322022"/>
          <a:ext cx="1590916" cy="1676400"/>
        </p:xfrm>
        <a:graphic>
          <a:graphicData uri="http://schemas.openxmlformats.org/drawingml/2006/table">
            <a:tbl>
              <a:tblPr firstRow="1" bandRow="1">
                <a:tableStyleId>{93296810-A885-4BE3-A3E7-6D5BEEA58F35}</a:tableStyleId>
              </a:tblPr>
              <a:tblGrid>
                <a:gridCol w="795458">
                  <a:extLst>
                    <a:ext uri="{9D8B030D-6E8A-4147-A177-3AD203B41FA5}">
                      <a16:colId xmlns:a16="http://schemas.microsoft.com/office/drawing/2014/main" val="1238765568"/>
                    </a:ext>
                  </a:extLst>
                </a:gridCol>
                <a:gridCol w="795458">
                  <a:extLst>
                    <a:ext uri="{9D8B030D-6E8A-4147-A177-3AD203B41FA5}">
                      <a16:colId xmlns:a16="http://schemas.microsoft.com/office/drawing/2014/main" val="2422194543"/>
                    </a:ext>
                  </a:extLst>
                </a:gridCol>
              </a:tblGrid>
              <a:tr h="309911">
                <a:tc>
                  <a:txBody>
                    <a:bodyPr/>
                    <a:lstStyle/>
                    <a:p>
                      <a:pPr marL="0" algn="ctr" defTabSz="914400" rtl="0" eaLnBrk="1" latinLnBrk="0" hangingPunct="1"/>
                      <a:r>
                        <a:rPr lang="en-US" altLang="zh-CN" sz="1600" b="1" kern="1200" dirty="0">
                          <a:solidFill>
                            <a:schemeClr val="tx1"/>
                          </a:solidFill>
                        </a:rPr>
                        <a:t>ID</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rPr>
                        <a:t>Age</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2752317120"/>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rgbClr val="FF0000"/>
                          </a:solidFill>
                          <a:latin typeface="+mn-lt"/>
                          <a:ea typeface="+mn-ea"/>
                          <a:cs typeface="+mn-cs"/>
                        </a:rPr>
                        <a:t>10</a:t>
                      </a:r>
                      <a:endParaRPr lang="zh-CN" altLang="en-US" sz="1600" b="1" kern="1200" dirty="0">
                        <a:solidFill>
                          <a:srgbClr val="FF0000"/>
                        </a:solidFill>
                        <a:latin typeface="+mn-lt"/>
                        <a:ea typeface="+mn-ea"/>
                        <a:cs typeface="+mn-cs"/>
                      </a:endParaRPr>
                    </a:p>
                  </a:txBody>
                  <a:tcPr anchor="ctr"/>
                </a:tc>
                <a:extLst>
                  <a:ext uri="{0D108BD9-81ED-4DB2-BD59-A6C34878D82A}">
                    <a16:rowId xmlns:a16="http://schemas.microsoft.com/office/drawing/2014/main" val="2460415473"/>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2</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21</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582642059"/>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3</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35</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46871934"/>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289250877"/>
                  </a:ext>
                </a:extLst>
              </a:tr>
            </a:tbl>
          </a:graphicData>
        </a:graphic>
      </p:graphicFrame>
      <p:sp>
        <p:nvSpPr>
          <p:cNvPr id="9" name="箭头: 右 8">
            <a:extLst>
              <a:ext uri="{FF2B5EF4-FFF2-40B4-BE49-F238E27FC236}">
                <a16:creationId xmlns:a16="http://schemas.microsoft.com/office/drawing/2014/main" id="{6F37016E-2FC3-4709-8C0A-19DA2EEC9E08}"/>
              </a:ext>
            </a:extLst>
          </p:cNvPr>
          <p:cNvSpPr/>
          <p:nvPr/>
        </p:nvSpPr>
        <p:spPr>
          <a:xfrm>
            <a:off x="2489551" y="3967491"/>
            <a:ext cx="889175" cy="4446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8B43C8B1-463B-4C7B-9251-3B5B386167CE}"/>
              </a:ext>
            </a:extLst>
          </p:cNvPr>
          <p:cNvSpPr/>
          <p:nvPr/>
        </p:nvSpPr>
        <p:spPr>
          <a:xfrm>
            <a:off x="3640435" y="3901616"/>
            <a:ext cx="554946" cy="7543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0A32405D-2ECD-44BA-94CC-37B52391E4C2}"/>
              </a:ext>
            </a:extLst>
          </p:cNvPr>
          <p:cNvSpPr/>
          <p:nvPr/>
        </p:nvSpPr>
        <p:spPr>
          <a:xfrm>
            <a:off x="4195381" y="3549174"/>
            <a:ext cx="554946" cy="110679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679675E5-C1C4-4156-A0CD-9B89DAA95E37}"/>
              </a:ext>
            </a:extLst>
          </p:cNvPr>
          <p:cNvSpPr/>
          <p:nvPr/>
        </p:nvSpPr>
        <p:spPr>
          <a:xfrm>
            <a:off x="4750327" y="3233864"/>
            <a:ext cx="554946" cy="142210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8ABF828F-AE40-43D1-AAF6-A120EA8B3C26}"/>
              </a:ext>
            </a:extLst>
          </p:cNvPr>
          <p:cNvSpPr txBox="1"/>
          <p:nvPr/>
        </p:nvSpPr>
        <p:spPr>
          <a:xfrm>
            <a:off x="3640435" y="4721423"/>
            <a:ext cx="554946"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0-10</a:t>
            </a:r>
            <a:endParaRPr lang="zh-CN" altLang="en-US" sz="1200" dirty="0">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19FA5360-7ADB-4D9A-8F3B-F4B5849CC176}"/>
              </a:ext>
            </a:extLst>
          </p:cNvPr>
          <p:cNvSpPr txBox="1"/>
          <p:nvPr/>
        </p:nvSpPr>
        <p:spPr>
          <a:xfrm>
            <a:off x="4138625" y="4721423"/>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10-20</a:t>
            </a:r>
            <a:endParaRPr lang="zh-CN" altLang="en-US" sz="1200" dirty="0">
              <a:latin typeface="Arial" panose="020B0604020202020204" pitchFamily="34" charset="0"/>
              <a:cs typeface="Arial" panose="020B0604020202020204" pitchFamily="34" charset="0"/>
            </a:endParaRPr>
          </a:p>
        </p:txBody>
      </p:sp>
      <p:sp>
        <p:nvSpPr>
          <p:cNvPr id="34" name="文本框 33">
            <a:extLst>
              <a:ext uri="{FF2B5EF4-FFF2-40B4-BE49-F238E27FC236}">
                <a16:creationId xmlns:a16="http://schemas.microsoft.com/office/drawing/2014/main" id="{B88F686A-8BFA-4701-977E-711C0B472058}"/>
              </a:ext>
            </a:extLst>
          </p:cNvPr>
          <p:cNvSpPr txBox="1"/>
          <p:nvPr/>
        </p:nvSpPr>
        <p:spPr>
          <a:xfrm>
            <a:off x="4693571" y="4707611"/>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20-30</a:t>
            </a:r>
            <a:endParaRPr lang="zh-CN" altLang="en-US" sz="1200" dirty="0">
              <a:latin typeface="Arial" panose="020B0604020202020204" pitchFamily="34" charset="0"/>
              <a:cs typeface="Arial" panose="020B0604020202020204" pitchFamily="34" charset="0"/>
            </a:endParaRPr>
          </a:p>
        </p:txBody>
      </p:sp>
      <p:sp>
        <p:nvSpPr>
          <p:cNvPr id="35" name="矩形 34">
            <a:extLst>
              <a:ext uri="{FF2B5EF4-FFF2-40B4-BE49-F238E27FC236}">
                <a16:creationId xmlns:a16="http://schemas.microsoft.com/office/drawing/2014/main" id="{550E374F-1C7F-4423-ACFB-74918BE5B4F6}"/>
              </a:ext>
            </a:extLst>
          </p:cNvPr>
          <p:cNvSpPr/>
          <p:nvPr/>
        </p:nvSpPr>
        <p:spPr>
          <a:xfrm>
            <a:off x="6421474" y="4072641"/>
            <a:ext cx="554946" cy="5833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8B9EAED0-559B-4C15-8D31-C6834CD628B2}"/>
              </a:ext>
            </a:extLst>
          </p:cNvPr>
          <p:cNvSpPr/>
          <p:nvPr/>
        </p:nvSpPr>
        <p:spPr>
          <a:xfrm>
            <a:off x="6976420" y="3549174"/>
            <a:ext cx="554946" cy="110679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D0D796A6-EC02-469D-8607-99C97646B164}"/>
              </a:ext>
            </a:extLst>
          </p:cNvPr>
          <p:cNvSpPr/>
          <p:nvPr/>
        </p:nvSpPr>
        <p:spPr>
          <a:xfrm>
            <a:off x="7531366" y="3069954"/>
            <a:ext cx="554946" cy="158601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55BD68AA-702B-4259-AAF6-42CB628D8FED}"/>
              </a:ext>
            </a:extLst>
          </p:cNvPr>
          <p:cNvSpPr txBox="1"/>
          <p:nvPr/>
        </p:nvSpPr>
        <p:spPr>
          <a:xfrm>
            <a:off x="6421474" y="4721423"/>
            <a:ext cx="554946"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0-10</a:t>
            </a:r>
            <a:endParaRPr lang="zh-CN" altLang="en-US" sz="1200" dirty="0">
              <a:latin typeface="Arial" panose="020B0604020202020204" pitchFamily="34" charset="0"/>
              <a:cs typeface="Arial" panose="020B0604020202020204" pitchFamily="34" charset="0"/>
            </a:endParaRPr>
          </a:p>
        </p:txBody>
      </p:sp>
      <p:sp>
        <p:nvSpPr>
          <p:cNvPr id="39" name="文本框 38">
            <a:extLst>
              <a:ext uri="{FF2B5EF4-FFF2-40B4-BE49-F238E27FC236}">
                <a16:creationId xmlns:a16="http://schemas.microsoft.com/office/drawing/2014/main" id="{11C82762-5C0B-4C09-9723-604CF9230EDD}"/>
              </a:ext>
            </a:extLst>
          </p:cNvPr>
          <p:cNvSpPr txBox="1"/>
          <p:nvPr/>
        </p:nvSpPr>
        <p:spPr>
          <a:xfrm>
            <a:off x="6919664" y="4721423"/>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10-20</a:t>
            </a:r>
            <a:endParaRPr lang="zh-CN" altLang="en-US" sz="1200" dirty="0">
              <a:latin typeface="Arial" panose="020B0604020202020204" pitchFamily="34" charset="0"/>
              <a:cs typeface="Arial" panose="020B0604020202020204" pitchFamily="34" charset="0"/>
            </a:endParaRPr>
          </a:p>
        </p:txBody>
      </p:sp>
      <p:sp>
        <p:nvSpPr>
          <p:cNvPr id="40" name="文本框 39">
            <a:extLst>
              <a:ext uri="{FF2B5EF4-FFF2-40B4-BE49-F238E27FC236}">
                <a16:creationId xmlns:a16="http://schemas.microsoft.com/office/drawing/2014/main" id="{CD58D845-CA2F-453B-B768-40A367A8FE91}"/>
              </a:ext>
            </a:extLst>
          </p:cNvPr>
          <p:cNvSpPr txBox="1"/>
          <p:nvPr/>
        </p:nvSpPr>
        <p:spPr>
          <a:xfrm>
            <a:off x="7474610" y="4707611"/>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20-30</a:t>
            </a:r>
            <a:endParaRPr lang="zh-CN" altLang="en-US" sz="1200" dirty="0">
              <a:latin typeface="Arial" panose="020B0604020202020204" pitchFamily="34" charset="0"/>
              <a:cs typeface="Arial" panose="020B0604020202020204" pitchFamily="34" charset="0"/>
            </a:endParaRPr>
          </a:p>
        </p:txBody>
      </p:sp>
      <p:graphicFrame>
        <p:nvGraphicFramePr>
          <p:cNvPr id="41" name="表格 2">
            <a:extLst>
              <a:ext uri="{FF2B5EF4-FFF2-40B4-BE49-F238E27FC236}">
                <a16:creationId xmlns:a16="http://schemas.microsoft.com/office/drawing/2014/main" id="{7ECC0A15-D4A2-437D-B31A-7617AED095AF}"/>
              </a:ext>
            </a:extLst>
          </p:cNvPr>
          <p:cNvGraphicFramePr>
            <a:graphicFrameLocks noGrp="1"/>
          </p:cNvGraphicFramePr>
          <p:nvPr>
            <p:extLst>
              <p:ext uri="{D42A27DB-BD31-4B8C-83A1-F6EECF244321}">
                <p14:modId xmlns:p14="http://schemas.microsoft.com/office/powerpoint/2010/main" val="2268221767"/>
              </p:ext>
            </p:extLst>
          </p:nvPr>
        </p:nvGraphicFramePr>
        <p:xfrm>
          <a:off x="9694403" y="3321841"/>
          <a:ext cx="1590916" cy="1676400"/>
        </p:xfrm>
        <a:graphic>
          <a:graphicData uri="http://schemas.openxmlformats.org/drawingml/2006/table">
            <a:tbl>
              <a:tblPr firstRow="1" bandRow="1">
                <a:tableStyleId>{93296810-A885-4BE3-A3E7-6D5BEEA58F35}</a:tableStyleId>
              </a:tblPr>
              <a:tblGrid>
                <a:gridCol w="795458">
                  <a:extLst>
                    <a:ext uri="{9D8B030D-6E8A-4147-A177-3AD203B41FA5}">
                      <a16:colId xmlns:a16="http://schemas.microsoft.com/office/drawing/2014/main" val="1238765568"/>
                    </a:ext>
                  </a:extLst>
                </a:gridCol>
                <a:gridCol w="795458">
                  <a:extLst>
                    <a:ext uri="{9D8B030D-6E8A-4147-A177-3AD203B41FA5}">
                      <a16:colId xmlns:a16="http://schemas.microsoft.com/office/drawing/2014/main" val="2422194543"/>
                    </a:ext>
                  </a:extLst>
                </a:gridCol>
              </a:tblGrid>
              <a:tr h="309911">
                <a:tc>
                  <a:txBody>
                    <a:bodyPr/>
                    <a:lstStyle/>
                    <a:p>
                      <a:pPr marL="0" algn="ctr" defTabSz="914400" rtl="0" eaLnBrk="1" latinLnBrk="0" hangingPunct="1"/>
                      <a:r>
                        <a:rPr lang="en-US" altLang="zh-CN" sz="1600" b="1" kern="1200" dirty="0">
                          <a:solidFill>
                            <a:schemeClr val="tx1"/>
                          </a:solidFill>
                        </a:rPr>
                        <a:t>ID</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rPr>
                        <a:t>Age</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2752317120"/>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rgbClr val="FF0000"/>
                          </a:solidFill>
                          <a:latin typeface="+mn-lt"/>
                          <a:ea typeface="+mn-ea"/>
                          <a:cs typeface="+mn-cs"/>
                        </a:rPr>
                        <a:t>30</a:t>
                      </a:r>
                      <a:endParaRPr lang="zh-CN" altLang="en-US" sz="1600" b="1" kern="1200" dirty="0">
                        <a:solidFill>
                          <a:srgbClr val="FF0000"/>
                        </a:solidFill>
                        <a:latin typeface="+mn-lt"/>
                        <a:ea typeface="+mn-ea"/>
                        <a:cs typeface="+mn-cs"/>
                      </a:endParaRPr>
                    </a:p>
                  </a:txBody>
                  <a:tcPr anchor="ctr"/>
                </a:tc>
                <a:extLst>
                  <a:ext uri="{0D108BD9-81ED-4DB2-BD59-A6C34878D82A}">
                    <a16:rowId xmlns:a16="http://schemas.microsoft.com/office/drawing/2014/main" val="2460415473"/>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2</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21</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582642059"/>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3</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35</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46871934"/>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289250877"/>
                  </a:ext>
                </a:extLst>
              </a:tr>
            </a:tbl>
          </a:graphicData>
        </a:graphic>
      </p:graphicFrame>
      <p:sp>
        <p:nvSpPr>
          <p:cNvPr id="43" name="箭头: 右 42">
            <a:extLst>
              <a:ext uri="{FF2B5EF4-FFF2-40B4-BE49-F238E27FC236}">
                <a16:creationId xmlns:a16="http://schemas.microsoft.com/office/drawing/2014/main" id="{455ABE0A-3712-49A9-A35F-F638E7DB7CF0}"/>
              </a:ext>
            </a:extLst>
          </p:cNvPr>
          <p:cNvSpPr/>
          <p:nvPr/>
        </p:nvSpPr>
        <p:spPr>
          <a:xfrm rot="10800000">
            <a:off x="8563479" y="3967491"/>
            <a:ext cx="889175" cy="4446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716F445D-DA61-4EB5-B441-C35A34DB0867}"/>
              </a:ext>
            </a:extLst>
          </p:cNvPr>
          <p:cNvSpPr/>
          <p:nvPr/>
        </p:nvSpPr>
        <p:spPr>
          <a:xfrm>
            <a:off x="6420425" y="3901616"/>
            <a:ext cx="554946" cy="17102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A9045567-E893-417D-90A3-D6093366C439}"/>
              </a:ext>
            </a:extLst>
          </p:cNvPr>
          <p:cNvSpPr/>
          <p:nvPr/>
        </p:nvSpPr>
        <p:spPr>
          <a:xfrm flipV="1">
            <a:off x="7531358" y="3069955"/>
            <a:ext cx="554946" cy="166374"/>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31709A85-2A13-4856-B72B-734F6D792C8C}"/>
                  </a:ext>
                </a:extLst>
              </p:cNvPr>
              <p:cNvSpPr txBox="1"/>
              <p:nvPr/>
            </p:nvSpPr>
            <p:spPr>
              <a:xfrm>
                <a:off x="3715683" y="4984610"/>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oMath>
                  </m:oMathPara>
                </a14:m>
                <a:endParaRPr lang="zh-CN" altLang="en-US" dirty="0"/>
              </a:p>
            </p:txBody>
          </p:sp>
        </mc:Choice>
        <mc:Fallback xmlns="">
          <p:sp>
            <p:nvSpPr>
              <p:cNvPr id="50" name="文本框 49">
                <a:extLst>
                  <a:ext uri="{FF2B5EF4-FFF2-40B4-BE49-F238E27FC236}">
                    <a16:creationId xmlns:a16="http://schemas.microsoft.com/office/drawing/2014/main" id="{31709A85-2A13-4856-B72B-734F6D792C8C}"/>
                  </a:ext>
                </a:extLst>
              </p:cNvPr>
              <p:cNvSpPr txBox="1">
                <a:spLocks noRot="1" noChangeAspect="1" noMove="1" noResize="1" noEditPoints="1" noAdjustHandles="1" noChangeArrowheads="1" noChangeShapeType="1" noTextEdit="1"/>
              </p:cNvSpPr>
              <p:nvPr/>
            </p:nvSpPr>
            <p:spPr>
              <a:xfrm>
                <a:off x="3715683" y="4984610"/>
                <a:ext cx="347685" cy="369332"/>
              </a:xfrm>
              <a:prstGeom prst="rect">
                <a:avLst/>
              </a:prstGeom>
              <a:blipFill>
                <a:blip r:embed="rId3"/>
                <a:stretch>
                  <a:fillRect r="-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C9B20830-EA85-4B1C-8ECB-AD8AFB95ECA3}"/>
                  </a:ext>
                </a:extLst>
              </p:cNvPr>
              <p:cNvSpPr txBox="1"/>
              <p:nvPr/>
            </p:nvSpPr>
            <p:spPr>
              <a:xfrm>
                <a:off x="4273784" y="4984610"/>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oMath>
                  </m:oMathPara>
                </a14:m>
                <a:endParaRPr lang="zh-CN" altLang="en-US" dirty="0"/>
              </a:p>
            </p:txBody>
          </p:sp>
        </mc:Choice>
        <mc:Fallback xmlns="">
          <p:sp>
            <p:nvSpPr>
              <p:cNvPr id="51" name="文本框 50">
                <a:extLst>
                  <a:ext uri="{FF2B5EF4-FFF2-40B4-BE49-F238E27FC236}">
                    <a16:creationId xmlns:a16="http://schemas.microsoft.com/office/drawing/2014/main" id="{C9B20830-EA85-4B1C-8ECB-AD8AFB95ECA3}"/>
                  </a:ext>
                </a:extLst>
              </p:cNvPr>
              <p:cNvSpPr txBox="1">
                <a:spLocks noRot="1" noChangeAspect="1" noMove="1" noResize="1" noEditPoints="1" noAdjustHandles="1" noChangeArrowheads="1" noChangeShapeType="1" noTextEdit="1"/>
              </p:cNvSpPr>
              <p:nvPr/>
            </p:nvSpPr>
            <p:spPr>
              <a:xfrm>
                <a:off x="4273784" y="4984610"/>
                <a:ext cx="347685" cy="369332"/>
              </a:xfrm>
              <a:prstGeom prst="rect">
                <a:avLst/>
              </a:prstGeom>
              <a:blipFill>
                <a:blip r:embed="rId4"/>
                <a:stretch>
                  <a:fillRect r="-140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B0B5F023-88E3-476B-9635-799FF5423BDF}"/>
                  </a:ext>
                </a:extLst>
              </p:cNvPr>
              <p:cNvSpPr txBox="1"/>
              <p:nvPr/>
            </p:nvSpPr>
            <p:spPr>
              <a:xfrm>
                <a:off x="4818233" y="4998241"/>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3</m:t>
                          </m:r>
                        </m:sub>
                      </m:sSub>
                    </m:oMath>
                  </m:oMathPara>
                </a14:m>
                <a:endParaRPr lang="zh-CN" altLang="en-US" dirty="0"/>
              </a:p>
            </p:txBody>
          </p:sp>
        </mc:Choice>
        <mc:Fallback xmlns="">
          <p:sp>
            <p:nvSpPr>
              <p:cNvPr id="52" name="文本框 51">
                <a:extLst>
                  <a:ext uri="{FF2B5EF4-FFF2-40B4-BE49-F238E27FC236}">
                    <a16:creationId xmlns:a16="http://schemas.microsoft.com/office/drawing/2014/main" id="{B0B5F023-88E3-476B-9635-799FF5423BDF}"/>
                  </a:ext>
                </a:extLst>
              </p:cNvPr>
              <p:cNvSpPr txBox="1">
                <a:spLocks noRot="1" noChangeAspect="1" noMove="1" noResize="1" noEditPoints="1" noAdjustHandles="1" noChangeArrowheads="1" noChangeShapeType="1" noTextEdit="1"/>
              </p:cNvSpPr>
              <p:nvPr/>
            </p:nvSpPr>
            <p:spPr>
              <a:xfrm>
                <a:off x="4818233" y="4998241"/>
                <a:ext cx="347685" cy="369332"/>
              </a:xfrm>
              <a:prstGeom prst="rect">
                <a:avLst/>
              </a:prstGeom>
              <a:blipFill>
                <a:blip r:embed="rId5"/>
                <a:stretch>
                  <a:fillRect r="-140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0AF9F75D-D276-47CF-976A-2789BD1801AA}"/>
                  </a:ext>
                </a:extLst>
              </p:cNvPr>
              <p:cNvSpPr txBox="1"/>
              <p:nvPr/>
            </p:nvSpPr>
            <p:spPr>
              <a:xfrm>
                <a:off x="6507744" y="4994776"/>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up>
                          <m:r>
                            <a:rPr lang="en-US" altLang="zh-CN" b="0" i="1" smtClean="0">
                              <a:latin typeface="Cambria Math" panose="02040503050406030204" pitchFamily="18" charset="0"/>
                              <a:cs typeface="Arial" panose="020B0604020202020204" pitchFamily="34" charset="0"/>
                            </a:rPr>
                            <m:t>′</m:t>
                          </m:r>
                        </m:sup>
                      </m:sSubSup>
                    </m:oMath>
                  </m:oMathPara>
                </a14:m>
                <a:endParaRPr lang="zh-CN" altLang="en-US" dirty="0"/>
              </a:p>
            </p:txBody>
          </p:sp>
        </mc:Choice>
        <mc:Fallback xmlns="">
          <p:sp>
            <p:nvSpPr>
              <p:cNvPr id="53" name="文本框 52">
                <a:extLst>
                  <a:ext uri="{FF2B5EF4-FFF2-40B4-BE49-F238E27FC236}">
                    <a16:creationId xmlns:a16="http://schemas.microsoft.com/office/drawing/2014/main" id="{0AF9F75D-D276-47CF-976A-2789BD1801AA}"/>
                  </a:ext>
                </a:extLst>
              </p:cNvPr>
              <p:cNvSpPr txBox="1">
                <a:spLocks noRot="1" noChangeAspect="1" noMove="1" noResize="1" noEditPoints="1" noAdjustHandles="1" noChangeArrowheads="1" noChangeShapeType="1" noTextEdit="1"/>
              </p:cNvSpPr>
              <p:nvPr/>
            </p:nvSpPr>
            <p:spPr>
              <a:xfrm>
                <a:off x="6507744" y="4994776"/>
                <a:ext cx="347685" cy="369332"/>
              </a:xfrm>
              <a:prstGeom prst="rect">
                <a:avLst/>
              </a:prstGeom>
              <a:blipFill>
                <a:blip r:embed="rId6"/>
                <a:stretch>
                  <a:fillRect r="-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65F3037C-592C-4279-B520-22DCE0831461}"/>
                  </a:ext>
                </a:extLst>
              </p:cNvPr>
              <p:cNvSpPr txBox="1"/>
              <p:nvPr/>
            </p:nvSpPr>
            <p:spPr>
              <a:xfrm>
                <a:off x="7080050" y="4984610"/>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up>
                          <m:r>
                            <a:rPr lang="en-US" altLang="zh-CN" b="0" i="1" smtClean="0">
                              <a:latin typeface="Cambria Math" panose="02040503050406030204" pitchFamily="18" charset="0"/>
                              <a:cs typeface="Arial" panose="020B0604020202020204" pitchFamily="34" charset="0"/>
                            </a:rPr>
                            <m:t>′</m:t>
                          </m:r>
                        </m:sup>
                      </m:sSubSup>
                    </m:oMath>
                  </m:oMathPara>
                </a14:m>
                <a:endParaRPr lang="zh-CN" altLang="en-US" dirty="0"/>
              </a:p>
            </p:txBody>
          </p:sp>
        </mc:Choice>
        <mc:Fallback xmlns="">
          <p:sp>
            <p:nvSpPr>
              <p:cNvPr id="57" name="文本框 56">
                <a:extLst>
                  <a:ext uri="{FF2B5EF4-FFF2-40B4-BE49-F238E27FC236}">
                    <a16:creationId xmlns:a16="http://schemas.microsoft.com/office/drawing/2014/main" id="{65F3037C-592C-4279-B520-22DCE0831461}"/>
                  </a:ext>
                </a:extLst>
              </p:cNvPr>
              <p:cNvSpPr txBox="1">
                <a:spLocks noRot="1" noChangeAspect="1" noMove="1" noResize="1" noEditPoints="1" noAdjustHandles="1" noChangeArrowheads="1" noChangeShapeType="1" noTextEdit="1"/>
              </p:cNvSpPr>
              <p:nvPr/>
            </p:nvSpPr>
            <p:spPr>
              <a:xfrm>
                <a:off x="7080050" y="4984610"/>
                <a:ext cx="347685" cy="369332"/>
              </a:xfrm>
              <a:prstGeom prst="rect">
                <a:avLst/>
              </a:prstGeom>
              <a:blipFill>
                <a:blip r:embed="rId7"/>
                <a:stretch>
                  <a:fillRect r="-14035"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789274D7-AB69-4558-BA01-6702C1EF0796}"/>
                  </a:ext>
                </a:extLst>
              </p:cNvPr>
              <p:cNvSpPr txBox="1"/>
              <p:nvPr/>
            </p:nvSpPr>
            <p:spPr>
              <a:xfrm>
                <a:off x="7606618" y="4959124"/>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3</m:t>
                          </m:r>
                        </m:sub>
                        <m:sup>
                          <m:r>
                            <a:rPr lang="en-US" altLang="zh-CN" b="0" i="1" smtClean="0">
                              <a:latin typeface="Cambria Math" panose="02040503050406030204" pitchFamily="18" charset="0"/>
                              <a:cs typeface="Arial" panose="020B0604020202020204" pitchFamily="34" charset="0"/>
                            </a:rPr>
                            <m:t>′</m:t>
                          </m:r>
                        </m:sup>
                      </m:sSubSup>
                    </m:oMath>
                  </m:oMathPara>
                </a14:m>
                <a:endParaRPr lang="zh-CN" altLang="en-US" dirty="0"/>
              </a:p>
            </p:txBody>
          </p:sp>
        </mc:Choice>
        <mc:Fallback xmlns="">
          <p:sp>
            <p:nvSpPr>
              <p:cNvPr id="58" name="文本框 57">
                <a:extLst>
                  <a:ext uri="{FF2B5EF4-FFF2-40B4-BE49-F238E27FC236}">
                    <a16:creationId xmlns:a16="http://schemas.microsoft.com/office/drawing/2014/main" id="{789274D7-AB69-4558-BA01-6702C1EF0796}"/>
                  </a:ext>
                </a:extLst>
              </p:cNvPr>
              <p:cNvSpPr txBox="1">
                <a:spLocks noRot="1" noChangeAspect="1" noMove="1" noResize="1" noEditPoints="1" noAdjustHandles="1" noChangeArrowheads="1" noChangeShapeType="1" noTextEdit="1"/>
              </p:cNvSpPr>
              <p:nvPr/>
            </p:nvSpPr>
            <p:spPr>
              <a:xfrm>
                <a:off x="7606618" y="4959124"/>
                <a:ext cx="347685" cy="369332"/>
              </a:xfrm>
              <a:prstGeom prst="rect">
                <a:avLst/>
              </a:prstGeom>
              <a:blipFill>
                <a:blip r:embed="rId8"/>
                <a:stretch>
                  <a:fillRect r="-12281"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A72E81D-8772-41EA-ABBB-2AF0C4EA4BB4}"/>
                  </a:ext>
                </a:extLst>
              </p:cNvPr>
              <p:cNvSpPr txBox="1"/>
              <p:nvPr/>
            </p:nvSpPr>
            <p:spPr>
              <a:xfrm>
                <a:off x="655844" y="5637461"/>
                <a:ext cx="11294417" cy="941348"/>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Under bounded DP, </a:t>
                </a:r>
                <a14:m>
                  <m:oMath xmlns:m="http://schemas.openxmlformats.org/officeDocument/2006/math">
                    <m:f>
                      <m:fPr>
                        <m:ctrlPr>
                          <a:rPr lang="en-US" altLang="zh-CN" i="1" smtClean="0">
                            <a:latin typeface="Cambria Math" panose="02040503050406030204" pitchFamily="18" charset="0"/>
                            <a:cs typeface="Arial" panose="020B0604020202020204" pitchFamily="34" charset="0"/>
                          </a:rPr>
                        </m:ctrlPr>
                      </m:fPr>
                      <m:num>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𝑗</m:t>
                            </m:r>
                          </m:sub>
                        </m:sSub>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𝑗</m:t>
                                </m:r>
                              </m:sub>
                            </m:sSub>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𝑗</m:t>
                            </m:r>
                          </m:sub>
                        </m:sSub>
                        <m:r>
                          <a:rPr lang="en-US" altLang="zh-CN" i="1">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𝑗</m:t>
                            </m:r>
                          </m:sub>
                        </m:sSub>
                        <m:d>
                          <m:dPr>
                            <m:ctrlPr>
                              <a:rPr lang="en-US" altLang="zh-CN" i="1">
                                <a:latin typeface="Cambria Math" panose="02040503050406030204" pitchFamily="18" charset="0"/>
                                <a:cs typeface="Arial" panose="020B0604020202020204" pitchFamily="34" charset="0"/>
                              </a:rPr>
                            </m:ctrlPr>
                          </m:dPr>
                          <m:e>
                            <m:sSubSup>
                              <m:sSubSupPr>
                                <m:ctrlPr>
                                  <a:rPr lang="en-US" altLang="zh-CN" b="0" i="1" smtClean="0">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𝑗</m:t>
                                </m:r>
                              </m:sub>
                              <m:sup>
                                <m:r>
                                  <a:rPr lang="en-US" altLang="zh-CN" b="0" i="1" smtClean="0">
                                    <a:latin typeface="Cambria Math" panose="02040503050406030204" pitchFamily="18" charset="0"/>
                                    <a:cs typeface="Arial" panose="020B0604020202020204" pitchFamily="34" charset="0"/>
                                  </a:rPr>
                                  <m:t>′</m:t>
                                </m:r>
                              </m:sup>
                            </m:sSubSup>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𝑗</m:t>
                            </m:r>
                          </m:sub>
                        </m:sSub>
                        <m:r>
                          <a:rPr lang="en-US" altLang="zh-CN" i="1">
                            <a:latin typeface="Cambria Math" panose="02040503050406030204" pitchFamily="18" charset="0"/>
                            <a:cs typeface="Arial" panose="020B0604020202020204" pitchFamily="34" charset="0"/>
                          </a:rPr>
                          <m:t>]</m:t>
                        </m:r>
                      </m:den>
                    </m:f>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can be unbounded because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𝑗</m:t>
                        </m:r>
                      </m:sub>
                    </m:sSub>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and </a:t>
                </a:r>
                <a14:m>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𝑗</m:t>
                        </m:r>
                      </m:sub>
                      <m:sup>
                        <m:r>
                          <a:rPr lang="en-US" altLang="zh-CN" b="0" i="1" smtClean="0">
                            <a:latin typeface="Cambria Math" panose="02040503050406030204" pitchFamily="18" charset="0"/>
                            <a:cs typeface="Arial" panose="020B0604020202020204" pitchFamily="34" charset="0"/>
                          </a:rPr>
                          <m:t>′</m:t>
                        </m:r>
                      </m:sup>
                    </m:sSubSup>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contain different numbers of elements, and it does not comply with the definition of bounded DP.</a:t>
                </a:r>
                <a:endParaRPr lang="zh-CN" altLang="en-US" dirty="0">
                  <a:latin typeface="Arial" panose="020B0604020202020204" pitchFamily="34" charset="0"/>
                  <a:cs typeface="Arial" panose="020B0604020202020204" pitchFamily="34" charset="0"/>
                </a:endParaRPr>
              </a:p>
            </p:txBody>
          </p:sp>
        </mc:Choice>
        <mc:Fallback xmlns="">
          <p:sp>
            <p:nvSpPr>
              <p:cNvPr id="2" name="文本框 1">
                <a:extLst>
                  <a:ext uri="{FF2B5EF4-FFF2-40B4-BE49-F238E27FC236}">
                    <a16:creationId xmlns:a16="http://schemas.microsoft.com/office/drawing/2014/main" id="{4A72E81D-8772-41EA-ABBB-2AF0C4EA4BB4}"/>
                  </a:ext>
                </a:extLst>
              </p:cNvPr>
              <p:cNvSpPr txBox="1">
                <a:spLocks noRot="1" noChangeAspect="1" noMove="1" noResize="1" noEditPoints="1" noAdjustHandles="1" noChangeArrowheads="1" noChangeShapeType="1" noTextEdit="1"/>
              </p:cNvSpPr>
              <p:nvPr/>
            </p:nvSpPr>
            <p:spPr>
              <a:xfrm>
                <a:off x="655844" y="5637461"/>
                <a:ext cx="11294417" cy="941348"/>
              </a:xfrm>
              <a:prstGeom prst="rect">
                <a:avLst/>
              </a:prstGeom>
              <a:blipFill>
                <a:blip r:embed="rId9"/>
                <a:stretch>
                  <a:fillRect l="-486" r="-432" b="-97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301061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1844608"/>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Let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be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-DP,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-DP, …,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-DP. Given a partition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1</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2</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publishing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2</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𝑘</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limLow>
                          <m:limLowPr>
                            <m:ctrlPr>
                              <a:rPr lang="en-US" altLang="zh-CN" b="0" i="1" smtClean="0">
                                <a:latin typeface="Cambria Math" panose="02040503050406030204" pitchFamily="18" charset="0"/>
                                <a:cs typeface="Arial" panose="020B0604020202020204" pitchFamily="34" charset="0"/>
                              </a:rPr>
                            </m:ctrlPr>
                          </m:limLowPr>
                          <m:e>
                            <m:r>
                              <m:rPr>
                                <m:sty m:val="p"/>
                              </m:rPr>
                              <a:rPr lang="en-US" altLang="zh-CN" b="0" i="0" smtClean="0">
                                <a:latin typeface="Cambria Math" panose="02040503050406030204" pitchFamily="18" charset="0"/>
                                <a:cs typeface="Arial" panose="020B0604020202020204" pitchFamily="34" charset="0"/>
                              </a:rPr>
                              <m:t>max</m:t>
                            </m:r>
                          </m:e>
                          <m:lim>
                            <m: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∈[1,…,</m:t>
                            </m:r>
                            <m:r>
                              <a:rPr lang="en-US" altLang="zh-CN" b="0" i="1" smtClean="0">
                                <a:latin typeface="Cambria Math" panose="02040503050406030204" pitchFamily="18" charset="0"/>
                                <a:cs typeface="Arial" panose="020B0604020202020204" pitchFamily="34" charset="0"/>
                              </a:rPr>
                              <m:t>𝑘</m:t>
                            </m:r>
                            <m:r>
                              <a:rPr lang="en-US" altLang="zh-CN" b="0" i="1" smtClean="0">
                                <a:latin typeface="Cambria Math" panose="02040503050406030204" pitchFamily="18" charset="0"/>
                                <a:cs typeface="Arial" panose="020B0604020202020204" pitchFamily="34" charset="0"/>
                              </a:rPr>
                              <m:t>]</m:t>
                            </m:r>
                          </m:lim>
                        </m:limLow>
                      </m:fName>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𝜖</m:t>
                            </m:r>
                          </m:e>
                          <m:sub>
                            <m:r>
                              <a:rPr lang="en-US" altLang="zh-CN" b="0" i="1" smtClean="0">
                                <a:latin typeface="Cambria Math" panose="02040503050406030204" pitchFamily="18" charset="0"/>
                                <a:cs typeface="Arial" panose="020B0604020202020204" pitchFamily="34" charset="0"/>
                              </a:rPr>
                              <m:t>𝑖</m:t>
                            </m:r>
                          </m:sub>
                        </m:sSub>
                      </m:e>
                    </m:func>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-DP.</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Proof. </a:t>
                </a:r>
                <a:r>
                  <a:rPr lang="en-US" altLang="zh-CN" dirty="0">
                    <a:latin typeface="Arial" panose="020B0604020202020204" pitchFamily="34" charset="0"/>
                    <a:cs typeface="Arial" panose="020B0604020202020204" pitchFamily="34" charset="0"/>
                  </a:rPr>
                  <a:t>We replace one element in </a:t>
                </a:r>
                <a14:m>
                  <m:oMath xmlns:m="http://schemas.openxmlformats.org/officeDocument/2006/math">
                    <m:r>
                      <a:rPr lang="en-US" altLang="zh-CN" i="1">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to generate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let the partition of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be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up>
                        <m:r>
                          <a:rPr lang="en-US" altLang="zh-CN" b="0" i="1" smtClean="0">
                            <a:latin typeface="Cambria Math" panose="02040503050406030204" pitchFamily="18" charset="0"/>
                            <a:cs typeface="Arial" panose="020B0604020202020204" pitchFamily="34" charset="0"/>
                          </a:rPr>
                          <m:t>′</m:t>
                        </m:r>
                      </m:sup>
                    </m:sSubSup>
                    <m:r>
                      <a:rPr lang="en-US" altLang="zh-CN" i="1">
                        <a:latin typeface="Cambria Math" panose="02040503050406030204" pitchFamily="18" charset="0"/>
                        <a:cs typeface="Arial" panose="020B0604020202020204" pitchFamily="34" charset="0"/>
                      </a:rPr>
                      <m:t>,…,</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𝑘</m:t>
                        </m:r>
                      </m:sub>
                      <m:sup>
                        <m:r>
                          <a:rPr lang="en-US" altLang="zh-CN" i="1">
                            <a:latin typeface="Cambria Math" panose="02040503050406030204" pitchFamily="18" charset="0"/>
                            <a:cs typeface="Arial" panose="020B0604020202020204" pitchFamily="34" charset="0"/>
                          </a:rPr>
                          <m:t>′</m:t>
                        </m:r>
                      </m:sup>
                    </m:sSubSup>
                  </m:oMath>
                </a14:m>
                <a:r>
                  <a:rPr lang="en-US" altLang="zh-CN" dirty="0">
                    <a:latin typeface="Arial" panose="020B0604020202020204" pitchFamily="34" charset="0"/>
                    <a:cs typeface="Arial" panose="020B0604020202020204" pitchFamily="34" charset="0"/>
                  </a:rPr>
                  <a:t>. There exists </a:t>
                </a:r>
                <a14:m>
                  <m:oMath xmlns:m="http://schemas.openxmlformats.org/officeDocument/2006/math">
                    <m:r>
                      <a:rPr lang="en-US" altLang="zh-CN" b="0" i="1" smtClean="0">
                        <a:latin typeface="Cambria Math" panose="02040503050406030204" pitchFamily="18" charset="0"/>
                        <a:cs typeface="Arial" panose="020B0604020202020204" pitchFamily="34" charset="0"/>
                      </a:rPr>
                      <m:t>𝑗</m:t>
                    </m:r>
                  </m:oMath>
                </a14:m>
                <a:r>
                  <a:rPr lang="en-US" altLang="zh-CN" dirty="0">
                    <a:latin typeface="Arial" panose="020B0604020202020204" pitchFamily="34" charset="0"/>
                    <a:cs typeface="Arial" panose="020B0604020202020204" pitchFamily="34" charset="0"/>
                  </a:rPr>
                  <a:t> such that one element in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𝑗</m:t>
                        </m:r>
                      </m:sub>
                    </m:sSub>
                  </m:oMath>
                </a14:m>
                <a:r>
                  <a:rPr lang="en-US" altLang="zh-CN" dirty="0">
                    <a:latin typeface="Arial" panose="020B0604020202020204" pitchFamily="34" charset="0"/>
                    <a:cs typeface="Arial" panose="020B0604020202020204" pitchFamily="34" charset="0"/>
                  </a:rPr>
                  <a:t> is replaced with another element to generate </a:t>
                </a:r>
                <a14:m>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up>
                        <m:r>
                          <a:rPr lang="en-US" altLang="zh-CN" b="0" i="1" smtClean="0">
                            <a:latin typeface="Cambria Math" panose="02040503050406030204" pitchFamily="18" charset="0"/>
                            <a:cs typeface="Arial" panose="020B0604020202020204" pitchFamily="34" charset="0"/>
                          </a:rPr>
                          <m:t>′</m:t>
                        </m:r>
                      </m:sup>
                    </m:sSubSup>
                  </m:oMath>
                </a14:m>
                <a:r>
                  <a:rPr lang="en-US" altLang="zh-CN" dirty="0">
                    <a:latin typeface="Arial" panose="020B0604020202020204" pitchFamily="34" charset="0"/>
                    <a:cs typeface="Arial" panose="020B0604020202020204" pitchFamily="34" charset="0"/>
                  </a:rPr>
                  <a:t>, we may be in the situation that there exist </a:t>
                </a:r>
                <a14:m>
                  <m:oMath xmlns:m="http://schemas.openxmlformats.org/officeDocument/2006/math">
                    <m:r>
                      <a:rPr lang="en-US" altLang="zh-CN" b="0" i="1" smtClean="0">
                        <a:latin typeface="Cambria Math" panose="02040503050406030204" pitchFamily="18" charset="0"/>
                        <a:cs typeface="Arial" panose="020B0604020202020204" pitchFamily="34" charset="0"/>
                      </a:rPr>
                      <m:t>𝑖</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𝑗</m:t>
                    </m:r>
                  </m:oMath>
                </a14:m>
                <a:r>
                  <a:rPr lang="en-US" altLang="zh-CN" dirty="0">
                    <a:latin typeface="Arial" panose="020B0604020202020204" pitchFamily="34" charset="0"/>
                    <a:cs typeface="Arial" panose="020B0604020202020204" pitchFamily="34" charset="0"/>
                  </a:rPr>
                  <a:t>, such that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Sub>
                    <m:r>
                      <a:rPr lang="en-US" altLang="zh-CN" b="0" i="1" smtClean="0">
                        <a:latin typeface="Cambria Math" panose="02040503050406030204" pitchFamily="18" charset="0"/>
                        <a:cs typeface="Arial" panose="020B0604020202020204" pitchFamily="34" charset="0"/>
                      </a:rPr>
                      <m:t>=</m:t>
                    </m:r>
                    <m:sSubSup>
                      <m:sSubSupPr>
                        <m:ctrlPr>
                          <a:rPr lang="en-US" altLang="zh-CN" b="0" i="1" smtClean="0">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𝑖</m:t>
                        </m:r>
                      </m:sub>
                      <m:sup>
                        <m:r>
                          <a:rPr lang="en-US" altLang="zh-CN" i="1">
                            <a:latin typeface="Cambria Math" panose="02040503050406030204" pitchFamily="18" charset="0"/>
                            <a:cs typeface="Arial" panose="020B0604020202020204" pitchFamily="34" charset="0"/>
                          </a:rPr>
                          <m:t>′</m:t>
                        </m:r>
                      </m:sup>
                    </m:sSubSup>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𝑟</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𝑟</m:t>
                    </m:r>
                    <m:r>
                      <a:rPr lang="en-US" altLang="zh-CN" i="1">
                        <a:latin typeface="Cambria Math" panose="02040503050406030204" pitchFamily="18" charset="0"/>
                        <a:cs typeface="Arial" panose="020B0604020202020204" pitchFamily="34" charset="0"/>
                      </a:rPr>
                      <m:t>}=</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𝑗</m:t>
                        </m:r>
                      </m:sub>
                      <m:sup>
                        <m:r>
                          <a:rPr lang="en-US" altLang="zh-CN" i="1">
                            <a:latin typeface="Cambria Math" panose="02040503050406030204" pitchFamily="18" charset="0"/>
                            <a:cs typeface="Arial" panose="020B0604020202020204" pitchFamily="34" charset="0"/>
                          </a:rPr>
                          <m:t>′</m:t>
                        </m:r>
                      </m:sup>
                    </m:sSubSup>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1844608"/>
              </a:xfrm>
              <a:prstGeom prst="rect">
                <a:avLst/>
              </a:prstGeom>
              <a:blipFill>
                <a:blip r:embed="rId2"/>
                <a:stretch>
                  <a:fillRect l="-498" t="-1650" r="-111" b="-2310"/>
                </a:stretch>
              </a:blipFill>
            </p:spPr>
            <p:txBody>
              <a:bodyPr/>
              <a:lstStyle/>
              <a:p>
                <a:r>
                  <a:rPr lang="zh-CN" altLang="en-US">
                    <a:noFill/>
                  </a:rPr>
                  <a:t> </a:t>
                </a:r>
              </a:p>
            </p:txBody>
          </p:sp>
        </mc:Fallback>
      </mc:AlternateContent>
      <p:graphicFrame>
        <p:nvGraphicFramePr>
          <p:cNvPr id="8" name="表格 2">
            <a:extLst>
              <a:ext uri="{FF2B5EF4-FFF2-40B4-BE49-F238E27FC236}">
                <a16:creationId xmlns:a16="http://schemas.microsoft.com/office/drawing/2014/main" id="{AB9F512F-30C0-472E-83DD-5E95B3862F46}"/>
              </a:ext>
            </a:extLst>
          </p:cNvPr>
          <p:cNvGraphicFramePr>
            <a:graphicFrameLocks noGrp="1"/>
          </p:cNvGraphicFramePr>
          <p:nvPr/>
        </p:nvGraphicFramePr>
        <p:xfrm>
          <a:off x="655845" y="3322022"/>
          <a:ext cx="1590916" cy="1676400"/>
        </p:xfrm>
        <a:graphic>
          <a:graphicData uri="http://schemas.openxmlformats.org/drawingml/2006/table">
            <a:tbl>
              <a:tblPr firstRow="1" bandRow="1">
                <a:tableStyleId>{93296810-A885-4BE3-A3E7-6D5BEEA58F35}</a:tableStyleId>
              </a:tblPr>
              <a:tblGrid>
                <a:gridCol w="795458">
                  <a:extLst>
                    <a:ext uri="{9D8B030D-6E8A-4147-A177-3AD203B41FA5}">
                      <a16:colId xmlns:a16="http://schemas.microsoft.com/office/drawing/2014/main" val="1238765568"/>
                    </a:ext>
                  </a:extLst>
                </a:gridCol>
                <a:gridCol w="795458">
                  <a:extLst>
                    <a:ext uri="{9D8B030D-6E8A-4147-A177-3AD203B41FA5}">
                      <a16:colId xmlns:a16="http://schemas.microsoft.com/office/drawing/2014/main" val="2422194543"/>
                    </a:ext>
                  </a:extLst>
                </a:gridCol>
              </a:tblGrid>
              <a:tr h="309911">
                <a:tc>
                  <a:txBody>
                    <a:bodyPr/>
                    <a:lstStyle/>
                    <a:p>
                      <a:pPr marL="0" algn="ctr" defTabSz="914400" rtl="0" eaLnBrk="1" latinLnBrk="0" hangingPunct="1"/>
                      <a:r>
                        <a:rPr lang="en-US" altLang="zh-CN" sz="1600" b="1" kern="1200" dirty="0">
                          <a:solidFill>
                            <a:schemeClr val="tx1"/>
                          </a:solidFill>
                        </a:rPr>
                        <a:t>ID</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rPr>
                        <a:t>Age</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2752317120"/>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rgbClr val="FF0000"/>
                          </a:solidFill>
                          <a:latin typeface="+mn-lt"/>
                          <a:ea typeface="+mn-ea"/>
                          <a:cs typeface="+mn-cs"/>
                        </a:rPr>
                        <a:t>10</a:t>
                      </a:r>
                      <a:endParaRPr lang="zh-CN" altLang="en-US" sz="1600" b="1" kern="1200" dirty="0">
                        <a:solidFill>
                          <a:srgbClr val="FF0000"/>
                        </a:solidFill>
                        <a:latin typeface="+mn-lt"/>
                        <a:ea typeface="+mn-ea"/>
                        <a:cs typeface="+mn-cs"/>
                      </a:endParaRPr>
                    </a:p>
                  </a:txBody>
                  <a:tcPr anchor="ctr"/>
                </a:tc>
                <a:extLst>
                  <a:ext uri="{0D108BD9-81ED-4DB2-BD59-A6C34878D82A}">
                    <a16:rowId xmlns:a16="http://schemas.microsoft.com/office/drawing/2014/main" val="2460415473"/>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2</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21</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582642059"/>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3</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35</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46871934"/>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289250877"/>
                  </a:ext>
                </a:extLst>
              </a:tr>
            </a:tbl>
          </a:graphicData>
        </a:graphic>
      </p:graphicFrame>
      <p:sp>
        <p:nvSpPr>
          <p:cNvPr id="9" name="箭头: 右 8">
            <a:extLst>
              <a:ext uri="{FF2B5EF4-FFF2-40B4-BE49-F238E27FC236}">
                <a16:creationId xmlns:a16="http://schemas.microsoft.com/office/drawing/2014/main" id="{6F37016E-2FC3-4709-8C0A-19DA2EEC9E08}"/>
              </a:ext>
            </a:extLst>
          </p:cNvPr>
          <p:cNvSpPr/>
          <p:nvPr/>
        </p:nvSpPr>
        <p:spPr>
          <a:xfrm>
            <a:off x="2489551" y="3967491"/>
            <a:ext cx="889175" cy="4446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8B43C8B1-463B-4C7B-9251-3B5B386167CE}"/>
              </a:ext>
            </a:extLst>
          </p:cNvPr>
          <p:cNvSpPr/>
          <p:nvPr/>
        </p:nvSpPr>
        <p:spPr>
          <a:xfrm>
            <a:off x="3640435" y="3901616"/>
            <a:ext cx="554946" cy="7543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0A32405D-2ECD-44BA-94CC-37B52391E4C2}"/>
              </a:ext>
            </a:extLst>
          </p:cNvPr>
          <p:cNvSpPr/>
          <p:nvPr/>
        </p:nvSpPr>
        <p:spPr>
          <a:xfrm>
            <a:off x="4195381" y="3549174"/>
            <a:ext cx="554946" cy="110679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679675E5-C1C4-4156-A0CD-9B89DAA95E37}"/>
              </a:ext>
            </a:extLst>
          </p:cNvPr>
          <p:cNvSpPr/>
          <p:nvPr/>
        </p:nvSpPr>
        <p:spPr>
          <a:xfrm>
            <a:off x="4750327" y="3233864"/>
            <a:ext cx="554946" cy="142210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8ABF828F-AE40-43D1-AAF6-A120EA8B3C26}"/>
              </a:ext>
            </a:extLst>
          </p:cNvPr>
          <p:cNvSpPr txBox="1"/>
          <p:nvPr/>
        </p:nvSpPr>
        <p:spPr>
          <a:xfrm>
            <a:off x="3640435" y="4721423"/>
            <a:ext cx="554946"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0-10</a:t>
            </a:r>
            <a:endParaRPr lang="zh-CN" altLang="en-US" sz="1200" dirty="0">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19FA5360-7ADB-4D9A-8F3B-F4B5849CC176}"/>
              </a:ext>
            </a:extLst>
          </p:cNvPr>
          <p:cNvSpPr txBox="1"/>
          <p:nvPr/>
        </p:nvSpPr>
        <p:spPr>
          <a:xfrm>
            <a:off x="4138625" y="4721423"/>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10-20</a:t>
            </a:r>
            <a:endParaRPr lang="zh-CN" altLang="en-US" sz="1200" dirty="0">
              <a:latin typeface="Arial" panose="020B0604020202020204" pitchFamily="34" charset="0"/>
              <a:cs typeface="Arial" panose="020B0604020202020204" pitchFamily="34" charset="0"/>
            </a:endParaRPr>
          </a:p>
        </p:txBody>
      </p:sp>
      <p:sp>
        <p:nvSpPr>
          <p:cNvPr id="34" name="文本框 33">
            <a:extLst>
              <a:ext uri="{FF2B5EF4-FFF2-40B4-BE49-F238E27FC236}">
                <a16:creationId xmlns:a16="http://schemas.microsoft.com/office/drawing/2014/main" id="{B88F686A-8BFA-4701-977E-711C0B472058}"/>
              </a:ext>
            </a:extLst>
          </p:cNvPr>
          <p:cNvSpPr txBox="1"/>
          <p:nvPr/>
        </p:nvSpPr>
        <p:spPr>
          <a:xfrm>
            <a:off x="4693571" y="4707611"/>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20-30</a:t>
            </a:r>
            <a:endParaRPr lang="zh-CN" altLang="en-US" sz="1200" dirty="0">
              <a:latin typeface="Arial" panose="020B0604020202020204" pitchFamily="34" charset="0"/>
              <a:cs typeface="Arial" panose="020B0604020202020204" pitchFamily="34" charset="0"/>
            </a:endParaRPr>
          </a:p>
        </p:txBody>
      </p:sp>
      <p:sp>
        <p:nvSpPr>
          <p:cNvPr id="35" name="矩形 34">
            <a:extLst>
              <a:ext uri="{FF2B5EF4-FFF2-40B4-BE49-F238E27FC236}">
                <a16:creationId xmlns:a16="http://schemas.microsoft.com/office/drawing/2014/main" id="{550E374F-1C7F-4423-ACFB-74918BE5B4F6}"/>
              </a:ext>
            </a:extLst>
          </p:cNvPr>
          <p:cNvSpPr/>
          <p:nvPr/>
        </p:nvSpPr>
        <p:spPr>
          <a:xfrm>
            <a:off x="6421474" y="4072641"/>
            <a:ext cx="554946" cy="5833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8B9EAED0-559B-4C15-8D31-C6834CD628B2}"/>
              </a:ext>
            </a:extLst>
          </p:cNvPr>
          <p:cNvSpPr/>
          <p:nvPr/>
        </p:nvSpPr>
        <p:spPr>
          <a:xfrm>
            <a:off x="6976420" y="3549174"/>
            <a:ext cx="554946" cy="110679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D0D796A6-EC02-469D-8607-99C97646B164}"/>
              </a:ext>
            </a:extLst>
          </p:cNvPr>
          <p:cNvSpPr/>
          <p:nvPr/>
        </p:nvSpPr>
        <p:spPr>
          <a:xfrm>
            <a:off x="7531366" y="3069954"/>
            <a:ext cx="554946" cy="158601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55BD68AA-702B-4259-AAF6-42CB628D8FED}"/>
              </a:ext>
            </a:extLst>
          </p:cNvPr>
          <p:cNvSpPr txBox="1"/>
          <p:nvPr/>
        </p:nvSpPr>
        <p:spPr>
          <a:xfrm>
            <a:off x="6421474" y="4721423"/>
            <a:ext cx="554946"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0-10</a:t>
            </a:r>
            <a:endParaRPr lang="zh-CN" altLang="en-US" sz="1200" dirty="0">
              <a:latin typeface="Arial" panose="020B0604020202020204" pitchFamily="34" charset="0"/>
              <a:cs typeface="Arial" panose="020B0604020202020204" pitchFamily="34" charset="0"/>
            </a:endParaRPr>
          </a:p>
        </p:txBody>
      </p:sp>
      <p:sp>
        <p:nvSpPr>
          <p:cNvPr id="39" name="文本框 38">
            <a:extLst>
              <a:ext uri="{FF2B5EF4-FFF2-40B4-BE49-F238E27FC236}">
                <a16:creationId xmlns:a16="http://schemas.microsoft.com/office/drawing/2014/main" id="{11C82762-5C0B-4C09-9723-604CF9230EDD}"/>
              </a:ext>
            </a:extLst>
          </p:cNvPr>
          <p:cNvSpPr txBox="1"/>
          <p:nvPr/>
        </p:nvSpPr>
        <p:spPr>
          <a:xfrm>
            <a:off x="6919664" y="4721423"/>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10-20</a:t>
            </a:r>
            <a:endParaRPr lang="zh-CN" altLang="en-US" sz="1200" dirty="0">
              <a:latin typeface="Arial" panose="020B0604020202020204" pitchFamily="34" charset="0"/>
              <a:cs typeface="Arial" panose="020B0604020202020204" pitchFamily="34" charset="0"/>
            </a:endParaRPr>
          </a:p>
        </p:txBody>
      </p:sp>
      <p:sp>
        <p:nvSpPr>
          <p:cNvPr id="40" name="文本框 39">
            <a:extLst>
              <a:ext uri="{FF2B5EF4-FFF2-40B4-BE49-F238E27FC236}">
                <a16:creationId xmlns:a16="http://schemas.microsoft.com/office/drawing/2014/main" id="{CD58D845-CA2F-453B-B768-40A367A8FE91}"/>
              </a:ext>
            </a:extLst>
          </p:cNvPr>
          <p:cNvSpPr txBox="1"/>
          <p:nvPr/>
        </p:nvSpPr>
        <p:spPr>
          <a:xfrm>
            <a:off x="7474610" y="4707611"/>
            <a:ext cx="611702" cy="276999"/>
          </a:xfrm>
          <a:prstGeom prst="rect">
            <a:avLst/>
          </a:prstGeom>
          <a:noFill/>
        </p:spPr>
        <p:txBody>
          <a:bodyPr wrap="square" rtlCol="0">
            <a:spAutoFit/>
          </a:bodyPr>
          <a:lstStyle/>
          <a:p>
            <a:pPr algn="ctr"/>
            <a:r>
              <a:rPr lang="en-US" altLang="zh-CN" sz="1200" dirty="0">
                <a:latin typeface="Arial" panose="020B0604020202020204" pitchFamily="34" charset="0"/>
                <a:cs typeface="Arial" panose="020B0604020202020204" pitchFamily="34" charset="0"/>
              </a:rPr>
              <a:t>20-30</a:t>
            </a:r>
            <a:endParaRPr lang="zh-CN" altLang="en-US" sz="1200" dirty="0">
              <a:latin typeface="Arial" panose="020B0604020202020204" pitchFamily="34" charset="0"/>
              <a:cs typeface="Arial" panose="020B0604020202020204" pitchFamily="34" charset="0"/>
            </a:endParaRPr>
          </a:p>
        </p:txBody>
      </p:sp>
      <p:graphicFrame>
        <p:nvGraphicFramePr>
          <p:cNvPr id="41" name="表格 2">
            <a:extLst>
              <a:ext uri="{FF2B5EF4-FFF2-40B4-BE49-F238E27FC236}">
                <a16:creationId xmlns:a16="http://schemas.microsoft.com/office/drawing/2014/main" id="{7ECC0A15-D4A2-437D-B31A-7617AED095AF}"/>
              </a:ext>
            </a:extLst>
          </p:cNvPr>
          <p:cNvGraphicFramePr>
            <a:graphicFrameLocks noGrp="1"/>
          </p:cNvGraphicFramePr>
          <p:nvPr/>
        </p:nvGraphicFramePr>
        <p:xfrm>
          <a:off x="9694403" y="3321841"/>
          <a:ext cx="1590916" cy="1676400"/>
        </p:xfrm>
        <a:graphic>
          <a:graphicData uri="http://schemas.openxmlformats.org/drawingml/2006/table">
            <a:tbl>
              <a:tblPr firstRow="1" bandRow="1">
                <a:tableStyleId>{93296810-A885-4BE3-A3E7-6D5BEEA58F35}</a:tableStyleId>
              </a:tblPr>
              <a:tblGrid>
                <a:gridCol w="795458">
                  <a:extLst>
                    <a:ext uri="{9D8B030D-6E8A-4147-A177-3AD203B41FA5}">
                      <a16:colId xmlns:a16="http://schemas.microsoft.com/office/drawing/2014/main" val="1238765568"/>
                    </a:ext>
                  </a:extLst>
                </a:gridCol>
                <a:gridCol w="795458">
                  <a:extLst>
                    <a:ext uri="{9D8B030D-6E8A-4147-A177-3AD203B41FA5}">
                      <a16:colId xmlns:a16="http://schemas.microsoft.com/office/drawing/2014/main" val="2422194543"/>
                    </a:ext>
                  </a:extLst>
                </a:gridCol>
              </a:tblGrid>
              <a:tr h="309911">
                <a:tc>
                  <a:txBody>
                    <a:bodyPr/>
                    <a:lstStyle/>
                    <a:p>
                      <a:pPr marL="0" algn="ctr" defTabSz="914400" rtl="0" eaLnBrk="1" latinLnBrk="0" hangingPunct="1"/>
                      <a:r>
                        <a:rPr lang="en-US" altLang="zh-CN" sz="1600" b="1" kern="1200" dirty="0">
                          <a:solidFill>
                            <a:schemeClr val="tx1"/>
                          </a:solidFill>
                        </a:rPr>
                        <a:t>ID</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rPr>
                        <a:t>Age</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2752317120"/>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rgbClr val="FF0000"/>
                          </a:solidFill>
                          <a:latin typeface="+mn-lt"/>
                          <a:ea typeface="+mn-ea"/>
                          <a:cs typeface="+mn-cs"/>
                        </a:rPr>
                        <a:t>30</a:t>
                      </a:r>
                      <a:endParaRPr lang="zh-CN" altLang="en-US" sz="1600" b="1" kern="1200" dirty="0">
                        <a:solidFill>
                          <a:srgbClr val="FF0000"/>
                        </a:solidFill>
                        <a:latin typeface="+mn-lt"/>
                        <a:ea typeface="+mn-ea"/>
                        <a:cs typeface="+mn-cs"/>
                      </a:endParaRPr>
                    </a:p>
                  </a:txBody>
                  <a:tcPr anchor="ctr"/>
                </a:tc>
                <a:extLst>
                  <a:ext uri="{0D108BD9-81ED-4DB2-BD59-A6C34878D82A}">
                    <a16:rowId xmlns:a16="http://schemas.microsoft.com/office/drawing/2014/main" val="2460415473"/>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2</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21</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582642059"/>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3</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35</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46871934"/>
                  </a:ext>
                </a:extLst>
              </a:tr>
              <a:tr h="309911">
                <a:tc>
                  <a:txBody>
                    <a:bodyPr/>
                    <a:lstStyle/>
                    <a:p>
                      <a:pPr marL="0" algn="ctr" defTabSz="914400" rtl="0" eaLnBrk="1" latinLnBrk="0" hangingPunct="1"/>
                      <a:r>
                        <a:rPr lang="en-US" altLang="zh-CN" sz="1600" b="1" kern="1200" dirty="0">
                          <a:solidFill>
                            <a:schemeClr val="tx1"/>
                          </a:solidFill>
                          <a:latin typeface="+mn-lt"/>
                          <a:ea typeface="+mn-ea"/>
                          <a:cs typeface="+mn-cs"/>
                        </a:rPr>
                        <a:t>…</a:t>
                      </a:r>
                      <a:endParaRPr lang="zh-CN" altLang="en-US" sz="1600" b="1"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CN" sz="1600" b="1" kern="1200" dirty="0">
                          <a:solidFill>
                            <a:schemeClr val="tx1"/>
                          </a:solidFill>
                          <a:latin typeface="+mn-lt"/>
                          <a:ea typeface="+mn-ea"/>
                          <a:cs typeface="+mn-cs"/>
                        </a:rPr>
                        <a:t>…</a:t>
                      </a:r>
                      <a:endParaRPr lang="zh-CN" altLang="en-US" sz="1600" b="1" kern="1200" dirty="0">
                        <a:solidFill>
                          <a:schemeClr val="tx1"/>
                        </a:solidFill>
                        <a:latin typeface="+mn-lt"/>
                        <a:ea typeface="+mn-ea"/>
                        <a:cs typeface="+mn-cs"/>
                      </a:endParaRPr>
                    </a:p>
                  </a:txBody>
                  <a:tcPr anchor="ctr"/>
                </a:tc>
                <a:extLst>
                  <a:ext uri="{0D108BD9-81ED-4DB2-BD59-A6C34878D82A}">
                    <a16:rowId xmlns:a16="http://schemas.microsoft.com/office/drawing/2014/main" val="3289250877"/>
                  </a:ext>
                </a:extLst>
              </a:tr>
            </a:tbl>
          </a:graphicData>
        </a:graphic>
      </p:graphicFrame>
      <p:sp>
        <p:nvSpPr>
          <p:cNvPr id="43" name="箭头: 右 42">
            <a:extLst>
              <a:ext uri="{FF2B5EF4-FFF2-40B4-BE49-F238E27FC236}">
                <a16:creationId xmlns:a16="http://schemas.microsoft.com/office/drawing/2014/main" id="{455ABE0A-3712-49A9-A35F-F638E7DB7CF0}"/>
              </a:ext>
            </a:extLst>
          </p:cNvPr>
          <p:cNvSpPr/>
          <p:nvPr/>
        </p:nvSpPr>
        <p:spPr>
          <a:xfrm rot="10800000">
            <a:off x="8563479" y="3967491"/>
            <a:ext cx="889175" cy="4446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716F445D-DA61-4EB5-B441-C35A34DB0867}"/>
              </a:ext>
            </a:extLst>
          </p:cNvPr>
          <p:cNvSpPr/>
          <p:nvPr/>
        </p:nvSpPr>
        <p:spPr>
          <a:xfrm>
            <a:off x="6420425" y="3901616"/>
            <a:ext cx="554946" cy="17102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A9045567-E893-417D-90A3-D6093366C439}"/>
              </a:ext>
            </a:extLst>
          </p:cNvPr>
          <p:cNvSpPr/>
          <p:nvPr/>
        </p:nvSpPr>
        <p:spPr>
          <a:xfrm flipV="1">
            <a:off x="7531358" y="3069955"/>
            <a:ext cx="554946" cy="166374"/>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31709A85-2A13-4856-B72B-734F6D792C8C}"/>
                  </a:ext>
                </a:extLst>
              </p:cNvPr>
              <p:cNvSpPr txBox="1"/>
              <p:nvPr/>
            </p:nvSpPr>
            <p:spPr>
              <a:xfrm>
                <a:off x="3715683" y="4984610"/>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oMath>
                  </m:oMathPara>
                </a14:m>
                <a:endParaRPr lang="zh-CN" altLang="en-US" dirty="0"/>
              </a:p>
            </p:txBody>
          </p:sp>
        </mc:Choice>
        <mc:Fallback xmlns="">
          <p:sp>
            <p:nvSpPr>
              <p:cNvPr id="50" name="文本框 49">
                <a:extLst>
                  <a:ext uri="{FF2B5EF4-FFF2-40B4-BE49-F238E27FC236}">
                    <a16:creationId xmlns:a16="http://schemas.microsoft.com/office/drawing/2014/main" id="{31709A85-2A13-4856-B72B-734F6D792C8C}"/>
                  </a:ext>
                </a:extLst>
              </p:cNvPr>
              <p:cNvSpPr txBox="1">
                <a:spLocks noRot="1" noChangeAspect="1" noMove="1" noResize="1" noEditPoints="1" noAdjustHandles="1" noChangeArrowheads="1" noChangeShapeType="1" noTextEdit="1"/>
              </p:cNvSpPr>
              <p:nvPr/>
            </p:nvSpPr>
            <p:spPr>
              <a:xfrm>
                <a:off x="3715683" y="4984610"/>
                <a:ext cx="347685" cy="369332"/>
              </a:xfrm>
              <a:prstGeom prst="rect">
                <a:avLst/>
              </a:prstGeom>
              <a:blipFill>
                <a:blip r:embed="rId3"/>
                <a:stretch>
                  <a:fillRect r="-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C9B20830-EA85-4B1C-8ECB-AD8AFB95ECA3}"/>
                  </a:ext>
                </a:extLst>
              </p:cNvPr>
              <p:cNvSpPr txBox="1"/>
              <p:nvPr/>
            </p:nvSpPr>
            <p:spPr>
              <a:xfrm>
                <a:off x="4273784" y="4984610"/>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oMath>
                  </m:oMathPara>
                </a14:m>
                <a:endParaRPr lang="zh-CN" altLang="en-US" dirty="0"/>
              </a:p>
            </p:txBody>
          </p:sp>
        </mc:Choice>
        <mc:Fallback xmlns="">
          <p:sp>
            <p:nvSpPr>
              <p:cNvPr id="51" name="文本框 50">
                <a:extLst>
                  <a:ext uri="{FF2B5EF4-FFF2-40B4-BE49-F238E27FC236}">
                    <a16:creationId xmlns:a16="http://schemas.microsoft.com/office/drawing/2014/main" id="{C9B20830-EA85-4B1C-8ECB-AD8AFB95ECA3}"/>
                  </a:ext>
                </a:extLst>
              </p:cNvPr>
              <p:cNvSpPr txBox="1">
                <a:spLocks noRot="1" noChangeAspect="1" noMove="1" noResize="1" noEditPoints="1" noAdjustHandles="1" noChangeArrowheads="1" noChangeShapeType="1" noTextEdit="1"/>
              </p:cNvSpPr>
              <p:nvPr/>
            </p:nvSpPr>
            <p:spPr>
              <a:xfrm>
                <a:off x="4273784" y="4984610"/>
                <a:ext cx="347685" cy="369332"/>
              </a:xfrm>
              <a:prstGeom prst="rect">
                <a:avLst/>
              </a:prstGeom>
              <a:blipFill>
                <a:blip r:embed="rId4"/>
                <a:stretch>
                  <a:fillRect r="-140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B0B5F023-88E3-476B-9635-799FF5423BDF}"/>
                  </a:ext>
                </a:extLst>
              </p:cNvPr>
              <p:cNvSpPr txBox="1"/>
              <p:nvPr/>
            </p:nvSpPr>
            <p:spPr>
              <a:xfrm>
                <a:off x="4818233" y="4998241"/>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3</m:t>
                          </m:r>
                        </m:sub>
                      </m:sSub>
                    </m:oMath>
                  </m:oMathPara>
                </a14:m>
                <a:endParaRPr lang="zh-CN" altLang="en-US" dirty="0"/>
              </a:p>
            </p:txBody>
          </p:sp>
        </mc:Choice>
        <mc:Fallback xmlns="">
          <p:sp>
            <p:nvSpPr>
              <p:cNvPr id="52" name="文本框 51">
                <a:extLst>
                  <a:ext uri="{FF2B5EF4-FFF2-40B4-BE49-F238E27FC236}">
                    <a16:creationId xmlns:a16="http://schemas.microsoft.com/office/drawing/2014/main" id="{B0B5F023-88E3-476B-9635-799FF5423BDF}"/>
                  </a:ext>
                </a:extLst>
              </p:cNvPr>
              <p:cNvSpPr txBox="1">
                <a:spLocks noRot="1" noChangeAspect="1" noMove="1" noResize="1" noEditPoints="1" noAdjustHandles="1" noChangeArrowheads="1" noChangeShapeType="1" noTextEdit="1"/>
              </p:cNvSpPr>
              <p:nvPr/>
            </p:nvSpPr>
            <p:spPr>
              <a:xfrm>
                <a:off x="4818233" y="4998241"/>
                <a:ext cx="347685" cy="369332"/>
              </a:xfrm>
              <a:prstGeom prst="rect">
                <a:avLst/>
              </a:prstGeom>
              <a:blipFill>
                <a:blip r:embed="rId5"/>
                <a:stretch>
                  <a:fillRect r="-140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0AF9F75D-D276-47CF-976A-2789BD1801AA}"/>
                  </a:ext>
                </a:extLst>
              </p:cNvPr>
              <p:cNvSpPr txBox="1"/>
              <p:nvPr/>
            </p:nvSpPr>
            <p:spPr>
              <a:xfrm>
                <a:off x="6507744" y="4994776"/>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up>
                          <m:r>
                            <a:rPr lang="en-US" altLang="zh-CN" b="0" i="1" smtClean="0">
                              <a:latin typeface="Cambria Math" panose="02040503050406030204" pitchFamily="18" charset="0"/>
                              <a:cs typeface="Arial" panose="020B0604020202020204" pitchFamily="34" charset="0"/>
                            </a:rPr>
                            <m:t>′</m:t>
                          </m:r>
                        </m:sup>
                      </m:sSubSup>
                    </m:oMath>
                  </m:oMathPara>
                </a14:m>
                <a:endParaRPr lang="zh-CN" altLang="en-US" dirty="0"/>
              </a:p>
            </p:txBody>
          </p:sp>
        </mc:Choice>
        <mc:Fallback xmlns="">
          <p:sp>
            <p:nvSpPr>
              <p:cNvPr id="53" name="文本框 52">
                <a:extLst>
                  <a:ext uri="{FF2B5EF4-FFF2-40B4-BE49-F238E27FC236}">
                    <a16:creationId xmlns:a16="http://schemas.microsoft.com/office/drawing/2014/main" id="{0AF9F75D-D276-47CF-976A-2789BD1801AA}"/>
                  </a:ext>
                </a:extLst>
              </p:cNvPr>
              <p:cNvSpPr txBox="1">
                <a:spLocks noRot="1" noChangeAspect="1" noMove="1" noResize="1" noEditPoints="1" noAdjustHandles="1" noChangeArrowheads="1" noChangeShapeType="1" noTextEdit="1"/>
              </p:cNvSpPr>
              <p:nvPr/>
            </p:nvSpPr>
            <p:spPr>
              <a:xfrm>
                <a:off x="6507744" y="4994776"/>
                <a:ext cx="347685" cy="369332"/>
              </a:xfrm>
              <a:prstGeom prst="rect">
                <a:avLst/>
              </a:prstGeom>
              <a:blipFill>
                <a:blip r:embed="rId6"/>
                <a:stretch>
                  <a:fillRect r="-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65F3037C-592C-4279-B520-22DCE0831461}"/>
                  </a:ext>
                </a:extLst>
              </p:cNvPr>
              <p:cNvSpPr txBox="1"/>
              <p:nvPr/>
            </p:nvSpPr>
            <p:spPr>
              <a:xfrm>
                <a:off x="7080050" y="4984610"/>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up>
                          <m:r>
                            <a:rPr lang="en-US" altLang="zh-CN" b="0" i="1" smtClean="0">
                              <a:latin typeface="Cambria Math" panose="02040503050406030204" pitchFamily="18" charset="0"/>
                              <a:cs typeface="Arial" panose="020B0604020202020204" pitchFamily="34" charset="0"/>
                            </a:rPr>
                            <m:t>′</m:t>
                          </m:r>
                        </m:sup>
                      </m:sSubSup>
                    </m:oMath>
                  </m:oMathPara>
                </a14:m>
                <a:endParaRPr lang="zh-CN" altLang="en-US" dirty="0"/>
              </a:p>
            </p:txBody>
          </p:sp>
        </mc:Choice>
        <mc:Fallback xmlns="">
          <p:sp>
            <p:nvSpPr>
              <p:cNvPr id="57" name="文本框 56">
                <a:extLst>
                  <a:ext uri="{FF2B5EF4-FFF2-40B4-BE49-F238E27FC236}">
                    <a16:creationId xmlns:a16="http://schemas.microsoft.com/office/drawing/2014/main" id="{65F3037C-592C-4279-B520-22DCE0831461}"/>
                  </a:ext>
                </a:extLst>
              </p:cNvPr>
              <p:cNvSpPr txBox="1">
                <a:spLocks noRot="1" noChangeAspect="1" noMove="1" noResize="1" noEditPoints="1" noAdjustHandles="1" noChangeArrowheads="1" noChangeShapeType="1" noTextEdit="1"/>
              </p:cNvSpPr>
              <p:nvPr/>
            </p:nvSpPr>
            <p:spPr>
              <a:xfrm>
                <a:off x="7080050" y="4984610"/>
                <a:ext cx="347685" cy="369332"/>
              </a:xfrm>
              <a:prstGeom prst="rect">
                <a:avLst/>
              </a:prstGeom>
              <a:blipFill>
                <a:blip r:embed="rId7"/>
                <a:stretch>
                  <a:fillRect r="-14035"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789274D7-AB69-4558-BA01-6702C1EF0796}"/>
                  </a:ext>
                </a:extLst>
              </p:cNvPr>
              <p:cNvSpPr txBox="1"/>
              <p:nvPr/>
            </p:nvSpPr>
            <p:spPr>
              <a:xfrm>
                <a:off x="7606618" y="4959124"/>
                <a:ext cx="34768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3</m:t>
                          </m:r>
                        </m:sub>
                        <m:sup>
                          <m:r>
                            <a:rPr lang="en-US" altLang="zh-CN" b="0" i="1" smtClean="0">
                              <a:latin typeface="Cambria Math" panose="02040503050406030204" pitchFamily="18" charset="0"/>
                              <a:cs typeface="Arial" panose="020B0604020202020204" pitchFamily="34" charset="0"/>
                            </a:rPr>
                            <m:t>′</m:t>
                          </m:r>
                        </m:sup>
                      </m:sSubSup>
                    </m:oMath>
                  </m:oMathPara>
                </a14:m>
                <a:endParaRPr lang="zh-CN" altLang="en-US" dirty="0"/>
              </a:p>
            </p:txBody>
          </p:sp>
        </mc:Choice>
        <mc:Fallback xmlns="">
          <p:sp>
            <p:nvSpPr>
              <p:cNvPr id="58" name="文本框 57">
                <a:extLst>
                  <a:ext uri="{FF2B5EF4-FFF2-40B4-BE49-F238E27FC236}">
                    <a16:creationId xmlns:a16="http://schemas.microsoft.com/office/drawing/2014/main" id="{789274D7-AB69-4558-BA01-6702C1EF0796}"/>
                  </a:ext>
                </a:extLst>
              </p:cNvPr>
              <p:cNvSpPr txBox="1">
                <a:spLocks noRot="1" noChangeAspect="1" noMove="1" noResize="1" noEditPoints="1" noAdjustHandles="1" noChangeArrowheads="1" noChangeShapeType="1" noTextEdit="1"/>
              </p:cNvSpPr>
              <p:nvPr/>
            </p:nvSpPr>
            <p:spPr>
              <a:xfrm>
                <a:off x="7606618" y="4959124"/>
                <a:ext cx="347685" cy="369332"/>
              </a:xfrm>
              <a:prstGeom prst="rect">
                <a:avLst/>
              </a:prstGeom>
              <a:blipFill>
                <a:blip r:embed="rId8"/>
                <a:stretch>
                  <a:fillRect r="-12281"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A72E81D-8772-41EA-ABBB-2AF0C4EA4BB4}"/>
                  </a:ext>
                </a:extLst>
              </p:cNvPr>
              <p:cNvSpPr txBox="1"/>
              <p:nvPr/>
            </p:nvSpPr>
            <p:spPr>
              <a:xfrm>
                <a:off x="655844" y="5637461"/>
                <a:ext cx="11294417" cy="941348"/>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Under bounded DP, </a:t>
                </a:r>
                <a14:m>
                  <m:oMath xmlns:m="http://schemas.openxmlformats.org/officeDocument/2006/math">
                    <m:f>
                      <m:fPr>
                        <m:ctrlPr>
                          <a:rPr lang="en-US" altLang="zh-CN" i="1" smtClean="0">
                            <a:latin typeface="Cambria Math" panose="02040503050406030204" pitchFamily="18" charset="0"/>
                            <a:cs typeface="Arial" panose="020B0604020202020204" pitchFamily="34" charset="0"/>
                          </a:rPr>
                        </m:ctrlPr>
                      </m:fPr>
                      <m:num>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𝑗</m:t>
                            </m:r>
                          </m:sub>
                        </m:sSub>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𝑗</m:t>
                                </m:r>
                              </m:sub>
                            </m:sSub>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𝑗</m:t>
                            </m:r>
                          </m:sub>
                        </m:sSub>
                        <m:r>
                          <a:rPr lang="en-US" altLang="zh-CN" i="1">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𝑗</m:t>
                            </m:r>
                          </m:sub>
                        </m:sSub>
                        <m:d>
                          <m:dPr>
                            <m:ctrlPr>
                              <a:rPr lang="en-US" altLang="zh-CN" i="1">
                                <a:latin typeface="Cambria Math" panose="02040503050406030204" pitchFamily="18" charset="0"/>
                                <a:cs typeface="Arial" panose="020B0604020202020204" pitchFamily="34" charset="0"/>
                              </a:rPr>
                            </m:ctrlPr>
                          </m:dPr>
                          <m:e>
                            <m:sSubSup>
                              <m:sSubSupPr>
                                <m:ctrlPr>
                                  <a:rPr lang="en-US" altLang="zh-CN" b="0" i="1" smtClean="0">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𝑗</m:t>
                                </m:r>
                              </m:sub>
                              <m:sup>
                                <m:r>
                                  <a:rPr lang="en-US" altLang="zh-CN" b="0" i="1" smtClean="0">
                                    <a:latin typeface="Cambria Math" panose="02040503050406030204" pitchFamily="18" charset="0"/>
                                    <a:cs typeface="Arial" panose="020B0604020202020204" pitchFamily="34" charset="0"/>
                                  </a:rPr>
                                  <m:t>′</m:t>
                                </m:r>
                              </m:sup>
                            </m:sSubSup>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𝑡</m:t>
                            </m:r>
                          </m:e>
                          <m:sub>
                            <m:r>
                              <a:rPr lang="en-US" altLang="zh-CN" i="1">
                                <a:latin typeface="Cambria Math" panose="02040503050406030204" pitchFamily="18" charset="0"/>
                                <a:cs typeface="Arial" panose="020B0604020202020204" pitchFamily="34" charset="0"/>
                              </a:rPr>
                              <m:t>𝑗</m:t>
                            </m:r>
                          </m:sub>
                        </m:sSub>
                        <m:r>
                          <a:rPr lang="en-US" altLang="zh-CN" i="1">
                            <a:latin typeface="Cambria Math" panose="02040503050406030204" pitchFamily="18" charset="0"/>
                            <a:cs typeface="Arial" panose="020B0604020202020204" pitchFamily="34" charset="0"/>
                          </a:rPr>
                          <m:t>]</m:t>
                        </m:r>
                      </m:den>
                    </m:f>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can be unbounded because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𝑗</m:t>
                        </m:r>
                      </m:sub>
                    </m:sSub>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and </a:t>
                </a:r>
                <a14:m>
                  <m:oMath xmlns:m="http://schemas.openxmlformats.org/officeDocument/2006/math">
                    <m:sSubSup>
                      <m:sSubSupPr>
                        <m:ctrlPr>
                          <a:rPr lang="en-US" altLang="zh-CN" b="0" i="1" smtClean="0">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𝐷</m:t>
                        </m:r>
                      </m:e>
                      <m:sub>
                        <m:r>
                          <a:rPr lang="en-US" altLang="zh-CN" i="1">
                            <a:latin typeface="Cambria Math" panose="02040503050406030204" pitchFamily="18" charset="0"/>
                            <a:cs typeface="Arial" panose="020B0604020202020204" pitchFamily="34" charset="0"/>
                          </a:rPr>
                          <m:t>𝑗</m:t>
                        </m:r>
                      </m:sub>
                      <m:sup>
                        <m:r>
                          <a:rPr lang="en-US" altLang="zh-CN" b="0" i="1" smtClean="0">
                            <a:latin typeface="Cambria Math" panose="02040503050406030204" pitchFamily="18" charset="0"/>
                            <a:cs typeface="Arial" panose="020B0604020202020204" pitchFamily="34" charset="0"/>
                          </a:rPr>
                          <m:t>′</m:t>
                        </m:r>
                      </m:sup>
                    </m:sSubSup>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contain different numbers of elements, and it does not comply with the definition of bounded DP.</a:t>
                </a:r>
                <a:endParaRPr lang="zh-CN" altLang="en-US" dirty="0">
                  <a:latin typeface="Arial" panose="020B0604020202020204" pitchFamily="34" charset="0"/>
                  <a:cs typeface="Arial" panose="020B0604020202020204" pitchFamily="34" charset="0"/>
                </a:endParaRPr>
              </a:p>
            </p:txBody>
          </p:sp>
        </mc:Choice>
        <mc:Fallback xmlns="">
          <p:sp>
            <p:nvSpPr>
              <p:cNvPr id="2" name="文本框 1">
                <a:extLst>
                  <a:ext uri="{FF2B5EF4-FFF2-40B4-BE49-F238E27FC236}">
                    <a16:creationId xmlns:a16="http://schemas.microsoft.com/office/drawing/2014/main" id="{4A72E81D-8772-41EA-ABBB-2AF0C4EA4BB4}"/>
                  </a:ext>
                </a:extLst>
              </p:cNvPr>
              <p:cNvSpPr txBox="1">
                <a:spLocks noRot="1" noChangeAspect="1" noMove="1" noResize="1" noEditPoints="1" noAdjustHandles="1" noChangeArrowheads="1" noChangeShapeType="1" noTextEdit="1"/>
              </p:cNvSpPr>
              <p:nvPr/>
            </p:nvSpPr>
            <p:spPr>
              <a:xfrm>
                <a:off x="655844" y="5637461"/>
                <a:ext cx="11294417" cy="941348"/>
              </a:xfrm>
              <a:prstGeom prst="rect">
                <a:avLst/>
              </a:prstGeom>
              <a:blipFill>
                <a:blip r:embed="rId9"/>
                <a:stretch>
                  <a:fillRect l="-486" r="-432" b="-9740"/>
                </a:stretch>
              </a:blipFill>
            </p:spPr>
            <p:txBody>
              <a:bodyPr/>
              <a:lstStyle/>
              <a:p>
                <a:r>
                  <a:rPr lang="zh-CN" altLang="en-US">
                    <a:noFill/>
                  </a:rPr>
                  <a:t> </a:t>
                </a:r>
              </a:p>
            </p:txBody>
          </p:sp>
        </mc:Fallback>
      </mc:AlternateContent>
      <p:sp>
        <p:nvSpPr>
          <p:cNvPr id="3" name="爆炸形: 14 pt  2">
            <a:extLst>
              <a:ext uri="{FF2B5EF4-FFF2-40B4-BE49-F238E27FC236}">
                <a16:creationId xmlns:a16="http://schemas.microsoft.com/office/drawing/2014/main" id="{D99338F1-3150-46FF-8962-5F40669596AA}"/>
              </a:ext>
            </a:extLst>
          </p:cNvPr>
          <p:cNvSpPr/>
          <p:nvPr/>
        </p:nvSpPr>
        <p:spPr>
          <a:xfrm>
            <a:off x="2945361" y="2179843"/>
            <a:ext cx="6305845" cy="3245158"/>
          </a:xfrm>
          <a:prstGeom prst="irregularSeal2">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C00000"/>
                </a:solidFill>
                <a:latin typeface="Arial" panose="020B0604020202020204" pitchFamily="34" charset="0"/>
                <a:cs typeface="Arial" panose="020B0604020202020204" pitchFamily="34" charset="0"/>
              </a:rPr>
              <a:t>Parallel composition does not hold for bounded DP!!!</a:t>
            </a:r>
            <a:endParaRPr lang="zh-CN" altLang="en-US" sz="20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80387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Question: What if randomly use different DP mechanism?</a:t>
            </a:r>
          </a:p>
        </p:txBody>
      </p:sp>
      <p:cxnSp>
        <p:nvCxnSpPr>
          <p:cNvPr id="4" name="直接箭头连接符 3">
            <a:extLst>
              <a:ext uri="{FF2B5EF4-FFF2-40B4-BE49-F238E27FC236}">
                <a16:creationId xmlns:a16="http://schemas.microsoft.com/office/drawing/2014/main" id="{A97DBCE7-4F3E-4CEC-9CB8-5ECBF72D11D0}"/>
              </a:ext>
            </a:extLst>
          </p:cNvPr>
          <p:cNvCxnSpPr>
            <a:cxnSpLocks/>
            <a:stCxn id="2" idx="4"/>
          </p:cNvCxnSpPr>
          <p:nvPr/>
        </p:nvCxnSpPr>
        <p:spPr>
          <a:xfrm>
            <a:off x="3438352" y="3783723"/>
            <a:ext cx="253362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030BBBB-5C98-4BEF-9771-E752E378A0D9}"/>
                  </a:ext>
                </a:extLst>
              </p:cNvPr>
              <p:cNvSpPr txBox="1"/>
              <p:nvPr/>
            </p:nvSpPr>
            <p:spPr>
              <a:xfrm>
                <a:off x="3267717" y="3028181"/>
                <a:ext cx="2780303" cy="7101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𝑢𝑠𝑒</m:t>
                              </m:r>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𝑀</m:t>
                                  </m:r>
                                </m:e>
                                <m:sub>
                                  <m:r>
                                    <a:rPr lang="en-US" altLang="zh-CN" i="1">
                                      <a:latin typeface="Cambria Math" panose="02040503050406030204" pitchFamily="18" charset="0"/>
                                    </a:rPr>
                                    <m:t>1</m:t>
                                  </m:r>
                                </m:sub>
                              </m:sSub>
                              <m:r>
                                <a:rPr lang="en-US" altLang="zh-CN" b="0" i="1" smtClean="0">
                                  <a:latin typeface="Cambria Math" panose="02040503050406030204" pitchFamily="18" charset="0"/>
                                </a:rPr>
                                <m:t>,         </m:t>
                              </m:r>
                              <m:r>
                                <a:rPr lang="en-US" altLang="zh-CN" b="0" i="1" smtClean="0">
                                  <a:latin typeface="Cambria Math" panose="02040503050406030204" pitchFamily="18" charset="0"/>
                                </a:rPr>
                                <m:t>𝑤</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  </m:t>
                              </m:r>
                              <m:r>
                                <a:rPr lang="en-US" altLang="zh-CN" b="0" i="1" smtClean="0">
                                  <a:latin typeface="Cambria Math" panose="02040503050406030204" pitchFamily="18" charset="0"/>
                                </a:rPr>
                                <m:t>𝑝</m:t>
                              </m:r>
                            </m:e>
                            <m:e>
                              <m:r>
                                <a:rPr lang="en-US" altLang="zh-CN" b="0" i="1" smtClean="0">
                                  <a:latin typeface="Cambria Math" panose="02040503050406030204" pitchFamily="18" charset="0"/>
                                </a:rPr>
                                <m:t>𝑢𝑠𝑒</m:t>
                              </m:r>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𝑀</m:t>
                                  </m:r>
                                </m:e>
                                <m:sub>
                                  <m:r>
                                    <a:rPr lang="en-US" altLang="zh-CN" i="1">
                                      <a:latin typeface="Cambria Math" panose="02040503050406030204" pitchFamily="18" charset="0"/>
                                    </a:rPr>
                                    <m:t>2</m:t>
                                  </m:r>
                                </m:sub>
                              </m:sSub>
                              <m:r>
                                <a:rPr lang="en-US" altLang="zh-CN" b="0" i="1" smtClean="0">
                                  <a:latin typeface="Cambria Math" panose="02040503050406030204" pitchFamily="18" charset="0"/>
                                </a:rPr>
                                <m:t>,  </m:t>
                              </m:r>
                              <m:r>
                                <a:rPr lang="en-US" altLang="zh-CN" b="0" i="1" smtClean="0">
                                  <a:latin typeface="Cambria Math" panose="02040503050406030204" pitchFamily="18" charset="0"/>
                                </a:rPr>
                                <m:t>𝑤</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 1−</m:t>
                              </m:r>
                              <m:r>
                                <a:rPr lang="en-US" altLang="zh-CN" b="0" i="1" smtClean="0">
                                  <a:latin typeface="Cambria Math" panose="02040503050406030204" pitchFamily="18" charset="0"/>
                                </a:rPr>
                                <m:t>𝑝</m:t>
                              </m:r>
                            </m:e>
                          </m:eqArr>
                        </m:e>
                      </m:d>
                    </m:oMath>
                  </m:oMathPara>
                </a14:m>
                <a:endParaRPr lang="zh-CN" altLang="en-US" dirty="0"/>
              </a:p>
            </p:txBody>
          </p:sp>
        </mc:Choice>
        <mc:Fallback xmlns="">
          <p:sp>
            <p:nvSpPr>
              <p:cNvPr id="5" name="文本框 4">
                <a:extLst>
                  <a:ext uri="{FF2B5EF4-FFF2-40B4-BE49-F238E27FC236}">
                    <a16:creationId xmlns:a16="http://schemas.microsoft.com/office/drawing/2014/main" id="{8030BBBB-5C98-4BEF-9771-E752E378A0D9}"/>
                  </a:ext>
                </a:extLst>
              </p:cNvPr>
              <p:cNvSpPr txBox="1">
                <a:spLocks noRot="1" noChangeAspect="1" noMove="1" noResize="1" noEditPoints="1" noAdjustHandles="1" noChangeArrowheads="1" noChangeShapeType="1" noTextEdit="1"/>
              </p:cNvSpPr>
              <p:nvPr/>
            </p:nvSpPr>
            <p:spPr>
              <a:xfrm>
                <a:off x="3267717" y="3028181"/>
                <a:ext cx="2780303" cy="710194"/>
              </a:xfrm>
              <a:prstGeom prst="rect">
                <a:avLst/>
              </a:prstGeom>
              <a:blipFill>
                <a:blip r:embed="rId2"/>
                <a:stretch>
                  <a:fillRect/>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D767FF52-A5A9-405C-A250-6F082AC02C00}"/>
              </a:ext>
            </a:extLst>
          </p:cNvPr>
          <p:cNvPicPr>
            <a:picLocks noChangeAspect="1"/>
          </p:cNvPicPr>
          <p:nvPr/>
        </p:nvPicPr>
        <p:blipFill rotWithShape="1">
          <a:blip r:embed="rId3">
            <a:extLst>
              <a:ext uri="{28A0092B-C50C-407E-A947-70E740481C1C}">
                <a14:useLocalDpi xmlns:a14="http://schemas.microsoft.com/office/drawing/2010/main" val="0"/>
              </a:ext>
            </a:extLst>
          </a:blip>
          <a:srcRect l="27216" t="13590" r="21743" b="15508"/>
          <a:stretch/>
        </p:blipFill>
        <p:spPr>
          <a:xfrm>
            <a:off x="6270051" y="3090041"/>
            <a:ext cx="1069115" cy="1485106"/>
          </a:xfrm>
          <a:prstGeom prst="rect">
            <a:avLst/>
          </a:prstGeom>
          <a:noFill/>
        </p:spPr>
      </p:pic>
      <p:sp>
        <p:nvSpPr>
          <p:cNvPr id="12" name="思想气泡: 云 11">
            <a:extLst>
              <a:ext uri="{FF2B5EF4-FFF2-40B4-BE49-F238E27FC236}">
                <a16:creationId xmlns:a16="http://schemas.microsoft.com/office/drawing/2014/main" id="{90DC3BC9-722A-4904-BEE6-6EB685F64A9F}"/>
              </a:ext>
            </a:extLst>
          </p:cNvPr>
          <p:cNvSpPr/>
          <p:nvPr/>
        </p:nvSpPr>
        <p:spPr>
          <a:xfrm>
            <a:off x="7339166" y="2074740"/>
            <a:ext cx="3884624" cy="1538714"/>
          </a:xfrm>
          <a:prstGeom prst="cloudCallout">
            <a:avLst>
              <a:gd name="adj1" fmla="val -40736"/>
              <a:gd name="adj2" fmla="val 61863"/>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Arial" panose="020B0604020202020204" pitchFamily="34" charset="0"/>
                <a:cs typeface="Arial" panose="020B0604020202020204" pitchFamily="34" charset="0"/>
              </a:rPr>
              <a:t>What privacy guarantee can provide?</a:t>
            </a:r>
            <a:endParaRPr lang="zh-CN" altLang="en-US" dirty="0">
              <a:solidFill>
                <a:schemeClr val="tx1"/>
              </a:solidFill>
              <a:latin typeface="Arial" panose="020B0604020202020204" pitchFamily="34" charset="0"/>
              <a:cs typeface="Arial" panose="020B0604020202020204" pitchFamily="34" charset="0"/>
            </a:endParaRPr>
          </a:p>
        </p:txBody>
      </p:sp>
      <p:sp>
        <p:nvSpPr>
          <p:cNvPr id="2" name="圆柱体 1">
            <a:extLst>
              <a:ext uri="{FF2B5EF4-FFF2-40B4-BE49-F238E27FC236}">
                <a16:creationId xmlns:a16="http://schemas.microsoft.com/office/drawing/2014/main" id="{E2CD593D-F440-4E33-98DC-68387BB1E3A8}"/>
              </a:ext>
            </a:extLst>
          </p:cNvPr>
          <p:cNvSpPr/>
          <p:nvPr/>
        </p:nvSpPr>
        <p:spPr>
          <a:xfrm>
            <a:off x="1716758" y="2844097"/>
            <a:ext cx="1721594" cy="187925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chemeClr val="tx1"/>
                </a:solidFill>
                <a:latin typeface="Arial" panose="020B0604020202020204" pitchFamily="34" charset="0"/>
                <a:cs typeface="Arial" panose="020B0604020202020204" pitchFamily="34" charset="0"/>
              </a:rPr>
              <a:t>Dataset</a:t>
            </a:r>
            <a:endParaRPr lang="zh-CN" altLang="en-US" sz="28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34305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286232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Question: What if randomly use different DP mechanism?</a:t>
                </a:r>
              </a:p>
              <a:p>
                <a:r>
                  <a:rPr lang="en-US" altLang="zh-CN" b="1" dirty="0">
                    <a:latin typeface="Arial" panose="020B0604020202020204" pitchFamily="34" charset="0"/>
                    <a:cs typeface="Arial" panose="020B0604020202020204" pitchFamily="34" charset="0"/>
                  </a:rPr>
                  <a:t>Answer: Convexity provides the privacy guarantee.</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Theorem.</a:t>
                </a:r>
                <a:r>
                  <a:rPr lang="en-US" altLang="zh-CN" dirty="0">
                    <a:latin typeface="Arial" panose="020B0604020202020204" pitchFamily="34" charset="0"/>
                    <a:cs typeface="Arial" panose="020B0604020202020204" pitchFamily="34" charset="0"/>
                  </a:rPr>
                  <a:t> Given mechanisms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 then we use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 with probability </a:t>
                </a:r>
                <a14:m>
                  <m:oMath xmlns:m="http://schemas.openxmlformats.org/officeDocument/2006/math">
                    <m:r>
                      <a:rPr lang="en-US" altLang="zh-CN" b="0" i="1" smtClean="0">
                        <a:latin typeface="Cambria Math" panose="02040503050406030204" pitchFamily="18" charset="0"/>
                        <a:cs typeface="Arial" panose="020B0604020202020204" pitchFamily="34" charset="0"/>
                      </a:rPr>
                      <m:t>𝑝</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 with probability </a:t>
                </a:r>
                <a14:m>
                  <m:oMath xmlns:m="http://schemas.openxmlformats.org/officeDocument/2006/math">
                    <m:r>
                      <a:rPr lang="en-US" altLang="zh-CN" b="0" i="1" smtClean="0">
                        <a:latin typeface="Cambria Math" panose="02040503050406030204" pitchFamily="18" charset="0"/>
                        <a:cs typeface="Arial" panose="020B0604020202020204" pitchFamily="34" charset="0"/>
                      </a:rPr>
                      <m:t>1−</m:t>
                    </m:r>
                    <m:r>
                      <a:rPr lang="en-US" altLang="zh-CN" b="0" i="1" smtClean="0">
                        <a:latin typeface="Cambria Math" panose="02040503050406030204" pitchFamily="18" charset="0"/>
                        <a:cs typeface="Arial" panose="020B0604020202020204" pitchFamily="34" charset="0"/>
                      </a:rPr>
                      <m:t>𝑝</m:t>
                    </m:r>
                  </m:oMath>
                </a14:m>
                <a:r>
                  <a:rPr lang="en-US" altLang="zh-CN" dirty="0">
                    <a:latin typeface="Arial" panose="020B0604020202020204" pitchFamily="34" charset="0"/>
                    <a:cs typeface="Arial" panose="020B0604020202020204" pitchFamily="34" charset="0"/>
                  </a:rPr>
                  <a:t>. Then the result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Proof.</a:t>
                </a:r>
                <a:r>
                  <a:rPr lang="en-US" altLang="zh-CN" dirty="0">
                    <a:latin typeface="Arial" panose="020B0604020202020204" pitchFamily="34" charset="0"/>
                    <a:cs typeface="Arial" panose="020B0604020202020204" pitchFamily="34" charset="0"/>
                  </a:rPr>
                  <a:t> Denote the combined mechanism as </a:t>
                </a:r>
                <a14:m>
                  <m:oMath xmlns:m="http://schemas.openxmlformats.org/officeDocument/2006/math">
                    <m:r>
                      <a:rPr lang="en-US" altLang="zh-CN" b="0" i="1" smtClean="0">
                        <a:latin typeface="Cambria Math" panose="02040503050406030204" pitchFamily="18" charset="0"/>
                        <a:cs typeface="Arial" panose="020B0604020202020204" pitchFamily="34" charset="0"/>
                      </a:rPr>
                      <m:t>𝑀</m:t>
                    </m:r>
                  </m:oMath>
                </a14:m>
                <a:r>
                  <a:rPr lang="en-US" altLang="zh-CN" dirty="0">
                    <a:latin typeface="Arial" panose="020B0604020202020204" pitchFamily="34" charset="0"/>
                    <a:cs typeface="Arial" panose="020B0604020202020204" pitchFamily="34" charset="0"/>
                  </a:rPr>
                  <a:t>, let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𝑅𝑎𝑛𝑔𝑒</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𝑀</m:t>
                    </m:r>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𝑝</m:t>
                      </m:r>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+(1−</m:t>
                      </m:r>
                      <m:r>
                        <a:rPr lang="en-US" altLang="zh-CN" i="1">
                          <a:latin typeface="Cambria Math" panose="02040503050406030204" pitchFamily="18" charset="0"/>
                          <a:cs typeface="Arial" panose="020B0604020202020204" pitchFamily="34" charset="0"/>
                        </a:rPr>
                        <m:t>𝑝</m:t>
                      </m:r>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 </m:t>
                      </m:r>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𝑝</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1</m:t>
                                  </m:r>
                                </m:sub>
                              </m:sSub>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1−</m:t>
                          </m:r>
                          <m:r>
                            <a:rPr lang="en-US" altLang="zh-CN" b="0" i="1" smtClean="0">
                              <a:latin typeface="Cambria Math" panose="02040503050406030204" pitchFamily="18" charset="0"/>
                              <a:cs typeface="Arial" panose="020B0604020202020204" pitchFamily="34" charset="0"/>
                            </a:rPr>
                            <m:t>𝑝</m:t>
                          </m:r>
                        </m:e>
                      </m:d>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r>
                        <a:rPr lang="en-US" altLang="zh-CN" b="0" i="1" smtClean="0">
                          <a:latin typeface="Cambria Math" panose="02040503050406030204" pitchFamily="18" charset="0"/>
                          <a:cs typeface="Arial" panose="020B0604020202020204" pitchFamily="34" charset="0"/>
                        </a:rPr>
                        <m:t> </m:t>
                      </m:r>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r>
                        <a:rPr lang="en-US" altLang="zh-CN" b="0" i="1" smtClean="0">
                          <a:latin typeface="Cambria Math" panose="02040503050406030204" pitchFamily="18" charset="0"/>
                          <a:cs typeface="Arial" panose="020B0604020202020204" pitchFamily="34" charset="0"/>
                        </a:rPr>
                        <m:t> </m:t>
                      </m:r>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oMath>
                  </m:oMathPara>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2862322"/>
              </a:xfrm>
              <a:prstGeom prst="rect">
                <a:avLst/>
              </a:prstGeom>
              <a:blipFill>
                <a:blip r:embed="rId2"/>
                <a:stretch>
                  <a:fillRect l="-498" t="-1064" b="-12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911820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Properties</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655845" y="1179261"/>
                <a:ext cx="11018413" cy="286232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Question: What if randomly use different DP mechanism?</a:t>
                </a:r>
              </a:p>
              <a:p>
                <a:r>
                  <a:rPr lang="en-US" altLang="zh-CN" b="1" dirty="0">
                    <a:latin typeface="Arial" panose="020B0604020202020204" pitchFamily="34" charset="0"/>
                    <a:cs typeface="Arial" panose="020B0604020202020204" pitchFamily="34" charset="0"/>
                  </a:rPr>
                  <a:t>Answer: Convexity provides the privacy guarantee.</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Theorem.</a:t>
                </a:r>
                <a:r>
                  <a:rPr lang="en-US" altLang="zh-CN" dirty="0">
                    <a:latin typeface="Arial" panose="020B0604020202020204" pitchFamily="34" charset="0"/>
                    <a:cs typeface="Arial" panose="020B0604020202020204" pitchFamily="34" charset="0"/>
                  </a:rPr>
                  <a:t> Given mechanisms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 then we use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1</m:t>
                        </m:r>
                      </m:sub>
                    </m:sSub>
                  </m:oMath>
                </a14:m>
                <a:r>
                  <a:rPr lang="en-US" altLang="zh-CN" dirty="0">
                    <a:latin typeface="Arial" panose="020B0604020202020204" pitchFamily="34" charset="0"/>
                    <a:cs typeface="Arial" panose="020B0604020202020204" pitchFamily="34" charset="0"/>
                  </a:rPr>
                  <a:t> with probability </a:t>
                </a:r>
                <a14:m>
                  <m:oMath xmlns:m="http://schemas.openxmlformats.org/officeDocument/2006/math">
                    <m:r>
                      <a:rPr lang="en-US" altLang="zh-CN" b="0" i="1" smtClean="0">
                        <a:latin typeface="Cambria Math" panose="02040503050406030204" pitchFamily="18" charset="0"/>
                        <a:cs typeface="Arial" panose="020B0604020202020204" pitchFamily="34" charset="0"/>
                      </a:rPr>
                      <m:t>𝑝</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oMath>
                </a14:m>
                <a:r>
                  <a:rPr lang="en-US" altLang="zh-CN" dirty="0">
                    <a:latin typeface="Arial" panose="020B0604020202020204" pitchFamily="34" charset="0"/>
                    <a:cs typeface="Arial" panose="020B0604020202020204" pitchFamily="34" charset="0"/>
                  </a:rPr>
                  <a:t> with probability </a:t>
                </a:r>
                <a14:m>
                  <m:oMath xmlns:m="http://schemas.openxmlformats.org/officeDocument/2006/math">
                    <m:r>
                      <a:rPr lang="en-US" altLang="zh-CN" b="0" i="1" smtClean="0">
                        <a:latin typeface="Cambria Math" panose="02040503050406030204" pitchFamily="18" charset="0"/>
                        <a:cs typeface="Arial" panose="020B0604020202020204" pitchFamily="34" charset="0"/>
                      </a:rPr>
                      <m:t>1−</m:t>
                    </m:r>
                    <m:r>
                      <a:rPr lang="en-US" altLang="zh-CN" b="0" i="1" smtClean="0">
                        <a:latin typeface="Cambria Math" panose="02040503050406030204" pitchFamily="18" charset="0"/>
                        <a:cs typeface="Arial" panose="020B0604020202020204" pitchFamily="34" charset="0"/>
                      </a:rPr>
                      <m:t>𝑝</m:t>
                    </m:r>
                  </m:oMath>
                </a14:m>
                <a:r>
                  <a:rPr lang="en-US" altLang="zh-CN" dirty="0">
                    <a:latin typeface="Arial" panose="020B0604020202020204" pitchFamily="34" charset="0"/>
                    <a:cs typeface="Arial" panose="020B0604020202020204" pitchFamily="34" charset="0"/>
                  </a:rPr>
                  <a:t>. Then the result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Proof.</a:t>
                </a:r>
                <a:r>
                  <a:rPr lang="en-US" altLang="zh-CN" dirty="0">
                    <a:latin typeface="Arial" panose="020B0604020202020204" pitchFamily="34" charset="0"/>
                    <a:cs typeface="Arial" panose="020B0604020202020204" pitchFamily="34" charset="0"/>
                  </a:rPr>
                  <a:t> Denote the combined mechanism as </a:t>
                </a:r>
                <a14:m>
                  <m:oMath xmlns:m="http://schemas.openxmlformats.org/officeDocument/2006/math">
                    <m:r>
                      <a:rPr lang="en-US" altLang="zh-CN" b="0" i="1" smtClean="0">
                        <a:latin typeface="Cambria Math" panose="02040503050406030204" pitchFamily="18" charset="0"/>
                        <a:cs typeface="Arial" panose="020B0604020202020204" pitchFamily="34" charset="0"/>
                      </a:rPr>
                      <m:t>𝑀</m:t>
                    </m:r>
                  </m:oMath>
                </a14:m>
                <a:r>
                  <a:rPr lang="en-US" altLang="zh-CN" dirty="0">
                    <a:latin typeface="Arial" panose="020B0604020202020204" pitchFamily="34" charset="0"/>
                    <a:cs typeface="Arial" panose="020B0604020202020204" pitchFamily="34" charset="0"/>
                  </a:rPr>
                  <a:t>, let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𝑅𝑎𝑛𝑔𝑒</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𝑀</m:t>
                    </m:r>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𝑝</m:t>
                      </m:r>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+(1−</m:t>
                      </m:r>
                      <m:r>
                        <a:rPr lang="en-US" altLang="zh-CN" i="1">
                          <a:latin typeface="Cambria Math" panose="02040503050406030204" pitchFamily="18" charset="0"/>
                          <a:cs typeface="Arial" panose="020B0604020202020204" pitchFamily="34" charset="0"/>
                        </a:rPr>
                        <m:t>𝑝</m:t>
                      </m:r>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 </m:t>
                      </m:r>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1</m:t>
                              </m:r>
                            </m:sub>
                          </m:sSub>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𝑝</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i="1">
                                      <a:latin typeface="Cambria Math" panose="02040503050406030204" pitchFamily="18" charset="0"/>
                                      <a:cs typeface="Arial" panose="020B0604020202020204" pitchFamily="34" charset="0"/>
                                    </a:rPr>
                                    <m:t>1</m:t>
                                  </m:r>
                                </m:sub>
                              </m:sSub>
                              <m:d>
                                <m:dPr>
                                  <m:ctrlPr>
                                    <a:rPr lang="en-US" altLang="zh-CN" i="1">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1−</m:t>
                          </m:r>
                          <m:r>
                            <a:rPr lang="en-US" altLang="zh-CN" b="0" i="1" smtClean="0">
                              <a:latin typeface="Cambria Math" panose="02040503050406030204" pitchFamily="18" charset="0"/>
                              <a:cs typeface="Arial" panose="020B0604020202020204" pitchFamily="34" charset="0"/>
                            </a:rPr>
                            <m:t>𝑝</m:t>
                          </m:r>
                        </m:e>
                      </m:d>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r>
                        <a:rPr lang="en-US" altLang="zh-CN" b="0" i="1" smtClean="0">
                          <a:latin typeface="Cambria Math" panose="02040503050406030204" pitchFamily="18" charset="0"/>
                          <a:cs typeface="Arial" panose="020B0604020202020204" pitchFamily="34" charset="0"/>
                        </a:rPr>
                        <m:t> </m:t>
                      </m:r>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2</m:t>
                          </m:r>
                        </m:sub>
                      </m:sSub>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r>
                        <a:rPr lang="en-US" altLang="zh-CN" b="0" i="1" smtClean="0">
                          <a:latin typeface="Cambria Math" panose="02040503050406030204" pitchFamily="18" charset="0"/>
                          <a:cs typeface="Arial" panose="020B0604020202020204" pitchFamily="34" charset="0"/>
                        </a:rPr>
                        <m:t> </m:t>
                      </m:r>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𝑀</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𝐷</m:t>
                              </m:r>
                            </m:e>
                            <m:sub>
                              <m:r>
                                <a:rPr lang="en-US" altLang="zh-CN" b="0" i="1" smtClean="0">
                                  <a:latin typeface="Cambria Math" panose="02040503050406030204" pitchFamily="18" charset="0"/>
                                  <a:cs typeface="Arial" panose="020B0604020202020204" pitchFamily="34" charset="0"/>
                                </a:rPr>
                                <m:t>2</m:t>
                              </m:r>
                            </m:sub>
                          </m:sSub>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oMath>
                  </m:oMathPara>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655845" y="1179261"/>
                <a:ext cx="11018413" cy="2862322"/>
              </a:xfrm>
              <a:prstGeom prst="rect">
                <a:avLst/>
              </a:prstGeom>
              <a:blipFill>
                <a:blip r:embed="rId2"/>
                <a:stretch>
                  <a:fillRect l="-498" t="-1064" b="-12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5D04F56-C013-4304-87D0-E0A7DA0857D6}"/>
                  </a:ext>
                </a:extLst>
              </p:cNvPr>
              <p:cNvSpPr txBox="1"/>
              <p:nvPr/>
            </p:nvSpPr>
            <p:spPr>
              <a:xfrm>
                <a:off x="800888" y="4572000"/>
                <a:ext cx="10253893" cy="64665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General Case:</a:t>
                </a:r>
                <a:r>
                  <a:rPr lang="en-US" altLang="zh-CN" dirty="0">
                    <a:latin typeface="Arial" panose="020B0604020202020204" pitchFamily="34" charset="0"/>
                    <a:cs typeface="Arial" panose="020B0604020202020204" pitchFamily="34" charset="0"/>
                  </a:rPr>
                  <a:t> Given k mechanisms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𝑘</m:t>
                        </m:r>
                      </m:sub>
                    </m:sSub>
                  </m:oMath>
                </a14:m>
                <a:r>
                  <a:rPr lang="en-US" altLang="zh-CN" dirty="0">
                    <a:latin typeface="Arial" panose="020B0604020202020204" pitchFamily="34" charset="0"/>
                    <a:cs typeface="Arial" panose="020B0604020202020204" pitchFamily="34" charset="0"/>
                  </a:rPr>
                  <a: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 and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𝑝</m:t>
                        </m:r>
                      </m:e>
                      <m:sub>
                        <m:r>
                          <a:rPr lang="en-US" altLang="zh-CN" b="0" i="1" smtClean="0">
                            <a:latin typeface="Cambria Math" panose="02040503050406030204" pitchFamily="18" charset="0"/>
                            <a:cs typeface="Arial" panose="020B0604020202020204" pitchFamily="34" charset="0"/>
                          </a:rPr>
                          <m:t>1</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𝑝</m:t>
                        </m:r>
                      </m:e>
                      <m:sub>
                        <m:r>
                          <a:rPr lang="en-US" altLang="zh-CN" b="0" i="1" smtClean="0">
                            <a:latin typeface="Cambria Math" panose="02040503050406030204" pitchFamily="18" charset="0"/>
                            <a:cs typeface="Arial" panose="020B0604020202020204" pitchFamily="34" charset="0"/>
                          </a:rPr>
                          <m:t>𝑘</m:t>
                        </m:r>
                      </m:sub>
                    </m:sSub>
                    <m:r>
                      <a:rPr lang="en-US" altLang="zh-CN" b="0" i="1" smtClean="0">
                        <a:latin typeface="Cambria Math" panose="02040503050406030204" pitchFamily="18" charset="0"/>
                        <a:cs typeface="Arial" panose="020B0604020202020204" pitchFamily="34" charset="0"/>
                      </a:rPr>
                      <m:t>∈</m:t>
                    </m:r>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0,1</m:t>
                        </m:r>
                      </m:e>
                    </m:d>
                    <m:r>
                      <a:rPr lang="en-US" altLang="zh-CN" b="0" i="1" smtClean="0">
                        <a:latin typeface="Cambria Math" panose="02040503050406030204" pitchFamily="18" charset="0"/>
                        <a:cs typeface="Arial" panose="020B0604020202020204" pitchFamily="34" charset="0"/>
                      </a:rPr>
                      <m:t>, </m:t>
                    </m:r>
                    <m:nary>
                      <m:naryPr>
                        <m:chr m:val="∑"/>
                        <m:limLoc m:val="subSup"/>
                        <m:supHide m:val="on"/>
                        <m:ctrlPr>
                          <a:rPr lang="en-US" altLang="zh-CN" b="0" i="1" smtClean="0">
                            <a:latin typeface="Cambria Math" panose="02040503050406030204" pitchFamily="18" charset="0"/>
                            <a:cs typeface="Arial" panose="020B0604020202020204" pitchFamily="34" charset="0"/>
                          </a:rPr>
                        </m:ctrlPr>
                      </m:naryPr>
                      <m:sub>
                        <m:r>
                          <m:rPr>
                            <m:brk m:alnAt="9"/>
                          </m:rPr>
                          <a:rPr lang="en-US" altLang="zh-CN" b="0" i="1" smtClean="0">
                            <a:latin typeface="Cambria Math" panose="02040503050406030204" pitchFamily="18" charset="0"/>
                            <a:cs typeface="Arial" panose="020B0604020202020204" pitchFamily="34" charset="0"/>
                          </a:rPr>
                          <m:t>𝑖</m:t>
                        </m:r>
                      </m:sub>
                      <m:sup/>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𝑝</m:t>
                            </m:r>
                          </m:e>
                          <m:sub>
                            <m:r>
                              <a:rPr lang="en-US" altLang="zh-CN" b="0" i="1" smtClean="0">
                                <a:latin typeface="Cambria Math" panose="02040503050406030204" pitchFamily="18" charset="0"/>
                                <a:cs typeface="Arial" panose="020B0604020202020204" pitchFamily="34" charset="0"/>
                              </a:rPr>
                              <m:t>𝑖</m:t>
                            </m:r>
                          </m:sub>
                        </m:sSub>
                      </m:e>
                    </m:nary>
                    <m:r>
                      <a:rPr lang="en-US" altLang="zh-CN" b="0" i="1" smtClean="0">
                        <a:latin typeface="Cambria Math" panose="02040503050406030204" pitchFamily="18" charset="0"/>
                        <a:cs typeface="Arial" panose="020B0604020202020204" pitchFamily="34" charset="0"/>
                      </a:rPr>
                      <m:t>=1</m:t>
                    </m:r>
                  </m:oMath>
                </a14:m>
                <a:r>
                  <a:rPr lang="en-US" altLang="zh-CN" dirty="0">
                    <a:latin typeface="Arial" panose="020B0604020202020204" pitchFamily="34" charset="0"/>
                    <a:cs typeface="Arial" panose="020B0604020202020204" pitchFamily="34" charset="0"/>
                  </a:rPr>
                  <a:t>, then we use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𝑀</m:t>
                        </m:r>
                      </m:e>
                      <m:sub>
                        <m:r>
                          <a:rPr lang="en-US" altLang="zh-CN" b="0" i="1" smtClean="0">
                            <a:latin typeface="Cambria Math" panose="02040503050406030204" pitchFamily="18" charset="0"/>
                            <a:cs typeface="Arial" panose="020B0604020202020204" pitchFamily="34" charset="0"/>
                          </a:rPr>
                          <m:t>𝑖</m:t>
                        </m:r>
                      </m:sub>
                    </m:sSub>
                  </m:oMath>
                </a14:m>
                <a:r>
                  <a:rPr lang="en-US" altLang="zh-CN" dirty="0">
                    <a:latin typeface="Arial" panose="020B0604020202020204" pitchFamily="34" charset="0"/>
                    <a:cs typeface="Arial" panose="020B0604020202020204" pitchFamily="34" charset="0"/>
                  </a:rPr>
                  <a:t> with probability </a:t>
                </a:r>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𝑝</m:t>
                        </m:r>
                      </m:e>
                      <m:sub>
                        <m:r>
                          <a:rPr lang="en-US" altLang="zh-CN" b="0" i="1" smtClean="0">
                            <a:latin typeface="Cambria Math" panose="02040503050406030204" pitchFamily="18" charset="0"/>
                            <a:cs typeface="Arial" panose="020B0604020202020204" pitchFamily="34" charset="0"/>
                          </a:rPr>
                          <m:t>𝑖</m:t>
                        </m:r>
                      </m:sub>
                    </m:sSub>
                  </m:oMath>
                </a14:m>
                <a:r>
                  <a:rPr lang="en-US" altLang="zh-CN" dirty="0">
                    <a:latin typeface="Arial" panose="020B0604020202020204" pitchFamily="34" charset="0"/>
                    <a:cs typeface="Arial" panose="020B0604020202020204" pitchFamily="34" charset="0"/>
                  </a:rPr>
                  <a:t>. Then the result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a:t>
                </a:r>
              </a:p>
            </p:txBody>
          </p:sp>
        </mc:Choice>
        <mc:Fallback xmlns="">
          <p:sp>
            <p:nvSpPr>
              <p:cNvPr id="2" name="文本框 1">
                <a:extLst>
                  <a:ext uri="{FF2B5EF4-FFF2-40B4-BE49-F238E27FC236}">
                    <a16:creationId xmlns:a16="http://schemas.microsoft.com/office/drawing/2014/main" id="{65D04F56-C013-4304-87D0-E0A7DA0857D6}"/>
                  </a:ext>
                </a:extLst>
              </p:cNvPr>
              <p:cNvSpPr txBox="1">
                <a:spLocks noRot="1" noChangeAspect="1" noMove="1" noResize="1" noEditPoints="1" noAdjustHandles="1" noChangeArrowheads="1" noChangeShapeType="1" noTextEdit="1"/>
              </p:cNvSpPr>
              <p:nvPr/>
            </p:nvSpPr>
            <p:spPr>
              <a:xfrm>
                <a:off x="800888" y="4572000"/>
                <a:ext cx="10253893" cy="646652"/>
              </a:xfrm>
              <a:prstGeom prst="rect">
                <a:avLst/>
              </a:prstGeom>
              <a:blipFill>
                <a:blip r:embed="rId3"/>
                <a:stretch>
                  <a:fillRect l="-476" t="-67925" b="-641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059642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9147ED0-3207-423F-BC90-D6F8B15C959D}"/>
              </a:ext>
            </a:extLst>
          </p:cNvPr>
          <p:cNvSpPr txBox="1"/>
          <p:nvPr/>
        </p:nvSpPr>
        <p:spPr>
          <a:xfrm>
            <a:off x="868166" y="1443519"/>
            <a:ext cx="9529281" cy="389048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Intuition and Definition</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Common DP Mechanisms</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Properties</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Other Composition Theorems</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Numerical Query</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Hierarchy Technique</a:t>
            </a:r>
          </a:p>
        </p:txBody>
      </p:sp>
      <p:sp>
        <p:nvSpPr>
          <p:cNvPr id="5" name="文本框 4">
            <a:extLst>
              <a:ext uri="{FF2B5EF4-FFF2-40B4-BE49-F238E27FC236}">
                <a16:creationId xmlns:a16="http://schemas.microsoft.com/office/drawing/2014/main" id="{FB015B40-4C34-413F-A0EC-2229EFC09CAA}"/>
              </a:ext>
            </a:extLst>
          </p:cNvPr>
          <p:cNvSpPr txBox="1"/>
          <p:nvPr/>
        </p:nvSpPr>
        <p:spPr>
          <a:xfrm>
            <a:off x="791110" y="440077"/>
            <a:ext cx="9529281" cy="584775"/>
          </a:xfrm>
          <a:prstGeom prst="rect">
            <a:avLst/>
          </a:prstGeom>
          <a:noFill/>
        </p:spPr>
        <p:txBody>
          <a:bodyPr wrap="square" rtlCol="0">
            <a:spAutoFit/>
          </a:bodyPr>
          <a:lstStyle/>
          <a:p>
            <a:r>
              <a:rPr lang="en-US" altLang="zh-CN" sz="3200" b="1" dirty="0">
                <a:latin typeface="Arial" panose="020B0604020202020204" pitchFamily="34" charset="0"/>
                <a:cs typeface="Arial" panose="020B0604020202020204" pitchFamily="34" charset="0"/>
              </a:rPr>
              <a:t>Contents</a:t>
            </a:r>
            <a:endParaRPr lang="zh-CN" altLang="en-US"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06095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2308324"/>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Computing Average</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Consider the following query:</a:t>
            </a: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algn="ctr"/>
            <a:r>
              <a:rPr lang="en-US" altLang="zh-CN" b="1" dirty="0">
                <a:latin typeface="Arial" panose="020B0604020202020204" pitchFamily="34" charset="0"/>
                <a:cs typeface="Arial" panose="020B0604020202020204" pitchFamily="34" charset="0"/>
              </a:rPr>
              <a:t>On average, how many packs of cigarettes do patients who have been smoking for over 15 years smoke?</a:t>
            </a:r>
          </a:p>
          <a:p>
            <a:pPr algn="ctr"/>
            <a:r>
              <a:rPr lang="zh-CN" altLang="en-US" b="1" dirty="0">
                <a:latin typeface="宋体" panose="02010600030101010101" pitchFamily="2" charset="-122"/>
                <a:ea typeface="宋体" panose="02010600030101010101" pitchFamily="2" charset="-122"/>
                <a:cs typeface="Arial" panose="020B0604020202020204" pitchFamily="34" charset="0"/>
              </a:rPr>
              <a:t>平均来说，烟龄超过</a:t>
            </a:r>
            <a:r>
              <a:rPr lang="en-US" altLang="zh-CN" b="1" dirty="0">
                <a:latin typeface="宋体" panose="02010600030101010101" pitchFamily="2" charset="-122"/>
                <a:ea typeface="宋体" panose="02010600030101010101" pitchFamily="2" charset="-122"/>
                <a:cs typeface="Arial" panose="020B0604020202020204" pitchFamily="34" charset="0"/>
              </a:rPr>
              <a:t>15</a:t>
            </a:r>
            <a:r>
              <a:rPr lang="zh-CN" altLang="en-US" b="1" dirty="0">
                <a:latin typeface="宋体" panose="02010600030101010101" pitchFamily="2" charset="-122"/>
                <a:ea typeface="宋体" panose="02010600030101010101" pitchFamily="2" charset="-122"/>
                <a:cs typeface="Arial" panose="020B0604020202020204" pitchFamily="34" charset="0"/>
              </a:rPr>
              <a:t>年的人一天抽几包烟？</a:t>
            </a:r>
            <a:endParaRPr lang="en-US" altLang="zh-CN" b="1" dirty="0">
              <a:latin typeface="宋体" panose="02010600030101010101" pitchFamily="2" charset="-122"/>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34613344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1477328"/>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Formulate this query:</a:t>
            </a:r>
          </a:p>
          <a:p>
            <a:endParaRPr lang="en-US" altLang="zh-CN"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On average, how many packs of cigarettes do patients who have been smoking for over 15 years smoke?</a:t>
            </a:r>
          </a:p>
          <a:p>
            <a:endParaRPr lang="en-US" altLang="zh-CN" b="1"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p:txBody>
      </p:sp>
      <p:sp>
        <p:nvSpPr>
          <p:cNvPr id="2" name="左大括号 1">
            <a:extLst>
              <a:ext uri="{FF2B5EF4-FFF2-40B4-BE49-F238E27FC236}">
                <a16:creationId xmlns:a16="http://schemas.microsoft.com/office/drawing/2014/main" id="{3CA9A7AC-5DA1-4DC0-9600-63C1F8442326}"/>
              </a:ext>
            </a:extLst>
          </p:cNvPr>
          <p:cNvSpPr/>
          <p:nvPr/>
        </p:nvSpPr>
        <p:spPr>
          <a:xfrm rot="16200000">
            <a:off x="10137545" y="1030749"/>
            <a:ext cx="466659" cy="2606772"/>
          </a:xfrm>
          <a:prstGeom prst="leftBrace">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D5221E3-E3BA-43A2-94B7-97B9A7B32ECB}"/>
                  </a:ext>
                </a:extLst>
              </p:cNvPr>
              <p:cNvSpPr txBox="1"/>
              <p:nvPr/>
            </p:nvSpPr>
            <p:spPr>
              <a:xfrm>
                <a:off x="9635884" y="2806262"/>
                <a:ext cx="1627002" cy="36933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condition </a:t>
                </a:r>
                <a14:m>
                  <m:oMath xmlns:m="http://schemas.openxmlformats.org/officeDocument/2006/math">
                    <m:r>
                      <a:rPr lang="en-US" altLang="zh-CN" b="0" i="1" smtClean="0">
                        <a:latin typeface="Cambria Math" panose="02040503050406030204" pitchFamily="18" charset="0"/>
                        <a:cs typeface="Arial" panose="020B0604020202020204" pitchFamily="34" charset="0"/>
                      </a:rPr>
                      <m:t>𝑐</m:t>
                    </m:r>
                  </m:oMath>
                </a14:m>
                <a:endParaRPr lang="zh-CN" altLang="en-US" dirty="0">
                  <a:latin typeface="Arial" panose="020B0604020202020204" pitchFamily="34" charset="0"/>
                  <a:cs typeface="Arial" panose="020B0604020202020204" pitchFamily="34" charset="0"/>
                </a:endParaRPr>
              </a:p>
            </p:txBody>
          </p:sp>
        </mc:Choice>
        <mc:Fallback xmlns="">
          <p:sp>
            <p:nvSpPr>
              <p:cNvPr id="3" name="文本框 2">
                <a:extLst>
                  <a:ext uri="{FF2B5EF4-FFF2-40B4-BE49-F238E27FC236}">
                    <a16:creationId xmlns:a16="http://schemas.microsoft.com/office/drawing/2014/main" id="{CD5221E3-E3BA-43A2-94B7-97B9A7B32ECB}"/>
                  </a:ext>
                </a:extLst>
              </p:cNvPr>
              <p:cNvSpPr txBox="1">
                <a:spLocks noRot="1" noChangeAspect="1" noMove="1" noResize="1" noEditPoints="1" noAdjustHandles="1" noChangeArrowheads="1" noChangeShapeType="1" noTextEdit="1"/>
              </p:cNvSpPr>
              <p:nvPr/>
            </p:nvSpPr>
            <p:spPr>
              <a:xfrm>
                <a:off x="9635884" y="2806262"/>
                <a:ext cx="1627002" cy="369332"/>
              </a:xfrm>
              <a:prstGeom prst="rect">
                <a:avLst/>
              </a:prstGeom>
              <a:blipFill>
                <a:blip r:embed="rId2"/>
                <a:stretch>
                  <a:fillRect l="-3371" t="-8197" b="-24590"/>
                </a:stretch>
              </a:blipFill>
            </p:spPr>
            <p:txBody>
              <a:bodyPr/>
              <a:lstStyle/>
              <a:p>
                <a:r>
                  <a:rPr lang="zh-CN" altLang="en-US">
                    <a:noFill/>
                  </a:rPr>
                  <a:t> </a:t>
                </a:r>
              </a:p>
            </p:txBody>
          </p:sp>
        </mc:Fallback>
      </mc:AlternateContent>
      <p:sp>
        <p:nvSpPr>
          <p:cNvPr id="8" name="左大括号 7">
            <a:extLst>
              <a:ext uri="{FF2B5EF4-FFF2-40B4-BE49-F238E27FC236}">
                <a16:creationId xmlns:a16="http://schemas.microsoft.com/office/drawing/2014/main" id="{FAA22D4A-CE54-448A-867F-185989499FD3}"/>
              </a:ext>
            </a:extLst>
          </p:cNvPr>
          <p:cNvSpPr/>
          <p:nvPr/>
        </p:nvSpPr>
        <p:spPr>
          <a:xfrm rot="16200000">
            <a:off x="3739689" y="1300022"/>
            <a:ext cx="466659" cy="2068225"/>
          </a:xfrm>
          <a:prstGeom prst="leftBrace">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4A140D5-9FA9-4C9C-A703-11F9A1900FC1}"/>
                  </a:ext>
                </a:extLst>
              </p:cNvPr>
              <p:cNvSpPr txBox="1"/>
              <p:nvPr/>
            </p:nvSpPr>
            <p:spPr>
              <a:xfrm>
                <a:off x="3324422" y="2806262"/>
                <a:ext cx="1627002" cy="36933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attribute </a:t>
                </a:r>
                <a14:m>
                  <m:oMath xmlns:m="http://schemas.openxmlformats.org/officeDocument/2006/math">
                    <m:r>
                      <a:rPr lang="en-US" altLang="zh-CN" b="0" i="1" smtClean="0">
                        <a:latin typeface="Cambria Math" panose="02040503050406030204" pitchFamily="18" charset="0"/>
                        <a:cs typeface="Arial" panose="020B0604020202020204" pitchFamily="34" charset="0"/>
                      </a:rPr>
                      <m:t>𝑎</m:t>
                    </m:r>
                  </m:oMath>
                </a14:m>
                <a:endParaRPr lang="zh-CN" altLang="en-US" dirty="0">
                  <a:latin typeface="Arial" panose="020B0604020202020204" pitchFamily="34" charset="0"/>
                  <a:cs typeface="Arial" panose="020B0604020202020204" pitchFamily="34" charset="0"/>
                </a:endParaRPr>
              </a:p>
            </p:txBody>
          </p:sp>
        </mc:Choice>
        <mc:Fallback xmlns="">
          <p:sp>
            <p:nvSpPr>
              <p:cNvPr id="9" name="文本框 8">
                <a:extLst>
                  <a:ext uri="{FF2B5EF4-FFF2-40B4-BE49-F238E27FC236}">
                    <a16:creationId xmlns:a16="http://schemas.microsoft.com/office/drawing/2014/main" id="{F4A140D5-9FA9-4C9C-A703-11F9A1900FC1}"/>
                  </a:ext>
                </a:extLst>
              </p:cNvPr>
              <p:cNvSpPr txBox="1">
                <a:spLocks noRot="1" noChangeAspect="1" noMove="1" noResize="1" noEditPoints="1" noAdjustHandles="1" noChangeArrowheads="1" noChangeShapeType="1" noTextEdit="1"/>
              </p:cNvSpPr>
              <p:nvPr/>
            </p:nvSpPr>
            <p:spPr>
              <a:xfrm>
                <a:off x="3324422" y="2806262"/>
                <a:ext cx="1627002" cy="369332"/>
              </a:xfrm>
              <a:prstGeom prst="rect">
                <a:avLst/>
              </a:prstGeom>
              <a:blipFill>
                <a:blip r:embed="rId3"/>
                <a:stretch>
                  <a:fillRect l="-2996"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61DFA86-B0D0-4B66-B1C7-3E255E7D7C54}"/>
                  </a:ext>
                </a:extLst>
              </p:cNvPr>
              <p:cNvSpPr txBox="1"/>
              <p:nvPr/>
            </p:nvSpPr>
            <p:spPr>
              <a:xfrm>
                <a:off x="495353" y="3504355"/>
                <a:ext cx="11201293" cy="2687531"/>
              </a:xfrm>
              <a:prstGeom prst="rect">
                <a:avLst/>
              </a:prstGeom>
              <a:noFill/>
            </p:spPr>
            <p:txBody>
              <a:bodyPr wrap="square" rtlCol="0">
                <a:spAutoFit/>
              </a:bodyPr>
              <a:lstStyle/>
              <a:p>
                <a14:m>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𝑥</m:t>
                        </m:r>
                      </m:e>
                      <m:sub>
                        <m:r>
                          <a:rPr lang="en-US" altLang="zh-CN" b="0" i="1" smtClean="0">
                            <a:latin typeface="Cambria Math" panose="02040503050406030204" pitchFamily="18" charset="0"/>
                            <a:cs typeface="Arial" panose="020B0604020202020204" pitchFamily="34" charset="0"/>
                          </a:rPr>
                          <m:t>𝑎</m:t>
                        </m:r>
                      </m:sub>
                    </m:sSub>
                  </m:oMath>
                </a14:m>
                <a:r>
                  <a:rPr lang="en-US" altLang="zh-CN" dirty="0">
                    <a:latin typeface="Arial" panose="020B0604020202020204" pitchFamily="34" charset="0"/>
                    <a:cs typeface="Arial" panose="020B0604020202020204" pitchFamily="34" charset="0"/>
                  </a:rPr>
                  <a:t>: The value of attribute </a:t>
                </a:r>
                <a14:m>
                  <m:oMath xmlns:m="http://schemas.openxmlformats.org/officeDocument/2006/math">
                    <m:r>
                      <a:rPr lang="en-US" altLang="zh-CN" b="0" i="1" smtClean="0">
                        <a:latin typeface="Cambria Math" panose="02040503050406030204" pitchFamily="18" charset="0"/>
                        <a:cs typeface="Arial" panose="020B0604020202020204" pitchFamily="34" charset="0"/>
                      </a:rPr>
                      <m:t>𝑎</m:t>
                    </m:r>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𝐷</m:t>
                    </m:r>
                    <m:r>
                      <a:rPr lang="en-US" altLang="zh-CN" i="1">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The set of elements satisfying the condition </a:t>
                </a:r>
                <a14:m>
                  <m:oMath xmlns:m="http://schemas.openxmlformats.org/officeDocument/2006/math">
                    <m:r>
                      <a:rPr lang="en-US" altLang="zh-CN" b="0" i="1" smtClean="0">
                        <a:latin typeface="Cambria Math" panose="02040503050406030204" pitchFamily="18" charset="0"/>
                        <a:cs typeface="Arial" panose="020B0604020202020204" pitchFamily="34" charset="0"/>
                      </a:rPr>
                      <m:t>𝑐</m:t>
                    </m:r>
                  </m:oMath>
                </a14:m>
                <a:endParaRPr lang="en-US" altLang="zh-CN" i="1"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𝐴𝑣</m:t>
                      </m:r>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𝑔</m:t>
                          </m:r>
                        </m:e>
                        <m:sub>
                          <m:r>
                            <a:rPr lang="en-US" altLang="zh-CN" b="0" i="1" smtClean="0">
                              <a:latin typeface="Cambria Math" panose="02040503050406030204" pitchFamily="18" charset="0"/>
                              <a:cs typeface="Arial" panose="020B0604020202020204" pitchFamily="34" charset="0"/>
                            </a:rPr>
                            <m:t>𝑐</m:t>
                          </m:r>
                        </m:sub>
                        <m:sup>
                          <m:r>
                            <a:rPr lang="en-US" altLang="zh-CN" b="0" i="1" smtClean="0">
                              <a:latin typeface="Cambria Math" panose="02040503050406030204" pitchFamily="18" charset="0"/>
                              <a:cs typeface="Arial" panose="020B0604020202020204" pitchFamily="34" charset="0"/>
                            </a:rPr>
                            <m:t>𝑎</m:t>
                          </m:r>
                        </m:sup>
                      </m:sSubSup>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d>
                        <m:dPr>
                          <m:begChr m:val="{"/>
                          <m:endChr m:val=""/>
                          <m:ctrlPr>
                            <a:rPr lang="en-US" altLang="zh-CN" b="0" i="1" smtClean="0">
                              <a:latin typeface="Cambria Math" panose="02040503050406030204" pitchFamily="18" charset="0"/>
                              <a:cs typeface="Arial" panose="020B0604020202020204" pitchFamily="34" charset="0"/>
                            </a:rPr>
                          </m:ctrlPr>
                        </m:dPr>
                        <m:e>
                          <m:eqArr>
                            <m:eqArrPr>
                              <m:ctrlPr>
                                <a:rPr lang="en-US" altLang="zh-CN" b="0" i="1" smtClean="0">
                                  <a:latin typeface="Cambria Math" panose="02040503050406030204" pitchFamily="18" charset="0"/>
                                  <a:cs typeface="Arial" panose="020B0604020202020204" pitchFamily="34" charset="0"/>
                                </a:rPr>
                              </m:ctrlPr>
                            </m:eqArrPr>
                            <m:e>
                              <m:f>
                                <m:fPr>
                                  <m:ctrlPr>
                                    <a:rPr lang="en-US" altLang="zh-CN" b="0" i="1" smtClean="0">
                                      <a:latin typeface="Cambria Math" panose="02040503050406030204" pitchFamily="18" charset="0"/>
                                      <a:cs typeface="Arial" panose="020B0604020202020204" pitchFamily="34" charset="0"/>
                                    </a:rPr>
                                  </m:ctrlPr>
                                </m:fPr>
                                <m:num>
                                  <m:nary>
                                    <m:naryPr>
                                      <m:chr m:val="∑"/>
                                      <m:limLoc m:val="subSup"/>
                                      <m:supHide m:val="on"/>
                                      <m:ctrlPr>
                                        <a:rPr lang="en-US" altLang="zh-CN" b="0" i="1" smtClean="0">
                                          <a:latin typeface="Cambria Math" panose="02040503050406030204" pitchFamily="18" charset="0"/>
                                          <a:cs typeface="Arial" panose="020B0604020202020204" pitchFamily="34" charset="0"/>
                                        </a:rPr>
                                      </m:ctrlPr>
                                    </m:naryPr>
                                    <m:sub>
                                      <m:r>
                                        <m:rPr>
                                          <m:brk m:alnAt="9"/>
                                        </m:rPr>
                                        <a:rPr lang="en-US" altLang="zh-CN" b="0" i="1" smtClean="0">
                                          <a:latin typeface="Cambria Math" panose="02040503050406030204" pitchFamily="18" charset="0"/>
                                          <a:cs typeface="Arial" panose="020B0604020202020204" pitchFamily="34" charset="0"/>
                                        </a:rPr>
                                        <m:t>𝑥</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𝜎</m:t>
                                          </m:r>
                                        </m:e>
                                        <m:sub>
                                          <m:r>
                                            <a:rPr lang="en-US" altLang="zh-CN" b="0" i="1" smtClean="0">
                                              <a:latin typeface="Cambria Math" panose="02040503050406030204" pitchFamily="18" charset="0"/>
                                              <a:cs typeface="Arial" panose="020B0604020202020204" pitchFamily="34" charset="0"/>
                                            </a:rPr>
                                            <m:t>𝑐</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sub>
                                    <m:sup/>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𝑥</m:t>
                                          </m:r>
                                        </m:e>
                                        <m:sub>
                                          <m:r>
                                            <a:rPr lang="en-US" altLang="zh-CN" b="0" i="1" smtClean="0">
                                              <a:latin typeface="Cambria Math" panose="02040503050406030204" pitchFamily="18" charset="0"/>
                                              <a:cs typeface="Arial" panose="020B0604020202020204" pitchFamily="34" charset="0"/>
                                            </a:rPr>
                                            <m:t>𝑎</m:t>
                                          </m:r>
                                        </m:sub>
                                      </m:sSub>
                                    </m:e>
                                  </m:nary>
                                </m:num>
                                <m:den>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𝐷</m:t>
                                  </m:r>
                                  <m:r>
                                    <a:rPr lang="en-US" altLang="zh-CN" i="1">
                                      <a:latin typeface="Cambria Math" panose="02040503050406030204" pitchFamily="18" charset="0"/>
                                      <a:cs typeface="Arial" panose="020B0604020202020204" pitchFamily="34" charset="0"/>
                                    </a:rPr>
                                    <m:t>)|</m:t>
                                  </m:r>
                                </m:den>
                              </m:f>
                              <m:r>
                                <a:rPr lang="en-US" altLang="zh-CN" b="0" i="1" smtClean="0">
                                  <a:latin typeface="Cambria Math" panose="02040503050406030204" pitchFamily="18" charset="0"/>
                                  <a:cs typeface="Arial" panose="020B0604020202020204" pitchFamily="34" charset="0"/>
                                </a:rPr>
                                <m:t>,    </m:t>
                              </m:r>
                              <m:r>
                                <a:rPr lang="en-US" altLang="zh-CN" b="0" i="1" smtClean="0">
                                  <a:latin typeface="Cambria Math" panose="02040503050406030204" pitchFamily="18" charset="0"/>
                                  <a:cs typeface="Arial" panose="020B0604020202020204" pitchFamily="34" charset="0"/>
                                </a:rPr>
                                <m:t>𝑤h𝑒𝑛</m:t>
                              </m:r>
                              <m:r>
                                <a:rPr lang="en-US" altLang="zh-CN" b="0" i="1" smtClean="0">
                                  <a:latin typeface="Cambria Math" panose="02040503050406030204" pitchFamily="18" charset="0"/>
                                  <a:cs typeface="Arial" panose="020B0604020202020204" pitchFamily="34" charset="0"/>
                                </a:rPr>
                                <m:t>  </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e>
                            <m:e/>
                            <m:e>
                              <m:f>
                                <m:fPr>
                                  <m:ctrlPr>
                                    <a:rPr lang="en-US" altLang="zh-CN" i="1">
                                      <a:latin typeface="Cambria Math" panose="02040503050406030204" pitchFamily="18" charset="0"/>
                                      <a:cs typeface="Arial" panose="020B0604020202020204" pitchFamily="34" charset="0"/>
                                    </a:rPr>
                                  </m:ctrlPr>
                                </m:fPr>
                                <m:num>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num>
                                <m:den>
                                  <m:r>
                                    <a:rPr lang="en-US" altLang="zh-CN" b="0" i="1" smtClean="0">
                                      <a:latin typeface="Cambria Math" panose="02040503050406030204" pitchFamily="18" charset="0"/>
                                      <a:cs typeface="Arial" panose="020B0604020202020204" pitchFamily="34" charset="0"/>
                                    </a:rPr>
                                    <m:t>2</m:t>
                                  </m:r>
                                </m:den>
                              </m:f>
                              <m:r>
                                <a:rPr lang="en-US" altLang="zh-CN" b="0" i="1" smtClean="0">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𝑤h𝑒𝑛</m:t>
                              </m:r>
                              <m:r>
                                <a:rPr lang="en-US" altLang="zh-CN" i="1">
                                  <a:latin typeface="Cambria Math" panose="02040503050406030204" pitchFamily="18" charset="0"/>
                                  <a:cs typeface="Arial" panose="020B0604020202020204" pitchFamily="34" charset="0"/>
                                </a:rPr>
                                <m:t>  </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ea typeface="Cambria Math" panose="02040503050406030204" pitchFamily="18" charset="0"/>
                                  <a:cs typeface="Arial" panose="020B0604020202020204" pitchFamily="34" charset="0"/>
                                </a:rPr>
                                <m:t>∅</m:t>
                              </m:r>
                            </m:e>
                          </m:eqArr>
                        </m:e>
                      </m:d>
                    </m:oMath>
                  </m:oMathPara>
                </a14:m>
                <a:endParaRPr lang="zh-CN" altLang="en-US" dirty="0">
                  <a:latin typeface="Arial" panose="020B0604020202020204" pitchFamily="34" charset="0"/>
                  <a:cs typeface="Arial" panose="020B0604020202020204" pitchFamily="34" charset="0"/>
                </a:endParaRPr>
              </a:p>
            </p:txBody>
          </p:sp>
        </mc:Choice>
        <mc:Fallback xmlns="">
          <p:sp>
            <p:nvSpPr>
              <p:cNvPr id="4" name="文本框 3">
                <a:extLst>
                  <a:ext uri="{FF2B5EF4-FFF2-40B4-BE49-F238E27FC236}">
                    <a16:creationId xmlns:a16="http://schemas.microsoft.com/office/drawing/2014/main" id="{C61DFA86-B0D0-4B66-B1C7-3E255E7D7C54}"/>
                  </a:ext>
                </a:extLst>
              </p:cNvPr>
              <p:cNvSpPr txBox="1">
                <a:spLocks noRot="1" noChangeAspect="1" noMove="1" noResize="1" noEditPoints="1" noAdjustHandles="1" noChangeArrowheads="1" noChangeShapeType="1" noTextEdit="1"/>
              </p:cNvSpPr>
              <p:nvPr/>
            </p:nvSpPr>
            <p:spPr>
              <a:xfrm>
                <a:off x="495353" y="3504355"/>
                <a:ext cx="11201293" cy="2687531"/>
              </a:xfrm>
              <a:prstGeom prst="rect">
                <a:avLst/>
              </a:prstGeom>
              <a:blipFill>
                <a:blip r:embed="rId4"/>
                <a:stretch>
                  <a:fillRect t="-13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553280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Baseline: add Laplace noise to </a:t>
                </a:r>
                <a14:m>
                  <m:oMath xmlns:m="http://schemas.openxmlformats.org/officeDocument/2006/math">
                    <m:r>
                      <a:rPr lang="en-US" altLang="zh-CN" b="0" i="1" smtClean="0">
                        <a:latin typeface="Cambria Math" panose="02040503050406030204" pitchFamily="18" charset="0"/>
                        <a:cs typeface="Arial" panose="020B0604020202020204" pitchFamily="34" charset="0"/>
                      </a:rPr>
                      <m:t>𝐴𝑣</m:t>
                    </m:r>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𝑔</m:t>
                        </m:r>
                      </m:e>
                      <m:sub>
                        <m:r>
                          <a:rPr lang="en-US" altLang="zh-CN" b="0" i="1" smtClean="0">
                            <a:latin typeface="Cambria Math" panose="02040503050406030204" pitchFamily="18" charset="0"/>
                            <a:cs typeface="Arial" panose="020B0604020202020204" pitchFamily="34" charset="0"/>
                          </a:rPr>
                          <m:t>𝑐</m:t>
                        </m:r>
                      </m:sub>
                      <m:sup>
                        <m:r>
                          <a:rPr lang="en-US" altLang="zh-CN" b="0" i="1" smtClean="0">
                            <a:latin typeface="Cambria Math" panose="02040503050406030204" pitchFamily="18" charset="0"/>
                            <a:cs typeface="Arial" panose="020B0604020202020204" pitchFamily="34" charset="0"/>
                          </a:rPr>
                          <m:t>𝑎</m:t>
                        </m:r>
                      </m:sup>
                    </m:sSubSup>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314548" y="1198180"/>
                <a:ext cx="11562904" cy="369332"/>
              </a:xfrm>
              <a:prstGeom prst="rect">
                <a:avLst/>
              </a:prstGeom>
              <a:blipFill>
                <a:blip r:embed="rId2"/>
                <a:stretch>
                  <a:fillRect l="-475"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61DFA86-B0D0-4B66-B1C7-3E255E7D7C54}"/>
                  </a:ext>
                </a:extLst>
              </p:cNvPr>
              <p:cNvSpPr txBox="1"/>
              <p:nvPr/>
            </p:nvSpPr>
            <p:spPr>
              <a:xfrm>
                <a:off x="314548" y="1940416"/>
                <a:ext cx="11201293" cy="1637821"/>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Sensitivity: </a:t>
                </a:r>
                <a14:m>
                  <m:oMath xmlns:m="http://schemas.openxmlformats.org/officeDocument/2006/math">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num>
                      <m:den>
                        <m:r>
                          <a:rPr lang="en-US" altLang="zh-CN" b="0" i="1" smtClean="0">
                            <a:latin typeface="Cambria Math" panose="02040503050406030204" pitchFamily="18" charset="0"/>
                            <a:cs typeface="Arial" panose="020B0604020202020204" pitchFamily="34" charset="0"/>
                          </a:rPr>
                          <m:t>2</m:t>
                        </m:r>
                      </m:den>
                    </m:f>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Baseline method publishes</a:t>
                </a: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𝐴𝑣</m:t>
                      </m:r>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𝑔</m:t>
                          </m:r>
                        </m:e>
                        <m:sub>
                          <m:r>
                            <a:rPr lang="en-US" altLang="zh-CN" b="0" i="1" smtClean="0">
                              <a:latin typeface="Cambria Math" panose="02040503050406030204" pitchFamily="18" charset="0"/>
                              <a:cs typeface="Arial" panose="020B0604020202020204" pitchFamily="34" charset="0"/>
                            </a:rPr>
                            <m:t>𝑐</m:t>
                          </m:r>
                        </m:sub>
                        <m:sup>
                          <m:r>
                            <a:rPr lang="en-US" altLang="zh-CN" b="0" i="1" smtClean="0">
                              <a:latin typeface="Cambria Math" panose="02040503050406030204" pitchFamily="18" charset="0"/>
                              <a:cs typeface="Arial" panose="020B0604020202020204" pitchFamily="34" charset="0"/>
                            </a:rPr>
                            <m:t>𝑎</m:t>
                          </m:r>
                        </m:sup>
                      </m:sSubSup>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𝐿𝑎𝑝𝑙𝑐𝑒</m:t>
                      </m:r>
                      <m:d>
                        <m:dPr>
                          <m:ctrlPr>
                            <a:rPr lang="en-US" altLang="zh-CN" b="0" i="1" smtClean="0">
                              <a:latin typeface="Cambria Math" panose="02040503050406030204" pitchFamily="18" charset="0"/>
                              <a:cs typeface="Arial" panose="020B0604020202020204" pitchFamily="34" charset="0"/>
                            </a:rPr>
                          </m:ctrlPr>
                        </m:dPr>
                        <m:e>
                          <m:f>
                            <m:fPr>
                              <m:ctrlPr>
                                <a:rPr lang="en-US" altLang="zh-CN" b="0" i="1" smtClean="0">
                                  <a:latin typeface="Cambria Math" panose="02040503050406030204" pitchFamily="18" charset="0"/>
                                  <a:cs typeface="Arial" panose="020B0604020202020204" pitchFamily="34" charset="0"/>
                                </a:rPr>
                              </m:ctrlPr>
                            </m:fPr>
                            <m:num>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num>
                            <m:den>
                              <m:r>
                                <a:rPr lang="en-US" altLang="zh-CN" b="0" i="1" smtClean="0">
                                  <a:latin typeface="Cambria Math" panose="02040503050406030204" pitchFamily="18" charset="0"/>
                                  <a:cs typeface="Arial" panose="020B0604020202020204" pitchFamily="34" charset="0"/>
                                </a:rPr>
                                <m:t>𝜖</m:t>
                              </m:r>
                            </m:den>
                          </m:f>
                        </m:e>
                      </m:d>
                    </m:oMath>
                  </m:oMathPara>
                </a14:m>
                <a:endParaRPr lang="zh-CN" altLang="en-US" dirty="0">
                  <a:latin typeface="Arial" panose="020B0604020202020204" pitchFamily="34" charset="0"/>
                  <a:cs typeface="Arial" panose="020B0604020202020204" pitchFamily="34" charset="0"/>
                </a:endParaRPr>
              </a:p>
            </p:txBody>
          </p:sp>
        </mc:Choice>
        <mc:Fallback xmlns="">
          <p:sp>
            <p:nvSpPr>
              <p:cNvPr id="4" name="文本框 3">
                <a:extLst>
                  <a:ext uri="{FF2B5EF4-FFF2-40B4-BE49-F238E27FC236}">
                    <a16:creationId xmlns:a16="http://schemas.microsoft.com/office/drawing/2014/main" id="{C61DFA86-B0D0-4B66-B1C7-3E255E7D7C54}"/>
                  </a:ext>
                </a:extLst>
              </p:cNvPr>
              <p:cNvSpPr txBox="1">
                <a:spLocks noRot="1" noChangeAspect="1" noMove="1" noResize="1" noEditPoints="1" noAdjustHandles="1" noChangeArrowheads="1" noChangeShapeType="1" noTextEdit="1"/>
              </p:cNvSpPr>
              <p:nvPr/>
            </p:nvSpPr>
            <p:spPr>
              <a:xfrm>
                <a:off x="314548" y="1940416"/>
                <a:ext cx="11201293" cy="1637821"/>
              </a:xfrm>
              <a:prstGeom prst="rect">
                <a:avLst/>
              </a:prstGeom>
              <a:blipFill>
                <a:blip r:embed="rId3"/>
                <a:stretch>
                  <a:fillRect l="-4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070243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Baseline: add Laplace noise to </a:t>
                </a:r>
                <a14:m>
                  <m:oMath xmlns:m="http://schemas.openxmlformats.org/officeDocument/2006/math">
                    <m:r>
                      <a:rPr lang="en-US" altLang="zh-CN" b="0" i="1" smtClean="0">
                        <a:latin typeface="Cambria Math" panose="02040503050406030204" pitchFamily="18" charset="0"/>
                        <a:cs typeface="Arial" panose="020B0604020202020204" pitchFamily="34" charset="0"/>
                      </a:rPr>
                      <m:t>𝐴𝑣</m:t>
                    </m:r>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𝑔</m:t>
                        </m:r>
                      </m:e>
                      <m:sub>
                        <m:r>
                          <a:rPr lang="en-US" altLang="zh-CN" b="0" i="1" smtClean="0">
                            <a:latin typeface="Cambria Math" panose="02040503050406030204" pitchFamily="18" charset="0"/>
                            <a:cs typeface="Arial" panose="020B0604020202020204" pitchFamily="34" charset="0"/>
                          </a:rPr>
                          <m:t>𝑐</m:t>
                        </m:r>
                      </m:sub>
                      <m:sup>
                        <m:r>
                          <a:rPr lang="en-US" altLang="zh-CN" b="0" i="1" smtClean="0">
                            <a:latin typeface="Cambria Math" panose="02040503050406030204" pitchFamily="18" charset="0"/>
                            <a:cs typeface="Arial" panose="020B0604020202020204" pitchFamily="34" charset="0"/>
                          </a:rPr>
                          <m:t>𝑎</m:t>
                        </m:r>
                      </m:sup>
                    </m:sSubSup>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314548" y="1198180"/>
                <a:ext cx="11562904" cy="369332"/>
              </a:xfrm>
              <a:prstGeom prst="rect">
                <a:avLst/>
              </a:prstGeom>
              <a:blipFill>
                <a:blip r:embed="rId2"/>
                <a:stretch>
                  <a:fillRect l="-475"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61DFA86-B0D0-4B66-B1C7-3E255E7D7C54}"/>
                  </a:ext>
                </a:extLst>
              </p:cNvPr>
              <p:cNvSpPr txBox="1"/>
              <p:nvPr/>
            </p:nvSpPr>
            <p:spPr>
              <a:xfrm>
                <a:off x="314548" y="1940416"/>
                <a:ext cx="11201293" cy="1637821"/>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Sensitivity: </a:t>
                </a:r>
                <a14:m>
                  <m:oMath xmlns:m="http://schemas.openxmlformats.org/officeDocument/2006/math">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num>
                      <m:den>
                        <m:r>
                          <a:rPr lang="en-US" altLang="zh-CN" b="0" i="1" smtClean="0">
                            <a:latin typeface="Cambria Math" panose="02040503050406030204" pitchFamily="18" charset="0"/>
                            <a:cs typeface="Arial" panose="020B0604020202020204" pitchFamily="34" charset="0"/>
                          </a:rPr>
                          <m:t>2</m:t>
                        </m:r>
                      </m:den>
                    </m:f>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Baseline method publishes</a:t>
                </a: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𝐴𝑣</m:t>
                      </m:r>
                      <m:sSubSup>
                        <m:sSubSupPr>
                          <m:ctrlPr>
                            <a:rPr lang="en-US" altLang="zh-CN" b="0" i="1" smtClean="0">
                              <a:latin typeface="Cambria Math" panose="02040503050406030204" pitchFamily="18" charset="0"/>
                              <a:cs typeface="Arial" panose="020B0604020202020204" pitchFamily="34" charset="0"/>
                            </a:rPr>
                          </m:ctrlPr>
                        </m:sSubSupPr>
                        <m:e>
                          <m:r>
                            <a:rPr lang="en-US" altLang="zh-CN" b="0" i="1" smtClean="0">
                              <a:latin typeface="Cambria Math" panose="02040503050406030204" pitchFamily="18" charset="0"/>
                              <a:cs typeface="Arial" panose="020B0604020202020204" pitchFamily="34" charset="0"/>
                            </a:rPr>
                            <m:t>𝑔</m:t>
                          </m:r>
                        </m:e>
                        <m:sub>
                          <m:r>
                            <a:rPr lang="en-US" altLang="zh-CN" b="0" i="1" smtClean="0">
                              <a:latin typeface="Cambria Math" panose="02040503050406030204" pitchFamily="18" charset="0"/>
                              <a:cs typeface="Arial" panose="020B0604020202020204" pitchFamily="34" charset="0"/>
                            </a:rPr>
                            <m:t>𝑐</m:t>
                          </m:r>
                        </m:sub>
                        <m:sup>
                          <m:r>
                            <a:rPr lang="en-US" altLang="zh-CN" b="0" i="1" smtClean="0">
                              <a:latin typeface="Cambria Math" panose="02040503050406030204" pitchFamily="18" charset="0"/>
                              <a:cs typeface="Arial" panose="020B0604020202020204" pitchFamily="34" charset="0"/>
                            </a:rPr>
                            <m:t>𝑎</m:t>
                          </m:r>
                        </m:sup>
                      </m:sSubSup>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𝐿𝑎𝑝𝑙𝑐𝑒</m:t>
                      </m:r>
                      <m:d>
                        <m:dPr>
                          <m:ctrlPr>
                            <a:rPr lang="en-US" altLang="zh-CN" b="0" i="1" smtClean="0">
                              <a:latin typeface="Cambria Math" panose="02040503050406030204" pitchFamily="18" charset="0"/>
                              <a:cs typeface="Arial" panose="020B0604020202020204" pitchFamily="34" charset="0"/>
                            </a:rPr>
                          </m:ctrlPr>
                        </m:dPr>
                        <m:e>
                          <m:f>
                            <m:fPr>
                              <m:ctrlPr>
                                <a:rPr lang="en-US" altLang="zh-CN" b="0" i="1" smtClean="0">
                                  <a:latin typeface="Cambria Math" panose="02040503050406030204" pitchFamily="18" charset="0"/>
                                  <a:cs typeface="Arial" panose="020B0604020202020204" pitchFamily="34" charset="0"/>
                                </a:rPr>
                              </m:ctrlPr>
                            </m:fPr>
                            <m:num>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num>
                            <m:den>
                              <m:r>
                                <a:rPr lang="en-US" altLang="zh-CN" b="0" i="1" smtClean="0">
                                  <a:latin typeface="Cambria Math" panose="02040503050406030204" pitchFamily="18" charset="0"/>
                                  <a:cs typeface="Arial" panose="020B0604020202020204" pitchFamily="34" charset="0"/>
                                </a:rPr>
                                <m:t>𝜖</m:t>
                              </m:r>
                            </m:den>
                          </m:f>
                        </m:e>
                      </m:d>
                    </m:oMath>
                  </m:oMathPara>
                </a14:m>
                <a:endParaRPr lang="zh-CN" altLang="en-US" dirty="0">
                  <a:latin typeface="Arial" panose="020B0604020202020204" pitchFamily="34" charset="0"/>
                  <a:cs typeface="Arial" panose="020B0604020202020204" pitchFamily="34" charset="0"/>
                </a:endParaRPr>
              </a:p>
            </p:txBody>
          </p:sp>
        </mc:Choice>
        <mc:Fallback xmlns="">
          <p:sp>
            <p:nvSpPr>
              <p:cNvPr id="4" name="文本框 3">
                <a:extLst>
                  <a:ext uri="{FF2B5EF4-FFF2-40B4-BE49-F238E27FC236}">
                    <a16:creationId xmlns:a16="http://schemas.microsoft.com/office/drawing/2014/main" id="{C61DFA86-B0D0-4B66-B1C7-3E255E7D7C54}"/>
                  </a:ext>
                </a:extLst>
              </p:cNvPr>
              <p:cNvSpPr txBox="1">
                <a:spLocks noRot="1" noChangeAspect="1" noMove="1" noResize="1" noEditPoints="1" noAdjustHandles="1" noChangeArrowheads="1" noChangeShapeType="1" noTextEdit="1"/>
              </p:cNvSpPr>
              <p:nvPr/>
            </p:nvSpPr>
            <p:spPr>
              <a:xfrm>
                <a:off x="314548" y="1940416"/>
                <a:ext cx="11201293" cy="1637821"/>
              </a:xfrm>
              <a:prstGeom prst="rect">
                <a:avLst/>
              </a:prstGeom>
              <a:blipFill>
                <a:blip r:embed="rId3"/>
                <a:stretch>
                  <a:fillRect l="-4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11A5E2F-29DB-4C82-A731-5A179E568614}"/>
                  </a:ext>
                </a:extLst>
              </p:cNvPr>
              <p:cNvSpPr txBox="1"/>
              <p:nvPr/>
            </p:nvSpPr>
            <p:spPr>
              <a:xfrm>
                <a:off x="526094" y="4754880"/>
                <a:ext cx="10667423"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Drawback:</a:t>
                </a:r>
                <a:r>
                  <a:rPr lang="en-US" altLang="zh-CN" dirty="0">
                    <a:latin typeface="Arial" panose="020B0604020202020204" pitchFamily="34" charset="0"/>
                    <a:cs typeface="Arial" panose="020B0604020202020204" pitchFamily="34" charset="0"/>
                  </a:rPr>
                  <a:t> </a:t>
                </a:r>
                <a14:m>
                  <m:oMath xmlns:m="http://schemas.openxmlformats.org/officeDocument/2006/math">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is too large and leads to large noise!</a:t>
                </a:r>
                <a:endParaRPr lang="zh-CN" altLang="en-US" dirty="0">
                  <a:latin typeface="Arial" panose="020B0604020202020204" pitchFamily="34" charset="0"/>
                  <a:cs typeface="Arial" panose="020B0604020202020204" pitchFamily="34" charset="0"/>
                </a:endParaRPr>
              </a:p>
            </p:txBody>
          </p:sp>
        </mc:Choice>
        <mc:Fallback xmlns="">
          <p:sp>
            <p:nvSpPr>
              <p:cNvPr id="2" name="文本框 1">
                <a:extLst>
                  <a:ext uri="{FF2B5EF4-FFF2-40B4-BE49-F238E27FC236}">
                    <a16:creationId xmlns:a16="http://schemas.microsoft.com/office/drawing/2014/main" id="{D11A5E2F-29DB-4C82-A731-5A179E568614}"/>
                  </a:ext>
                </a:extLst>
              </p:cNvPr>
              <p:cNvSpPr txBox="1">
                <a:spLocks noRot="1" noChangeAspect="1" noMove="1" noResize="1" noEditPoints="1" noAdjustHandles="1" noChangeArrowheads="1" noChangeShapeType="1" noTextEdit="1"/>
              </p:cNvSpPr>
              <p:nvPr/>
            </p:nvSpPr>
            <p:spPr>
              <a:xfrm>
                <a:off x="526094" y="4754880"/>
                <a:ext cx="10667423" cy="369332"/>
              </a:xfrm>
              <a:prstGeom prst="rect">
                <a:avLst/>
              </a:prstGeom>
              <a:blipFill>
                <a:blip r:embed="rId4"/>
                <a:stretch>
                  <a:fillRect l="-457" t="-8197"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692119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Solution 1:</a:t>
            </a:r>
            <a:r>
              <a:rPr lang="en-US" altLang="zh-CN" dirty="0">
                <a:latin typeface="Arial" panose="020B0604020202020204" pitchFamily="34" charset="0"/>
                <a:cs typeface="Arial" panose="020B0604020202020204" pitchFamily="34" charset="0"/>
              </a:rPr>
              <a:t> add noise to </a:t>
            </a:r>
            <a:r>
              <a:rPr lang="en-US" altLang="zh-CN" i="1" dirty="0">
                <a:latin typeface="Arial" panose="020B0604020202020204" pitchFamily="34" charset="0"/>
                <a:cs typeface="Arial" panose="020B0604020202020204" pitchFamily="34" charset="0"/>
              </a:rPr>
              <a:t>sum</a:t>
            </a:r>
            <a:r>
              <a:rPr lang="en-US" altLang="zh-CN" dirty="0">
                <a:latin typeface="Arial" panose="020B0604020202020204" pitchFamily="34" charset="0"/>
                <a:cs typeface="Arial" panose="020B0604020202020204" pitchFamily="34" charset="0"/>
              </a:rPr>
              <a:t> and </a:t>
            </a:r>
            <a:r>
              <a:rPr lang="en-US" altLang="zh-CN" i="1" dirty="0">
                <a:latin typeface="Arial" panose="020B0604020202020204" pitchFamily="34" charset="0"/>
                <a:cs typeface="Arial" panose="020B0604020202020204" pitchFamily="34" charset="0"/>
              </a:rPr>
              <a:t>count</a:t>
            </a:r>
            <a:r>
              <a:rPr lang="en-US" altLang="zh-CN" dirty="0">
                <a:latin typeface="Arial" panose="020B0604020202020204" pitchFamily="34" charset="0"/>
                <a:cs typeface="Arial" panose="020B0604020202020204" pitchFamily="34" charset="0"/>
              </a:rPr>
              <a:t> separately</a:t>
            </a:r>
          </a:p>
        </p:txBody>
      </p:sp>
      <p:sp>
        <p:nvSpPr>
          <p:cNvPr id="5" name="文本框 4">
            <a:extLst>
              <a:ext uri="{FF2B5EF4-FFF2-40B4-BE49-F238E27FC236}">
                <a16:creationId xmlns:a16="http://schemas.microsoft.com/office/drawing/2014/main" id="{7691B041-76A3-4D93-9191-27DD2D1373C3}"/>
              </a:ext>
            </a:extLst>
          </p:cNvPr>
          <p:cNvSpPr txBox="1"/>
          <p:nvPr/>
        </p:nvSpPr>
        <p:spPr>
          <a:xfrm>
            <a:off x="314547" y="1638770"/>
            <a:ext cx="11201293" cy="646331"/>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Why this solution works:</a:t>
            </a:r>
            <a:r>
              <a:rPr lang="en-US" altLang="zh-CN" dirty="0">
                <a:latin typeface="Arial" panose="020B0604020202020204" pitchFamily="34" charset="0"/>
                <a:cs typeface="Arial" panose="020B0604020202020204" pitchFamily="34" charset="0"/>
              </a:rPr>
              <a:t> the sensitivity of </a:t>
            </a:r>
            <a:r>
              <a:rPr lang="en-US" altLang="zh-CN" i="1" dirty="0">
                <a:latin typeface="Arial" panose="020B0604020202020204" pitchFamily="34" charset="0"/>
                <a:cs typeface="Arial" panose="020B0604020202020204" pitchFamily="34" charset="0"/>
              </a:rPr>
              <a:t>average query</a:t>
            </a:r>
            <a:r>
              <a:rPr lang="en-US" altLang="zh-CN" dirty="0">
                <a:latin typeface="Arial" panose="020B0604020202020204" pitchFamily="34" charset="0"/>
                <a:cs typeface="Arial" panose="020B0604020202020204" pitchFamily="34" charset="0"/>
              </a:rPr>
              <a:t> is calculated under small dataset, and it does not suit large dataset. But the sensitivity for sum and count is consistent across all dataset.</a:t>
            </a:r>
            <a:endParaRPr lang="zh-CN" altLang="en-US" b="1" dirty="0">
              <a:latin typeface="Arial" panose="020B0604020202020204" pitchFamily="34" charset="0"/>
              <a:cs typeface="Arial" panose="020B0604020202020204" pitchFamily="34" charset="0"/>
            </a:endParaRPr>
          </a:p>
        </p:txBody>
      </p:sp>
      <p:pic>
        <p:nvPicPr>
          <p:cNvPr id="2" name="图片 1">
            <a:extLst>
              <a:ext uri="{FF2B5EF4-FFF2-40B4-BE49-F238E27FC236}">
                <a16:creationId xmlns:a16="http://schemas.microsoft.com/office/drawing/2014/main" id="{261D5B32-D250-4A9D-9379-BD6E9BAECDD8}"/>
              </a:ext>
            </a:extLst>
          </p:cNvPr>
          <p:cNvPicPr>
            <a:picLocks noChangeAspect="1"/>
          </p:cNvPicPr>
          <p:nvPr/>
        </p:nvPicPr>
        <p:blipFill>
          <a:blip r:embed="rId2"/>
          <a:stretch>
            <a:fillRect/>
          </a:stretch>
        </p:blipFill>
        <p:spPr>
          <a:xfrm>
            <a:off x="630236" y="2647904"/>
            <a:ext cx="10666667" cy="3466667"/>
          </a:xfrm>
          <a:prstGeom prst="rect">
            <a:avLst/>
          </a:prstGeom>
        </p:spPr>
      </p:pic>
    </p:spTree>
    <p:extLst>
      <p:ext uri="{BB962C8B-B14F-4D97-AF65-F5344CB8AC3E}">
        <p14:creationId xmlns:p14="http://schemas.microsoft.com/office/powerpoint/2010/main" val="5010950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Solution 1:</a:t>
            </a:r>
            <a:r>
              <a:rPr lang="en-US" altLang="zh-CN" dirty="0">
                <a:latin typeface="Arial" panose="020B0604020202020204" pitchFamily="34" charset="0"/>
                <a:cs typeface="Arial" panose="020B0604020202020204" pitchFamily="34" charset="0"/>
              </a:rPr>
              <a:t> add noise to </a:t>
            </a:r>
            <a:r>
              <a:rPr lang="en-US" altLang="zh-CN" i="1" dirty="0">
                <a:latin typeface="Arial" panose="020B0604020202020204" pitchFamily="34" charset="0"/>
                <a:cs typeface="Arial" panose="020B0604020202020204" pitchFamily="34" charset="0"/>
              </a:rPr>
              <a:t>sum</a:t>
            </a:r>
            <a:r>
              <a:rPr lang="en-US" altLang="zh-CN" dirty="0">
                <a:latin typeface="Arial" panose="020B0604020202020204" pitchFamily="34" charset="0"/>
                <a:cs typeface="Arial" panose="020B0604020202020204" pitchFamily="34" charset="0"/>
              </a:rPr>
              <a:t> and </a:t>
            </a:r>
            <a:r>
              <a:rPr lang="en-US" altLang="zh-CN" i="1" dirty="0">
                <a:latin typeface="Arial" panose="020B0604020202020204" pitchFamily="34" charset="0"/>
                <a:cs typeface="Arial" panose="020B0604020202020204" pitchFamily="34" charset="0"/>
              </a:rPr>
              <a:t>count</a:t>
            </a:r>
            <a:r>
              <a:rPr lang="en-US" altLang="zh-CN" dirty="0">
                <a:latin typeface="Arial" panose="020B0604020202020204" pitchFamily="34" charset="0"/>
                <a:cs typeface="Arial" panose="020B0604020202020204" pitchFamily="34" charset="0"/>
              </a:rPr>
              <a:t> separately</a:t>
            </a:r>
          </a:p>
        </p:txBody>
      </p:sp>
      <p:sp>
        <p:nvSpPr>
          <p:cNvPr id="5" name="文本框 4">
            <a:extLst>
              <a:ext uri="{FF2B5EF4-FFF2-40B4-BE49-F238E27FC236}">
                <a16:creationId xmlns:a16="http://schemas.microsoft.com/office/drawing/2014/main" id="{7691B041-76A3-4D93-9191-27DD2D1373C3}"/>
              </a:ext>
            </a:extLst>
          </p:cNvPr>
          <p:cNvSpPr txBox="1"/>
          <p:nvPr/>
        </p:nvSpPr>
        <p:spPr>
          <a:xfrm>
            <a:off x="314547" y="1638770"/>
            <a:ext cx="11201293" cy="646331"/>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Why this solution works:</a:t>
            </a:r>
            <a:r>
              <a:rPr lang="en-US" altLang="zh-CN" dirty="0">
                <a:latin typeface="Arial" panose="020B0604020202020204" pitchFamily="34" charset="0"/>
                <a:cs typeface="Arial" panose="020B0604020202020204" pitchFamily="34" charset="0"/>
              </a:rPr>
              <a:t> the sensitivity of </a:t>
            </a:r>
            <a:r>
              <a:rPr lang="en-US" altLang="zh-CN" i="1" dirty="0">
                <a:latin typeface="Arial" panose="020B0604020202020204" pitchFamily="34" charset="0"/>
                <a:cs typeface="Arial" panose="020B0604020202020204" pitchFamily="34" charset="0"/>
              </a:rPr>
              <a:t>average query</a:t>
            </a:r>
            <a:r>
              <a:rPr lang="en-US" altLang="zh-CN" dirty="0">
                <a:latin typeface="Arial" panose="020B0604020202020204" pitchFamily="34" charset="0"/>
                <a:cs typeface="Arial" panose="020B0604020202020204" pitchFamily="34" charset="0"/>
              </a:rPr>
              <a:t> is calculated under small dataset, and it does not suit large dataset. But the sensitivity for sum and count is consistent across all dataset.</a:t>
            </a:r>
            <a:endParaRPr lang="zh-CN" altLang="en-US" b="1" dirty="0">
              <a:latin typeface="Arial" panose="020B0604020202020204" pitchFamily="34" charset="0"/>
              <a:cs typeface="Arial" panose="020B0604020202020204" pitchFamily="34" charset="0"/>
            </a:endParaRPr>
          </a:p>
        </p:txBody>
      </p:sp>
      <p:pic>
        <p:nvPicPr>
          <p:cNvPr id="2" name="图片 1">
            <a:extLst>
              <a:ext uri="{FF2B5EF4-FFF2-40B4-BE49-F238E27FC236}">
                <a16:creationId xmlns:a16="http://schemas.microsoft.com/office/drawing/2014/main" id="{261D5B32-D250-4A9D-9379-BD6E9BAECDD8}"/>
              </a:ext>
            </a:extLst>
          </p:cNvPr>
          <p:cNvPicPr>
            <a:picLocks noChangeAspect="1"/>
          </p:cNvPicPr>
          <p:nvPr/>
        </p:nvPicPr>
        <p:blipFill>
          <a:blip r:embed="rId2"/>
          <a:stretch>
            <a:fillRect/>
          </a:stretch>
        </p:blipFill>
        <p:spPr>
          <a:xfrm>
            <a:off x="630236" y="2647904"/>
            <a:ext cx="10666667" cy="3466667"/>
          </a:xfrm>
          <a:prstGeom prst="rect">
            <a:avLst/>
          </a:prstGeom>
        </p:spPr>
      </p:pic>
      <p:sp>
        <p:nvSpPr>
          <p:cNvPr id="8" name="文本框 7">
            <a:extLst>
              <a:ext uri="{FF2B5EF4-FFF2-40B4-BE49-F238E27FC236}">
                <a16:creationId xmlns:a16="http://schemas.microsoft.com/office/drawing/2014/main" id="{3374A805-3344-4DA3-9F33-23EB50D910CE}"/>
              </a:ext>
            </a:extLst>
          </p:cNvPr>
          <p:cNvSpPr txBox="1"/>
          <p:nvPr/>
        </p:nvSpPr>
        <p:spPr>
          <a:xfrm>
            <a:off x="314547" y="6205308"/>
            <a:ext cx="10667423"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Another question:</a:t>
            </a:r>
            <a:r>
              <a:rPr lang="en-US" altLang="zh-CN" dirty="0">
                <a:latin typeface="Arial" panose="020B0604020202020204" pitchFamily="34" charset="0"/>
                <a:cs typeface="Arial" panose="020B0604020202020204" pitchFamily="34" charset="0"/>
              </a:rPr>
              <a:t> We are not outputting </a:t>
            </a:r>
            <a:r>
              <a:rPr lang="en-US" altLang="zh-CN" i="1" dirty="0">
                <a:latin typeface="Arial" panose="020B0604020202020204" pitchFamily="34" charset="0"/>
                <a:cs typeface="Arial" panose="020B0604020202020204" pitchFamily="34" charset="0"/>
              </a:rPr>
              <a:t>Count,</a:t>
            </a:r>
            <a:r>
              <a:rPr lang="en-US" altLang="zh-CN" dirty="0">
                <a:latin typeface="Arial" panose="020B0604020202020204" pitchFamily="34" charset="0"/>
                <a:cs typeface="Arial" panose="020B0604020202020204" pitchFamily="34" charset="0"/>
              </a:rPr>
              <a:t> can we use the actual count to calculate average?</a:t>
            </a:r>
            <a:endParaRPr lang="zh-CN" altLang="en-US" dirty="0">
              <a:latin typeface="Arial" panose="020B0604020202020204" pitchFamily="34" charset="0"/>
              <a:cs typeface="Arial" panose="020B0604020202020204" pitchFamily="34" charset="0"/>
            </a:endParaRPr>
          </a:p>
        </p:txBody>
      </p:sp>
      <p:sp>
        <p:nvSpPr>
          <p:cNvPr id="3" name="矩形: 圆角 2">
            <a:extLst>
              <a:ext uri="{FF2B5EF4-FFF2-40B4-BE49-F238E27FC236}">
                <a16:creationId xmlns:a16="http://schemas.microsoft.com/office/drawing/2014/main" id="{B5A1D033-2F8C-4FA7-A8FB-83659EE7C278}"/>
              </a:ext>
            </a:extLst>
          </p:cNvPr>
          <p:cNvSpPr/>
          <p:nvPr/>
        </p:nvSpPr>
        <p:spPr>
          <a:xfrm>
            <a:off x="888792" y="3909848"/>
            <a:ext cx="3475104" cy="334229"/>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711126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Attempt:</a:t>
            </a:r>
            <a:r>
              <a:rPr lang="en-US" altLang="zh-CN" dirty="0">
                <a:latin typeface="Arial" panose="020B0604020202020204" pitchFamily="34" charset="0"/>
                <a:cs typeface="Arial" panose="020B0604020202020204" pitchFamily="34" charset="0"/>
              </a:rPr>
              <a:t> try actual count</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6E15F2B-7679-40F4-83F5-E82B103D05F8}"/>
                  </a:ext>
                </a:extLst>
              </p:cNvPr>
              <p:cNvSpPr txBox="1"/>
              <p:nvPr/>
            </p:nvSpPr>
            <p:spPr>
              <a:xfrm>
                <a:off x="314548" y="1884403"/>
                <a:ext cx="11201293" cy="2651495"/>
              </a:xfrm>
              <a:prstGeom prst="rect">
                <a:avLst/>
              </a:prstGeom>
              <a:noFill/>
            </p:spPr>
            <p:txBody>
              <a:bodyPr wrap="square" rtlCol="0">
                <a:spAutoFit/>
              </a:bodyPr>
              <a:lstStyle/>
              <a:p>
                <a:r>
                  <a:rPr lang="en-US" altLang="zh-CN" dirty="0">
                    <a:latin typeface="Arial" panose="020B0604020202020204" pitchFamily="34" charset="0"/>
                    <a:cs typeface="Arial" panose="020B0604020202020204" pitchFamily="34" charset="0"/>
                  </a:rPr>
                  <a:t>Sensitivity: </a:t>
                </a:r>
                <a14:m>
                  <m:oMath xmlns:m="http://schemas.openxmlformats.org/officeDocument/2006/math">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𝑚𝑎𝑥</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d>
                        <m:dPr>
                          <m:begChr m:val="{"/>
                          <m:endChr m:val=""/>
                          <m:ctrlPr>
                            <a:rPr lang="en-US" altLang="zh-CN" i="1">
                              <a:latin typeface="Cambria Math" panose="02040503050406030204" pitchFamily="18" charset="0"/>
                              <a:cs typeface="Arial" panose="020B0604020202020204" pitchFamily="34" charset="0"/>
                            </a:rPr>
                          </m:ctrlPr>
                        </m:dPr>
                        <m:e>
                          <m:eqArr>
                            <m:eqArrPr>
                              <m:ctrlPr>
                                <a:rPr lang="en-US" altLang="zh-CN" i="1">
                                  <a:latin typeface="Cambria Math" panose="02040503050406030204" pitchFamily="18" charset="0"/>
                                  <a:cs typeface="Arial" panose="020B0604020202020204" pitchFamily="34" charset="0"/>
                                </a:rPr>
                              </m:ctrlPr>
                            </m:eqArrPr>
                            <m:e>
                              <m:f>
                                <m:fPr>
                                  <m:ctrlPr>
                                    <a:rPr lang="en-US" altLang="zh-CN" i="1">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𝐷</m:t>
                                      </m:r>
                                      <m:r>
                                        <a:rPr lang="en-US" altLang="zh-CN" i="1">
                                          <a:latin typeface="Cambria Math" panose="02040503050406030204" pitchFamily="18" charset="0"/>
                                          <a:cs typeface="Arial" panose="020B0604020202020204" pitchFamily="34" charset="0"/>
                                        </a:rPr>
                                        <m:t>)</m:t>
                                      </m:r>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𝐿𝑎𝑝</m:t>
                                  </m:r>
                                  <m:d>
                                    <m:dPr>
                                      <m:ctrlPr>
                                        <a:rPr lang="en-US" altLang="zh-CN" b="0" i="1" smtClean="0">
                                          <a:latin typeface="Cambria Math" panose="02040503050406030204" pitchFamily="18" charset="0"/>
                                          <a:cs typeface="Arial" panose="020B0604020202020204" pitchFamily="34" charset="0"/>
                                        </a:rPr>
                                      </m:ctrlPr>
                                    </m:dPr>
                                    <m:e>
                                      <m:f>
                                        <m:fPr>
                                          <m:ctrlPr>
                                            <a:rPr lang="en-US" altLang="zh-CN" b="0" i="1" smtClean="0">
                                              <a:latin typeface="Cambria Math" panose="02040503050406030204" pitchFamily="18" charset="0"/>
                                              <a:cs typeface="Arial" panose="020B0604020202020204" pitchFamily="34" charset="0"/>
                                            </a:rPr>
                                          </m:ctrlPr>
                                        </m:fPr>
                                        <m:num>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num>
                                        <m:den>
                                          <m:r>
                                            <a:rPr lang="en-US" altLang="zh-CN" b="0" i="1" smtClean="0">
                                              <a:latin typeface="Cambria Math" panose="02040503050406030204" pitchFamily="18" charset="0"/>
                                              <a:cs typeface="Arial" panose="020B0604020202020204" pitchFamily="34" charset="0"/>
                                            </a:rPr>
                                            <m:t>𝜖</m:t>
                                          </m:r>
                                        </m:den>
                                      </m:f>
                                    </m:e>
                                  </m:d>
                                </m:num>
                                <m:den>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𝐷</m:t>
                                  </m:r>
                                  <m:r>
                                    <a:rPr lang="en-US" altLang="zh-CN" i="1">
                                      <a:latin typeface="Cambria Math" panose="02040503050406030204" pitchFamily="18" charset="0"/>
                                      <a:cs typeface="Arial" panose="020B0604020202020204" pitchFamily="34" charset="0"/>
                                    </a:rPr>
                                    <m:t>)|</m:t>
                                  </m:r>
                                </m:den>
                              </m:f>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𝑤h𝑒𝑛</m:t>
                              </m:r>
                              <m:r>
                                <a:rPr lang="en-US" altLang="zh-CN" i="1">
                                  <a:latin typeface="Cambria Math" panose="02040503050406030204" pitchFamily="18" charset="0"/>
                                  <a:cs typeface="Arial" panose="020B0604020202020204" pitchFamily="34" charset="0"/>
                                </a:rPr>
                                <m:t>  </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ea typeface="Cambria Math" panose="02040503050406030204" pitchFamily="18" charset="0"/>
                                  <a:cs typeface="Arial" panose="020B0604020202020204" pitchFamily="34" charset="0"/>
                                </a:rPr>
                                <m:t>∅</m:t>
                              </m:r>
                            </m:e>
                            <m:e/>
                            <m:e>
                              <m:r>
                                <a:rPr lang="en-US" altLang="zh-CN" b="0" i="1" smtClean="0">
                                  <a:latin typeface="Cambria Math" panose="02040503050406030204" pitchFamily="18" charset="0"/>
                                  <a:ea typeface="Cambria Math" panose="02040503050406030204" pitchFamily="18" charset="0"/>
                                  <a:cs typeface="Arial" panose="020B0604020202020204" pitchFamily="34" charset="0"/>
                                </a:rPr>
                                <m:t>𝑈</m:t>
                              </m:r>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𝑤h𝑒𝑛</m:t>
                              </m:r>
                              <m:r>
                                <a:rPr lang="en-US" altLang="zh-CN" i="1">
                                  <a:latin typeface="Cambria Math" panose="02040503050406030204" pitchFamily="18" charset="0"/>
                                  <a:cs typeface="Arial" panose="020B0604020202020204" pitchFamily="34" charset="0"/>
                                </a:rPr>
                                <m:t>  </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ea typeface="Cambria Math" panose="02040503050406030204" pitchFamily="18" charset="0"/>
                                  <a:cs typeface="Arial" panose="020B0604020202020204" pitchFamily="34" charset="0"/>
                                </a:rPr>
                                <m:t>∅</m:t>
                              </m:r>
                            </m:e>
                          </m:eqArr>
                        </m:e>
                      </m:d>
                    </m:oMath>
                  </m:oMathPara>
                </a14:m>
                <a:endParaRPr lang="zh-CN" altLang="en-US" dirty="0">
                  <a:latin typeface="Arial" panose="020B0604020202020204" pitchFamily="34" charset="0"/>
                  <a:cs typeface="Arial" panose="020B0604020202020204" pitchFamily="34" charset="0"/>
                </a:endParaRPr>
              </a:p>
              <a:p>
                <a:endParaRPr lang="zh-CN" altLang="en-US" dirty="0">
                  <a:latin typeface="Arial" panose="020B0604020202020204" pitchFamily="34" charset="0"/>
                  <a:cs typeface="Arial" panose="020B0604020202020204" pitchFamily="34" charset="0"/>
                </a:endParaRPr>
              </a:p>
            </p:txBody>
          </p:sp>
        </mc:Choice>
        <mc:Fallback xmlns="">
          <p:sp>
            <p:nvSpPr>
              <p:cNvPr id="8" name="文本框 7">
                <a:extLst>
                  <a:ext uri="{FF2B5EF4-FFF2-40B4-BE49-F238E27FC236}">
                    <a16:creationId xmlns:a16="http://schemas.microsoft.com/office/drawing/2014/main" id="{D6E15F2B-7679-40F4-83F5-E82B103D05F8}"/>
                  </a:ext>
                </a:extLst>
              </p:cNvPr>
              <p:cNvSpPr txBox="1">
                <a:spLocks noRot="1" noChangeAspect="1" noMove="1" noResize="1" noEditPoints="1" noAdjustHandles="1" noChangeArrowheads="1" noChangeShapeType="1" noTextEdit="1"/>
              </p:cNvSpPr>
              <p:nvPr/>
            </p:nvSpPr>
            <p:spPr>
              <a:xfrm>
                <a:off x="314548" y="1884403"/>
                <a:ext cx="11201293" cy="2651495"/>
              </a:xfrm>
              <a:prstGeom prst="rect">
                <a:avLst/>
              </a:prstGeom>
              <a:blipFill>
                <a:blip r:embed="rId2"/>
                <a:stretch>
                  <a:fillRect l="-490" t="-11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868521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Attempt:</a:t>
            </a:r>
            <a:r>
              <a:rPr lang="en-US" altLang="zh-CN" dirty="0">
                <a:latin typeface="Arial" panose="020B0604020202020204" pitchFamily="34" charset="0"/>
                <a:cs typeface="Arial" panose="020B0604020202020204" pitchFamily="34" charset="0"/>
              </a:rPr>
              <a:t> try actual count</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6E15F2B-7679-40F4-83F5-E82B103D05F8}"/>
                  </a:ext>
                </a:extLst>
              </p:cNvPr>
              <p:cNvSpPr txBox="1"/>
              <p:nvPr/>
            </p:nvSpPr>
            <p:spPr>
              <a:xfrm>
                <a:off x="314548" y="1884403"/>
                <a:ext cx="11201293" cy="4512838"/>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Privacy Analysis. </a:t>
                </a:r>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d>
                        <m:dPr>
                          <m:begChr m:val="{"/>
                          <m:endChr m:val=""/>
                          <m:ctrlPr>
                            <a:rPr lang="en-US" altLang="zh-CN" i="1">
                              <a:latin typeface="Cambria Math" panose="02040503050406030204" pitchFamily="18" charset="0"/>
                              <a:cs typeface="Arial" panose="020B0604020202020204" pitchFamily="34" charset="0"/>
                            </a:rPr>
                          </m:ctrlPr>
                        </m:dPr>
                        <m:e>
                          <m:eqArr>
                            <m:eqArrPr>
                              <m:ctrlPr>
                                <a:rPr lang="en-US" altLang="zh-CN" i="1">
                                  <a:latin typeface="Cambria Math" panose="02040503050406030204" pitchFamily="18" charset="0"/>
                                  <a:cs typeface="Arial" panose="020B0604020202020204" pitchFamily="34" charset="0"/>
                                </a:rPr>
                              </m:ctrlPr>
                            </m:eqArrPr>
                            <m:e>
                              <m:f>
                                <m:fPr>
                                  <m:ctrlPr>
                                    <a:rPr lang="en-US" altLang="zh-CN" i="1">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𝐷</m:t>
                                      </m:r>
                                      <m:r>
                                        <a:rPr lang="en-US" altLang="zh-CN" i="1">
                                          <a:latin typeface="Cambria Math" panose="02040503050406030204" pitchFamily="18" charset="0"/>
                                          <a:cs typeface="Arial" panose="020B0604020202020204" pitchFamily="34" charset="0"/>
                                        </a:rPr>
                                        <m:t>)</m:t>
                                      </m:r>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𝐿𝑎𝑝</m:t>
                                  </m:r>
                                  <m:d>
                                    <m:dPr>
                                      <m:ctrlPr>
                                        <a:rPr lang="en-US" altLang="zh-CN" b="0" i="1" smtClean="0">
                                          <a:latin typeface="Cambria Math" panose="02040503050406030204" pitchFamily="18" charset="0"/>
                                          <a:cs typeface="Arial" panose="020B0604020202020204" pitchFamily="34" charset="0"/>
                                        </a:rPr>
                                      </m:ctrlPr>
                                    </m:dPr>
                                    <m:e>
                                      <m:f>
                                        <m:fPr>
                                          <m:ctrlPr>
                                            <a:rPr lang="en-US" altLang="zh-CN" b="0" i="1" smtClean="0">
                                              <a:latin typeface="Cambria Math" panose="02040503050406030204" pitchFamily="18" charset="0"/>
                                              <a:cs typeface="Arial" panose="020B0604020202020204" pitchFamily="34" charset="0"/>
                                            </a:rPr>
                                          </m:ctrlPr>
                                        </m:fPr>
                                        <m:num>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num>
                                        <m:den>
                                          <m:r>
                                            <a:rPr lang="en-US" altLang="zh-CN" b="0" i="1" smtClean="0">
                                              <a:latin typeface="Cambria Math" panose="02040503050406030204" pitchFamily="18" charset="0"/>
                                              <a:cs typeface="Arial" panose="020B0604020202020204" pitchFamily="34" charset="0"/>
                                            </a:rPr>
                                            <m:t>𝜖</m:t>
                                          </m:r>
                                        </m:den>
                                      </m:f>
                                    </m:e>
                                  </m:d>
                                </m:num>
                                <m:den>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𝐷</m:t>
                                  </m:r>
                                  <m:r>
                                    <a:rPr lang="en-US" altLang="zh-CN" i="1">
                                      <a:latin typeface="Cambria Math" panose="02040503050406030204" pitchFamily="18" charset="0"/>
                                      <a:cs typeface="Arial" panose="020B0604020202020204" pitchFamily="34" charset="0"/>
                                    </a:rPr>
                                    <m:t>)|</m:t>
                                  </m:r>
                                </m:den>
                              </m:f>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𝑤h𝑒𝑛</m:t>
                              </m:r>
                              <m:r>
                                <a:rPr lang="en-US" altLang="zh-CN" i="1">
                                  <a:latin typeface="Cambria Math" panose="02040503050406030204" pitchFamily="18" charset="0"/>
                                  <a:cs typeface="Arial" panose="020B0604020202020204" pitchFamily="34" charset="0"/>
                                </a:rPr>
                                <m:t>  </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ea typeface="Cambria Math" panose="02040503050406030204" pitchFamily="18" charset="0"/>
                                  <a:cs typeface="Arial" panose="020B0604020202020204" pitchFamily="34" charset="0"/>
                                </a:rPr>
                                <m:t>∅</m:t>
                              </m:r>
                            </m:e>
                            <m:e/>
                            <m:e>
                              <m:r>
                                <a:rPr lang="en-US" altLang="zh-CN" b="0" i="1" smtClean="0">
                                  <a:latin typeface="Cambria Math" panose="02040503050406030204" pitchFamily="18" charset="0"/>
                                  <a:ea typeface="Cambria Math" panose="02040503050406030204" pitchFamily="18" charset="0"/>
                                  <a:cs typeface="Arial" panose="020B0604020202020204" pitchFamily="34" charset="0"/>
                                </a:rPr>
                                <m:t>𝑈</m:t>
                              </m:r>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ea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𝑤h𝑒𝑛</m:t>
                              </m:r>
                              <m:r>
                                <a:rPr lang="en-US" altLang="zh-CN" i="1">
                                  <a:latin typeface="Cambria Math" panose="02040503050406030204" pitchFamily="18" charset="0"/>
                                  <a:cs typeface="Arial" panose="020B0604020202020204" pitchFamily="34" charset="0"/>
                                </a:rPr>
                                <m:t>  </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ea typeface="Cambria Math" panose="02040503050406030204" pitchFamily="18" charset="0"/>
                                  <a:cs typeface="Arial" panose="020B0604020202020204" pitchFamily="34" charset="0"/>
                                </a:rPr>
                                <m:t>∅</m:t>
                              </m:r>
                            </m:e>
                          </m:eqArr>
                        </m:e>
                      </m:d>
                    </m:oMath>
                  </m:oMathPara>
                </a14:m>
                <a:endParaRPr lang="zh-CN" altLang="en-US"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Proof. Suppose the different element in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is </a:t>
                </a:r>
                <a14:m>
                  <m:oMath xmlns:m="http://schemas.openxmlformats.org/officeDocument/2006/math">
                    <m:r>
                      <a:rPr lang="en-US" altLang="zh-CN" b="0" i="1" smtClean="0">
                        <a:latin typeface="Cambria Math" panose="02040503050406030204" pitchFamily="18" charset="0"/>
                        <a:cs typeface="Arial" panose="020B0604020202020204" pitchFamily="34" charset="0"/>
                      </a:rPr>
                      <m:t>𝑎</m:t>
                    </m:r>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cs typeface="Arial" panose="020B0604020202020204" pitchFamily="34" charset="0"/>
                            </a:rPr>
                          </m:ctrlPr>
                        </m:fPr>
                        <m:num>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den>
                      </m:f>
                      <m:r>
                        <a:rPr lang="en-US" altLang="zh-CN" b="0" i="1" smtClean="0">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i="1">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𝑋</m:t>
                                      </m:r>
                                    </m:num>
                                    <m:den>
                                      <m:r>
                                        <a:rPr lang="en-US" altLang="zh-CN" b="0" i="1" smtClean="0">
                                          <a:latin typeface="Cambria Math" panose="02040503050406030204" pitchFamily="18" charset="0"/>
                                          <a:cs typeface="Arial" panose="020B0604020202020204" pitchFamily="34" charset="0"/>
                                        </a:rPr>
                                        <m:t>𝑛</m:t>
                                      </m:r>
                                      <m:r>
                                        <a:rPr lang="en-US" altLang="zh-CN" b="0" i="1" smtClean="0">
                                          <a:latin typeface="Cambria Math" panose="02040503050406030204" pitchFamily="18" charset="0"/>
                                          <a:cs typeface="Arial" panose="020B0604020202020204" pitchFamily="34" charset="0"/>
                                        </a:rPr>
                                        <m:t>+1</m:t>
                                      </m:r>
                                    </m:den>
                                  </m:f>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num>
                        <m:den>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sSup>
                                                <m:sSupPr>
                                                  <m:ctrlPr>
                                                    <a:rPr lang="en-US" altLang="zh-CN" b="0" i="1" smtClean="0">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𝐷</m:t>
                                                  </m:r>
                                                </m:e>
                                                <m:sup>
                                                  <m:r>
                                                    <a:rPr lang="en-US" altLang="zh-CN" b="0" i="1" smtClean="0">
                                                      <a:latin typeface="Cambria Math" panose="02040503050406030204" pitchFamily="18" charset="0"/>
                                                      <a:cs typeface="Arial" panose="020B0604020202020204" pitchFamily="34" charset="0"/>
                                                    </a:rPr>
                                                    <m:t>′</m:t>
                                                  </m:r>
                                                </m:sup>
                                              </m:sSup>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𝑋</m:t>
                                      </m:r>
                                    </m:num>
                                    <m:den>
                                      <m:r>
                                        <a:rPr lang="en-US" altLang="zh-CN" i="1">
                                          <a:latin typeface="Cambria Math" panose="02040503050406030204" pitchFamily="18" charset="0"/>
                                          <a:cs typeface="Arial" panose="020B0604020202020204" pitchFamily="34" charset="0"/>
                                        </a:rPr>
                                        <m:t>𝑛</m:t>
                                      </m:r>
                                    </m:den>
                                  </m:f>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den>
                      </m:f>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𝑋</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𝑡𝑛</m:t>
                                  </m:r>
                                  <m:r>
                                    <a:rPr lang="en-US" altLang="zh-CN" b="0" i="1" smtClean="0">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𝑎</m:t>
                                  </m:r>
                                  <m:r>
                                    <a:rPr lang="en-US" altLang="zh-CN" b="0" i="1" smtClean="0">
                                      <a:latin typeface="Cambria Math" panose="02040503050406030204" pitchFamily="18" charset="0"/>
                                      <a:cs typeface="Arial" panose="020B0604020202020204" pitchFamily="34" charset="0"/>
                                    </a:rPr>
                                    <m:t>′</m:t>
                                  </m:r>
                                </m:e>
                              </m:d>
                            </m:e>
                          </m:func>
                        </m:num>
                        <m:den>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𝑋</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𝑡𝑛</m:t>
                                  </m:r>
                                  <m:r>
                                    <a:rPr lang="en-US" altLang="zh-CN" i="1">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e>
                              </m:d>
                            </m:e>
                          </m:func>
                        </m:den>
                      </m:f>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𝑎</m:t>
                              </m:r>
                            </m:e>
                            <m:sup>
                              <m:r>
                                <a:rPr lang="en-US" altLang="zh-CN" b="0" i="1" smtClean="0">
                                  <a:latin typeface="Cambria Math" panose="02040503050406030204" pitchFamily="18" charset="0"/>
                                  <a:cs typeface="Arial" panose="020B0604020202020204" pitchFamily="34" charset="0"/>
                                </a:rPr>
                                <m:t>′</m:t>
                              </m:r>
                            </m:sup>
                          </m:sSup>
                        </m:sup>
                      </m:sSup>
                    </m:oMath>
                  </m:oMathPara>
                </a14:m>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Since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oMath>
                </a14:m>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can be any number, it does not satisfies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latin typeface="Arial" panose="020B0604020202020204" pitchFamily="34" charset="0"/>
                    <a:cs typeface="Arial" panose="020B0604020202020204" pitchFamily="34" charset="0"/>
                  </a:rPr>
                  <a:t>-DP.</a:t>
                </a:r>
                <a:endParaRPr lang="zh-CN" altLang="en-US" dirty="0">
                  <a:latin typeface="Arial" panose="020B0604020202020204" pitchFamily="34" charset="0"/>
                  <a:cs typeface="Arial" panose="020B0604020202020204" pitchFamily="34" charset="0"/>
                </a:endParaRPr>
              </a:p>
            </p:txBody>
          </p:sp>
        </mc:Choice>
        <mc:Fallback xmlns="">
          <p:sp>
            <p:nvSpPr>
              <p:cNvPr id="8" name="文本框 7">
                <a:extLst>
                  <a:ext uri="{FF2B5EF4-FFF2-40B4-BE49-F238E27FC236}">
                    <a16:creationId xmlns:a16="http://schemas.microsoft.com/office/drawing/2014/main" id="{D6E15F2B-7679-40F4-83F5-E82B103D05F8}"/>
                  </a:ext>
                </a:extLst>
              </p:cNvPr>
              <p:cNvSpPr txBox="1">
                <a:spLocks noRot="1" noChangeAspect="1" noMove="1" noResize="1" noEditPoints="1" noAdjustHandles="1" noChangeArrowheads="1" noChangeShapeType="1" noTextEdit="1"/>
              </p:cNvSpPr>
              <p:nvPr/>
            </p:nvSpPr>
            <p:spPr>
              <a:xfrm>
                <a:off x="314548" y="1884403"/>
                <a:ext cx="11201293" cy="4512838"/>
              </a:xfrm>
              <a:prstGeom prst="rect">
                <a:avLst/>
              </a:prstGeom>
              <a:blipFill>
                <a:blip r:embed="rId2"/>
                <a:stretch>
                  <a:fillRect l="-490" t="-676" b="-13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408920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Solution 2:</a:t>
                </a:r>
                <a:r>
                  <a:rPr lang="en-US" altLang="zh-CN" dirty="0">
                    <a:latin typeface="Arial" panose="020B0604020202020204" pitchFamily="34" charset="0"/>
                    <a:cs typeface="Arial" panose="020B0604020202020204" pitchFamily="34" charset="0"/>
                  </a:rPr>
                  <a:t> Bound the output range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 </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314548" y="1198180"/>
                <a:ext cx="11562904" cy="369332"/>
              </a:xfrm>
              <a:prstGeom prst="rect">
                <a:avLst/>
              </a:prstGeom>
              <a:blipFill>
                <a:blip r:embed="rId2"/>
                <a:stretch>
                  <a:fillRect l="-475"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691B041-76A3-4D93-9191-27DD2D1373C3}"/>
                  </a:ext>
                </a:extLst>
              </p:cNvPr>
              <p:cNvSpPr txBox="1"/>
              <p:nvPr/>
            </p:nvSpPr>
            <p:spPr>
              <a:xfrm>
                <a:off x="314547" y="1638770"/>
                <a:ext cx="11496979"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Why this solution works:</a:t>
                </a:r>
                <a:r>
                  <a:rPr lang="en-US" altLang="zh-CN" b="0" dirty="0">
                    <a:cs typeface="Arial" panose="020B0604020202020204" pitchFamily="34" charset="0"/>
                  </a:rPr>
                  <a:t> </a:t>
                </a:r>
                <a:r>
                  <a:rPr lang="en-US" altLang="zh-CN" b="0" dirty="0">
                    <a:latin typeface="Arial" panose="020B0604020202020204" pitchFamily="34" charset="0"/>
                    <a:cs typeface="Arial" panose="020B0604020202020204" pitchFamily="34" charset="0"/>
                  </a:rPr>
                  <a:t>If </a:t>
                </a:r>
                <a14:m>
                  <m:oMath xmlns:m="http://schemas.openxmlformats.org/officeDocument/2006/math">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 </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𝑚𝑎𝑥</m:t>
                        </m:r>
                      </m:sub>
                    </m:sSub>
                    <m:r>
                      <a:rPr lang="en-US" altLang="zh-CN" i="1">
                        <a:latin typeface="Cambria Math" panose="02040503050406030204" pitchFamily="18" charset="0"/>
                        <a:cs typeface="Arial" panose="020B0604020202020204" pitchFamily="34" charset="0"/>
                      </a:rPr>
                      <m:t>]</m:t>
                    </m:r>
                  </m:oMath>
                </a14:m>
                <a:r>
                  <a:rPr lang="en-US" altLang="zh-CN" b="0" dirty="0">
                    <a:latin typeface="Arial" panose="020B0604020202020204" pitchFamily="34" charset="0"/>
                    <a:cs typeface="Arial" panose="020B0604020202020204" pitchFamily="34" charset="0"/>
                  </a:rPr>
                  <a:t>, we have </a:t>
                </a:r>
                <a14:m>
                  <m:oMath xmlns:m="http://schemas.openxmlformats.org/officeDocument/2006/math">
                    <m:r>
                      <a:rPr lang="en-US" altLang="zh-CN" b="0" i="0"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𝑎</m:t>
                        </m:r>
                      </m:e>
                      <m:sup>
                        <m:r>
                          <a:rPr lang="en-US" altLang="zh-CN" i="1">
                            <a:latin typeface="Cambria Math" panose="02040503050406030204" pitchFamily="18" charset="0"/>
                            <a:cs typeface="Arial" panose="020B0604020202020204" pitchFamily="34" charset="0"/>
                          </a:rPr>
                          <m:t>′</m:t>
                        </m:r>
                      </m:sup>
                    </m:sSup>
                    <m:r>
                      <a:rPr lang="en-US" altLang="zh-CN" b="0" i="1" smtClean="0">
                        <a:latin typeface="Cambria Math" panose="02040503050406030204" pitchFamily="18" charset="0"/>
                        <a:cs typeface="Arial" panose="020B0604020202020204" pitchFamily="34" charset="0"/>
                      </a:rPr>
                      <m:t>|≤</m:t>
                    </m:r>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oMath>
                </a14:m>
                <a:r>
                  <a:rPr lang="en-US" altLang="zh-CN" b="0" dirty="0">
                    <a:latin typeface="Arial" panose="020B0604020202020204" pitchFamily="34" charset="0"/>
                    <a:cs typeface="Arial" panose="020B0604020202020204" pitchFamily="34" charset="0"/>
                  </a:rPr>
                  <a:t> and we could have the desired inequality</a:t>
                </a:r>
                <a:endParaRPr lang="zh-CN" altLang="en-US" b="1"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7691B041-76A3-4D93-9191-27DD2D1373C3}"/>
                  </a:ext>
                </a:extLst>
              </p:cNvPr>
              <p:cNvSpPr txBox="1">
                <a:spLocks noRot="1" noChangeAspect="1" noMove="1" noResize="1" noEditPoints="1" noAdjustHandles="1" noChangeArrowheads="1" noChangeShapeType="1" noTextEdit="1"/>
              </p:cNvSpPr>
              <p:nvPr/>
            </p:nvSpPr>
            <p:spPr>
              <a:xfrm>
                <a:off x="314547" y="1638770"/>
                <a:ext cx="11496979" cy="369332"/>
              </a:xfrm>
              <a:prstGeom prst="rect">
                <a:avLst/>
              </a:prstGeom>
              <a:blipFill>
                <a:blip r:embed="rId3"/>
                <a:stretch>
                  <a:fillRect l="-477" t="-11667" b="-25000"/>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CD12C0D4-6500-4E44-B251-32814D858E2E}"/>
              </a:ext>
            </a:extLst>
          </p:cNvPr>
          <p:cNvPicPr>
            <a:picLocks noChangeAspect="1"/>
          </p:cNvPicPr>
          <p:nvPr/>
        </p:nvPicPr>
        <p:blipFill>
          <a:blip r:embed="rId4"/>
          <a:stretch>
            <a:fillRect/>
          </a:stretch>
        </p:blipFill>
        <p:spPr>
          <a:xfrm>
            <a:off x="1706734" y="2008102"/>
            <a:ext cx="8712603" cy="4758660"/>
          </a:xfrm>
          <a:prstGeom prst="rect">
            <a:avLst/>
          </a:prstGeom>
        </p:spPr>
      </p:pic>
    </p:spTree>
    <p:extLst>
      <p:ext uri="{BB962C8B-B14F-4D97-AF65-F5344CB8AC3E}">
        <p14:creationId xmlns:p14="http://schemas.microsoft.com/office/powerpoint/2010/main" val="28085263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Solution 2:</a:t>
                </a:r>
                <a:r>
                  <a:rPr lang="en-US" altLang="zh-CN" dirty="0">
                    <a:latin typeface="Arial" panose="020B0604020202020204" pitchFamily="34" charset="0"/>
                    <a:cs typeface="Arial" panose="020B0604020202020204" pitchFamily="34" charset="0"/>
                  </a:rPr>
                  <a:t> Bound the output range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 </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314548" y="1198180"/>
                <a:ext cx="11562904" cy="369332"/>
              </a:xfrm>
              <a:prstGeom prst="rect">
                <a:avLst/>
              </a:prstGeom>
              <a:blipFill>
                <a:blip r:embed="rId2"/>
                <a:stretch>
                  <a:fillRect l="-475"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691B041-76A3-4D93-9191-27DD2D1373C3}"/>
                  </a:ext>
                </a:extLst>
              </p:cNvPr>
              <p:cNvSpPr txBox="1"/>
              <p:nvPr/>
            </p:nvSpPr>
            <p:spPr>
              <a:xfrm>
                <a:off x="314547" y="1638770"/>
                <a:ext cx="11496979" cy="4849854"/>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Proof:</a:t>
                </a:r>
                <a:r>
                  <a:rPr lang="en-US" altLang="zh-CN" dirty="0">
                    <a:latin typeface="Arial" panose="020B0604020202020204" pitchFamily="34" charset="0"/>
                    <a:cs typeface="Arial" panose="020B0604020202020204" pitchFamily="34" charset="0"/>
                  </a:rPr>
                  <a:t> Suppose the different element in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is </a:t>
                </a:r>
                <a14:m>
                  <m:oMath xmlns:m="http://schemas.openxmlformats.org/officeDocument/2006/math">
                    <m:r>
                      <a:rPr lang="en-US" altLang="zh-CN" b="0" i="1" smtClean="0">
                        <a:latin typeface="Cambria Math" panose="02040503050406030204" pitchFamily="18" charset="0"/>
                        <a:cs typeface="Arial" panose="020B0604020202020204" pitchFamily="34" charset="0"/>
                      </a:rPr>
                      <m:t>𝑎</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a:t>
                </a:r>
              </a:p>
              <a:p>
                <a:r>
                  <a:rPr lang="en-US" altLang="zh-CN" dirty="0">
                    <a:latin typeface="Arial" panose="020B0604020202020204" pitchFamily="34" charset="0"/>
                    <a:cs typeface="Arial" panose="020B0604020202020204" pitchFamily="34" charset="0"/>
                  </a:rPr>
                  <a:t>If </a:t>
                </a:r>
                <a14:m>
                  <m:oMath xmlns:m="http://schemas.openxmlformats.org/officeDocument/2006/math">
                    <m:r>
                      <a:rPr lang="en-US" altLang="zh-CN" b="0" i="1" smtClean="0">
                        <a:latin typeface="Cambria Math" panose="02040503050406030204" pitchFamily="18" charset="0"/>
                        <a:cs typeface="Arial" panose="020B0604020202020204" pitchFamily="34" charset="0"/>
                      </a:rPr>
                      <m:t>𝐶</m:t>
                    </m:r>
                    <m:r>
                      <a:rPr lang="en-US" altLang="zh-CN" b="0" i="1" smtClean="0">
                        <a:latin typeface="Cambria Math" panose="02040503050406030204" pitchFamily="18" charset="0"/>
                        <a:cs typeface="Arial" panose="020B0604020202020204" pitchFamily="34" charset="0"/>
                      </a:rPr>
                      <m:t>≠0</m:t>
                    </m:r>
                  </m:oMath>
                </a14:m>
                <a:r>
                  <a:rPr lang="en-US" altLang="zh-CN" dirty="0">
                    <a:latin typeface="Arial" panose="020B0604020202020204" pitchFamily="34" charset="0"/>
                    <a:cs typeface="Arial" panose="020B0604020202020204" pitchFamily="34" charset="0"/>
                  </a:rPr>
                  <a:t>, Case 1: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 </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cs typeface="Arial" panose="020B0604020202020204" pitchFamily="34" charset="0"/>
                            </a:rPr>
                          </m:ctrlPr>
                        </m:fPr>
                        <m:num>
                          <m:r>
                            <m:rPr>
                              <m:sty m:val="p"/>
                            </m:rPr>
                            <a:rPr lang="en-US" altLang="zh-CN" b="0" i="0" smtClean="0">
                              <a:latin typeface="Cambria Math" panose="02040503050406030204" pitchFamily="18" charset="0"/>
                              <a:cs typeface="Arial" panose="020B0604020202020204" pitchFamily="34" charset="0"/>
                            </a:rPr>
                            <m:t>Pr</m:t>
                          </m:r>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den>
                      </m:f>
                      <m:r>
                        <a:rPr lang="en-US" altLang="zh-CN" b="0" i="1" smtClean="0">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i="1">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𝑋</m:t>
                                      </m:r>
                                    </m:num>
                                    <m:den>
                                      <m:r>
                                        <a:rPr lang="en-US" altLang="zh-CN" b="0" i="1" smtClean="0">
                                          <a:latin typeface="Cambria Math" panose="02040503050406030204" pitchFamily="18" charset="0"/>
                                          <a:cs typeface="Arial" panose="020B0604020202020204" pitchFamily="34" charset="0"/>
                                        </a:rPr>
                                        <m:t>𝑛</m:t>
                                      </m:r>
                                      <m:r>
                                        <a:rPr lang="en-US" altLang="zh-CN" b="0" i="1" smtClean="0">
                                          <a:latin typeface="Cambria Math" panose="02040503050406030204" pitchFamily="18" charset="0"/>
                                          <a:cs typeface="Arial" panose="020B0604020202020204" pitchFamily="34" charset="0"/>
                                        </a:rPr>
                                        <m:t>+1</m:t>
                                      </m:r>
                                    </m:den>
                                  </m:f>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num>
                        <m:den>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sSup>
                                                <m:sSupPr>
                                                  <m:ctrlPr>
                                                    <a:rPr lang="en-US" altLang="zh-CN" b="0" i="1" smtClean="0">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𝐷</m:t>
                                                  </m:r>
                                                </m:e>
                                                <m:sup>
                                                  <m:r>
                                                    <a:rPr lang="en-US" altLang="zh-CN" b="0" i="1" smtClean="0">
                                                      <a:latin typeface="Cambria Math" panose="02040503050406030204" pitchFamily="18" charset="0"/>
                                                      <a:cs typeface="Arial" panose="020B0604020202020204" pitchFamily="34" charset="0"/>
                                                    </a:rPr>
                                                    <m:t>′</m:t>
                                                  </m:r>
                                                </m:sup>
                                              </m:sSup>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𝑋</m:t>
                                      </m:r>
                                    </m:num>
                                    <m:den>
                                      <m:r>
                                        <a:rPr lang="en-US" altLang="zh-CN" i="1">
                                          <a:latin typeface="Cambria Math" panose="02040503050406030204" pitchFamily="18" charset="0"/>
                                          <a:cs typeface="Arial" panose="020B0604020202020204" pitchFamily="34" charset="0"/>
                                        </a:rPr>
                                        <m:t>𝑛</m:t>
                                      </m:r>
                                    </m:den>
                                  </m:f>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den>
                      </m:f>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𝑋</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𝑡𝑛</m:t>
                                  </m:r>
                                  <m:r>
                                    <a:rPr lang="en-US" altLang="zh-CN" b="0" i="1" smtClean="0">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𝑎</m:t>
                                  </m:r>
                                  <m:r>
                                    <a:rPr lang="en-US" altLang="zh-CN" b="0" i="1" smtClean="0">
                                      <a:latin typeface="Cambria Math" panose="02040503050406030204" pitchFamily="18" charset="0"/>
                                      <a:cs typeface="Arial" panose="020B0604020202020204" pitchFamily="34" charset="0"/>
                                    </a:rPr>
                                    <m:t>′</m:t>
                                  </m:r>
                                </m:e>
                              </m:d>
                            </m:e>
                          </m:func>
                        </m:num>
                        <m:den>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𝑋</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𝑡𝑛</m:t>
                                  </m:r>
                                  <m:r>
                                    <a:rPr lang="en-US" altLang="zh-CN" i="1">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e>
                              </m:d>
                            </m:e>
                          </m:func>
                        </m:den>
                      </m:f>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exp</m:t>
                              </m:r>
                            </m:fName>
                            <m:e>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𝜖</m:t>
                                      </m:r>
                                    </m:num>
                                    <m:den>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den>
                                  </m:f>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𝑡𝑛</m:t>
                                      </m:r>
                                      <m:r>
                                        <a:rPr lang="en-US" altLang="zh-CN" i="1">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𝑎</m:t>
                                          </m:r>
                                        </m:e>
                                        <m:sup>
                                          <m:r>
                                            <a:rPr lang="en-US" altLang="zh-CN" i="1">
                                              <a:latin typeface="Cambria Math" panose="02040503050406030204" pitchFamily="18" charset="0"/>
                                              <a:cs typeface="Arial" panose="020B0604020202020204" pitchFamily="34" charset="0"/>
                                            </a:rPr>
                                            <m:t>′</m:t>
                                          </m:r>
                                        </m:sup>
                                      </m:sSup>
                                    </m:e>
                                  </m:d>
                                </m:e>
                              </m:d>
                            </m:e>
                          </m:func>
                        </m:num>
                        <m:den>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𝑡𝑛</m:t>
                                      </m:r>
                                      <m:r>
                                        <a:rPr lang="en-US" altLang="zh-CN" i="1">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e>
                                  </m:d>
                                </m:e>
                              </m:d>
                            </m:e>
                          </m:func>
                        </m:den>
                      </m:f>
                    </m:oMath>
                  </m:oMathPara>
                </a14:m>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Since </a:t>
                </a:r>
                <a14:m>
                  <m:oMath xmlns:m="http://schemas.openxmlformats.org/officeDocument/2006/math">
                    <m:r>
                      <a:rPr lang="en-US" altLang="zh-CN" i="1" smtClean="0">
                        <a:latin typeface="Cambria Math" panose="02040503050406030204" pitchFamily="18" charset="0"/>
                        <a:cs typeface="Arial" panose="020B0604020202020204" pitchFamily="34" charset="0"/>
                      </a:rPr>
                      <m:t>𝑡</m:t>
                    </m:r>
                    <m:r>
                      <a:rPr lang="en-US" altLang="zh-CN" i="1" smtClean="0">
                        <a:latin typeface="Cambria Math" panose="02040503050406030204" pitchFamily="18" charset="0"/>
                        <a:cs typeface="Arial" panose="020B0604020202020204" pitchFamily="34" charset="0"/>
                      </a:rPr>
                      <m:t>−</m:t>
                    </m:r>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𝑎</m:t>
                        </m:r>
                      </m:e>
                      <m:sup>
                        <m:r>
                          <a:rPr lang="en-US" altLang="zh-CN" i="1">
                            <a:latin typeface="Cambria Math" panose="02040503050406030204" pitchFamily="18" charset="0"/>
                            <a:cs typeface="Arial" panose="020B0604020202020204" pitchFamily="34" charset="0"/>
                          </a:rPr>
                          <m:t>′</m:t>
                        </m:r>
                      </m:sup>
                    </m:sSup>
                    <m:r>
                      <a:rPr lang="en-US" altLang="zh-CN" b="0" i="1" smtClean="0">
                        <a:latin typeface="Cambria Math" panose="02040503050406030204" pitchFamily="18" charset="0"/>
                        <a:cs typeface="Arial" panose="020B0604020202020204" pitchFamily="34" charset="0"/>
                      </a:rPr>
                      <m:t>≤</m:t>
                    </m:r>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oMath>
                </a14:m>
                <a:r>
                  <a:rPr lang="en-US" altLang="zh-CN" dirty="0">
                    <a:latin typeface="Arial" panose="020B0604020202020204" pitchFamily="34" charset="0"/>
                    <a:cs typeface="Arial" panose="020B0604020202020204" pitchFamily="34" charset="0"/>
                  </a:rPr>
                  <a:t>, we have</a:t>
                </a:r>
              </a:p>
              <a:p>
                <a:pPr/>
                <a14:m>
                  <m:oMathPara xmlns:m="http://schemas.openxmlformats.org/officeDocument/2006/math">
                    <m:oMathParaPr>
                      <m:jc m:val="centerGroup"/>
                    </m:oMathParaPr>
                    <m:oMath xmlns:m="http://schemas.openxmlformats.org/officeDocument/2006/math">
                      <m:f>
                        <m:fPr>
                          <m:ctrlPr>
                            <a:rPr lang="en-US" altLang="zh-CN" b="0" i="1" smtClean="0">
                              <a:latin typeface="Cambria Math" panose="02040503050406030204" pitchFamily="18" charset="0"/>
                              <a:cs typeface="Arial" panose="020B0604020202020204" pitchFamily="34" charset="0"/>
                            </a:rPr>
                          </m:ctrlPr>
                        </m:fPr>
                        <m:num>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exp</m:t>
                              </m:r>
                            </m:fName>
                            <m:e>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𝜖</m:t>
                                      </m:r>
                                    </m:num>
                                    <m:den>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den>
                                  </m:f>
                                  <m:d>
                                    <m:dPr>
                                      <m:begChr m:val="|"/>
                                      <m:endChr m:val="|"/>
                                      <m:ctrlPr>
                                        <a:rPr lang="en-US" altLang="zh-CN" b="0" i="1" smtClean="0">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𝑡𝑛</m:t>
                                      </m:r>
                                      <m:r>
                                        <a:rPr lang="en-US" altLang="zh-CN" i="1">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𝑎</m:t>
                                          </m:r>
                                        </m:e>
                                        <m:sup>
                                          <m:r>
                                            <a:rPr lang="en-US" altLang="zh-CN" i="1">
                                              <a:latin typeface="Cambria Math" panose="02040503050406030204" pitchFamily="18" charset="0"/>
                                              <a:cs typeface="Arial" panose="020B0604020202020204" pitchFamily="34" charset="0"/>
                                            </a:rPr>
                                            <m:t>′</m:t>
                                          </m:r>
                                        </m:sup>
                                      </m:sSup>
                                    </m:e>
                                  </m:d>
                                </m:e>
                              </m:d>
                            </m:e>
                          </m:func>
                        </m:num>
                        <m:den>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𝑡𝑛</m:t>
                                      </m:r>
                                      <m:r>
                                        <a:rPr lang="en-US" altLang="zh-CN" i="1">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e>
                                  </m:d>
                                </m:e>
                              </m:d>
                            </m:e>
                          </m:func>
                        </m:den>
                      </m:f>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𝜖</m:t>
                          </m:r>
                        </m:sup>
                      </m:sSup>
                      <m:r>
                        <a:rPr lang="en-US" altLang="zh-CN" b="0" i="1" smtClean="0">
                          <a:latin typeface="Cambria Math" panose="02040503050406030204" pitchFamily="18" charset="0"/>
                          <a:cs typeface="Arial" panose="020B0604020202020204" pitchFamily="34" charset="0"/>
                        </a:rPr>
                        <m:t>,</m:t>
                      </m:r>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𝑒</m:t>
                          </m:r>
                        </m:e>
                        <m:sup>
                          <m:r>
                            <a:rPr lang="en-US" altLang="zh-CN" i="1">
                              <a:latin typeface="Cambria Math" panose="02040503050406030204" pitchFamily="18" charset="0"/>
                              <a:cs typeface="Arial" panose="020B0604020202020204" pitchFamily="34" charset="0"/>
                            </a:rPr>
                            <m:t>𝜖</m:t>
                          </m:r>
                        </m:sup>
                      </m:sSup>
                      <m:r>
                        <a:rPr lang="en-US" altLang="zh-CN" b="0" i="1" smtClean="0">
                          <a:latin typeface="Cambria Math" panose="02040503050406030204" pitchFamily="18" charset="0"/>
                          <a:cs typeface="Arial" panose="020B0604020202020204" pitchFamily="34" charset="0"/>
                        </a:rPr>
                        <m:t>]</m:t>
                      </m:r>
                    </m:oMath>
                  </m:oMathPara>
                </a14:m>
                <a:endParaRPr lang="zh-CN" altLang="en-US"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7691B041-76A3-4D93-9191-27DD2D1373C3}"/>
                  </a:ext>
                </a:extLst>
              </p:cNvPr>
              <p:cNvSpPr txBox="1">
                <a:spLocks noRot="1" noChangeAspect="1" noMove="1" noResize="1" noEditPoints="1" noAdjustHandles="1" noChangeArrowheads="1" noChangeShapeType="1" noTextEdit="1"/>
              </p:cNvSpPr>
              <p:nvPr/>
            </p:nvSpPr>
            <p:spPr>
              <a:xfrm>
                <a:off x="314547" y="1638770"/>
                <a:ext cx="11496979" cy="4849854"/>
              </a:xfrm>
              <a:prstGeom prst="rect">
                <a:avLst/>
              </a:prstGeom>
              <a:blipFill>
                <a:blip r:embed="rId3"/>
                <a:stretch>
                  <a:fillRect l="-477" t="-7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518844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Solution 2:</a:t>
                </a:r>
                <a:r>
                  <a:rPr lang="en-US" altLang="zh-CN" dirty="0">
                    <a:latin typeface="Arial" panose="020B0604020202020204" pitchFamily="34" charset="0"/>
                    <a:cs typeface="Arial" panose="020B0604020202020204" pitchFamily="34" charset="0"/>
                  </a:rPr>
                  <a:t> Bound the output range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 </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314548" y="1198180"/>
                <a:ext cx="11562904" cy="369332"/>
              </a:xfrm>
              <a:prstGeom prst="rect">
                <a:avLst/>
              </a:prstGeom>
              <a:blipFill>
                <a:blip r:embed="rId2"/>
                <a:stretch>
                  <a:fillRect l="-475"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691B041-76A3-4D93-9191-27DD2D1373C3}"/>
                  </a:ext>
                </a:extLst>
              </p:cNvPr>
              <p:cNvSpPr txBox="1"/>
              <p:nvPr/>
            </p:nvSpPr>
            <p:spPr>
              <a:xfrm>
                <a:off x="314547" y="1638770"/>
                <a:ext cx="11496979" cy="3592458"/>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Proof:</a:t>
                </a:r>
                <a:r>
                  <a:rPr lang="en-US" altLang="zh-CN" dirty="0">
                    <a:latin typeface="Arial" panose="020B0604020202020204" pitchFamily="34" charset="0"/>
                    <a:cs typeface="Arial" panose="020B0604020202020204" pitchFamily="34" charset="0"/>
                  </a:rPr>
                  <a:t> Suppose the different element in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is </a:t>
                </a:r>
                <a14:m>
                  <m:oMath xmlns:m="http://schemas.openxmlformats.org/officeDocument/2006/math">
                    <m:r>
                      <a:rPr lang="en-US" altLang="zh-CN" b="0" i="1" smtClean="0">
                        <a:latin typeface="Cambria Math" panose="02040503050406030204" pitchFamily="18" charset="0"/>
                        <a:cs typeface="Arial" panose="020B0604020202020204" pitchFamily="34" charset="0"/>
                      </a:rPr>
                      <m:t>𝑎</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a:t>
                </a:r>
              </a:p>
              <a:p>
                <a:r>
                  <a:rPr lang="en-US" altLang="zh-CN" dirty="0">
                    <a:latin typeface="Arial" panose="020B0604020202020204" pitchFamily="34" charset="0"/>
                    <a:cs typeface="Arial" panose="020B0604020202020204" pitchFamily="34" charset="0"/>
                  </a:rPr>
                  <a:t>Case 2: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oMath>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𝑋</m:t>
                                  </m:r>
                                </m:num>
                                <m:den>
                                  <m:r>
                                    <a:rPr lang="en-US" altLang="zh-CN" i="1">
                                      <a:latin typeface="Cambria Math" panose="02040503050406030204" pitchFamily="18" charset="0"/>
                                      <a:cs typeface="Arial" panose="020B0604020202020204" pitchFamily="34" charset="0"/>
                                    </a:rPr>
                                    <m:t>𝑛</m:t>
                                  </m:r>
                                  <m:r>
                                    <a:rPr lang="en-US" altLang="zh-CN" i="1">
                                      <a:latin typeface="Cambria Math" panose="02040503050406030204" pitchFamily="18" charset="0"/>
                                      <a:cs typeface="Arial" panose="020B0604020202020204" pitchFamily="34" charset="0"/>
                                    </a:rPr>
                                    <m:t>+1</m:t>
                                  </m:r>
                                </m:den>
                              </m:f>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e>
                          </m:d>
                        </m:e>
                      </m:func>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nary>
                        <m:naryPr>
                          <m:ctrlPr>
                            <a:rPr lang="en-US" altLang="zh-CN" b="0" i="1" smtClean="0">
                              <a:latin typeface="Cambria Math" panose="02040503050406030204" pitchFamily="18" charset="0"/>
                              <a:cs typeface="Arial" panose="020B0604020202020204" pitchFamily="34" charset="0"/>
                            </a:rPr>
                          </m:ctrlPr>
                        </m:naryPr>
                        <m:sub>
                          <m:r>
                            <m:rPr>
                              <m:brk m:alnAt="23"/>
                            </m:rP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m:t>
                          </m:r>
                        </m:sub>
                        <m:sup>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sup>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𝑓</m:t>
                              </m:r>
                            </m:e>
                            <m:sub>
                              <m:r>
                                <a:rPr lang="en-US" altLang="zh-CN" b="0" i="1" smtClean="0">
                                  <a:latin typeface="Cambria Math" panose="02040503050406030204" pitchFamily="18" charset="0"/>
                                  <a:cs typeface="Arial" panose="020B0604020202020204" pitchFamily="34" charset="0"/>
                                </a:rPr>
                                <m:t>𝑌</m:t>
                              </m:r>
                            </m:sub>
                          </m:sSub>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𝑦</m:t>
                              </m:r>
                            </m:e>
                          </m:d>
                          <m:r>
                            <a:rPr lang="en-US" altLang="zh-CN" b="0" i="1" smtClean="0">
                              <a:latin typeface="Cambria Math" panose="02040503050406030204" pitchFamily="18" charset="0"/>
                              <a:cs typeface="Arial" panose="020B0604020202020204" pitchFamily="34" charset="0"/>
                            </a:rPr>
                            <m:t>𝑑𝑦</m:t>
                          </m:r>
                        </m:e>
                      </m:nary>
                    </m:oMath>
                  </m:oMathPara>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where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𝑓</m:t>
                        </m:r>
                      </m:e>
                      <m:sub>
                        <m:r>
                          <a:rPr lang="en-US" altLang="zh-CN" i="1">
                            <a:latin typeface="Cambria Math" panose="02040503050406030204" pitchFamily="18" charset="0"/>
                            <a:cs typeface="Arial" panose="020B0604020202020204" pitchFamily="34" charset="0"/>
                          </a:rPr>
                          <m:t>𝑌</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𝑦</m:t>
                        </m:r>
                      </m:e>
                    </m:d>
                  </m:oMath>
                </a14:m>
                <a:r>
                  <a:rPr lang="en-US" altLang="zh-CN" dirty="0">
                    <a:latin typeface="Arial" panose="020B0604020202020204" pitchFamily="34" charset="0"/>
                    <a:cs typeface="Arial" panose="020B0604020202020204" pitchFamily="34" charset="0"/>
                  </a:rPr>
                  <a:t> is the probability density function of </a:t>
                </a:r>
                <a14:m>
                  <m:oMath xmlns:m="http://schemas.openxmlformats.org/officeDocument/2006/math">
                    <m:r>
                      <a:rPr lang="en-US" altLang="zh-CN" b="0" i="1" smtClean="0">
                        <a:latin typeface="Cambria Math" panose="02040503050406030204" pitchFamily="18" charset="0"/>
                        <a:cs typeface="Arial" panose="020B0604020202020204" pitchFamily="34" charset="0"/>
                      </a:rPr>
                      <m:t>𝑌</m:t>
                    </m:r>
                    <m:r>
                      <a:rPr lang="en-US" altLang="zh-CN" b="0" i="1" smtClean="0">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𝑋</m:t>
                        </m:r>
                      </m:num>
                      <m:den>
                        <m:r>
                          <a:rPr lang="en-US" altLang="zh-CN" i="1">
                            <a:latin typeface="Cambria Math" panose="02040503050406030204" pitchFamily="18" charset="0"/>
                            <a:cs typeface="Arial" panose="020B0604020202020204" pitchFamily="34" charset="0"/>
                          </a:rPr>
                          <m:t>𝑛</m:t>
                        </m:r>
                        <m:r>
                          <a:rPr lang="en-US" altLang="zh-CN" i="1">
                            <a:latin typeface="Cambria Math" panose="02040503050406030204" pitchFamily="18" charset="0"/>
                            <a:cs typeface="Arial" panose="020B0604020202020204" pitchFamily="34" charset="0"/>
                          </a:rPr>
                          <m:t>+1</m:t>
                        </m:r>
                      </m:den>
                    </m:f>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𝑓</m:t>
                          </m:r>
                        </m:e>
                        <m:sub>
                          <m:r>
                            <a:rPr lang="en-US" altLang="zh-CN" b="0" i="1" smtClean="0">
                              <a:latin typeface="Cambria Math" panose="02040503050406030204" pitchFamily="18" charset="0"/>
                              <a:cs typeface="Arial" panose="020B0604020202020204" pitchFamily="34" charset="0"/>
                            </a:rPr>
                            <m:t>𝑌</m:t>
                          </m:r>
                        </m:sub>
                      </m:sSub>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𝑦</m:t>
                          </m:r>
                        </m:e>
                      </m:d>
                      <m:r>
                        <a:rPr lang="en-US" altLang="zh-CN" b="0" i="1" smtClean="0">
                          <a:latin typeface="Cambria Math" panose="02040503050406030204" pitchFamily="18" charset="0"/>
                          <a:cs typeface="Arial" panose="020B0604020202020204" pitchFamily="34" charset="0"/>
                        </a:rPr>
                        <m:t>=</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𝑛</m:t>
                          </m:r>
                          <m:r>
                            <a:rPr lang="en-US" altLang="zh-CN" b="0" i="1" smtClean="0">
                              <a:latin typeface="Cambria Math" panose="02040503050406030204" pitchFamily="18" charset="0"/>
                              <a:cs typeface="Arial" panose="020B0604020202020204" pitchFamily="34" charset="0"/>
                            </a:rPr>
                            <m:t>+1</m:t>
                          </m:r>
                        </m:e>
                      </m:d>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𝜖</m:t>
                          </m:r>
                        </m:num>
                        <m:den>
                          <m:r>
                            <a:rPr lang="en-US" altLang="zh-CN" b="0" i="1" smtClean="0">
                              <a:latin typeface="Cambria Math" panose="02040503050406030204" pitchFamily="18" charset="0"/>
                              <a:cs typeface="Arial" panose="020B0604020202020204" pitchFamily="34" charset="0"/>
                            </a:rPr>
                            <m:t>2</m:t>
                          </m:r>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den>
                      </m:f>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exp</m:t>
                          </m:r>
                        </m:fName>
                        <m:e>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𝜖</m:t>
                                  </m:r>
                                  <m:d>
                                    <m:dPr>
                                      <m:begChr m:val="|"/>
                                      <m:endChr m:val="|"/>
                                      <m:ctrlPr>
                                        <a:rPr lang="en-US" altLang="zh-CN" b="0" i="1" smtClean="0">
                                          <a:latin typeface="Cambria Math" panose="02040503050406030204" pitchFamily="18" charset="0"/>
                                          <a:cs typeface="Arial" panose="020B0604020202020204" pitchFamily="34" charset="0"/>
                                        </a:rPr>
                                      </m:ctrlPr>
                                    </m:dPr>
                                    <m:e>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𝑛</m:t>
                                          </m:r>
                                          <m:r>
                                            <a:rPr lang="en-US" altLang="zh-CN" b="0" i="1" smtClean="0">
                                              <a:latin typeface="Cambria Math" panose="02040503050406030204" pitchFamily="18" charset="0"/>
                                              <a:cs typeface="Arial" panose="020B0604020202020204" pitchFamily="34" charset="0"/>
                                            </a:rPr>
                                            <m:t>+1</m:t>
                                          </m:r>
                                        </m:e>
                                      </m:d>
                                      <m:r>
                                        <a:rPr lang="en-US" altLang="zh-CN" b="0" i="1" smtClean="0">
                                          <a:latin typeface="Cambria Math" panose="02040503050406030204" pitchFamily="18" charset="0"/>
                                          <a:cs typeface="Arial" panose="020B0604020202020204" pitchFamily="34" charset="0"/>
                                        </a:rPr>
                                        <m:t>𝑦</m:t>
                                      </m:r>
                                      <m:r>
                                        <a:rPr lang="en-US" altLang="zh-CN" b="0" i="1" smtClean="0">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e>
                                  </m:d>
                                </m:num>
                                <m:den>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den>
                              </m:f>
                            </m:e>
                          </m:d>
                        </m:e>
                      </m:func>
                    </m:oMath>
                  </m:oMathPara>
                </a14:m>
                <a:endParaRPr lang="zh-CN" altLang="en-US"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7691B041-76A3-4D93-9191-27DD2D1373C3}"/>
                  </a:ext>
                </a:extLst>
              </p:cNvPr>
              <p:cNvSpPr txBox="1">
                <a:spLocks noRot="1" noChangeAspect="1" noMove="1" noResize="1" noEditPoints="1" noAdjustHandles="1" noChangeArrowheads="1" noChangeShapeType="1" noTextEdit="1"/>
              </p:cNvSpPr>
              <p:nvPr/>
            </p:nvSpPr>
            <p:spPr>
              <a:xfrm>
                <a:off x="314547" y="1638770"/>
                <a:ext cx="11496979" cy="3592458"/>
              </a:xfrm>
              <a:prstGeom prst="rect">
                <a:avLst/>
              </a:prstGeom>
              <a:blipFill>
                <a:blip r:embed="rId3"/>
                <a:stretch>
                  <a:fillRect l="-477" t="-10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302981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Solution 2:</a:t>
                </a:r>
                <a:r>
                  <a:rPr lang="en-US" altLang="zh-CN" dirty="0">
                    <a:latin typeface="Arial" panose="020B0604020202020204" pitchFamily="34" charset="0"/>
                    <a:cs typeface="Arial" panose="020B0604020202020204" pitchFamily="34" charset="0"/>
                  </a:rPr>
                  <a:t> Bound the output range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 </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314548" y="1198180"/>
                <a:ext cx="11562904" cy="369332"/>
              </a:xfrm>
              <a:prstGeom prst="rect">
                <a:avLst/>
              </a:prstGeom>
              <a:blipFill>
                <a:blip r:embed="rId2"/>
                <a:stretch>
                  <a:fillRect l="-475"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691B041-76A3-4D93-9191-27DD2D1373C3}"/>
                  </a:ext>
                </a:extLst>
              </p:cNvPr>
              <p:cNvSpPr txBox="1"/>
              <p:nvPr/>
            </p:nvSpPr>
            <p:spPr>
              <a:xfrm>
                <a:off x="314547" y="1638770"/>
                <a:ext cx="11496979" cy="4611327"/>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Proof:</a:t>
                </a:r>
                <a:r>
                  <a:rPr lang="en-US" altLang="zh-CN" dirty="0">
                    <a:latin typeface="Arial" panose="020B0604020202020204" pitchFamily="34" charset="0"/>
                    <a:cs typeface="Arial" panose="020B0604020202020204" pitchFamily="34" charset="0"/>
                  </a:rPr>
                  <a:t> Suppose the different element in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is </a:t>
                </a:r>
                <a14:m>
                  <m:oMath xmlns:m="http://schemas.openxmlformats.org/officeDocument/2006/math">
                    <m:r>
                      <a:rPr lang="en-US" altLang="zh-CN" b="0" i="1" smtClean="0">
                        <a:latin typeface="Cambria Math" panose="02040503050406030204" pitchFamily="18" charset="0"/>
                        <a:cs typeface="Arial" panose="020B0604020202020204" pitchFamily="34" charset="0"/>
                      </a:rPr>
                      <m:t>𝑎</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a:t>
                </a:r>
              </a:p>
              <a:p>
                <a:r>
                  <a:rPr lang="en-US" altLang="zh-CN" dirty="0">
                    <a:latin typeface="Arial" panose="020B0604020202020204" pitchFamily="34" charset="0"/>
                    <a:cs typeface="Arial" panose="020B0604020202020204" pitchFamily="34" charset="0"/>
                  </a:rPr>
                  <a:t>Case 2: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oMath>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𝑋</m:t>
                                  </m:r>
                                </m:num>
                                <m:den>
                                  <m:r>
                                    <a:rPr lang="en-US" altLang="zh-CN" i="1">
                                      <a:latin typeface="Cambria Math" panose="02040503050406030204" pitchFamily="18" charset="0"/>
                                      <a:cs typeface="Arial" panose="020B0604020202020204" pitchFamily="34" charset="0"/>
                                    </a:rPr>
                                    <m:t>𝑛</m:t>
                                  </m:r>
                                  <m:r>
                                    <a:rPr lang="en-US" altLang="zh-CN" i="1">
                                      <a:latin typeface="Cambria Math" panose="02040503050406030204" pitchFamily="18" charset="0"/>
                                      <a:cs typeface="Arial" panose="020B0604020202020204" pitchFamily="34" charset="0"/>
                                    </a:rPr>
                                    <m:t>+1</m:t>
                                  </m:r>
                                </m:den>
                              </m:f>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e>
                          </m:d>
                        </m:e>
                      </m:func>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nary>
                        <m:naryPr>
                          <m:ctrlPr>
                            <a:rPr lang="en-US" altLang="zh-CN" b="0" i="1" smtClean="0">
                              <a:latin typeface="Cambria Math" panose="02040503050406030204" pitchFamily="18" charset="0"/>
                              <a:cs typeface="Arial" panose="020B0604020202020204" pitchFamily="34" charset="0"/>
                            </a:rPr>
                          </m:ctrlPr>
                        </m:naryPr>
                        <m:sub>
                          <m:r>
                            <m:rPr>
                              <m:brk m:alnAt="23"/>
                            </m:rP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m:t>
                          </m:r>
                        </m:sub>
                        <m:sup>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sup>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𝑓</m:t>
                              </m:r>
                            </m:e>
                            <m:sub>
                              <m:r>
                                <a:rPr lang="en-US" altLang="zh-CN" b="0" i="1" smtClean="0">
                                  <a:latin typeface="Cambria Math" panose="02040503050406030204" pitchFamily="18" charset="0"/>
                                  <a:cs typeface="Arial" panose="020B0604020202020204" pitchFamily="34" charset="0"/>
                                </a:rPr>
                                <m:t>𝑌</m:t>
                              </m:r>
                            </m:sub>
                          </m:sSub>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𝑦</m:t>
                              </m:r>
                            </m:e>
                          </m:d>
                          <m:r>
                            <a:rPr lang="en-US" altLang="zh-CN" b="0" i="1" smtClean="0">
                              <a:latin typeface="Cambria Math" panose="02040503050406030204" pitchFamily="18" charset="0"/>
                              <a:cs typeface="Arial" panose="020B0604020202020204" pitchFamily="34" charset="0"/>
                            </a:rPr>
                            <m:t>𝑑𝑦</m:t>
                          </m:r>
                        </m:e>
                      </m:nary>
                    </m:oMath>
                  </m:oMathPara>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where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𝑓</m:t>
                        </m:r>
                      </m:e>
                      <m:sub>
                        <m:r>
                          <a:rPr lang="en-US" altLang="zh-CN" i="1">
                            <a:latin typeface="Cambria Math" panose="02040503050406030204" pitchFamily="18" charset="0"/>
                            <a:cs typeface="Arial" panose="020B0604020202020204" pitchFamily="34" charset="0"/>
                          </a:rPr>
                          <m:t>𝑌</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𝑦</m:t>
                        </m:r>
                      </m:e>
                    </m:d>
                  </m:oMath>
                </a14:m>
                <a:r>
                  <a:rPr lang="en-US" altLang="zh-CN" dirty="0">
                    <a:latin typeface="Arial" panose="020B0604020202020204" pitchFamily="34" charset="0"/>
                    <a:cs typeface="Arial" panose="020B0604020202020204" pitchFamily="34" charset="0"/>
                  </a:rPr>
                  <a:t> is the probability density function of </a:t>
                </a:r>
                <a14:m>
                  <m:oMath xmlns:m="http://schemas.openxmlformats.org/officeDocument/2006/math">
                    <m:r>
                      <a:rPr lang="en-US" altLang="zh-CN" b="0" i="1" smtClean="0">
                        <a:latin typeface="Cambria Math" panose="02040503050406030204" pitchFamily="18" charset="0"/>
                        <a:cs typeface="Arial" panose="020B0604020202020204" pitchFamily="34" charset="0"/>
                      </a:rPr>
                      <m:t>𝑌</m:t>
                    </m:r>
                    <m:r>
                      <a:rPr lang="en-US" altLang="zh-CN" b="0" i="1" smtClean="0">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𝑋</m:t>
                        </m:r>
                      </m:num>
                      <m:den>
                        <m:r>
                          <a:rPr lang="en-US" altLang="zh-CN" i="1">
                            <a:latin typeface="Cambria Math" panose="02040503050406030204" pitchFamily="18" charset="0"/>
                            <a:cs typeface="Arial" panose="020B0604020202020204" pitchFamily="34" charset="0"/>
                          </a:rPr>
                          <m:t>𝑛</m:t>
                        </m:r>
                        <m:r>
                          <a:rPr lang="en-US" altLang="zh-CN" i="1">
                            <a:latin typeface="Cambria Math" panose="02040503050406030204" pitchFamily="18" charset="0"/>
                            <a:cs typeface="Arial" panose="020B0604020202020204" pitchFamily="34" charset="0"/>
                          </a:rPr>
                          <m:t>+1</m:t>
                        </m:r>
                      </m:den>
                    </m:f>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nary>
                        <m:naryPr>
                          <m:ctrlPr>
                            <a:rPr lang="en-US" altLang="zh-CN" i="1">
                              <a:latin typeface="Cambria Math" panose="02040503050406030204" pitchFamily="18" charset="0"/>
                              <a:cs typeface="Arial" panose="020B0604020202020204" pitchFamily="34" charset="0"/>
                            </a:rPr>
                          </m:ctrlPr>
                        </m:naryPr>
                        <m:sub>
                          <m:r>
                            <m:rPr>
                              <m:brk m:alnAt="23"/>
                            </m:rP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m:t>
                          </m:r>
                        </m:sub>
                        <m:sup>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𝑓</m:t>
                              </m:r>
                            </m:e>
                            <m:sub>
                              <m:r>
                                <a:rPr lang="en-US" altLang="zh-CN" i="1">
                                  <a:latin typeface="Cambria Math" panose="02040503050406030204" pitchFamily="18" charset="0"/>
                                  <a:cs typeface="Arial" panose="020B0604020202020204" pitchFamily="34" charset="0"/>
                                </a:rPr>
                                <m:t>𝑌</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𝑦</m:t>
                              </m:r>
                            </m:e>
                          </m:d>
                          <m:r>
                            <a:rPr lang="en-US" altLang="zh-CN" i="1">
                              <a:latin typeface="Cambria Math" panose="02040503050406030204" pitchFamily="18" charset="0"/>
                              <a:cs typeface="Arial" panose="020B0604020202020204" pitchFamily="34" charset="0"/>
                            </a:rPr>
                            <m:t>𝑑𝑦</m:t>
                          </m:r>
                        </m:e>
                      </m:nary>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1</m:t>
                          </m:r>
                        </m:num>
                        <m:den>
                          <m:r>
                            <a:rPr lang="en-US" altLang="zh-CN" b="0" i="1" smtClean="0">
                              <a:latin typeface="Cambria Math" panose="02040503050406030204" pitchFamily="18" charset="0"/>
                              <a:cs typeface="Arial" panose="020B0604020202020204" pitchFamily="34" charset="0"/>
                            </a:rPr>
                            <m:t>2</m:t>
                          </m:r>
                        </m:den>
                      </m:f>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exp</m:t>
                          </m:r>
                        </m:fName>
                        <m:e>
                          <m:d>
                            <m:dPr>
                              <m:ctrlPr>
                                <a:rPr lang="en-US" altLang="zh-CN" b="0" i="1" smtClean="0">
                                  <a:latin typeface="Cambria Math" panose="02040503050406030204" pitchFamily="18" charset="0"/>
                                  <a:cs typeface="Arial" panose="020B0604020202020204" pitchFamily="34" charset="0"/>
                                </a:rPr>
                              </m:ctrlPr>
                            </m:dPr>
                            <m:e>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𝜖</m:t>
                                  </m:r>
                                  <m:d>
                                    <m:dPr>
                                      <m:ctrlPr>
                                        <a:rPr lang="en-US" altLang="zh-CN" b="0" i="1" smtClean="0">
                                          <a:latin typeface="Cambria Math" panose="02040503050406030204" pitchFamily="18" charset="0"/>
                                          <a:cs typeface="Arial" panose="020B0604020202020204" pitchFamily="34" charset="0"/>
                                        </a:rPr>
                                      </m:ctrlPr>
                                    </m:dPr>
                                    <m:e>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𝑛</m:t>
                                          </m:r>
                                          <m:r>
                                            <a:rPr lang="en-US" altLang="zh-CN" b="0" i="1" smtClean="0">
                                              <a:latin typeface="Cambria Math" panose="02040503050406030204" pitchFamily="18" charset="0"/>
                                              <a:cs typeface="Arial" panose="020B0604020202020204" pitchFamily="34" charset="0"/>
                                            </a:rPr>
                                            <m:t>+1</m:t>
                                          </m:r>
                                        </m:e>
                                      </m:d>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e>
                                  </m:d>
                                </m:num>
                                <m:den>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den>
                              </m:f>
                            </m:e>
                          </m:d>
                        </m:e>
                      </m:func>
                    </m:oMath>
                  </m:oMathPara>
                </a14:m>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Similarly, </a:t>
                </a:r>
              </a:p>
              <a:p>
                <a:pPr/>
                <a14:m>
                  <m:oMathPara xmlns:m="http://schemas.openxmlformats.org/officeDocument/2006/math">
                    <m:oMathParaPr>
                      <m:jc m:val="centerGroup"/>
                    </m:oMathParaPr>
                    <m:oMath xmlns:m="http://schemas.openxmlformats.org/officeDocument/2006/math">
                      <m:r>
                        <m:rPr>
                          <m:sty m:val="p"/>
                        </m:rPr>
                        <a:rPr lang="en-US" altLang="zh-CN" smtClean="0">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1</m:t>
                          </m:r>
                        </m:num>
                        <m:den>
                          <m:r>
                            <a:rPr lang="en-US" altLang="zh-CN" i="1">
                              <a:latin typeface="Cambria Math" panose="02040503050406030204" pitchFamily="18" charset="0"/>
                              <a:cs typeface="Arial" panose="020B0604020202020204" pitchFamily="34" charset="0"/>
                            </a:rPr>
                            <m:t>2</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d>
                                    <m:dPr>
                                      <m:ctrlPr>
                                        <a:rPr lang="en-US" altLang="zh-CN" i="1">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𝑛</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sSup>
                                                <m:sSupPr>
                                                  <m:ctrlPr>
                                                    <a:rPr lang="en-US" altLang="zh-CN" b="0" i="1" smtClean="0">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𝐷</m:t>
                                                  </m:r>
                                                </m:e>
                                                <m:sup>
                                                  <m:r>
                                                    <a:rPr lang="en-US" altLang="zh-CN" b="0" i="1" smtClean="0">
                                                      <a:latin typeface="Cambria Math" panose="02040503050406030204" pitchFamily="18" charset="0"/>
                                                      <a:cs typeface="Arial" panose="020B0604020202020204" pitchFamily="34" charset="0"/>
                                                    </a:rPr>
                                                    <m:t>′</m:t>
                                                  </m:r>
                                                </m:sup>
                                              </m:sSup>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e>
                          </m:d>
                        </m:e>
                      </m:func>
                    </m:oMath>
                  </m:oMathPara>
                </a14:m>
                <a:endParaRPr lang="zh-CN" altLang="en-US"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7691B041-76A3-4D93-9191-27DD2D1373C3}"/>
                  </a:ext>
                </a:extLst>
              </p:cNvPr>
              <p:cNvSpPr txBox="1">
                <a:spLocks noRot="1" noChangeAspect="1" noMove="1" noResize="1" noEditPoints="1" noAdjustHandles="1" noChangeArrowheads="1" noChangeShapeType="1" noTextEdit="1"/>
              </p:cNvSpPr>
              <p:nvPr/>
            </p:nvSpPr>
            <p:spPr>
              <a:xfrm>
                <a:off x="314547" y="1638770"/>
                <a:ext cx="11496979" cy="4611327"/>
              </a:xfrm>
              <a:prstGeom prst="rect">
                <a:avLst/>
              </a:prstGeom>
              <a:blipFill>
                <a:blip r:embed="rId3"/>
                <a:stretch>
                  <a:fillRect l="-477" t="-7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160341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Solution 2:</a:t>
                </a:r>
                <a:r>
                  <a:rPr lang="en-US" altLang="zh-CN" dirty="0">
                    <a:latin typeface="Arial" panose="020B0604020202020204" pitchFamily="34" charset="0"/>
                    <a:cs typeface="Arial" panose="020B0604020202020204" pitchFamily="34" charset="0"/>
                  </a:rPr>
                  <a:t> Bound the output range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 </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314548" y="1198180"/>
                <a:ext cx="11562904" cy="369332"/>
              </a:xfrm>
              <a:prstGeom prst="rect">
                <a:avLst/>
              </a:prstGeom>
              <a:blipFill>
                <a:blip r:embed="rId2"/>
                <a:stretch>
                  <a:fillRect l="-475"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691B041-76A3-4D93-9191-27DD2D1373C3}"/>
                  </a:ext>
                </a:extLst>
              </p:cNvPr>
              <p:cNvSpPr txBox="1"/>
              <p:nvPr/>
            </p:nvSpPr>
            <p:spPr>
              <a:xfrm>
                <a:off x="314547" y="1638770"/>
                <a:ext cx="11496979" cy="3302251"/>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Proof:</a:t>
                </a:r>
                <a:r>
                  <a:rPr lang="en-US" altLang="zh-CN" dirty="0">
                    <a:latin typeface="Arial" panose="020B0604020202020204" pitchFamily="34" charset="0"/>
                    <a:cs typeface="Arial" panose="020B0604020202020204" pitchFamily="34" charset="0"/>
                  </a:rPr>
                  <a:t> Suppose the different element in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is </a:t>
                </a:r>
                <a14:m>
                  <m:oMath xmlns:m="http://schemas.openxmlformats.org/officeDocument/2006/math">
                    <m:r>
                      <a:rPr lang="en-US" altLang="zh-CN" b="0" i="1" smtClean="0">
                        <a:latin typeface="Cambria Math" panose="02040503050406030204" pitchFamily="18" charset="0"/>
                        <a:cs typeface="Arial" panose="020B0604020202020204" pitchFamily="34" charset="0"/>
                      </a:rPr>
                      <m:t>𝑎</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a:t>
                </a:r>
              </a:p>
              <a:p>
                <a:r>
                  <a:rPr lang="en-US" altLang="zh-CN" dirty="0">
                    <a:latin typeface="Arial" panose="020B0604020202020204" pitchFamily="34" charset="0"/>
                    <a:cs typeface="Arial" panose="020B0604020202020204" pitchFamily="34" charset="0"/>
                  </a:rPr>
                  <a:t>Case 2: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oMath>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cs typeface="Arial" panose="020B0604020202020204" pitchFamily="34" charset="0"/>
                            </a:rPr>
                          </m:ctrlPr>
                        </m:fPr>
                        <m:num>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r>
                                <a:rPr lang="en-US" altLang="zh-CN" i="1">
                                  <a:latin typeface="Cambria Math" panose="02040503050406030204" pitchFamily="18" charset="0"/>
                                  <a:cs typeface="Arial" panose="020B0604020202020204" pitchFamily="34" charset="0"/>
                                </a:rPr>
                                <m:t>′</m:t>
                              </m:r>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den>
                      </m:f>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1</m:t>
                              </m:r>
                            </m:num>
                            <m:den>
                              <m:r>
                                <a:rPr lang="en-US" altLang="zh-CN" i="1">
                                  <a:latin typeface="Cambria Math" panose="02040503050406030204" pitchFamily="18" charset="0"/>
                                  <a:cs typeface="Arial" panose="020B0604020202020204" pitchFamily="34" charset="0"/>
                                </a:rPr>
                                <m:t>2</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d>
                                        <m:dPr>
                                          <m:ctrlPr>
                                            <a:rPr lang="en-US" altLang="zh-CN" i="1">
                                              <a:latin typeface="Cambria Math" panose="02040503050406030204" pitchFamily="18" charset="0"/>
                                              <a:cs typeface="Arial" panose="020B0604020202020204" pitchFamily="34" charset="0"/>
                                            </a:rPr>
                                          </m:ctrlPr>
                                        </m:dPr>
                                        <m:e>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𝑛</m:t>
                                              </m:r>
                                              <m:r>
                                                <a:rPr lang="en-US" altLang="zh-CN" i="1">
                                                  <a:latin typeface="Cambria Math" panose="02040503050406030204" pitchFamily="18" charset="0"/>
                                                  <a:cs typeface="Arial" panose="020B0604020202020204" pitchFamily="34" charset="0"/>
                                                </a:rPr>
                                                <m:t>+1</m:t>
                                              </m:r>
                                            </m:e>
                                          </m:d>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e>
                              </m:d>
                            </m:e>
                          </m:func>
                        </m:num>
                        <m:den>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1</m:t>
                              </m:r>
                            </m:num>
                            <m:den>
                              <m:r>
                                <a:rPr lang="en-US" altLang="zh-CN" i="1">
                                  <a:latin typeface="Cambria Math" panose="02040503050406030204" pitchFamily="18" charset="0"/>
                                  <a:cs typeface="Arial" panose="020B0604020202020204" pitchFamily="34" charset="0"/>
                                </a:rPr>
                                <m:t>2</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𝑛</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𝐷</m:t>
                                                      </m:r>
                                                    </m:e>
                                                    <m:sup>
                                                      <m:r>
                                                        <a:rPr lang="en-US" altLang="zh-CN" i="1">
                                                          <a:latin typeface="Cambria Math" panose="02040503050406030204" pitchFamily="18" charset="0"/>
                                                          <a:cs typeface="Arial" panose="020B0604020202020204" pitchFamily="34" charset="0"/>
                                                        </a:rPr>
                                                        <m:t>′</m:t>
                                                      </m:r>
                                                    </m:sup>
                                                  </m:sSup>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e>
                              </m:d>
                            </m:e>
                          </m:func>
                        </m:den>
                      </m:f>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exp</m:t>
                          </m:r>
                        </m:fName>
                        <m:e>
                          <m:d>
                            <m:dPr>
                              <m:ctrlPr>
                                <a:rPr lang="en-US" altLang="zh-CN" b="0" i="1" smtClean="0">
                                  <a:latin typeface="Cambria Math" panose="02040503050406030204" pitchFamily="18" charset="0"/>
                                  <a:cs typeface="Arial" panose="020B0604020202020204" pitchFamily="34" charset="0"/>
                                </a:rPr>
                              </m:ctrlPr>
                            </m:dPr>
                            <m:e>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𝜖</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𝑎</m:t>
                                          </m:r>
                                        </m:e>
                                        <m:sup>
                                          <m:r>
                                            <a:rPr lang="en-US" altLang="zh-CN" b="0" i="1" smtClean="0">
                                              <a:latin typeface="Cambria Math" panose="02040503050406030204" pitchFamily="18" charset="0"/>
                                              <a:cs typeface="Arial" panose="020B0604020202020204" pitchFamily="34" charset="0"/>
                                            </a:rPr>
                                            <m:t>′</m:t>
                                          </m:r>
                                        </m:sup>
                                      </m:sSup>
                                    </m:e>
                                  </m:d>
                                </m:num>
                                <m:den>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den>
                              </m:f>
                            </m:e>
                          </m:d>
                        </m:e>
                      </m:func>
                    </m:oMath>
                  </m:oMathPara>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Since </a:t>
                </a:r>
                <a14:m>
                  <m:oMath xmlns:m="http://schemas.openxmlformats.org/officeDocument/2006/math">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𝑎</m:t>
                        </m:r>
                      </m:e>
                      <m:sup>
                        <m:r>
                          <a:rPr lang="en-US" altLang="zh-CN" b="0" i="1" smtClean="0">
                            <a:latin typeface="Cambria Math" panose="02040503050406030204" pitchFamily="18" charset="0"/>
                            <a:cs typeface="Arial" panose="020B0604020202020204" pitchFamily="34" charset="0"/>
                          </a:rPr>
                          <m:t>′</m:t>
                        </m:r>
                      </m:sup>
                    </m:sSup>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a:t>
                </a:r>
              </a:p>
              <a:p>
                <a:pPr/>
                <a14:m>
                  <m:oMathPara xmlns:m="http://schemas.openxmlformats.org/officeDocument/2006/math">
                    <m:oMathParaPr>
                      <m:jc m:val="centerGroup"/>
                    </m:oMathParaPr>
                    <m:oMath xmlns:m="http://schemas.openxmlformats.org/officeDocument/2006/math">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𝑎</m:t>
                                          </m:r>
                                        </m:e>
                                        <m:sup>
                                          <m:r>
                                            <a:rPr lang="en-US" altLang="zh-CN" i="1">
                                              <a:latin typeface="Cambria Math" panose="02040503050406030204" pitchFamily="18" charset="0"/>
                                              <a:cs typeface="Arial" panose="020B0604020202020204" pitchFamily="34" charset="0"/>
                                            </a:rPr>
                                            <m:t>′</m:t>
                                          </m:r>
                                        </m:sup>
                                      </m:sSup>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e>
                          </m:d>
                        </m:e>
                      </m:func>
                      <m:r>
                        <a:rPr lang="en-US" altLang="zh-CN" b="0" i="1" smtClean="0">
                          <a:latin typeface="Cambria Math" panose="02040503050406030204" pitchFamily="18" charset="0"/>
                          <a:cs typeface="Arial" panose="020B0604020202020204" pitchFamily="34" charset="0"/>
                        </a:rPr>
                        <m:t>≤1&lt;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oMath>
                  </m:oMathPara>
                </a14:m>
                <a:endParaRPr lang="zh-CN" altLang="en-US"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7691B041-76A3-4D93-9191-27DD2D1373C3}"/>
                  </a:ext>
                </a:extLst>
              </p:cNvPr>
              <p:cNvSpPr txBox="1">
                <a:spLocks noRot="1" noChangeAspect="1" noMove="1" noResize="1" noEditPoints="1" noAdjustHandles="1" noChangeArrowheads="1" noChangeShapeType="1" noTextEdit="1"/>
              </p:cNvSpPr>
              <p:nvPr/>
            </p:nvSpPr>
            <p:spPr>
              <a:xfrm>
                <a:off x="314547" y="1638770"/>
                <a:ext cx="11496979" cy="3302251"/>
              </a:xfrm>
              <a:prstGeom prst="rect">
                <a:avLst/>
              </a:prstGeom>
              <a:blipFill>
                <a:blip r:embed="rId3"/>
                <a:stretch>
                  <a:fillRect l="-477" t="-11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038599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Solution 2:</a:t>
                </a:r>
                <a:r>
                  <a:rPr lang="en-US" altLang="zh-CN" dirty="0">
                    <a:latin typeface="Arial" panose="020B0604020202020204" pitchFamily="34" charset="0"/>
                    <a:cs typeface="Arial" panose="020B0604020202020204" pitchFamily="34" charset="0"/>
                  </a:rPr>
                  <a:t> Bound the output range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 </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314548" y="1198180"/>
                <a:ext cx="11562904" cy="369332"/>
              </a:xfrm>
              <a:prstGeom prst="rect">
                <a:avLst/>
              </a:prstGeom>
              <a:blipFill>
                <a:blip r:embed="rId2"/>
                <a:stretch>
                  <a:fillRect l="-475"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691B041-76A3-4D93-9191-27DD2D1373C3}"/>
                  </a:ext>
                </a:extLst>
              </p:cNvPr>
              <p:cNvSpPr txBox="1"/>
              <p:nvPr/>
            </p:nvSpPr>
            <p:spPr>
              <a:xfrm>
                <a:off x="314547" y="1638770"/>
                <a:ext cx="11496979" cy="362907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Proof:</a:t>
                </a:r>
                <a:r>
                  <a:rPr lang="en-US" altLang="zh-CN" dirty="0">
                    <a:latin typeface="Arial" panose="020B0604020202020204" pitchFamily="34" charset="0"/>
                    <a:cs typeface="Arial" panose="020B0604020202020204" pitchFamily="34" charset="0"/>
                  </a:rPr>
                  <a:t> Suppose the different element in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is </a:t>
                </a:r>
                <a14:m>
                  <m:oMath xmlns:m="http://schemas.openxmlformats.org/officeDocument/2006/math">
                    <m:r>
                      <a:rPr lang="en-US" altLang="zh-CN" b="0" i="1" smtClean="0">
                        <a:latin typeface="Cambria Math" panose="02040503050406030204" pitchFamily="18" charset="0"/>
                        <a:cs typeface="Arial" panose="020B0604020202020204" pitchFamily="34" charset="0"/>
                      </a:rPr>
                      <m:t>𝑎</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a:t>
                </a:r>
              </a:p>
              <a:p>
                <a:r>
                  <a:rPr lang="en-US" altLang="zh-CN" dirty="0">
                    <a:latin typeface="Arial" panose="020B0604020202020204" pitchFamily="34" charset="0"/>
                    <a:cs typeface="Arial" panose="020B0604020202020204" pitchFamily="34" charset="0"/>
                  </a:rPr>
                  <a:t>Case 3: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m:t>
                        </m:r>
                        <m:r>
                          <a:rPr lang="en-US" altLang="zh-CN" b="0" i="1" smtClean="0">
                            <a:latin typeface="Cambria Math" panose="02040503050406030204" pitchFamily="18" charset="0"/>
                            <a:cs typeface="Arial" panose="020B0604020202020204" pitchFamily="34" charset="0"/>
                          </a:rPr>
                          <m:t>𝑎𝑥</m:t>
                        </m:r>
                      </m:sub>
                    </m:sSub>
                  </m:oMath>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i="1">
                          <a:latin typeface="Cambria Math" panose="02040503050406030204" pitchFamily="18" charset="0"/>
                          <a:cs typeface="Arial" panose="020B0604020202020204" pitchFamily="34" charset="0"/>
                        </a:rPr>
                        <m:t>]=</m:t>
                      </m:r>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𝑋</m:t>
                                  </m:r>
                                </m:num>
                                <m:den>
                                  <m:r>
                                    <a:rPr lang="en-US" altLang="zh-CN" i="1">
                                      <a:latin typeface="Cambria Math" panose="02040503050406030204" pitchFamily="18" charset="0"/>
                                      <a:cs typeface="Arial" panose="020B0604020202020204" pitchFamily="34" charset="0"/>
                                    </a:rPr>
                                    <m:t>𝑛</m:t>
                                  </m:r>
                                  <m:r>
                                    <a:rPr lang="en-US" altLang="zh-CN" i="1">
                                      <a:latin typeface="Cambria Math" panose="02040503050406030204" pitchFamily="18" charset="0"/>
                                      <a:cs typeface="Arial" panose="020B0604020202020204" pitchFamily="34" charset="0"/>
                                    </a:rPr>
                                    <m:t>+1</m:t>
                                  </m:r>
                                </m:den>
                              </m:f>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e>
                          </m:d>
                        </m:e>
                      </m:func>
                    </m:oMath>
                  </m:oMathPara>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nary>
                        <m:naryPr>
                          <m:ctrlPr>
                            <a:rPr lang="en-US" altLang="zh-CN" b="0" i="1" smtClean="0">
                              <a:latin typeface="Cambria Math" panose="02040503050406030204" pitchFamily="18" charset="0"/>
                              <a:cs typeface="Arial" panose="020B0604020202020204" pitchFamily="34" charset="0"/>
                            </a:rPr>
                          </m:ctrlPr>
                        </m:naryPr>
                        <m:sub>
                          <m:sSub>
                            <m:sSubPr>
                              <m:ctrlPr>
                                <a:rPr lang="en-US" altLang="zh-CN" b="0" i="1" smtClean="0">
                                  <a:latin typeface="Cambria Math" panose="02040503050406030204" pitchFamily="18" charset="0"/>
                                  <a:cs typeface="Arial" panose="020B0604020202020204" pitchFamily="34" charset="0"/>
                                </a:rPr>
                              </m:ctrlPr>
                            </m:sSubPr>
                            <m:e>
                              <m:r>
                                <m:rPr>
                                  <m:brk m:alnAt="23"/>
                                </m:rP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sub>
                        <m:sup>
                          <m:r>
                            <a:rPr lang="en-US" altLang="zh-CN" b="0" i="1" smtClean="0">
                              <a:latin typeface="Cambria Math" panose="02040503050406030204" pitchFamily="18" charset="0"/>
                              <a:cs typeface="Arial" panose="020B0604020202020204" pitchFamily="34" charset="0"/>
                            </a:rPr>
                            <m:t>∞</m:t>
                          </m:r>
                        </m:sup>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𝑓</m:t>
                              </m:r>
                            </m:e>
                            <m:sub>
                              <m:r>
                                <a:rPr lang="en-US" altLang="zh-CN" b="0" i="1" smtClean="0">
                                  <a:latin typeface="Cambria Math" panose="02040503050406030204" pitchFamily="18" charset="0"/>
                                  <a:cs typeface="Arial" panose="020B0604020202020204" pitchFamily="34" charset="0"/>
                                </a:rPr>
                                <m:t>𝑌</m:t>
                              </m:r>
                            </m:sub>
                          </m:sSub>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𝑦</m:t>
                              </m:r>
                            </m:e>
                          </m:d>
                          <m:r>
                            <a:rPr lang="en-US" altLang="zh-CN" b="0" i="1" smtClean="0">
                              <a:latin typeface="Cambria Math" panose="02040503050406030204" pitchFamily="18" charset="0"/>
                              <a:cs typeface="Arial" panose="020B0604020202020204" pitchFamily="34" charset="0"/>
                            </a:rPr>
                            <m:t>𝑑𝑦</m:t>
                          </m:r>
                        </m:e>
                      </m:nary>
                    </m:oMath>
                  </m:oMathPara>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where </a:t>
                </a:r>
                <a14:m>
                  <m:oMath xmlns:m="http://schemas.openxmlformats.org/officeDocument/2006/math">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𝑓</m:t>
                        </m:r>
                      </m:e>
                      <m:sub>
                        <m:r>
                          <a:rPr lang="en-US" altLang="zh-CN" i="1">
                            <a:latin typeface="Cambria Math" panose="02040503050406030204" pitchFamily="18" charset="0"/>
                            <a:cs typeface="Arial" panose="020B0604020202020204" pitchFamily="34" charset="0"/>
                          </a:rPr>
                          <m:t>𝑌</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𝑦</m:t>
                        </m:r>
                      </m:e>
                    </m:d>
                  </m:oMath>
                </a14:m>
                <a:r>
                  <a:rPr lang="en-US" altLang="zh-CN" dirty="0">
                    <a:latin typeface="Arial" panose="020B0604020202020204" pitchFamily="34" charset="0"/>
                    <a:cs typeface="Arial" panose="020B0604020202020204" pitchFamily="34" charset="0"/>
                  </a:rPr>
                  <a:t> is the probability density function of </a:t>
                </a:r>
                <a14:m>
                  <m:oMath xmlns:m="http://schemas.openxmlformats.org/officeDocument/2006/math">
                    <m:r>
                      <a:rPr lang="en-US" altLang="zh-CN" b="0" i="1" smtClean="0">
                        <a:latin typeface="Cambria Math" panose="02040503050406030204" pitchFamily="18" charset="0"/>
                        <a:cs typeface="Arial" panose="020B0604020202020204" pitchFamily="34" charset="0"/>
                      </a:rPr>
                      <m:t>𝑌</m:t>
                    </m:r>
                    <m:r>
                      <a:rPr lang="en-US" altLang="zh-CN" b="0" i="1" smtClean="0">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𝑋</m:t>
                        </m:r>
                      </m:num>
                      <m:den>
                        <m:r>
                          <a:rPr lang="en-US" altLang="zh-CN" i="1">
                            <a:latin typeface="Cambria Math" panose="02040503050406030204" pitchFamily="18" charset="0"/>
                            <a:cs typeface="Arial" panose="020B0604020202020204" pitchFamily="34" charset="0"/>
                          </a:rPr>
                          <m:t>𝑛</m:t>
                        </m:r>
                        <m:r>
                          <a:rPr lang="en-US" altLang="zh-CN" i="1">
                            <a:latin typeface="Cambria Math" panose="02040503050406030204" pitchFamily="18" charset="0"/>
                            <a:cs typeface="Arial" panose="020B0604020202020204" pitchFamily="34" charset="0"/>
                          </a:rPr>
                          <m:t>+1</m:t>
                        </m:r>
                      </m:den>
                    </m:f>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𝑓</m:t>
                          </m:r>
                        </m:e>
                        <m:sub>
                          <m:r>
                            <a:rPr lang="en-US" altLang="zh-CN" b="0" i="1" smtClean="0">
                              <a:latin typeface="Cambria Math" panose="02040503050406030204" pitchFamily="18" charset="0"/>
                              <a:cs typeface="Arial" panose="020B0604020202020204" pitchFamily="34" charset="0"/>
                            </a:rPr>
                            <m:t>𝑌</m:t>
                          </m:r>
                        </m:sub>
                      </m:sSub>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𝑦</m:t>
                          </m:r>
                        </m:e>
                      </m:d>
                      <m:r>
                        <a:rPr lang="en-US" altLang="zh-CN" b="0" i="1" smtClean="0">
                          <a:latin typeface="Cambria Math" panose="02040503050406030204" pitchFamily="18" charset="0"/>
                          <a:cs typeface="Arial" panose="020B0604020202020204" pitchFamily="34" charset="0"/>
                        </a:rPr>
                        <m:t>=</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𝑛</m:t>
                          </m:r>
                          <m:r>
                            <a:rPr lang="en-US" altLang="zh-CN" b="0" i="1" smtClean="0">
                              <a:latin typeface="Cambria Math" panose="02040503050406030204" pitchFamily="18" charset="0"/>
                              <a:cs typeface="Arial" panose="020B0604020202020204" pitchFamily="34" charset="0"/>
                            </a:rPr>
                            <m:t>+1</m:t>
                          </m:r>
                        </m:e>
                      </m:d>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𝜖</m:t>
                          </m:r>
                        </m:num>
                        <m:den>
                          <m:r>
                            <a:rPr lang="en-US" altLang="zh-CN" b="0" i="1" smtClean="0">
                              <a:latin typeface="Cambria Math" panose="02040503050406030204" pitchFamily="18" charset="0"/>
                              <a:cs typeface="Arial" panose="020B0604020202020204" pitchFamily="34" charset="0"/>
                            </a:rPr>
                            <m:t>2</m:t>
                          </m:r>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den>
                      </m:f>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exp</m:t>
                          </m:r>
                        </m:fName>
                        <m:e>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𝜖</m:t>
                                  </m:r>
                                  <m:d>
                                    <m:dPr>
                                      <m:begChr m:val="|"/>
                                      <m:endChr m:val="|"/>
                                      <m:ctrlPr>
                                        <a:rPr lang="en-US" altLang="zh-CN" b="0" i="1" smtClean="0">
                                          <a:latin typeface="Cambria Math" panose="02040503050406030204" pitchFamily="18" charset="0"/>
                                          <a:cs typeface="Arial" panose="020B0604020202020204" pitchFamily="34" charset="0"/>
                                        </a:rPr>
                                      </m:ctrlPr>
                                    </m:dPr>
                                    <m:e>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𝑛</m:t>
                                          </m:r>
                                          <m:r>
                                            <a:rPr lang="en-US" altLang="zh-CN" b="0" i="1" smtClean="0">
                                              <a:latin typeface="Cambria Math" panose="02040503050406030204" pitchFamily="18" charset="0"/>
                                              <a:cs typeface="Arial" panose="020B0604020202020204" pitchFamily="34" charset="0"/>
                                            </a:rPr>
                                            <m:t>+1</m:t>
                                          </m:r>
                                        </m:e>
                                      </m:d>
                                      <m:r>
                                        <a:rPr lang="en-US" altLang="zh-CN" b="0" i="1" smtClean="0">
                                          <a:latin typeface="Cambria Math" panose="02040503050406030204" pitchFamily="18" charset="0"/>
                                          <a:cs typeface="Arial" panose="020B0604020202020204" pitchFamily="34" charset="0"/>
                                        </a:rPr>
                                        <m:t>𝑦</m:t>
                                      </m:r>
                                      <m:r>
                                        <a:rPr lang="en-US" altLang="zh-CN" b="0" i="1" smtClean="0">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e>
                                  </m:d>
                                </m:num>
                                <m:den>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den>
                              </m:f>
                            </m:e>
                          </m:d>
                        </m:e>
                      </m:func>
                    </m:oMath>
                  </m:oMathPara>
                </a14:m>
                <a:endParaRPr lang="zh-CN" altLang="en-US"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7691B041-76A3-4D93-9191-27DD2D1373C3}"/>
                  </a:ext>
                </a:extLst>
              </p:cNvPr>
              <p:cNvSpPr txBox="1">
                <a:spLocks noRot="1" noChangeAspect="1" noMove="1" noResize="1" noEditPoints="1" noAdjustHandles="1" noChangeArrowheads="1" noChangeShapeType="1" noTextEdit="1"/>
              </p:cNvSpPr>
              <p:nvPr/>
            </p:nvSpPr>
            <p:spPr>
              <a:xfrm>
                <a:off x="314547" y="1638770"/>
                <a:ext cx="11496979" cy="3629070"/>
              </a:xfrm>
              <a:prstGeom prst="rect">
                <a:avLst/>
              </a:prstGeom>
              <a:blipFill>
                <a:blip r:embed="rId3"/>
                <a:stretch>
                  <a:fillRect l="-477" t="-10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4476160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Solution 2:</a:t>
                </a:r>
                <a:r>
                  <a:rPr lang="en-US" altLang="zh-CN" dirty="0">
                    <a:latin typeface="Arial" panose="020B0604020202020204" pitchFamily="34" charset="0"/>
                    <a:cs typeface="Arial" panose="020B0604020202020204" pitchFamily="34" charset="0"/>
                  </a:rPr>
                  <a:t> Bound the output range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 </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314548" y="1198180"/>
                <a:ext cx="11562904" cy="369332"/>
              </a:xfrm>
              <a:prstGeom prst="rect">
                <a:avLst/>
              </a:prstGeom>
              <a:blipFill>
                <a:blip r:embed="rId2"/>
                <a:stretch>
                  <a:fillRect l="-475"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691B041-76A3-4D93-9191-27DD2D1373C3}"/>
                  </a:ext>
                </a:extLst>
              </p:cNvPr>
              <p:cNvSpPr txBox="1"/>
              <p:nvPr/>
            </p:nvSpPr>
            <p:spPr>
              <a:xfrm>
                <a:off x="314547" y="1638770"/>
                <a:ext cx="11496979" cy="4037067"/>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Proof:</a:t>
                </a:r>
                <a:r>
                  <a:rPr lang="en-US" altLang="zh-CN" dirty="0">
                    <a:latin typeface="Arial" panose="020B0604020202020204" pitchFamily="34" charset="0"/>
                    <a:cs typeface="Arial" panose="020B0604020202020204" pitchFamily="34" charset="0"/>
                  </a:rPr>
                  <a:t> Suppose the different element in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is </a:t>
                </a:r>
                <a14:m>
                  <m:oMath xmlns:m="http://schemas.openxmlformats.org/officeDocument/2006/math">
                    <m:r>
                      <a:rPr lang="en-US" altLang="zh-CN" b="0" i="1" smtClean="0">
                        <a:latin typeface="Cambria Math" panose="02040503050406030204" pitchFamily="18" charset="0"/>
                        <a:cs typeface="Arial" panose="020B0604020202020204" pitchFamily="34" charset="0"/>
                      </a:rPr>
                      <m:t>𝑎</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a:t>
                </a:r>
              </a:p>
              <a:p>
                <a:r>
                  <a:rPr lang="en-US" altLang="zh-CN" dirty="0">
                    <a:latin typeface="Arial" panose="020B0604020202020204" pitchFamily="34" charset="0"/>
                    <a:cs typeface="Arial" panose="020B0604020202020204" pitchFamily="34" charset="0"/>
                  </a:rPr>
                  <a:t>Case 3: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m:t>
                        </m:r>
                        <m:r>
                          <a:rPr lang="en-US" altLang="zh-CN" b="0" i="1" smtClean="0">
                            <a:latin typeface="Cambria Math" panose="02040503050406030204" pitchFamily="18" charset="0"/>
                            <a:cs typeface="Arial" panose="020B0604020202020204" pitchFamily="34" charset="0"/>
                          </a:rPr>
                          <m:t>𝑎𝑥</m:t>
                        </m:r>
                      </m:sub>
                    </m:sSub>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Similar to the case 2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m:t>
                        </m:r>
                        <m:r>
                          <a:rPr lang="en-US" altLang="zh-CN" b="0" i="1" smtClean="0">
                            <a:latin typeface="Cambria Math" panose="02040503050406030204" pitchFamily="18" charset="0"/>
                            <a:cs typeface="Arial" panose="020B0604020202020204" pitchFamily="34" charset="0"/>
                          </a:rPr>
                          <m:t>𝑖𝑛</m:t>
                        </m:r>
                      </m:sub>
                    </m:sSub>
                  </m:oMath>
                </a14:m>
                <a:r>
                  <a:rPr lang="en-US" altLang="zh-CN" dirty="0">
                    <a:latin typeface="Arial" panose="020B0604020202020204" pitchFamily="34" charset="0"/>
                    <a:cs typeface="Arial" panose="020B0604020202020204" pitchFamily="34" charset="0"/>
                  </a:rPr>
                  <a:t>, we have</a:t>
                </a:r>
              </a:p>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cs typeface="Arial" panose="020B0604020202020204" pitchFamily="34" charset="0"/>
                            </a:rPr>
                          </m:ctrlPr>
                        </m:fPr>
                        <m:num>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Pr</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r>
                                <a:rPr lang="en-US" altLang="zh-CN" i="1">
                                  <a:latin typeface="Cambria Math" panose="02040503050406030204" pitchFamily="18" charset="0"/>
                                  <a:cs typeface="Arial" panose="020B0604020202020204" pitchFamily="34" charset="0"/>
                                </a:rPr>
                                <m:t>′</m:t>
                              </m:r>
                            </m:e>
                          </m:d>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den>
                      </m:f>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1</m:t>
                              </m:r>
                            </m:num>
                            <m:den>
                              <m:r>
                                <a:rPr lang="en-US" altLang="zh-CN" i="1">
                                  <a:latin typeface="Cambria Math" panose="02040503050406030204" pitchFamily="18" charset="0"/>
                                  <a:cs typeface="Arial" panose="020B0604020202020204" pitchFamily="34" charset="0"/>
                                </a:rPr>
                                <m:t>2</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𝜖</m:t>
                                      </m:r>
                                      <m:d>
                                        <m:dPr>
                                          <m:ctrlPr>
                                            <a:rPr lang="en-US" altLang="zh-CN" i="1">
                                              <a:latin typeface="Cambria Math" panose="02040503050406030204" pitchFamily="18" charset="0"/>
                                              <a:cs typeface="Arial" panose="020B0604020202020204" pitchFamily="34" charset="0"/>
                                            </a:rPr>
                                          </m:ctrlPr>
                                        </m:dPr>
                                        <m:e>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𝑛</m:t>
                                              </m:r>
                                              <m:r>
                                                <a:rPr lang="en-US" altLang="zh-CN" i="1">
                                                  <a:latin typeface="Cambria Math" panose="02040503050406030204" pitchFamily="18" charset="0"/>
                                                  <a:cs typeface="Arial" panose="020B0604020202020204" pitchFamily="34" charset="0"/>
                                                </a:rPr>
                                                <m:t>+1</m:t>
                                              </m:r>
                                            </m:e>
                                          </m:d>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m:t>
                                              </m:r>
                                              <m:r>
                                                <a:rPr lang="en-US" altLang="zh-CN" b="0" i="1" smtClean="0">
                                                  <a:latin typeface="Cambria Math" panose="02040503050406030204" pitchFamily="18" charset="0"/>
                                                  <a:cs typeface="Arial" panose="020B0604020202020204" pitchFamily="34" charset="0"/>
                                                </a:rPr>
                                                <m:t>𝑎𝑥</m:t>
                                              </m:r>
                                            </m:sub>
                                          </m:sSub>
                                          <m:r>
                                            <a:rPr lang="en-US" altLang="zh-CN" i="1">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e>
                              </m:d>
                            </m:e>
                          </m:func>
                        </m:num>
                        <m:den>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1</m:t>
                              </m:r>
                            </m:num>
                            <m:den>
                              <m:r>
                                <a:rPr lang="en-US" altLang="zh-CN" i="1">
                                  <a:latin typeface="Cambria Math" panose="02040503050406030204" pitchFamily="18" charset="0"/>
                                  <a:cs typeface="Arial" panose="020B0604020202020204" pitchFamily="34" charset="0"/>
                                </a:rPr>
                                <m:t>2</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𝑛</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m:t>
                                              </m:r>
                                              <m:r>
                                                <a:rPr lang="en-US" altLang="zh-CN" b="0" i="1" smtClean="0">
                                                  <a:latin typeface="Cambria Math" panose="02040503050406030204" pitchFamily="18" charset="0"/>
                                                  <a:cs typeface="Arial" panose="020B0604020202020204" pitchFamily="34" charset="0"/>
                                                </a:rPr>
                                                <m:t>𝑎𝑥</m:t>
                                              </m:r>
                                            </m:sub>
                                          </m:sSub>
                                          <m:r>
                                            <a:rPr lang="en-US" altLang="zh-CN" i="1">
                                              <a:latin typeface="Cambria Math" panose="02040503050406030204" pitchFamily="18" charset="0"/>
                                              <a:cs typeface="Arial" panose="020B0604020202020204" pitchFamily="34" charset="0"/>
                                            </a:rPr>
                                            <m:t>−</m:t>
                                          </m:r>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𝐷</m:t>
                                                      </m:r>
                                                    </m:e>
                                                    <m:sup>
                                                      <m:r>
                                                        <a:rPr lang="en-US" altLang="zh-CN" i="1">
                                                          <a:latin typeface="Cambria Math" panose="02040503050406030204" pitchFamily="18" charset="0"/>
                                                          <a:cs typeface="Arial" panose="020B0604020202020204" pitchFamily="34" charset="0"/>
                                                        </a:rPr>
                                                        <m:t>′</m:t>
                                                      </m:r>
                                                    </m:sup>
                                                  </m:sSup>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e>
                              </m:d>
                            </m:e>
                          </m:func>
                        </m:den>
                      </m:f>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exp</m:t>
                          </m:r>
                        </m:fName>
                        <m:e>
                          <m:d>
                            <m:dPr>
                              <m:ctrlPr>
                                <a:rPr lang="en-US" altLang="zh-CN" b="0" i="1" smtClean="0">
                                  <a:latin typeface="Cambria Math" panose="02040503050406030204" pitchFamily="18" charset="0"/>
                                  <a:cs typeface="Arial" panose="020B0604020202020204" pitchFamily="34" charset="0"/>
                                </a:rPr>
                              </m:ctrlPr>
                            </m:dPr>
                            <m:e>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𝜖</m:t>
                                  </m:r>
                                  <m:d>
                                    <m:dPr>
                                      <m:ctrlPr>
                                        <a:rPr lang="en-US" altLang="zh-CN" b="0" i="1" smtClean="0">
                                          <a:latin typeface="Cambria Math" panose="02040503050406030204" pitchFamily="18" charset="0"/>
                                          <a:cs typeface="Arial" panose="020B0604020202020204" pitchFamily="34" charset="0"/>
                                        </a:rPr>
                                      </m:ctrlPr>
                                    </m:dPr>
                                    <m:e>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𝑎</m:t>
                                          </m:r>
                                        </m:e>
                                        <m:sup>
                                          <m:r>
                                            <a:rPr lang="en-US" altLang="zh-CN" b="0" i="1" smtClean="0">
                                              <a:latin typeface="Cambria Math" panose="02040503050406030204" pitchFamily="18" charset="0"/>
                                              <a:cs typeface="Arial" panose="020B0604020202020204" pitchFamily="34" charset="0"/>
                                            </a:rPr>
                                            <m:t>′</m:t>
                                          </m:r>
                                        </m:sup>
                                      </m:sSup>
                                    </m:e>
                                  </m:d>
                                </m:num>
                                <m:den>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den>
                              </m:f>
                            </m:e>
                          </m:d>
                        </m:e>
                      </m:func>
                    </m:oMath>
                  </m:oMathPara>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Since </a:t>
                </a:r>
                <a14:m>
                  <m:oMath xmlns:m="http://schemas.openxmlformats.org/officeDocument/2006/math">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𝑎</m:t>
                        </m:r>
                      </m:e>
                      <m:sup>
                        <m:r>
                          <a:rPr lang="en-US" altLang="zh-CN" b="0" i="1" smtClean="0">
                            <a:latin typeface="Cambria Math" panose="02040503050406030204" pitchFamily="18" charset="0"/>
                            <a:cs typeface="Arial" panose="020B0604020202020204" pitchFamily="34" charset="0"/>
                          </a:rPr>
                          <m:t>′</m:t>
                        </m:r>
                      </m:sup>
                    </m:sSup>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a:t>
                </a:r>
              </a:p>
              <a:p>
                <a:pPr/>
                <a14:m>
                  <m:oMathPara xmlns:m="http://schemas.openxmlformats.org/officeDocument/2006/math">
                    <m:oMathParaPr>
                      <m:jc m:val="centerGroup"/>
                    </m:oMathParaPr>
                    <m:oMath xmlns:m="http://schemas.openxmlformats.org/officeDocument/2006/math">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d>
                                    <m:dPr>
                                      <m:ctrlPr>
                                        <a:rPr lang="en-US" altLang="zh-CN" i="1">
                                          <a:latin typeface="Cambria Math" panose="02040503050406030204" pitchFamily="18" charset="0"/>
                                          <a:cs typeface="Arial" panose="020B0604020202020204" pitchFamily="34" charset="0"/>
                                        </a:rPr>
                                      </m:ctrlPr>
                                    </m:dPr>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sSup>
                                        <m:sSupPr>
                                          <m:ctrlPr>
                                            <a:rPr lang="en-US" altLang="zh-CN" i="1">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𝑎</m:t>
                                          </m:r>
                                        </m:e>
                                        <m:sup>
                                          <m:r>
                                            <a:rPr lang="en-US" altLang="zh-CN" i="1">
                                              <a:latin typeface="Cambria Math" panose="02040503050406030204" pitchFamily="18" charset="0"/>
                                              <a:cs typeface="Arial" panose="020B0604020202020204" pitchFamily="34" charset="0"/>
                                            </a:rPr>
                                            <m:t>′</m:t>
                                          </m:r>
                                        </m:sup>
                                      </m:sSup>
                                    </m:e>
                                  </m:d>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e>
                          </m:d>
                        </m:e>
                      </m:func>
                      <m:r>
                        <a:rPr lang="en-US" altLang="zh-CN" b="0" i="1" smtClean="0">
                          <a:latin typeface="Cambria Math" panose="02040503050406030204" pitchFamily="18" charset="0"/>
                          <a:cs typeface="Arial" panose="020B0604020202020204" pitchFamily="34" charset="0"/>
                        </a:rPr>
                        <m:t>≤1&lt;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oMath>
                  </m:oMathPara>
                </a14:m>
                <a:endParaRPr lang="zh-CN" altLang="en-US"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7691B041-76A3-4D93-9191-27DD2D1373C3}"/>
                  </a:ext>
                </a:extLst>
              </p:cNvPr>
              <p:cNvSpPr txBox="1">
                <a:spLocks noRot="1" noChangeAspect="1" noMove="1" noResize="1" noEditPoints="1" noAdjustHandles="1" noChangeArrowheads="1" noChangeShapeType="1" noTextEdit="1"/>
              </p:cNvSpPr>
              <p:nvPr/>
            </p:nvSpPr>
            <p:spPr>
              <a:xfrm>
                <a:off x="314547" y="1638770"/>
                <a:ext cx="11496979" cy="4037067"/>
              </a:xfrm>
              <a:prstGeom prst="rect">
                <a:avLst/>
              </a:prstGeom>
              <a:blipFill>
                <a:blip r:embed="rId3"/>
                <a:stretch>
                  <a:fillRect l="-477" t="-9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623034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Solution 2:</a:t>
                </a:r>
                <a:r>
                  <a:rPr lang="en-US" altLang="zh-CN" dirty="0">
                    <a:latin typeface="Arial" panose="020B0604020202020204" pitchFamily="34" charset="0"/>
                    <a:cs typeface="Arial" panose="020B0604020202020204" pitchFamily="34" charset="0"/>
                  </a:rPr>
                  <a:t> Bound the output range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 </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314548" y="1198180"/>
                <a:ext cx="11562904" cy="369332"/>
              </a:xfrm>
              <a:prstGeom prst="rect">
                <a:avLst/>
              </a:prstGeom>
              <a:blipFill>
                <a:blip r:embed="rId2"/>
                <a:stretch>
                  <a:fillRect l="-475"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691B041-76A3-4D93-9191-27DD2D1373C3}"/>
                  </a:ext>
                </a:extLst>
              </p:cNvPr>
              <p:cNvSpPr txBox="1"/>
              <p:nvPr/>
            </p:nvSpPr>
            <p:spPr>
              <a:xfrm>
                <a:off x="169504" y="1619851"/>
                <a:ext cx="11963638" cy="499842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Proof:</a:t>
                </a:r>
                <a:r>
                  <a:rPr lang="en-US" altLang="zh-CN" dirty="0">
                    <a:latin typeface="Arial" panose="020B0604020202020204" pitchFamily="34" charset="0"/>
                    <a:cs typeface="Arial" panose="020B0604020202020204" pitchFamily="34" charset="0"/>
                  </a:rPr>
                  <a:t> Suppose the different element in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is </a:t>
                </a:r>
                <a14:m>
                  <m:oMath xmlns:m="http://schemas.openxmlformats.org/officeDocument/2006/math">
                    <m:r>
                      <a:rPr lang="en-US" altLang="zh-CN" b="0" i="1" smtClean="0">
                        <a:latin typeface="Cambria Math" panose="02040503050406030204" pitchFamily="18" charset="0"/>
                        <a:cs typeface="Arial" panose="020B0604020202020204" pitchFamily="34" charset="0"/>
                      </a:rPr>
                      <m:t>𝑎</m:t>
                    </m:r>
                  </m:oMath>
                </a14:m>
                <a:r>
                  <a:rPr lang="en-US" altLang="zh-CN" dirty="0">
                    <a:latin typeface="Arial" panose="020B0604020202020204" pitchFamily="34" charset="0"/>
                    <a:cs typeface="Arial" panose="020B0604020202020204" pitchFamily="34" charset="0"/>
                  </a:rPr>
                  <a:t>, </a:t>
                </a:r>
              </a:p>
              <a:p>
                <a:r>
                  <a:rPr lang="en-US" altLang="zh-CN" dirty="0">
                    <a:latin typeface="Arial" panose="020B0604020202020204" pitchFamily="34" charset="0"/>
                    <a:cs typeface="Arial" panose="020B0604020202020204" pitchFamily="34" charset="0"/>
                  </a:rPr>
                  <a:t>If </a:t>
                </a:r>
                <a14:m>
                  <m:oMath xmlns:m="http://schemas.openxmlformats.org/officeDocument/2006/math">
                    <m:r>
                      <a:rPr lang="en-US" altLang="zh-CN" b="0" i="1" smtClean="0">
                        <a:latin typeface="Cambria Math" panose="02040503050406030204" pitchFamily="18" charset="0"/>
                        <a:cs typeface="Arial" panose="020B0604020202020204" pitchFamily="34" charset="0"/>
                      </a:rPr>
                      <m:t>𝐶</m:t>
                    </m:r>
                    <m:r>
                      <a:rPr lang="en-US" altLang="zh-CN" b="0" i="1" smtClean="0">
                        <a:latin typeface="Cambria Math" panose="02040503050406030204" pitchFamily="18" charset="0"/>
                        <a:cs typeface="Arial" panose="020B0604020202020204" pitchFamily="34" charset="0"/>
                      </a:rPr>
                      <m:t>=0</m:t>
                    </m:r>
                  </m:oMath>
                </a14:m>
                <a:r>
                  <a:rPr lang="en-US" altLang="zh-CN" dirty="0">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𝑎</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Pr</m:t>
                          </m:r>
                        </m:fName>
                        <m:e>
                          <m:d>
                            <m:dPr>
                              <m:begChr m:val="["/>
                              <m:endChr m:val="]"/>
                              <m:ctrlPr>
                                <a:rPr lang="en-US" altLang="zh-CN" b="0" i="1" smtClean="0">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nary>
                                    <m:naryPr>
                                      <m:chr m:val="∑"/>
                                      <m:limLoc m:val="subSup"/>
                                      <m:supHide m:val="on"/>
                                      <m:ctrlPr>
                                        <a:rPr lang="en-US" altLang="zh-CN" i="1">
                                          <a:latin typeface="Cambria Math" panose="02040503050406030204" pitchFamily="18" charset="0"/>
                                          <a:cs typeface="Arial" panose="020B0604020202020204" pitchFamily="34" charset="0"/>
                                        </a:rPr>
                                      </m:ctrlPr>
                                    </m:naryPr>
                                    <m:sub>
                                      <m:r>
                                        <m:rPr>
                                          <m:brk m:alnAt="9"/>
                                        </m:rPr>
                                        <a:rPr lang="en-US" altLang="zh-CN" i="1">
                                          <a:latin typeface="Cambria Math" panose="02040503050406030204" pitchFamily="18" charset="0"/>
                                          <a:cs typeface="Arial" panose="020B0604020202020204" pitchFamily="34" charset="0"/>
                                        </a:rPr>
                                        <m:t>𝑥</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𝜎</m:t>
                                          </m:r>
                                        </m:e>
                                        <m:sub>
                                          <m:r>
                                            <a:rPr lang="en-US" altLang="zh-CN" i="1">
                                              <a:latin typeface="Cambria Math" panose="02040503050406030204" pitchFamily="18" charset="0"/>
                                              <a:cs typeface="Arial" panose="020B0604020202020204" pitchFamily="34" charset="0"/>
                                            </a:rPr>
                                            <m:t>𝑐</m:t>
                                          </m:r>
                                        </m:sub>
                                      </m:sSub>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sub>
                                    <m:sup/>
                                    <m:e>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𝑥</m:t>
                                          </m:r>
                                        </m:e>
                                        <m:sub>
                                          <m:r>
                                            <a:rPr lang="en-US" altLang="zh-CN" i="1">
                                              <a:latin typeface="Cambria Math" panose="02040503050406030204" pitchFamily="18" charset="0"/>
                                              <a:cs typeface="Arial" panose="020B0604020202020204" pitchFamily="34" charset="0"/>
                                            </a:rPr>
                                            <m:t>𝑎</m:t>
                                          </m:r>
                                        </m:sub>
                                      </m:sSub>
                                    </m:e>
                                  </m:nary>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𝑋</m:t>
                                  </m:r>
                                </m:num>
                                <m:den>
                                  <m:r>
                                    <a:rPr lang="en-US" altLang="zh-CN" i="1">
                                      <a:latin typeface="Cambria Math" panose="02040503050406030204" pitchFamily="18" charset="0"/>
                                      <a:cs typeface="Arial" panose="020B0604020202020204" pitchFamily="34" charset="0"/>
                                    </a:rPr>
                                    <m:t>1</m:t>
                                  </m:r>
                                </m:den>
                              </m:f>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𝑡</m:t>
                              </m:r>
                            </m:e>
                          </m:d>
                        </m:e>
                      </m:func>
                      <m:r>
                        <a:rPr lang="en-US" altLang="zh-CN" i="1">
                          <a:latin typeface="Cambria Math" panose="02040503050406030204" pitchFamily="18" charset="0"/>
                          <a:cs typeface="Arial" panose="020B0604020202020204" pitchFamily="34" charset="0"/>
                        </a:rPr>
                        <m:t>=</m:t>
                      </m:r>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𝑎</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𝑋</m:t>
                                  </m:r>
                                </m:num>
                                <m:den>
                                  <m:r>
                                    <a:rPr lang="en-US" altLang="zh-CN" i="1">
                                      <a:latin typeface="Cambria Math" panose="02040503050406030204" pitchFamily="18" charset="0"/>
                                      <a:cs typeface="Arial" panose="020B0604020202020204" pitchFamily="34" charset="0"/>
                                    </a:rPr>
                                    <m:t>1</m:t>
                                  </m:r>
                                </m:den>
                              </m:f>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r>
                        <a:rPr lang="en-US" altLang="zh-CN" b="0" i="1" smtClean="0">
                          <a:latin typeface="Cambria Math" panose="02040503050406030204" pitchFamily="18" charset="0"/>
                          <a:cs typeface="Arial" panose="020B0604020202020204" pitchFamily="34" charset="0"/>
                        </a:rPr>
                        <m:t>=</m:t>
                      </m:r>
                      <m:d>
                        <m:dPr>
                          <m:begChr m:val="{"/>
                          <m:endChr m:val=""/>
                          <m:ctrlPr>
                            <a:rPr lang="en-US" altLang="zh-CN" b="0" i="1" smtClean="0">
                              <a:latin typeface="Cambria Math" panose="02040503050406030204" pitchFamily="18" charset="0"/>
                              <a:cs typeface="Arial" panose="020B0604020202020204" pitchFamily="34" charset="0"/>
                            </a:rPr>
                          </m:ctrlPr>
                        </m:dPr>
                        <m:e>
                          <m:eqArr>
                            <m:eqArrPr>
                              <m:ctrlPr>
                                <a:rPr lang="en-US" altLang="zh-CN" b="0" i="1" smtClean="0">
                                  <a:latin typeface="Cambria Math" panose="02040503050406030204" pitchFamily="18" charset="0"/>
                                  <a:cs typeface="Arial" panose="020B0604020202020204" pitchFamily="34" charset="0"/>
                                </a:rPr>
                              </m:ctrlPr>
                            </m:eqArrPr>
                            <m:e>
                              <m:f>
                                <m:fPr>
                                  <m:ctrlPr>
                                    <a:rPr lang="en-US" altLang="zh-CN" i="1">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1</m:t>
                                  </m:r>
                                </m:num>
                                <m:den>
                                  <m:r>
                                    <a:rPr lang="en-US" altLang="zh-CN" i="1">
                                      <a:latin typeface="Cambria Math" panose="02040503050406030204" pitchFamily="18" charset="0"/>
                                      <a:cs typeface="Arial" panose="020B0604020202020204" pitchFamily="34" charset="0"/>
                                    </a:rPr>
                                    <m:t>2</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𝜖</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𝑎</m:t>
                                          </m:r>
                                          <m:r>
                                            <a:rPr lang="en-US" altLang="zh-CN" b="0" i="1" smtClean="0">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e>
                                  </m:d>
                                </m:e>
                              </m:func>
                              <m:r>
                                <a:rPr lang="en-US" altLang="zh-CN" b="0" i="1" smtClean="0">
                                  <a:latin typeface="Cambria Math" panose="02040503050406030204" pitchFamily="18" charset="0"/>
                                  <a:cs typeface="Arial" panose="020B0604020202020204" pitchFamily="34" charset="0"/>
                                </a:rPr>
                                <m:t>,                     </m:t>
                              </m:r>
                              <m:r>
                                <a:rPr lang="en-US" altLang="zh-CN" b="0" i="1" smtClean="0">
                                  <a:latin typeface="Cambria Math" panose="02040503050406030204" pitchFamily="18" charset="0"/>
                                  <a:cs typeface="Arial" panose="020B0604020202020204" pitchFamily="34" charset="0"/>
                                </a:rPr>
                                <m:t>𝑤h𝑒𝑛</m:t>
                              </m:r>
                              <m:r>
                                <a:rPr lang="en-US" altLang="zh-CN" b="0" i="1" smtClean="0">
                                  <a:latin typeface="Cambria Math" panose="02040503050406030204" pitchFamily="18" charset="0"/>
                                  <a:cs typeface="Arial" panose="020B0604020202020204" pitchFamily="34" charset="0"/>
                                </a:rPr>
                                <m:t>  </m:t>
                              </m:r>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e>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i="1">
                                      <a:latin typeface="Cambria Math" panose="02040503050406030204" pitchFamily="18" charset="0"/>
                                      <a:cs typeface="Arial" panose="020B0604020202020204" pitchFamily="34" charset="0"/>
                                    </a:rPr>
                                    <m:t>2</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𝑎</m:t>
                                          </m:r>
                                        </m:e>
                                      </m:d>
                                    </m:e>
                                  </m:d>
                                </m:e>
                              </m:func>
                              <m:r>
                                <a:rPr lang="en-US" altLang="zh-CN" b="0" i="1" smtClean="0">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𝑤h𝑒𝑛</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e>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1</m:t>
                                  </m:r>
                                </m:num>
                                <m:den>
                                  <m:r>
                                    <a:rPr lang="en-US" altLang="zh-CN" i="1">
                                      <a:latin typeface="Cambria Math" panose="02040503050406030204" pitchFamily="18" charset="0"/>
                                      <a:cs typeface="Arial" panose="020B0604020202020204" pitchFamily="34" charset="0"/>
                                    </a:rPr>
                                    <m:t>2</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m:t>
                                              </m:r>
                                              <m:r>
                                                <a:rPr lang="en-US" altLang="zh-CN" b="0" i="1" smtClean="0">
                                                  <a:latin typeface="Cambria Math" panose="02040503050406030204" pitchFamily="18" charset="0"/>
                                                  <a:cs typeface="Arial" panose="020B0604020202020204" pitchFamily="34" charset="0"/>
                                                </a:rPr>
                                                <m:t>𝑎𝑥</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𝑎</m:t>
                                          </m:r>
                                          <m:r>
                                            <a:rPr lang="en-US" altLang="zh-CN" i="1">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e>
                                  </m:d>
                                </m:e>
                              </m:func>
                              <m:r>
                                <a:rPr lang="en-US" altLang="zh-CN" b="0" i="1" smtClean="0">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𝑤h𝑒𝑛</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m:t>
                                  </m:r>
                                  <m:r>
                                    <a:rPr lang="en-US" altLang="zh-CN" b="0" i="1" smtClean="0">
                                      <a:latin typeface="Cambria Math" panose="02040503050406030204" pitchFamily="18" charset="0"/>
                                      <a:cs typeface="Arial" panose="020B0604020202020204" pitchFamily="34" charset="0"/>
                                    </a:rPr>
                                    <m:t>𝑎𝑥</m:t>
                                  </m:r>
                                </m:sub>
                              </m:sSub>
                            </m:e>
                          </m:eqArr>
                        </m:e>
                      </m:d>
                    </m:oMath>
                  </m:oMathPara>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unc>
                        <m:funcPr>
                          <m:ctrlPr>
                            <a:rPr lang="en-US" altLang="zh-CN" i="1" smtClean="0">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r>
                            <a:rPr lang="en-US" altLang="zh-CN" b="0" i="1" smtClean="0">
                              <a:latin typeface="Cambria Math" panose="02040503050406030204" pitchFamily="18" charset="0"/>
                              <a:cs typeface="Arial" panose="020B0604020202020204" pitchFamily="34" charset="0"/>
                            </a:rPr>
                            <m:t>=</m:t>
                          </m:r>
                        </m:e>
                      </m:func>
                      <m:d>
                        <m:dPr>
                          <m:begChr m:val="{"/>
                          <m:endChr m:val=""/>
                          <m:ctrlPr>
                            <a:rPr lang="en-US" altLang="zh-CN" i="1">
                              <a:latin typeface="Cambria Math" panose="02040503050406030204" pitchFamily="18" charset="0"/>
                              <a:cs typeface="Arial" panose="020B0604020202020204" pitchFamily="34" charset="0"/>
                            </a:rPr>
                          </m:ctrlPr>
                        </m:dPr>
                        <m:e>
                          <m:eqArr>
                            <m:eqArrPr>
                              <m:ctrlPr>
                                <a:rPr lang="en-US" altLang="zh-CN" i="1">
                                  <a:latin typeface="Cambria Math" panose="02040503050406030204" pitchFamily="18" charset="0"/>
                                  <a:cs typeface="Arial" panose="020B0604020202020204" pitchFamily="34" charset="0"/>
                                </a:rPr>
                              </m:ctrlPr>
                            </m:eqArr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1</m:t>
                                  </m:r>
                                </m:num>
                                <m:den>
                                  <m:r>
                                    <a:rPr lang="en-US" altLang="zh-CN" i="1">
                                      <a:latin typeface="Cambria Math" panose="02040503050406030204" pitchFamily="18" charset="0"/>
                                      <a:cs typeface="Arial" panose="020B0604020202020204" pitchFamily="34" charset="0"/>
                                    </a:rPr>
                                    <m:t>2</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b="0" i="0" smtClean="0">
                                              <a:latin typeface="Cambria Math" panose="02040503050406030204" pitchFamily="18" charset="0"/>
                                              <a:cs typeface="Arial" panose="020B0604020202020204" pitchFamily="34" charset="0"/>
                                            </a:rPr>
                                            <m:t>2</m:t>
                                          </m:r>
                                        </m:den>
                                      </m:f>
                                    </m:e>
                                  </m:d>
                                </m:e>
                              </m:func>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𝑤h𝑒𝑛</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e>
                            <m:e>
                              <m:f>
                                <m:fPr>
                                  <m:ctrlPr>
                                    <a:rPr lang="en-US" altLang="zh-CN"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1</m:t>
                                  </m:r>
                                </m:num>
                                <m:den>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den>
                              </m:f>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1−</m:t>
                                  </m:r>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a:latin typeface="Cambria Math" panose="02040503050406030204" pitchFamily="18" charset="0"/>
                                                  <a:cs typeface="Arial" panose="020B0604020202020204" pitchFamily="34" charset="0"/>
                                                </a:rPr>
                                                <m:t>2</m:t>
                                              </m:r>
                                            </m:den>
                                          </m:f>
                                        </m:e>
                                      </m:d>
                                    </m:e>
                                  </m:func>
                                </m:e>
                              </m:d>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𝑤h𝑒𝑛</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𝑚𝑎𝑥</m:t>
                                  </m:r>
                                </m:sub>
                              </m:sSub>
                              <m:r>
                                <a:rPr lang="en-US" altLang="zh-CN" i="1">
                                  <a:latin typeface="Cambria Math" panose="02040503050406030204" pitchFamily="18" charset="0"/>
                                  <a:cs typeface="Arial" panose="020B0604020202020204" pitchFamily="34" charset="0"/>
                                </a:rPr>
                                <m:t>]</m:t>
                              </m:r>
                            </m:e>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1</m:t>
                                  </m:r>
                                </m:num>
                                <m:den>
                                  <m:r>
                                    <a:rPr lang="en-US" altLang="zh-CN" i="1">
                                      <a:latin typeface="Cambria Math" panose="02040503050406030204" pitchFamily="18" charset="0"/>
                                      <a:cs typeface="Arial" panose="020B0604020202020204" pitchFamily="34" charset="0"/>
                                    </a:rPr>
                                    <m:t>2</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a:latin typeface="Cambria Math" panose="02040503050406030204" pitchFamily="18" charset="0"/>
                                              <a:cs typeface="Arial" panose="020B0604020202020204" pitchFamily="34" charset="0"/>
                                            </a:rPr>
                                            <m:t>2</m:t>
                                          </m:r>
                                        </m:den>
                                      </m:f>
                                    </m:e>
                                  </m:d>
                                </m:e>
                              </m:func>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𝑤h𝑒𝑛</m:t>
                              </m:r>
                              <m:r>
                                <a:rPr lang="en-US" altLang="zh-CN" i="1">
                                  <a:latin typeface="Cambria Math" panose="02040503050406030204" pitchFamily="18" charset="0"/>
                                  <a:cs typeface="Arial" panose="020B0604020202020204" pitchFamily="34" charset="0"/>
                                </a:rPr>
                                <m:t>  </m:t>
                              </m:r>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𝑚𝑎𝑥</m:t>
                                  </m:r>
                                </m:sub>
                              </m:sSub>
                            </m:e>
                          </m:eqArr>
                        </m:e>
                      </m:d>
                    </m:oMath>
                  </m:oMathPara>
                </a14:m>
                <a:endParaRPr lang="en-US" altLang="zh-CN"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7691B041-76A3-4D93-9191-27DD2D1373C3}"/>
                  </a:ext>
                </a:extLst>
              </p:cNvPr>
              <p:cNvSpPr txBox="1">
                <a:spLocks noRot="1" noChangeAspect="1" noMove="1" noResize="1" noEditPoints="1" noAdjustHandles="1" noChangeArrowheads="1" noChangeShapeType="1" noTextEdit="1"/>
              </p:cNvSpPr>
              <p:nvPr/>
            </p:nvSpPr>
            <p:spPr>
              <a:xfrm>
                <a:off x="169504" y="1619851"/>
                <a:ext cx="11963638" cy="4998420"/>
              </a:xfrm>
              <a:prstGeom prst="rect">
                <a:avLst/>
              </a:prstGeom>
              <a:blipFill>
                <a:blip r:embed="rId3"/>
                <a:stretch>
                  <a:fillRect l="-459" t="-7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047480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Solution 2:</a:t>
                </a:r>
                <a:r>
                  <a:rPr lang="en-US" altLang="zh-CN" dirty="0">
                    <a:latin typeface="Arial" panose="020B0604020202020204" pitchFamily="34" charset="0"/>
                    <a:cs typeface="Arial" panose="020B0604020202020204" pitchFamily="34" charset="0"/>
                  </a:rPr>
                  <a:t> Bound the output range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 </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314548" y="1198180"/>
                <a:ext cx="11562904" cy="369332"/>
              </a:xfrm>
              <a:prstGeom prst="rect">
                <a:avLst/>
              </a:prstGeom>
              <a:blipFill>
                <a:blip r:embed="rId2"/>
                <a:stretch>
                  <a:fillRect l="-475"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691B041-76A3-4D93-9191-27DD2D1373C3}"/>
                  </a:ext>
                </a:extLst>
              </p:cNvPr>
              <p:cNvSpPr txBox="1"/>
              <p:nvPr/>
            </p:nvSpPr>
            <p:spPr>
              <a:xfrm>
                <a:off x="169504" y="1619851"/>
                <a:ext cx="11963638" cy="3735125"/>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Proof:</a:t>
                </a:r>
                <a:r>
                  <a:rPr lang="en-US" altLang="zh-CN" dirty="0">
                    <a:latin typeface="Arial" panose="020B0604020202020204" pitchFamily="34" charset="0"/>
                    <a:cs typeface="Arial" panose="020B0604020202020204" pitchFamily="34" charset="0"/>
                  </a:rPr>
                  <a:t> Suppose the different element in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is </a:t>
                </a:r>
                <a14:m>
                  <m:oMath xmlns:m="http://schemas.openxmlformats.org/officeDocument/2006/math">
                    <m:r>
                      <a:rPr lang="en-US" altLang="zh-CN" b="0" i="1" smtClean="0">
                        <a:latin typeface="Cambria Math" panose="02040503050406030204" pitchFamily="18" charset="0"/>
                        <a:cs typeface="Arial" panose="020B0604020202020204" pitchFamily="34" charset="0"/>
                      </a:rPr>
                      <m:t>𝑎</m:t>
                    </m:r>
                  </m:oMath>
                </a14:m>
                <a:r>
                  <a:rPr lang="en-US" altLang="zh-CN" dirty="0">
                    <a:latin typeface="Arial" panose="020B0604020202020204" pitchFamily="34" charset="0"/>
                    <a:cs typeface="Arial" panose="020B0604020202020204" pitchFamily="34" charset="0"/>
                  </a:rPr>
                  <a:t>, </a:t>
                </a:r>
              </a:p>
              <a:p>
                <a:r>
                  <a:rPr lang="en-US" altLang="zh-CN" dirty="0">
                    <a:latin typeface="Arial" panose="020B0604020202020204" pitchFamily="34" charset="0"/>
                    <a:cs typeface="Arial" panose="020B0604020202020204" pitchFamily="34" charset="0"/>
                  </a:rPr>
                  <a:t>If </a:t>
                </a:r>
                <a14:m>
                  <m:oMath xmlns:m="http://schemas.openxmlformats.org/officeDocument/2006/math">
                    <m:r>
                      <a:rPr lang="en-US" altLang="zh-CN" b="0" i="1" smtClean="0">
                        <a:latin typeface="Cambria Math" panose="02040503050406030204" pitchFamily="18" charset="0"/>
                        <a:cs typeface="Arial" panose="020B0604020202020204" pitchFamily="34" charset="0"/>
                      </a:rPr>
                      <m:t>𝐶</m:t>
                    </m:r>
                    <m:r>
                      <a:rPr lang="en-US" altLang="zh-CN" b="0" i="1" smtClean="0">
                        <a:latin typeface="Cambria Math" panose="02040503050406030204" pitchFamily="18" charset="0"/>
                        <a:cs typeface="Arial" panose="020B0604020202020204" pitchFamily="34" charset="0"/>
                      </a:rPr>
                      <m:t>=0</m:t>
                    </m:r>
                  </m:oMath>
                </a14:m>
                <a:r>
                  <a:rPr lang="en-US" altLang="zh-CN" dirty="0">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𝑎</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For </a:t>
                </a:r>
                <a14:m>
                  <m:oMath xmlns:m="http://schemas.openxmlformats.org/officeDocument/2006/math">
                    <m:r>
                      <a:rPr lang="en-US" altLang="zh-CN"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cs typeface="Arial" panose="020B0604020202020204" pitchFamily="34" charset="0"/>
                            </a:rPr>
                          </m:ctrlPr>
                        </m:fPr>
                        <m:num>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num>
                        <m:den>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sSup>
                                        <m:sSupPr>
                                          <m:ctrlPr>
                                            <a:rPr lang="en-US" altLang="zh-CN" b="0" i="1" smtClean="0">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𝐷</m:t>
                                          </m:r>
                                        </m:e>
                                        <m:sup>
                                          <m:r>
                                            <a:rPr lang="en-US" altLang="zh-CN" b="0" i="1" smtClean="0">
                                              <a:latin typeface="Cambria Math" panose="02040503050406030204" pitchFamily="18" charset="0"/>
                                              <a:cs typeface="Arial" panose="020B0604020202020204" pitchFamily="34" charset="0"/>
                                            </a:rPr>
                                            <m:t>′</m:t>
                                          </m:r>
                                        </m:sup>
                                      </m:sSup>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den>
                      </m:f>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i="1">
                                  <a:latin typeface="Cambria Math" panose="02040503050406030204" pitchFamily="18" charset="0"/>
                                  <a:cs typeface="Arial" panose="020B0604020202020204" pitchFamily="34" charset="0"/>
                                </a:rPr>
                                <m:t>2</m:t>
                              </m:r>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𝑎</m:t>
                                      </m:r>
                                    </m:e>
                                  </m:d>
                                </m:e>
                              </m:d>
                            </m:e>
                          </m:func>
                        </m:num>
                        <m:den>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1</m:t>
                              </m:r>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1−</m:t>
                              </m:r>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a:latin typeface="Cambria Math" panose="02040503050406030204" pitchFamily="18" charset="0"/>
                                              <a:cs typeface="Arial" panose="020B0604020202020204" pitchFamily="34" charset="0"/>
                                            </a:rPr>
                                            <m:t>2</m:t>
                                          </m:r>
                                        </m:den>
                                      </m:f>
                                    </m:e>
                                  </m:d>
                                </m:e>
                              </m:func>
                            </m:e>
                          </m:d>
                        </m:den>
                      </m:f>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i="1">
                                  <a:latin typeface="Cambria Math" panose="02040503050406030204" pitchFamily="18" charset="0"/>
                                  <a:cs typeface="Arial" panose="020B0604020202020204" pitchFamily="34" charset="0"/>
                                </a:rPr>
                                <m:t>2</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𝑡</m:t>
                                      </m:r>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𝑎</m:t>
                                      </m:r>
                                    </m:e>
                                  </m:d>
                                </m:e>
                              </m:d>
                            </m:e>
                          </m:func>
                        </m:num>
                        <m:den>
                          <m:r>
                            <a:rPr lang="en-US" altLang="zh-CN" i="1">
                              <a:latin typeface="Cambria Math" panose="02040503050406030204" pitchFamily="18" charset="0"/>
                              <a:cs typeface="Arial" panose="020B0604020202020204" pitchFamily="34" charset="0"/>
                            </a:rPr>
                            <m:t>1−</m:t>
                          </m:r>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a:latin typeface="Cambria Math" panose="02040503050406030204" pitchFamily="18" charset="0"/>
                                          <a:cs typeface="Arial" panose="020B0604020202020204" pitchFamily="34" charset="0"/>
                                        </a:rPr>
                                        <m:t>2</m:t>
                                      </m:r>
                                    </m:den>
                                  </m:f>
                                </m:e>
                              </m:d>
                            </m:e>
                          </m:func>
                        </m:den>
                      </m:f>
                    </m:oMath>
                  </m:oMathPara>
                </a14:m>
                <a:endParaRPr lang="en-US" altLang="zh-CN" dirty="0">
                  <a:latin typeface="Arial" panose="020B0604020202020204" pitchFamily="34" charset="0"/>
                  <a:cs typeface="Arial" panose="020B0604020202020204" pitchFamily="34" charset="0"/>
                </a:endParaRPr>
              </a:p>
              <a:p>
                <a:endParaRPr lang="en-US" altLang="zh-CN" b="0"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i="1">
                                  <a:latin typeface="Cambria Math" panose="02040503050406030204" pitchFamily="18" charset="0"/>
                                  <a:cs typeface="Arial" panose="020B0604020202020204" pitchFamily="34" charset="0"/>
                                </a:rPr>
                                <m:t>2</m:t>
                              </m:r>
                            </m:den>
                          </m:f>
                        </m:num>
                        <m:den>
                          <m:r>
                            <a:rPr lang="en-US" altLang="zh-CN" i="1">
                              <a:latin typeface="Cambria Math" panose="02040503050406030204" pitchFamily="18" charset="0"/>
                              <a:cs typeface="Arial" panose="020B0604020202020204" pitchFamily="34" charset="0"/>
                            </a:rPr>
                            <m:t>1−</m:t>
                          </m:r>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a:latin typeface="Cambria Math" panose="02040503050406030204" pitchFamily="18" charset="0"/>
                                          <a:cs typeface="Arial" panose="020B0604020202020204" pitchFamily="34" charset="0"/>
                                        </a:rPr>
                                        <m:t>2</m:t>
                                      </m:r>
                                    </m:den>
                                  </m:f>
                                </m:e>
                              </m:d>
                            </m:e>
                          </m:func>
                        </m:den>
                      </m:f>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sup>
                      </m:sSup>
                    </m:oMath>
                  </m:oMathPara>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7691B041-76A3-4D93-9191-27DD2D1373C3}"/>
                  </a:ext>
                </a:extLst>
              </p:cNvPr>
              <p:cNvSpPr txBox="1">
                <a:spLocks noRot="1" noChangeAspect="1" noMove="1" noResize="1" noEditPoints="1" noAdjustHandles="1" noChangeArrowheads="1" noChangeShapeType="1" noTextEdit="1"/>
              </p:cNvSpPr>
              <p:nvPr/>
            </p:nvSpPr>
            <p:spPr>
              <a:xfrm>
                <a:off x="169504" y="1619851"/>
                <a:ext cx="11963638" cy="3735125"/>
              </a:xfrm>
              <a:prstGeom prst="rect">
                <a:avLst/>
              </a:prstGeom>
              <a:blipFill>
                <a:blip r:embed="rId3"/>
                <a:stretch>
                  <a:fillRect l="-459" t="-9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521403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Solution 2:</a:t>
                </a:r>
                <a:r>
                  <a:rPr lang="en-US" altLang="zh-CN" dirty="0">
                    <a:latin typeface="Arial" panose="020B0604020202020204" pitchFamily="34" charset="0"/>
                    <a:cs typeface="Arial" panose="020B0604020202020204" pitchFamily="34" charset="0"/>
                  </a:rPr>
                  <a:t> Bound the output range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 </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314548" y="1198180"/>
                <a:ext cx="11562904" cy="369332"/>
              </a:xfrm>
              <a:prstGeom prst="rect">
                <a:avLst/>
              </a:prstGeom>
              <a:blipFill>
                <a:blip r:embed="rId2"/>
                <a:stretch>
                  <a:fillRect l="-475"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691B041-76A3-4D93-9191-27DD2D1373C3}"/>
                  </a:ext>
                </a:extLst>
              </p:cNvPr>
              <p:cNvSpPr txBox="1"/>
              <p:nvPr/>
            </p:nvSpPr>
            <p:spPr>
              <a:xfrm>
                <a:off x="169504" y="1619851"/>
                <a:ext cx="11963638" cy="3025187"/>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Proof:</a:t>
                </a:r>
                <a:r>
                  <a:rPr lang="en-US" altLang="zh-CN" dirty="0">
                    <a:latin typeface="Arial" panose="020B0604020202020204" pitchFamily="34" charset="0"/>
                    <a:cs typeface="Arial" panose="020B0604020202020204" pitchFamily="34" charset="0"/>
                  </a:rPr>
                  <a:t> Suppose the different element in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is </a:t>
                </a:r>
                <a14:m>
                  <m:oMath xmlns:m="http://schemas.openxmlformats.org/officeDocument/2006/math">
                    <m:r>
                      <a:rPr lang="en-US" altLang="zh-CN" b="0" i="1" smtClean="0">
                        <a:latin typeface="Cambria Math" panose="02040503050406030204" pitchFamily="18" charset="0"/>
                        <a:cs typeface="Arial" panose="020B0604020202020204" pitchFamily="34" charset="0"/>
                      </a:rPr>
                      <m:t>𝑎</m:t>
                    </m:r>
                  </m:oMath>
                </a14:m>
                <a:r>
                  <a:rPr lang="en-US" altLang="zh-CN" dirty="0">
                    <a:latin typeface="Arial" panose="020B0604020202020204" pitchFamily="34" charset="0"/>
                    <a:cs typeface="Arial" panose="020B0604020202020204" pitchFamily="34" charset="0"/>
                  </a:rPr>
                  <a:t>, </a:t>
                </a:r>
              </a:p>
              <a:p>
                <a:r>
                  <a:rPr lang="en-US" altLang="zh-CN" dirty="0">
                    <a:latin typeface="Arial" panose="020B0604020202020204" pitchFamily="34" charset="0"/>
                    <a:cs typeface="Arial" panose="020B0604020202020204" pitchFamily="34" charset="0"/>
                  </a:rPr>
                  <a:t>If </a:t>
                </a:r>
                <a14:m>
                  <m:oMath xmlns:m="http://schemas.openxmlformats.org/officeDocument/2006/math">
                    <m:r>
                      <a:rPr lang="en-US" altLang="zh-CN" b="0" i="1" smtClean="0">
                        <a:latin typeface="Cambria Math" panose="02040503050406030204" pitchFamily="18" charset="0"/>
                        <a:cs typeface="Arial" panose="020B0604020202020204" pitchFamily="34" charset="0"/>
                      </a:rPr>
                      <m:t>𝐶</m:t>
                    </m:r>
                    <m:r>
                      <a:rPr lang="en-US" altLang="zh-CN" b="0" i="1" smtClean="0">
                        <a:latin typeface="Cambria Math" panose="02040503050406030204" pitchFamily="18" charset="0"/>
                        <a:cs typeface="Arial" panose="020B0604020202020204" pitchFamily="34" charset="0"/>
                      </a:rPr>
                      <m:t>=0</m:t>
                    </m:r>
                  </m:oMath>
                </a14:m>
                <a:r>
                  <a:rPr lang="en-US" altLang="zh-CN" dirty="0">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𝑎</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For </a:t>
                </a:r>
                <a14:m>
                  <m:oMath xmlns:m="http://schemas.openxmlformats.org/officeDocument/2006/math">
                    <m:r>
                      <a:rPr lang="en-US" altLang="zh-CN"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smtClean="0">
                            <a:latin typeface="Cambria Math" panose="02040503050406030204" pitchFamily="18" charset="0"/>
                            <a:cs typeface="Arial" panose="020B0604020202020204" pitchFamily="34" charset="0"/>
                          </a:rPr>
                          <m:t>𝑚𝑖𝑛</m:t>
                        </m:r>
                      </m:sub>
                    </m:sSub>
                  </m:oMath>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cs typeface="Arial" panose="020B0604020202020204" pitchFamily="34" charset="0"/>
                            </a:rPr>
                          </m:ctrlPr>
                        </m:fPr>
                        <m:num>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num>
                        <m:den>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sSup>
                                        <m:sSupPr>
                                          <m:ctrlPr>
                                            <a:rPr lang="en-US" altLang="zh-CN" b="0" i="1" smtClean="0">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𝐷</m:t>
                                          </m:r>
                                        </m:e>
                                        <m:sup>
                                          <m:r>
                                            <a:rPr lang="en-US" altLang="zh-CN" b="0" i="1" smtClean="0">
                                              <a:latin typeface="Cambria Math" panose="02040503050406030204" pitchFamily="18" charset="0"/>
                                              <a:cs typeface="Arial" panose="020B0604020202020204" pitchFamily="34" charset="0"/>
                                            </a:rPr>
                                            <m:t>′</m:t>
                                          </m:r>
                                        </m:sup>
                                      </m:sSup>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den>
                      </m:f>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1</m:t>
                              </m:r>
                            </m:num>
                            <m:den>
                              <m:r>
                                <a:rPr lang="en-US" altLang="zh-CN" i="1">
                                  <a:latin typeface="Cambria Math" panose="02040503050406030204" pitchFamily="18" charset="0"/>
                                  <a:cs typeface="Arial" panose="020B0604020202020204" pitchFamily="34" charset="0"/>
                                </a:rPr>
                                <m:t>2</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𝑚𝑖𝑛</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𝑎</m:t>
                                      </m:r>
                                      <m:r>
                                        <a:rPr lang="en-US" altLang="zh-CN" i="1">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e>
                              </m:d>
                            </m:e>
                          </m:func>
                        </m:num>
                        <m:den>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1</m:t>
                              </m:r>
                            </m:num>
                            <m:den>
                              <m:r>
                                <a:rPr lang="en-US" altLang="zh-CN" b="0" i="1" smtClean="0">
                                  <a:latin typeface="Cambria Math" panose="02040503050406030204" pitchFamily="18" charset="0"/>
                                  <a:cs typeface="Arial" panose="020B0604020202020204" pitchFamily="34" charset="0"/>
                                </a:rPr>
                                <m:t>2</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a:latin typeface="Cambria Math" panose="02040503050406030204" pitchFamily="18" charset="0"/>
                                          <a:cs typeface="Arial" panose="020B0604020202020204" pitchFamily="34" charset="0"/>
                                        </a:rPr>
                                        <m:t>2</m:t>
                                      </m:r>
                                    </m:den>
                                  </m:f>
                                </m:e>
                              </m:d>
                            </m:e>
                          </m:func>
                        </m:den>
                      </m:f>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exp</m:t>
                          </m:r>
                        </m:fName>
                        <m:e>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𝜖</m:t>
                              </m:r>
                              <m:d>
                                <m:dPr>
                                  <m:ctrlPr>
                                    <a:rPr lang="en-US" altLang="zh-CN" b="0" i="1" smtClean="0">
                                      <a:latin typeface="Cambria Math" panose="02040503050406030204" pitchFamily="18" charset="0"/>
                                      <a:cs typeface="Arial" panose="020B0604020202020204" pitchFamily="34" charset="0"/>
                                    </a:rPr>
                                  </m:ctrlPr>
                                </m:dPr>
                                <m:e>
                                  <m:f>
                                    <m:fPr>
                                      <m:ctrlPr>
                                        <a:rPr lang="en-US" altLang="zh-CN" b="0" i="1" smtClean="0">
                                          <a:latin typeface="Cambria Math" panose="02040503050406030204" pitchFamily="18" charset="0"/>
                                          <a:cs typeface="Arial" panose="020B0604020202020204" pitchFamily="34" charset="0"/>
                                        </a:rPr>
                                      </m:ctrlPr>
                                    </m:fPr>
                                    <m:num>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𝑎</m:t>
                                      </m:r>
                                    </m:num>
                                    <m:den>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den>
                                  </m:f>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1</m:t>
                                      </m:r>
                                    </m:num>
                                    <m:den>
                                      <m:r>
                                        <a:rPr lang="en-US" altLang="zh-CN" b="0" i="1" smtClean="0">
                                          <a:latin typeface="Cambria Math" panose="02040503050406030204" pitchFamily="18" charset="0"/>
                                          <a:cs typeface="Arial" panose="020B0604020202020204" pitchFamily="34" charset="0"/>
                                        </a:rPr>
                                        <m:t>2</m:t>
                                      </m:r>
                                    </m:den>
                                  </m:f>
                                </m:e>
                              </m:d>
                            </m:e>
                          </m:d>
                        </m:e>
                      </m:func>
                    </m:oMath>
                  </m:oMathPara>
                </a14:m>
                <a:endParaRPr lang="en-US" altLang="zh-CN" dirty="0">
                  <a:latin typeface="Arial" panose="020B0604020202020204" pitchFamily="34" charset="0"/>
                  <a:cs typeface="Arial" panose="020B0604020202020204" pitchFamily="34" charset="0"/>
                </a:endParaRPr>
              </a:p>
              <a:p>
                <a:endParaRPr lang="en-US" altLang="zh-CN" b="0"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r>
                            <a:rPr lang="en-US" altLang="zh-CN" b="0" i="1" smtClean="0">
                              <a:latin typeface="Cambria Math" panose="02040503050406030204" pitchFamily="18" charset="0"/>
                              <a:cs typeface="Arial" panose="020B0604020202020204" pitchFamily="34" charset="0"/>
                            </a:rPr>
                            <m:t>/2</m:t>
                          </m:r>
                        </m:sup>
                      </m:sSup>
                    </m:oMath>
                  </m:oMathPara>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7691B041-76A3-4D93-9191-27DD2D1373C3}"/>
                  </a:ext>
                </a:extLst>
              </p:cNvPr>
              <p:cNvSpPr txBox="1">
                <a:spLocks noRot="1" noChangeAspect="1" noMove="1" noResize="1" noEditPoints="1" noAdjustHandles="1" noChangeArrowheads="1" noChangeShapeType="1" noTextEdit="1"/>
              </p:cNvSpPr>
              <p:nvPr/>
            </p:nvSpPr>
            <p:spPr>
              <a:xfrm>
                <a:off x="169504" y="1619851"/>
                <a:ext cx="11963638" cy="3025187"/>
              </a:xfrm>
              <a:prstGeom prst="rect">
                <a:avLst/>
              </a:prstGeom>
              <a:blipFill>
                <a:blip r:embed="rId3"/>
                <a:stretch>
                  <a:fillRect l="-459" t="-12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732933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DEC08C6-9C74-4918-81A8-15E93C2F43F3}"/>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Numerical Query</a:t>
            </a:r>
            <a:endParaRPr lang="zh-CN" alt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E697A7-3223-4A2C-8C79-9761B4043A12}"/>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Solution 2:</a:t>
                </a:r>
                <a:r>
                  <a:rPr lang="en-US" altLang="zh-CN" dirty="0">
                    <a:latin typeface="Arial" panose="020B0604020202020204" pitchFamily="34" charset="0"/>
                    <a:cs typeface="Arial" panose="020B0604020202020204" pitchFamily="34" charset="0"/>
                  </a:rPr>
                  <a:t> Bound the output range </a:t>
                </a:r>
                <a14:m>
                  <m:oMath xmlns:m="http://schemas.openxmlformats.org/officeDocument/2006/math">
                    <m:r>
                      <a:rPr lang="en-US" altLang="zh-CN" b="0"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𝑚𝑖𝑛</m:t>
                        </m:r>
                      </m:sub>
                    </m:sSub>
                    <m:r>
                      <a:rPr lang="en-US" altLang="zh-CN" b="0" i="1" smtClean="0">
                        <a:latin typeface="Cambria Math" panose="02040503050406030204" pitchFamily="18" charset="0"/>
                        <a:cs typeface="Arial" panose="020B0604020202020204" pitchFamily="34" charset="0"/>
                      </a:rPr>
                      <m:t>, </m:t>
                    </m:r>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p:txBody>
          </p:sp>
        </mc:Choice>
        <mc:Fallback xmlns="">
          <p:sp>
            <p:nvSpPr>
              <p:cNvPr id="7" name="文本框 6">
                <a:extLst>
                  <a:ext uri="{FF2B5EF4-FFF2-40B4-BE49-F238E27FC236}">
                    <a16:creationId xmlns:a16="http://schemas.microsoft.com/office/drawing/2014/main" id="{4DE697A7-3223-4A2C-8C79-9761B4043A12}"/>
                  </a:ext>
                </a:extLst>
              </p:cNvPr>
              <p:cNvSpPr txBox="1">
                <a:spLocks noRot="1" noChangeAspect="1" noMove="1" noResize="1" noEditPoints="1" noAdjustHandles="1" noChangeArrowheads="1" noChangeShapeType="1" noTextEdit="1"/>
              </p:cNvSpPr>
              <p:nvPr/>
            </p:nvSpPr>
            <p:spPr>
              <a:xfrm>
                <a:off x="314548" y="1198180"/>
                <a:ext cx="11562904" cy="369332"/>
              </a:xfrm>
              <a:prstGeom prst="rect">
                <a:avLst/>
              </a:prstGeom>
              <a:blipFill>
                <a:blip r:embed="rId2"/>
                <a:stretch>
                  <a:fillRect l="-475"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691B041-76A3-4D93-9191-27DD2D1373C3}"/>
                  </a:ext>
                </a:extLst>
              </p:cNvPr>
              <p:cNvSpPr txBox="1"/>
              <p:nvPr/>
            </p:nvSpPr>
            <p:spPr>
              <a:xfrm>
                <a:off x="169504" y="1619851"/>
                <a:ext cx="11963638" cy="3025187"/>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Proof:</a:t>
                </a:r>
                <a:r>
                  <a:rPr lang="en-US" altLang="zh-CN" dirty="0">
                    <a:latin typeface="Arial" panose="020B0604020202020204" pitchFamily="34" charset="0"/>
                    <a:cs typeface="Arial" panose="020B0604020202020204" pitchFamily="34" charset="0"/>
                  </a:rPr>
                  <a:t> Suppose the different element in </a:t>
                </a:r>
                <a14:m>
                  <m:oMath xmlns:m="http://schemas.openxmlformats.org/officeDocument/2006/math">
                    <m:r>
                      <a:rPr lang="en-US" altLang="zh-CN" i="1" smtClean="0">
                        <a:latin typeface="Cambria Math" panose="02040503050406030204" pitchFamily="18" charset="0"/>
                        <a:cs typeface="Arial" panose="020B0604020202020204" pitchFamily="34" charset="0"/>
                      </a:rPr>
                      <m:t>𝐷</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is </a:t>
                </a:r>
                <a14:m>
                  <m:oMath xmlns:m="http://schemas.openxmlformats.org/officeDocument/2006/math">
                    <m:r>
                      <a:rPr lang="en-US" altLang="zh-CN" b="0" i="1" smtClean="0">
                        <a:latin typeface="Cambria Math" panose="02040503050406030204" pitchFamily="18" charset="0"/>
                        <a:cs typeface="Arial" panose="020B0604020202020204" pitchFamily="34" charset="0"/>
                      </a:rPr>
                      <m:t>𝑎</m:t>
                    </m:r>
                  </m:oMath>
                </a14:m>
                <a:r>
                  <a:rPr lang="en-US" altLang="zh-CN" dirty="0">
                    <a:latin typeface="Arial" panose="020B0604020202020204" pitchFamily="34" charset="0"/>
                    <a:cs typeface="Arial" panose="020B0604020202020204" pitchFamily="34" charset="0"/>
                  </a:rPr>
                  <a:t>, </a:t>
                </a:r>
              </a:p>
              <a:p>
                <a:r>
                  <a:rPr lang="en-US" altLang="zh-CN" dirty="0">
                    <a:latin typeface="Arial" panose="020B0604020202020204" pitchFamily="34" charset="0"/>
                    <a:cs typeface="Arial" panose="020B0604020202020204" pitchFamily="34" charset="0"/>
                  </a:rPr>
                  <a:t>If </a:t>
                </a:r>
                <a14:m>
                  <m:oMath xmlns:m="http://schemas.openxmlformats.org/officeDocument/2006/math">
                    <m:r>
                      <a:rPr lang="en-US" altLang="zh-CN" b="0" i="1" smtClean="0">
                        <a:latin typeface="Cambria Math" panose="02040503050406030204" pitchFamily="18" charset="0"/>
                        <a:cs typeface="Arial" panose="020B0604020202020204" pitchFamily="34" charset="0"/>
                      </a:rPr>
                      <m:t>𝐶</m:t>
                    </m:r>
                    <m:r>
                      <a:rPr lang="en-US" altLang="zh-CN" b="0" i="1" smtClean="0">
                        <a:latin typeface="Cambria Math" panose="02040503050406030204" pitchFamily="18" charset="0"/>
                        <a:cs typeface="Arial" panose="020B0604020202020204" pitchFamily="34" charset="0"/>
                      </a:rPr>
                      <m:t>=0</m:t>
                    </m:r>
                  </m:oMath>
                </a14:m>
                <a:r>
                  <a:rPr lang="en-US" altLang="zh-CN" dirty="0">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𝑎</m:t>
                    </m:r>
                    <m:r>
                      <a:rPr lang="en-US" altLang="zh-CN" b="0" i="1" smtClean="0">
                        <a:latin typeface="Cambria Math" panose="02040503050406030204" pitchFamily="18" charset="0"/>
                        <a:cs typeface="Arial" panose="020B0604020202020204" pitchFamily="34" charset="0"/>
                      </a:rPr>
                      <m:t>}</m:t>
                    </m:r>
                  </m:oMath>
                </a14:m>
                <a:r>
                  <a:rPr lang="en-US" altLang="zh-CN" dirty="0">
                    <a:latin typeface="Arial" panose="020B0604020202020204" pitchFamily="34" charset="0"/>
                    <a:cs typeface="Arial" panose="020B0604020202020204" pitchFamily="34" charset="0"/>
                  </a:rPr>
                  <a:t> and </a:t>
                </a:r>
                <a14:m>
                  <m:oMath xmlns:m="http://schemas.openxmlformats.org/officeDocument/2006/math">
                    <m:r>
                      <a:rPr lang="en-US" altLang="zh-CN" i="1">
                        <a:latin typeface="Cambria Math" panose="02040503050406030204" pitchFamily="18" charset="0"/>
                        <a:cs typeface="Arial" panose="020B0604020202020204" pitchFamily="34" charset="0"/>
                      </a:rPr>
                      <m:t>𝐷</m:t>
                    </m:r>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m:t>
                    </m:r>
                  </m:oMath>
                </a14:m>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For </a:t>
                </a:r>
                <a14:m>
                  <m:oMath xmlns:m="http://schemas.openxmlformats.org/officeDocument/2006/math">
                    <m:r>
                      <a:rPr lang="en-US" altLang="zh-CN" i="1" smtClean="0">
                        <a:latin typeface="Cambria Math" panose="02040503050406030204" pitchFamily="18" charset="0"/>
                        <a:cs typeface="Arial" panose="020B0604020202020204" pitchFamily="34" charset="0"/>
                      </a:rPr>
                      <m:t>𝑡</m:t>
                    </m:r>
                    <m:r>
                      <a:rPr lang="en-US" altLang="zh-CN" b="0" i="1" smtClean="0">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smtClean="0">
                            <a:latin typeface="Cambria Math" panose="02040503050406030204" pitchFamily="18" charset="0"/>
                            <a:cs typeface="Arial" panose="020B0604020202020204" pitchFamily="34" charset="0"/>
                          </a:rPr>
                          <m:t>𝑚</m:t>
                        </m:r>
                        <m:r>
                          <a:rPr lang="en-US" altLang="zh-CN" b="0" i="1" smtClean="0">
                            <a:latin typeface="Cambria Math" panose="02040503050406030204" pitchFamily="18" charset="0"/>
                            <a:cs typeface="Arial" panose="020B0604020202020204" pitchFamily="34" charset="0"/>
                          </a:rPr>
                          <m:t>𝑎𝑥</m:t>
                        </m:r>
                      </m:sub>
                    </m:sSub>
                  </m:oMath>
                </a14:m>
                <a:endParaRPr lang="en-US" altLang="zh-C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cs typeface="Arial" panose="020B0604020202020204" pitchFamily="34" charset="0"/>
                            </a:rPr>
                          </m:ctrlPr>
                        </m:fPr>
                        <m:num>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𝐷</m:t>
                                      </m:r>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num>
                        <m:den>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Pr</m:t>
                              </m:r>
                            </m:fName>
                            <m:e>
                              <m:d>
                                <m:dPr>
                                  <m:begChr m:val="["/>
                                  <m:endChr m:val="]"/>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𝐴𝑣</m:t>
                                  </m:r>
                                  <m:sSubSup>
                                    <m:sSubSupPr>
                                      <m:ctrlPr>
                                        <a:rPr lang="en-US" altLang="zh-CN" i="1">
                                          <a:latin typeface="Cambria Math" panose="02040503050406030204" pitchFamily="18" charset="0"/>
                                          <a:cs typeface="Arial" panose="020B0604020202020204" pitchFamily="34" charset="0"/>
                                        </a:rPr>
                                      </m:ctrlPr>
                                    </m:sSubSupPr>
                                    <m:e>
                                      <m:r>
                                        <a:rPr lang="en-US" altLang="zh-CN" i="1">
                                          <a:latin typeface="Cambria Math" panose="02040503050406030204" pitchFamily="18" charset="0"/>
                                          <a:cs typeface="Arial" panose="020B0604020202020204" pitchFamily="34" charset="0"/>
                                        </a:rPr>
                                        <m:t>𝑔</m:t>
                                      </m:r>
                                    </m:e>
                                    <m:sub>
                                      <m:r>
                                        <a:rPr lang="en-US" altLang="zh-CN" i="1">
                                          <a:latin typeface="Cambria Math" panose="02040503050406030204" pitchFamily="18" charset="0"/>
                                          <a:cs typeface="Arial" panose="020B0604020202020204" pitchFamily="34" charset="0"/>
                                        </a:rPr>
                                        <m:t>𝑐</m:t>
                                      </m:r>
                                    </m:sub>
                                    <m:sup>
                                      <m:r>
                                        <a:rPr lang="en-US" altLang="zh-CN" i="1">
                                          <a:latin typeface="Cambria Math" panose="02040503050406030204" pitchFamily="18" charset="0"/>
                                          <a:cs typeface="Arial" panose="020B0604020202020204" pitchFamily="34" charset="0"/>
                                        </a:rPr>
                                        <m:t>𝑎</m:t>
                                      </m:r>
                                    </m:sup>
                                  </m:sSubSup>
                                  <m:d>
                                    <m:dPr>
                                      <m:ctrlPr>
                                        <a:rPr lang="en-US" altLang="zh-CN" i="1">
                                          <a:latin typeface="Cambria Math" panose="02040503050406030204" pitchFamily="18" charset="0"/>
                                          <a:cs typeface="Arial" panose="020B0604020202020204" pitchFamily="34" charset="0"/>
                                        </a:rPr>
                                      </m:ctrlPr>
                                    </m:dPr>
                                    <m:e>
                                      <m:sSup>
                                        <m:sSupPr>
                                          <m:ctrlPr>
                                            <a:rPr lang="en-US" altLang="zh-CN" b="0" i="1" smtClean="0">
                                              <a:latin typeface="Cambria Math" panose="02040503050406030204" pitchFamily="18" charset="0"/>
                                              <a:cs typeface="Arial" panose="020B0604020202020204" pitchFamily="34" charset="0"/>
                                            </a:rPr>
                                          </m:ctrlPr>
                                        </m:sSupPr>
                                        <m:e>
                                          <m:r>
                                            <a:rPr lang="en-US" altLang="zh-CN" i="1">
                                              <a:latin typeface="Cambria Math" panose="02040503050406030204" pitchFamily="18" charset="0"/>
                                              <a:cs typeface="Arial" panose="020B0604020202020204" pitchFamily="34" charset="0"/>
                                            </a:rPr>
                                            <m:t>𝐷</m:t>
                                          </m:r>
                                        </m:e>
                                        <m:sup>
                                          <m:r>
                                            <a:rPr lang="en-US" altLang="zh-CN" b="0" i="1" smtClean="0">
                                              <a:latin typeface="Cambria Math" panose="02040503050406030204" pitchFamily="18" charset="0"/>
                                              <a:cs typeface="Arial" panose="020B0604020202020204" pitchFamily="34" charset="0"/>
                                            </a:rPr>
                                            <m:t>′</m:t>
                                          </m:r>
                                        </m:sup>
                                      </m:sSup>
                                    </m:e>
                                  </m:d>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𝑡</m:t>
                                  </m:r>
                                </m:e>
                              </m:d>
                            </m:e>
                          </m:func>
                        </m:den>
                      </m:f>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1</m:t>
                              </m:r>
                            </m:num>
                            <m:den>
                              <m:r>
                                <a:rPr lang="en-US" altLang="zh-CN" i="1">
                                  <a:latin typeface="Cambria Math" panose="02040503050406030204" pitchFamily="18" charset="0"/>
                                  <a:cs typeface="Arial" panose="020B0604020202020204" pitchFamily="34" charset="0"/>
                                </a:rPr>
                                <m:t>2</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f>
                                    <m:fPr>
                                      <m:ctrlPr>
                                        <a:rPr lang="en-US" altLang="zh-CN" i="1">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𝜖</m:t>
                                      </m:r>
                                      <m:r>
                                        <a:rPr lang="en-US" altLang="zh-CN" i="1">
                                          <a:latin typeface="Cambria Math" panose="02040503050406030204" pitchFamily="18" charset="0"/>
                                          <a:cs typeface="Arial" panose="020B0604020202020204" pitchFamily="34" charset="0"/>
                                        </a:rPr>
                                        <m:t>(</m:t>
                                      </m:r>
                                      <m:sSub>
                                        <m:sSubPr>
                                          <m:ctrlPr>
                                            <a:rPr lang="en-US" altLang="zh-CN" i="1">
                                              <a:latin typeface="Cambria Math" panose="02040503050406030204" pitchFamily="18" charset="0"/>
                                              <a:cs typeface="Arial" panose="020B0604020202020204" pitchFamily="34" charset="0"/>
                                            </a:rPr>
                                          </m:ctrlPr>
                                        </m:sSubPr>
                                        <m:e>
                                          <m:r>
                                            <a:rPr lang="en-US" altLang="zh-CN" i="1">
                                              <a:latin typeface="Cambria Math" panose="02040503050406030204" pitchFamily="18" charset="0"/>
                                              <a:cs typeface="Arial" panose="020B0604020202020204" pitchFamily="34" charset="0"/>
                                            </a:rPr>
                                            <m:t>𝑎</m:t>
                                          </m:r>
                                        </m:e>
                                        <m:sub>
                                          <m:r>
                                            <a:rPr lang="en-US" altLang="zh-CN" i="1">
                                              <a:latin typeface="Cambria Math" panose="02040503050406030204" pitchFamily="18" charset="0"/>
                                              <a:cs typeface="Arial" panose="020B0604020202020204" pitchFamily="34" charset="0"/>
                                            </a:rPr>
                                            <m:t>𝑚</m:t>
                                          </m:r>
                                          <m:r>
                                            <a:rPr lang="en-US" altLang="zh-CN" b="0" i="1" smtClean="0">
                                              <a:latin typeface="Cambria Math" panose="02040503050406030204" pitchFamily="18" charset="0"/>
                                              <a:cs typeface="Arial" panose="020B0604020202020204" pitchFamily="34" charset="0"/>
                                            </a:rPr>
                                            <m:t>𝑎𝑥</m:t>
                                          </m:r>
                                        </m:sub>
                                      </m:sSub>
                                      <m:r>
                                        <a:rPr lang="en-US" altLang="zh-CN" i="1">
                                          <a:latin typeface="Cambria Math" panose="02040503050406030204" pitchFamily="18" charset="0"/>
                                          <a:cs typeface="Arial" panose="020B0604020202020204" pitchFamily="34" charset="0"/>
                                        </a:rPr>
                                        <m:t>−</m:t>
                                      </m:r>
                                      <m:r>
                                        <a:rPr lang="en-US" altLang="zh-CN" i="1">
                                          <a:latin typeface="Cambria Math" panose="02040503050406030204" pitchFamily="18" charset="0"/>
                                          <a:cs typeface="Arial" panose="020B0604020202020204" pitchFamily="34" charset="0"/>
                                        </a:rPr>
                                        <m:t>𝑎</m:t>
                                      </m:r>
                                      <m:r>
                                        <a:rPr lang="en-US" altLang="zh-CN" i="1">
                                          <a:latin typeface="Cambria Math" panose="02040503050406030204" pitchFamily="18" charset="0"/>
                                          <a:cs typeface="Arial" panose="020B0604020202020204" pitchFamily="34" charset="0"/>
                                        </a:rPr>
                                        <m:t>)</m:t>
                                      </m:r>
                                    </m:num>
                                    <m:den>
                                      <m:r>
                                        <m:rPr>
                                          <m:sty m:val="p"/>
                                        </m:rPr>
                                        <a:rPr lang="en-US" altLang="zh-CN">
                                          <a:latin typeface="Cambria Math" panose="02040503050406030204" pitchFamily="18" charset="0"/>
                                          <a:cs typeface="Arial" panose="020B0604020202020204" pitchFamily="34" charset="0"/>
                                        </a:rPr>
                                        <m:t>Δ</m:t>
                                      </m:r>
                                      <m:r>
                                        <a:rPr lang="en-US" altLang="zh-CN" i="1">
                                          <a:latin typeface="Cambria Math" panose="02040503050406030204" pitchFamily="18" charset="0"/>
                                          <a:cs typeface="Arial" panose="020B0604020202020204" pitchFamily="34" charset="0"/>
                                        </a:rPr>
                                        <m:t>𝑓</m:t>
                                      </m:r>
                                    </m:den>
                                  </m:f>
                                </m:e>
                              </m:d>
                            </m:e>
                          </m:func>
                        </m:num>
                        <m:den>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1</m:t>
                              </m:r>
                            </m:num>
                            <m:den>
                              <m:r>
                                <a:rPr lang="en-US" altLang="zh-CN" b="0" i="1" smtClean="0">
                                  <a:latin typeface="Cambria Math" panose="02040503050406030204" pitchFamily="18" charset="0"/>
                                  <a:cs typeface="Arial" panose="020B0604020202020204" pitchFamily="34" charset="0"/>
                                </a:rPr>
                                <m:t>2</m:t>
                              </m:r>
                            </m:den>
                          </m:f>
                          <m:func>
                            <m:funcPr>
                              <m:ctrlPr>
                                <a:rPr lang="en-US" altLang="zh-CN" i="1">
                                  <a:latin typeface="Cambria Math" panose="02040503050406030204" pitchFamily="18" charset="0"/>
                                  <a:cs typeface="Arial" panose="020B0604020202020204" pitchFamily="34" charset="0"/>
                                </a:rPr>
                              </m:ctrlPr>
                            </m:funcPr>
                            <m:fName>
                              <m:r>
                                <m:rPr>
                                  <m:sty m:val="p"/>
                                </m:rPr>
                                <a:rPr lang="en-US" altLang="zh-CN">
                                  <a:latin typeface="Cambria Math" panose="02040503050406030204" pitchFamily="18" charset="0"/>
                                  <a:cs typeface="Arial" panose="020B0604020202020204" pitchFamily="34" charset="0"/>
                                </a:rPr>
                                <m:t>exp</m:t>
                              </m:r>
                            </m:fName>
                            <m:e>
                              <m:d>
                                <m:dPr>
                                  <m:ctrlPr>
                                    <a:rPr lang="en-US" altLang="zh-CN" i="1">
                                      <a:latin typeface="Cambria Math" panose="02040503050406030204" pitchFamily="18" charset="0"/>
                                      <a:cs typeface="Arial" panose="020B0604020202020204" pitchFamily="34" charset="0"/>
                                    </a:rPr>
                                  </m:ctrlPr>
                                </m:dPr>
                                <m:e>
                                  <m:r>
                                    <a:rPr lang="en-US" altLang="zh-CN" i="1">
                                      <a:latin typeface="Cambria Math" panose="02040503050406030204" pitchFamily="18" charset="0"/>
                                      <a:cs typeface="Arial" panose="020B0604020202020204" pitchFamily="34" charset="0"/>
                                    </a:rPr>
                                    <m:t>−</m:t>
                                  </m:r>
                                  <m:f>
                                    <m:fPr>
                                      <m:ctrlPr>
                                        <a:rPr lang="en-US" altLang="zh-CN" i="1">
                                          <a:latin typeface="Cambria Math" panose="02040503050406030204" pitchFamily="18" charset="0"/>
                                          <a:cs typeface="Arial" panose="020B0604020202020204" pitchFamily="34" charset="0"/>
                                        </a:rPr>
                                      </m:ctrlPr>
                                    </m:fPr>
                                    <m:num>
                                      <m:r>
                                        <a:rPr lang="en-US" altLang="zh-CN" i="1">
                                          <a:latin typeface="Cambria Math" panose="02040503050406030204" pitchFamily="18" charset="0"/>
                                          <a:cs typeface="Arial" panose="020B0604020202020204" pitchFamily="34" charset="0"/>
                                        </a:rPr>
                                        <m:t>𝜖</m:t>
                                      </m:r>
                                    </m:num>
                                    <m:den>
                                      <m:r>
                                        <a:rPr lang="en-US" altLang="zh-CN">
                                          <a:latin typeface="Cambria Math" panose="02040503050406030204" pitchFamily="18" charset="0"/>
                                          <a:cs typeface="Arial" panose="020B0604020202020204" pitchFamily="34" charset="0"/>
                                        </a:rPr>
                                        <m:t>2</m:t>
                                      </m:r>
                                    </m:den>
                                  </m:f>
                                </m:e>
                              </m:d>
                            </m:e>
                          </m:func>
                        </m:den>
                      </m:f>
                      <m:r>
                        <a:rPr lang="en-US" altLang="zh-CN" b="0" i="1" smtClean="0">
                          <a:latin typeface="Cambria Math" panose="02040503050406030204" pitchFamily="18" charset="0"/>
                          <a:cs typeface="Arial" panose="020B0604020202020204" pitchFamily="34" charset="0"/>
                        </a:rPr>
                        <m:t>=</m:t>
                      </m:r>
                      <m:func>
                        <m:funcPr>
                          <m:ctrlPr>
                            <a:rPr lang="en-US" altLang="zh-CN" b="0" i="1" smtClean="0">
                              <a:latin typeface="Cambria Math" panose="02040503050406030204" pitchFamily="18" charset="0"/>
                              <a:cs typeface="Arial" panose="020B0604020202020204" pitchFamily="34" charset="0"/>
                            </a:rPr>
                          </m:ctrlPr>
                        </m:funcPr>
                        <m:fName>
                          <m:r>
                            <m:rPr>
                              <m:sty m:val="p"/>
                            </m:rPr>
                            <a:rPr lang="en-US" altLang="zh-CN" b="0" i="0" smtClean="0">
                              <a:latin typeface="Cambria Math" panose="02040503050406030204" pitchFamily="18" charset="0"/>
                              <a:cs typeface="Arial" panose="020B0604020202020204" pitchFamily="34" charset="0"/>
                            </a:rPr>
                            <m:t>exp</m:t>
                          </m:r>
                        </m:fName>
                        <m:e>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𝜖</m:t>
                              </m:r>
                              <m:d>
                                <m:dPr>
                                  <m:ctrlPr>
                                    <a:rPr lang="en-US" altLang="zh-CN" b="0" i="1" smtClean="0">
                                      <a:latin typeface="Cambria Math" panose="02040503050406030204" pitchFamily="18" charset="0"/>
                                      <a:cs typeface="Arial" panose="020B0604020202020204" pitchFamily="34" charset="0"/>
                                    </a:rPr>
                                  </m:ctrlPr>
                                </m:dPr>
                                <m:e>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𝑎</m:t>
                                          </m:r>
                                        </m:e>
                                        <m:sub>
                                          <m:r>
                                            <a:rPr lang="en-US" altLang="zh-CN" b="0" i="1" smtClean="0">
                                              <a:latin typeface="Cambria Math" panose="02040503050406030204" pitchFamily="18" charset="0"/>
                                              <a:cs typeface="Arial" panose="020B0604020202020204" pitchFamily="34" charset="0"/>
                                            </a:rPr>
                                            <m:t>𝑚𝑎𝑥</m:t>
                                          </m:r>
                                        </m:sub>
                                      </m:sSub>
                                      <m:r>
                                        <a:rPr lang="en-US" altLang="zh-CN" b="0" i="1" smtClean="0">
                                          <a:latin typeface="Cambria Math" panose="02040503050406030204" pitchFamily="18" charset="0"/>
                                          <a:cs typeface="Arial" panose="020B0604020202020204" pitchFamily="34" charset="0"/>
                                        </a:rPr>
                                        <m:t>−</m:t>
                                      </m:r>
                                      <m:r>
                                        <a:rPr lang="en-US" altLang="zh-CN" b="0" i="1" smtClean="0">
                                          <a:latin typeface="Cambria Math" panose="02040503050406030204" pitchFamily="18" charset="0"/>
                                          <a:cs typeface="Arial" panose="020B0604020202020204" pitchFamily="34" charset="0"/>
                                        </a:rPr>
                                        <m:t>𝑎</m:t>
                                      </m:r>
                                    </m:num>
                                    <m:den>
                                      <m:r>
                                        <m:rPr>
                                          <m:sty m:val="p"/>
                                        </m:rPr>
                                        <a:rPr lang="en-US" altLang="zh-CN" b="0" i="0" smtClean="0">
                                          <a:latin typeface="Cambria Math" panose="02040503050406030204" pitchFamily="18" charset="0"/>
                                          <a:cs typeface="Arial" panose="020B0604020202020204" pitchFamily="34" charset="0"/>
                                        </a:rPr>
                                        <m:t>Δ</m:t>
                                      </m:r>
                                      <m:r>
                                        <a:rPr lang="en-US" altLang="zh-CN" b="0" i="1" smtClean="0">
                                          <a:latin typeface="Cambria Math" panose="02040503050406030204" pitchFamily="18" charset="0"/>
                                          <a:cs typeface="Arial" panose="020B0604020202020204" pitchFamily="34" charset="0"/>
                                        </a:rPr>
                                        <m:t>𝑓</m:t>
                                      </m:r>
                                    </m:den>
                                  </m:f>
                                  <m:r>
                                    <a:rPr lang="en-US" altLang="zh-CN" b="0" i="1" smtClean="0">
                                      <a:latin typeface="Cambria Math" panose="02040503050406030204" pitchFamily="18" charset="0"/>
                                      <a:cs typeface="Arial" panose="020B0604020202020204" pitchFamily="34" charset="0"/>
                                    </a:rPr>
                                    <m:t>+</m:t>
                                  </m:r>
                                  <m:f>
                                    <m:fPr>
                                      <m:ctrlPr>
                                        <a:rPr lang="en-US" altLang="zh-CN" b="0" i="1" smtClean="0">
                                          <a:latin typeface="Cambria Math" panose="02040503050406030204" pitchFamily="18" charset="0"/>
                                          <a:cs typeface="Arial" panose="020B0604020202020204" pitchFamily="34" charset="0"/>
                                        </a:rPr>
                                      </m:ctrlPr>
                                    </m:fPr>
                                    <m:num>
                                      <m:r>
                                        <a:rPr lang="en-US" altLang="zh-CN" b="0" i="1" smtClean="0">
                                          <a:latin typeface="Cambria Math" panose="02040503050406030204" pitchFamily="18" charset="0"/>
                                          <a:cs typeface="Arial" panose="020B0604020202020204" pitchFamily="34" charset="0"/>
                                        </a:rPr>
                                        <m:t>1</m:t>
                                      </m:r>
                                    </m:num>
                                    <m:den>
                                      <m:r>
                                        <a:rPr lang="en-US" altLang="zh-CN" b="0" i="1" smtClean="0">
                                          <a:latin typeface="Cambria Math" panose="02040503050406030204" pitchFamily="18" charset="0"/>
                                          <a:cs typeface="Arial" panose="020B0604020202020204" pitchFamily="34" charset="0"/>
                                        </a:rPr>
                                        <m:t>2</m:t>
                                      </m:r>
                                    </m:den>
                                  </m:f>
                                </m:e>
                              </m:d>
                            </m:e>
                          </m:d>
                        </m:e>
                      </m:func>
                    </m:oMath>
                  </m:oMathPara>
                </a14:m>
                <a:endParaRPr lang="en-US" altLang="zh-CN" dirty="0">
                  <a:latin typeface="Arial" panose="020B0604020202020204" pitchFamily="34" charset="0"/>
                  <a:cs typeface="Arial" panose="020B0604020202020204" pitchFamily="34" charset="0"/>
                </a:endParaRPr>
              </a:p>
              <a:p>
                <a:endParaRPr lang="en-US" altLang="zh-CN" b="0"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Arial" panose="020B0604020202020204" pitchFamily="34" charset="0"/>
                        </a:rPr>
                        <m:t>≤</m:t>
                      </m:r>
                      <m:sSup>
                        <m:sSupPr>
                          <m:ctrlPr>
                            <a:rPr lang="en-US" altLang="zh-CN" b="0" i="1" smtClean="0">
                              <a:latin typeface="Cambria Math" panose="02040503050406030204" pitchFamily="18" charset="0"/>
                              <a:cs typeface="Arial" panose="020B0604020202020204" pitchFamily="34" charset="0"/>
                            </a:rPr>
                          </m:ctrlPr>
                        </m:sSupPr>
                        <m:e>
                          <m:r>
                            <a:rPr lang="en-US" altLang="zh-CN" b="0" i="1" smtClean="0">
                              <a:latin typeface="Cambria Math" panose="02040503050406030204" pitchFamily="18" charset="0"/>
                              <a:cs typeface="Arial" panose="020B0604020202020204" pitchFamily="34" charset="0"/>
                            </a:rPr>
                            <m:t>𝑒</m:t>
                          </m:r>
                        </m:e>
                        <m:sup>
                          <m:r>
                            <a:rPr lang="en-US" altLang="zh-CN" b="0" i="1" smtClean="0">
                              <a:latin typeface="Cambria Math" panose="02040503050406030204" pitchFamily="18" charset="0"/>
                              <a:cs typeface="Arial" panose="020B0604020202020204" pitchFamily="34" charset="0"/>
                            </a:rPr>
                            <m:t>𝜖</m:t>
                          </m:r>
                          <m:r>
                            <a:rPr lang="en-US" altLang="zh-CN" b="0" i="1" smtClean="0">
                              <a:latin typeface="Cambria Math" panose="02040503050406030204" pitchFamily="18" charset="0"/>
                              <a:cs typeface="Arial" panose="020B0604020202020204" pitchFamily="34" charset="0"/>
                            </a:rPr>
                            <m:t>/2</m:t>
                          </m:r>
                        </m:sup>
                      </m:sSup>
                    </m:oMath>
                  </m:oMathPara>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7691B041-76A3-4D93-9191-27DD2D1373C3}"/>
                  </a:ext>
                </a:extLst>
              </p:cNvPr>
              <p:cNvSpPr txBox="1">
                <a:spLocks noRot="1" noChangeAspect="1" noMove="1" noResize="1" noEditPoints="1" noAdjustHandles="1" noChangeArrowheads="1" noChangeShapeType="1" noTextEdit="1"/>
              </p:cNvSpPr>
              <p:nvPr/>
            </p:nvSpPr>
            <p:spPr>
              <a:xfrm>
                <a:off x="169504" y="1619851"/>
                <a:ext cx="11963638" cy="3025187"/>
              </a:xfrm>
              <a:prstGeom prst="rect">
                <a:avLst/>
              </a:prstGeom>
              <a:blipFill>
                <a:blip r:embed="rId3"/>
                <a:stretch>
                  <a:fillRect l="-459" t="-12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082465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B015B40-4C34-413F-A0EC-2229EFC09CAA}"/>
              </a:ext>
            </a:extLst>
          </p:cNvPr>
          <p:cNvSpPr txBox="1"/>
          <p:nvPr/>
        </p:nvSpPr>
        <p:spPr>
          <a:xfrm>
            <a:off x="791110" y="440077"/>
            <a:ext cx="9529281" cy="584775"/>
          </a:xfrm>
          <a:prstGeom prst="rect">
            <a:avLst/>
          </a:prstGeom>
          <a:noFill/>
        </p:spPr>
        <p:txBody>
          <a:bodyPr wrap="square" rtlCol="0">
            <a:spAutoFit/>
          </a:bodyPr>
          <a:lstStyle/>
          <a:p>
            <a:r>
              <a:rPr lang="en-US" altLang="zh-CN" sz="3200" b="1" dirty="0">
                <a:latin typeface="Arial" panose="020B0604020202020204" pitchFamily="34" charset="0"/>
                <a:cs typeface="Arial" panose="020B0604020202020204" pitchFamily="34" charset="0"/>
              </a:rPr>
              <a:t>Contents</a:t>
            </a:r>
            <a:endParaRPr lang="zh-CN" altLang="en-US" sz="3200" b="1" dirty="0">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CC470D65-0FD5-4A94-8F24-7424D3E983D8}"/>
              </a:ext>
            </a:extLst>
          </p:cNvPr>
          <p:cNvSpPr txBox="1"/>
          <p:nvPr/>
        </p:nvSpPr>
        <p:spPr>
          <a:xfrm>
            <a:off x="868166" y="1443519"/>
            <a:ext cx="9529281" cy="389048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Intuition and Definition</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Common DP Mechanisms</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Properties</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Numerical Query</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Other Composition Theorems</a:t>
            </a:r>
          </a:p>
          <a:p>
            <a:pPr marL="342900" indent="-342900">
              <a:lnSpc>
                <a:spcPct val="150000"/>
              </a:lnSpc>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Hierarchy Technique</a:t>
            </a:r>
          </a:p>
        </p:txBody>
      </p:sp>
    </p:spTree>
    <p:extLst>
      <p:ext uri="{BB962C8B-B14F-4D97-AF65-F5344CB8AC3E}">
        <p14:creationId xmlns:p14="http://schemas.microsoft.com/office/powerpoint/2010/main" val="12043029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B79FD-8626-76AC-3235-68A2550F4F1D}"/>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2A5B0F07-6F9D-AB66-CDD4-5D02A93D209A}"/>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Other</a:t>
            </a:r>
            <a:r>
              <a:rPr lang="zh-CN" altLang="en-US" sz="2400" b="1" dirty="0">
                <a:latin typeface="Arial" panose="020B0604020202020204" pitchFamily="34" charset="0"/>
                <a:cs typeface="Arial" panose="020B0604020202020204" pitchFamily="34" charset="0"/>
              </a:rPr>
              <a:t> </a:t>
            </a:r>
            <a:r>
              <a:rPr lang="en-US" altLang="zh-CN" sz="2400" b="1" dirty="0">
                <a:latin typeface="Arial" panose="020B0604020202020204" pitchFamily="34" charset="0"/>
                <a:cs typeface="Arial" panose="020B0604020202020204" pitchFamily="34" charset="0"/>
              </a:rPr>
              <a:t>Composition</a:t>
            </a:r>
            <a:r>
              <a:rPr lang="zh-CN" altLang="en-US" sz="2400" b="1" dirty="0">
                <a:latin typeface="Arial" panose="020B0604020202020204" pitchFamily="34" charset="0"/>
                <a:cs typeface="Arial" panose="020B0604020202020204" pitchFamily="34" charset="0"/>
              </a:rPr>
              <a:t> </a:t>
            </a:r>
            <a:r>
              <a:rPr lang="en-US" altLang="zh-CN" sz="2400" b="1" dirty="0">
                <a:latin typeface="Arial" panose="020B0604020202020204" pitchFamily="34" charset="0"/>
                <a:cs typeface="Arial" panose="020B0604020202020204" pitchFamily="34" charset="0"/>
              </a:rPr>
              <a:t>Theorem</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04FBC121-5DAB-A0DC-13D0-AED909093D28}"/>
              </a:ext>
            </a:extLst>
          </p:cNvPr>
          <p:cNvSpPr txBox="1"/>
          <p:nvPr/>
        </p:nvSpPr>
        <p:spPr>
          <a:xfrm>
            <a:off x="314548" y="1198180"/>
            <a:ext cx="11562904" cy="92333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Question:</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Sequential</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composition</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is</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great,</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but</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the</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privacy</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cost</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grows</a:t>
            </a:r>
            <a:r>
              <a:rPr lang="zh-CN" altLang="en-US" dirty="0">
                <a:latin typeface="Arial" panose="020B0604020202020204" pitchFamily="34" charset="0"/>
                <a:cs typeface="Arial" panose="020B0604020202020204" pitchFamily="34" charset="0"/>
              </a:rPr>
              <a:t> </a:t>
            </a:r>
            <a:r>
              <a:rPr lang="en-US" altLang="zh-CN" i="1" dirty="0">
                <a:latin typeface="Arial" panose="020B0604020202020204" pitchFamily="34" charset="0"/>
                <a:cs typeface="Arial" panose="020B0604020202020204" pitchFamily="34" charset="0"/>
              </a:rPr>
              <a:t>too</a:t>
            </a:r>
            <a:r>
              <a:rPr lang="zh-CN" altLang="en-US" i="1" dirty="0">
                <a:latin typeface="Arial" panose="020B0604020202020204" pitchFamily="34" charset="0"/>
                <a:cs typeface="Arial" panose="020B0604020202020204" pitchFamily="34" charset="0"/>
              </a:rPr>
              <a:t> </a:t>
            </a:r>
            <a:r>
              <a:rPr lang="en-US" altLang="zh-CN" i="1" dirty="0">
                <a:latin typeface="Arial" panose="020B0604020202020204" pitchFamily="34" charset="0"/>
                <a:cs typeface="Arial" panose="020B0604020202020204" pitchFamily="34" charset="0"/>
              </a:rPr>
              <a:t>fast</a:t>
            </a:r>
            <a:r>
              <a:rPr lang="zh-CN" altLang="en-US" i="1"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if</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we</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iterate</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many</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times.</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Especially</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in</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machine</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learning,</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multiple</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queries,</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etc.,</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the</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privacy</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cost</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is</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too</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much to tolerate!</a:t>
            </a:r>
          </a:p>
        </p:txBody>
      </p:sp>
      <p:pic>
        <p:nvPicPr>
          <p:cNvPr id="8" name="图片 7">
            <a:extLst>
              <a:ext uri="{FF2B5EF4-FFF2-40B4-BE49-F238E27FC236}">
                <a16:creationId xmlns:a16="http://schemas.microsoft.com/office/drawing/2014/main" id="{29117706-FC8D-41D6-A6D6-B0BD0286D0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6652" y="2344781"/>
            <a:ext cx="7706619" cy="4237654"/>
          </a:xfrm>
          <a:prstGeom prst="rect">
            <a:avLst/>
          </a:prstGeom>
        </p:spPr>
      </p:pic>
    </p:spTree>
    <p:extLst>
      <p:ext uri="{BB962C8B-B14F-4D97-AF65-F5344CB8AC3E}">
        <p14:creationId xmlns:p14="http://schemas.microsoft.com/office/powerpoint/2010/main" val="7544203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60645-B786-6401-BB90-4C75F5FCEF44}"/>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DCC51145-E07A-3C7F-B30A-E139B3FFD0D6}"/>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Other</a:t>
            </a:r>
            <a:r>
              <a:rPr lang="zh-CN" altLang="en-US" sz="2400" b="1" dirty="0">
                <a:latin typeface="Arial" panose="020B0604020202020204" pitchFamily="34" charset="0"/>
                <a:cs typeface="Arial" panose="020B0604020202020204" pitchFamily="34" charset="0"/>
              </a:rPr>
              <a:t> </a:t>
            </a:r>
            <a:r>
              <a:rPr lang="en-US" altLang="zh-CN" sz="2400" b="1" dirty="0">
                <a:latin typeface="Arial" panose="020B0604020202020204" pitchFamily="34" charset="0"/>
                <a:cs typeface="Arial" panose="020B0604020202020204" pitchFamily="34" charset="0"/>
              </a:rPr>
              <a:t>Composition</a:t>
            </a:r>
            <a:r>
              <a:rPr lang="zh-CN" altLang="en-US" sz="2400" b="1" dirty="0">
                <a:latin typeface="Arial" panose="020B0604020202020204" pitchFamily="34" charset="0"/>
                <a:cs typeface="Arial" panose="020B0604020202020204" pitchFamily="34" charset="0"/>
              </a:rPr>
              <a:t> </a:t>
            </a:r>
            <a:r>
              <a:rPr lang="en-US" altLang="zh-CN" sz="2400" b="1" dirty="0">
                <a:latin typeface="Arial" panose="020B0604020202020204" pitchFamily="34" charset="0"/>
                <a:cs typeface="Arial" panose="020B0604020202020204" pitchFamily="34" charset="0"/>
              </a:rPr>
              <a:t>Theorem</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C9BADF41-808D-54ED-5FB5-A37EAF82FFF6}"/>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Solution:</a:t>
            </a:r>
            <a:r>
              <a:rPr lang="en-US" altLang="zh-CN" dirty="0">
                <a:latin typeface="Arial" panose="020B0604020202020204" pitchFamily="34" charset="0"/>
                <a:cs typeface="Arial" panose="020B0604020202020204" pitchFamily="34" charset="0"/>
              </a:rPr>
              <a:t> slack the privacy guarantee</a:t>
            </a:r>
          </a:p>
        </p:txBody>
      </p:sp>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02E30A40-3002-3369-8639-C4AF29219100}"/>
                  </a:ext>
                </a:extLst>
              </p:cNvPr>
              <p:cNvSpPr txBox="1"/>
              <p:nvPr/>
            </p:nvSpPr>
            <p:spPr>
              <a:xfrm>
                <a:off x="314548" y="2262557"/>
                <a:ext cx="10878855" cy="3785652"/>
              </a:xfrm>
              <a:prstGeom prst="rect">
                <a:avLst/>
              </a:prstGeom>
              <a:noFill/>
            </p:spPr>
            <p:txBody>
              <a:bodyPr wrap="square" rtlCol="0">
                <a:spAutoFit/>
              </a:bodyPr>
              <a:lstStyle/>
              <a:p>
                <a14:m>
                  <m:oMath xmlns:m="http://schemas.openxmlformats.org/officeDocument/2006/math">
                    <m:r>
                      <a:rPr lang="en-US" altLang="zh-CN" sz="2000" b="1" i="1" smtClean="0">
                        <a:latin typeface="Cambria Math" panose="02040503050406030204" pitchFamily="18" charset="0"/>
                        <a:cs typeface="Arial" panose="020B0604020202020204" pitchFamily="34" charset="0"/>
                      </a:rPr>
                      <m:t>𝝐</m:t>
                    </m:r>
                  </m:oMath>
                </a14:m>
                <a:r>
                  <a:rPr lang="en-US" altLang="zh-CN" sz="2000" b="1" dirty="0">
                    <a:latin typeface="Arial" panose="020B0604020202020204" pitchFamily="34" charset="0"/>
                    <a:cs typeface="Arial" panose="020B0604020202020204" pitchFamily="34" charset="0"/>
                  </a:rPr>
                  <a:t>-Differential Privacy</a:t>
                </a:r>
                <a:r>
                  <a:rPr lang="en-US" altLang="zh-CN" sz="2000" dirty="0">
                    <a:latin typeface="Arial" panose="020B0604020202020204" pitchFamily="34" charset="0"/>
                    <a:cs typeface="Arial" panose="020B0604020202020204" pitchFamily="34" charset="0"/>
                  </a:rPr>
                  <a:t>: A randomized algorithm </a:t>
                </a:r>
                <a14:m>
                  <m:oMath xmlns:m="http://schemas.openxmlformats.org/officeDocument/2006/math">
                    <m:r>
                      <a:rPr lang="en-US" altLang="zh-CN" sz="2000" i="1">
                        <a:latin typeface="Cambria Math" panose="02040503050406030204" pitchFamily="18" charset="0"/>
                        <a:cs typeface="Arial" panose="020B0604020202020204" pitchFamily="34" charset="0"/>
                      </a:rPr>
                      <m:t>𝑀</m:t>
                    </m:r>
                  </m:oMath>
                </a14:m>
                <a:r>
                  <a:rPr lang="en-US" altLang="zh-CN" sz="2000" dirty="0">
                    <a:latin typeface="Arial" panose="020B0604020202020204" pitchFamily="34" charset="0"/>
                    <a:cs typeface="Arial" panose="020B0604020202020204" pitchFamily="34" charset="0"/>
                  </a:rPr>
                  <a:t> is </a:t>
                </a:r>
                <a14:m>
                  <m:oMath xmlns:m="http://schemas.openxmlformats.org/officeDocument/2006/math">
                    <m:r>
                      <a:rPr lang="en-US" altLang="zh-CN" sz="2000" i="1">
                        <a:latin typeface="Cambria Math" panose="02040503050406030204" pitchFamily="18" charset="0"/>
                        <a:cs typeface="Arial" panose="020B0604020202020204" pitchFamily="34" charset="0"/>
                      </a:rPr>
                      <m:t>𝜖</m:t>
                    </m:r>
                  </m:oMath>
                </a14:m>
                <a:r>
                  <a:rPr lang="en-US" altLang="zh-CN" sz="2000" dirty="0">
                    <a:latin typeface="Arial" panose="020B0604020202020204" pitchFamily="34" charset="0"/>
                    <a:cs typeface="Arial" panose="020B0604020202020204" pitchFamily="34" charset="0"/>
                  </a:rPr>
                  <a:t>-DP if and only if </a:t>
                </a:r>
              </a:p>
              <a:p>
                <a:pPr/>
                <a14:m>
                  <m:oMathPara xmlns:m="http://schemas.openxmlformats.org/officeDocument/2006/math">
                    <m:oMathParaPr>
                      <m:jc m:val="centerGroup"/>
                    </m:oMathParaPr>
                    <m:oMath xmlns:m="http://schemas.openxmlformats.org/officeDocument/2006/math">
                      <m:func>
                        <m:funcPr>
                          <m:ctrlPr>
                            <a:rPr lang="en-US" altLang="zh-CN" sz="2000" i="1">
                              <a:latin typeface="Cambria Math" panose="02040503050406030204" pitchFamily="18" charset="0"/>
                              <a:cs typeface="Arial" panose="020B0604020202020204" pitchFamily="34" charset="0"/>
                            </a:rPr>
                          </m:ctrlPr>
                        </m:funcPr>
                        <m:fName>
                          <m:r>
                            <m:rPr>
                              <m:sty m:val="p"/>
                            </m:rPr>
                            <a:rPr lang="en-US" altLang="zh-CN" sz="2000">
                              <a:latin typeface="Cambria Math" panose="02040503050406030204" pitchFamily="18" charset="0"/>
                              <a:cs typeface="Arial" panose="020B0604020202020204" pitchFamily="34" charset="0"/>
                            </a:rPr>
                            <m:t>Pr</m:t>
                          </m:r>
                        </m:fName>
                        <m:e>
                          <m:d>
                            <m:dPr>
                              <m:begChr m:val="["/>
                              <m:endChr m:val="]"/>
                              <m:ctrlPr>
                                <a:rPr lang="en-US" altLang="zh-CN" sz="2000" i="1">
                                  <a:latin typeface="Cambria Math" panose="02040503050406030204" pitchFamily="18" charset="0"/>
                                  <a:cs typeface="Arial" panose="020B0604020202020204" pitchFamily="34" charset="0"/>
                                </a:rPr>
                              </m:ctrlPr>
                            </m:dPr>
                            <m:e>
                              <m:r>
                                <a:rPr lang="en-US" altLang="zh-CN" sz="2000" i="1">
                                  <a:latin typeface="Cambria Math" panose="02040503050406030204" pitchFamily="18" charset="0"/>
                                  <a:cs typeface="Arial" panose="020B0604020202020204" pitchFamily="34" charset="0"/>
                                </a:rPr>
                                <m:t>𝑀</m:t>
                              </m:r>
                              <m:d>
                                <m:dPr>
                                  <m:ctrlPr>
                                    <a:rPr lang="en-US" altLang="zh-CN" sz="2000" i="1">
                                      <a:latin typeface="Cambria Math" panose="02040503050406030204" pitchFamily="18" charset="0"/>
                                      <a:cs typeface="Arial" panose="020B0604020202020204" pitchFamily="34" charset="0"/>
                                    </a:rPr>
                                  </m:ctrlPr>
                                </m:dPr>
                                <m:e>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1</m:t>
                                      </m:r>
                                    </m:sub>
                                  </m:sSub>
                                </m:e>
                              </m:d>
                              <m:r>
                                <a:rPr lang="en-US" altLang="zh-CN" sz="2000" i="1">
                                  <a:latin typeface="Cambria Math" panose="02040503050406030204" pitchFamily="18" charset="0"/>
                                  <a:cs typeface="Arial" panose="020B0604020202020204" pitchFamily="34" charset="0"/>
                                </a:rPr>
                                <m:t>=</m:t>
                              </m:r>
                              <m:r>
                                <a:rPr lang="en-US" altLang="zh-CN" sz="2000" i="1">
                                  <a:latin typeface="Cambria Math" panose="02040503050406030204" pitchFamily="18" charset="0"/>
                                  <a:cs typeface="Arial" panose="020B0604020202020204" pitchFamily="34" charset="0"/>
                                </a:rPr>
                                <m:t>𝑡</m:t>
                              </m:r>
                            </m:e>
                          </m:d>
                          <m:r>
                            <a:rPr lang="en-US" altLang="zh-CN" sz="2000" i="1">
                              <a:latin typeface="Cambria Math" panose="02040503050406030204" pitchFamily="18" charset="0"/>
                              <a:cs typeface="Arial" panose="020B0604020202020204" pitchFamily="34" charset="0"/>
                            </a:rPr>
                            <m:t>≤</m:t>
                          </m:r>
                          <m:sSup>
                            <m:sSupPr>
                              <m:ctrlPr>
                                <a:rPr lang="en-US" altLang="zh-CN" sz="2000" i="1">
                                  <a:latin typeface="Cambria Math" panose="02040503050406030204" pitchFamily="18" charset="0"/>
                                  <a:cs typeface="Arial" panose="020B0604020202020204" pitchFamily="34" charset="0"/>
                                </a:rPr>
                              </m:ctrlPr>
                            </m:sSupPr>
                            <m:e>
                              <m:r>
                                <a:rPr lang="en-US" altLang="zh-CN" sz="2000" i="1">
                                  <a:latin typeface="Cambria Math" panose="02040503050406030204" pitchFamily="18" charset="0"/>
                                  <a:cs typeface="Arial" panose="020B0604020202020204" pitchFamily="34" charset="0"/>
                                </a:rPr>
                                <m:t>𝑒</m:t>
                              </m:r>
                            </m:e>
                            <m:sup>
                              <m:r>
                                <a:rPr lang="en-US" altLang="zh-CN" sz="2000" i="1">
                                  <a:latin typeface="Cambria Math" panose="02040503050406030204" pitchFamily="18" charset="0"/>
                                  <a:cs typeface="Arial" panose="020B0604020202020204" pitchFamily="34" charset="0"/>
                                </a:rPr>
                                <m:t>𝜖</m:t>
                              </m:r>
                            </m:sup>
                          </m:sSup>
                        </m:e>
                      </m:func>
                      <m:func>
                        <m:funcPr>
                          <m:ctrlPr>
                            <a:rPr lang="en-US" altLang="zh-CN" sz="2000" i="1">
                              <a:latin typeface="Cambria Math" panose="02040503050406030204" pitchFamily="18" charset="0"/>
                              <a:cs typeface="Arial" panose="020B0604020202020204" pitchFamily="34" charset="0"/>
                            </a:rPr>
                          </m:ctrlPr>
                        </m:funcPr>
                        <m:fName>
                          <m:r>
                            <m:rPr>
                              <m:sty m:val="p"/>
                            </m:rPr>
                            <a:rPr lang="en-US" altLang="zh-CN" sz="2000">
                              <a:latin typeface="Cambria Math" panose="02040503050406030204" pitchFamily="18" charset="0"/>
                              <a:cs typeface="Arial" panose="020B0604020202020204" pitchFamily="34" charset="0"/>
                            </a:rPr>
                            <m:t>Pr</m:t>
                          </m:r>
                        </m:fName>
                        <m:e>
                          <m:r>
                            <a:rPr lang="en-US" altLang="zh-CN" sz="2000" i="1">
                              <a:latin typeface="Cambria Math" panose="02040503050406030204" pitchFamily="18" charset="0"/>
                              <a:cs typeface="Arial" panose="020B0604020202020204" pitchFamily="34" charset="0"/>
                            </a:rPr>
                            <m:t>[</m:t>
                          </m:r>
                          <m:r>
                            <a:rPr lang="en-US" altLang="zh-CN" sz="2000" i="1">
                              <a:latin typeface="Cambria Math" panose="02040503050406030204" pitchFamily="18" charset="0"/>
                              <a:cs typeface="Arial" panose="020B0604020202020204" pitchFamily="34" charset="0"/>
                            </a:rPr>
                            <m:t>𝑀</m:t>
                          </m:r>
                          <m:d>
                            <m:dPr>
                              <m:ctrlPr>
                                <a:rPr lang="en-US" altLang="zh-CN" sz="2000" i="1">
                                  <a:latin typeface="Cambria Math" panose="02040503050406030204" pitchFamily="18" charset="0"/>
                                  <a:cs typeface="Arial" panose="020B0604020202020204" pitchFamily="34" charset="0"/>
                                </a:rPr>
                              </m:ctrlPr>
                            </m:dPr>
                            <m:e>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2</m:t>
                                  </m:r>
                                </m:sub>
                              </m:sSub>
                            </m:e>
                          </m:d>
                          <m:r>
                            <a:rPr lang="en-US" altLang="zh-CN" sz="2000" i="1">
                              <a:latin typeface="Cambria Math" panose="02040503050406030204" pitchFamily="18" charset="0"/>
                              <a:cs typeface="Arial" panose="020B0604020202020204" pitchFamily="34" charset="0"/>
                            </a:rPr>
                            <m:t>=</m:t>
                          </m:r>
                          <m:r>
                            <a:rPr lang="en-US" altLang="zh-CN" sz="2000" i="1">
                              <a:latin typeface="Cambria Math" panose="02040503050406030204" pitchFamily="18" charset="0"/>
                              <a:cs typeface="Arial" panose="020B0604020202020204" pitchFamily="34" charset="0"/>
                            </a:rPr>
                            <m:t>𝑡</m:t>
                          </m:r>
                          <m:r>
                            <a:rPr lang="en-US" altLang="zh-CN" sz="2000" i="1">
                              <a:latin typeface="Cambria Math" panose="02040503050406030204" pitchFamily="18" charset="0"/>
                              <a:cs typeface="Arial" panose="020B0604020202020204" pitchFamily="34" charset="0"/>
                            </a:rPr>
                            <m:t>]</m:t>
                          </m:r>
                        </m:e>
                      </m:func>
                    </m:oMath>
                  </m:oMathPara>
                </a14:m>
                <a:endParaRPr lang="en-US" altLang="zh-CN" sz="2000" dirty="0">
                  <a:latin typeface="Arial" panose="020B0604020202020204" pitchFamily="34" charset="0"/>
                  <a:cs typeface="Arial" panose="020B0604020202020204" pitchFamily="34" charset="0"/>
                </a:endParaRPr>
              </a:p>
              <a:p>
                <a:r>
                  <a:rPr lang="en-US" altLang="zh-CN" sz="2000" dirty="0">
                    <a:latin typeface="Arial" panose="020B0604020202020204" pitchFamily="34" charset="0"/>
                    <a:cs typeface="Arial" panose="020B0604020202020204" pitchFamily="34" charset="0"/>
                  </a:rPr>
                  <a:t>where </a:t>
                </a:r>
                <a14:m>
                  <m:oMath xmlns:m="http://schemas.openxmlformats.org/officeDocument/2006/math">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1</m:t>
                        </m:r>
                      </m:sub>
                    </m:sSub>
                  </m:oMath>
                </a14:m>
                <a:r>
                  <a:rPr lang="en-US" altLang="zh-CN" sz="2000"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2</m:t>
                        </m:r>
                      </m:sub>
                    </m:sSub>
                  </m:oMath>
                </a14:m>
                <a:r>
                  <a:rPr lang="en-US" altLang="zh-CN" sz="2000" dirty="0">
                    <a:latin typeface="Arial" panose="020B0604020202020204" pitchFamily="34" charset="0"/>
                    <a:cs typeface="Arial" panose="020B0604020202020204" pitchFamily="34" charset="0"/>
                  </a:rPr>
                  <a:t> is a pair of neighbor datasets that only differ on one individual.</a:t>
                </a:r>
              </a:p>
              <a:p>
                <a:endParaRPr lang="en-US" altLang="zh-CN" sz="2000" dirty="0">
                  <a:latin typeface="Arial" panose="020B0604020202020204" pitchFamily="34" charset="0"/>
                  <a:cs typeface="Arial" panose="020B0604020202020204" pitchFamily="34" charset="0"/>
                </a:endParaRPr>
              </a:p>
              <a:p>
                <a:endParaRPr lang="en-US" altLang="zh-CN" sz="2000" dirty="0">
                  <a:latin typeface="Arial" panose="020B0604020202020204" pitchFamily="34" charset="0"/>
                  <a:cs typeface="Arial" panose="020B0604020202020204" pitchFamily="34" charset="0"/>
                </a:endParaRPr>
              </a:p>
              <a:p>
                <a14:m>
                  <m:oMath xmlns:m="http://schemas.openxmlformats.org/officeDocument/2006/math">
                    <m:r>
                      <a:rPr lang="en-US" altLang="zh-CN" sz="2000" b="1" i="1" smtClean="0">
                        <a:latin typeface="Cambria Math" panose="02040503050406030204" pitchFamily="18" charset="0"/>
                        <a:cs typeface="Arial" panose="020B0604020202020204" pitchFamily="34" charset="0"/>
                      </a:rPr>
                      <m:t>(</m:t>
                    </m:r>
                    <m:r>
                      <a:rPr lang="en-US" altLang="zh-CN" sz="2000" b="1" i="1">
                        <a:latin typeface="Cambria Math" panose="02040503050406030204" pitchFamily="18" charset="0"/>
                        <a:cs typeface="Arial" panose="020B0604020202020204" pitchFamily="34" charset="0"/>
                      </a:rPr>
                      <m:t>𝝐</m:t>
                    </m:r>
                    <m:r>
                      <a:rPr lang="en-US" altLang="zh-CN" sz="2000" b="1" i="1" smtClean="0">
                        <a:latin typeface="Cambria Math" panose="02040503050406030204" pitchFamily="18" charset="0"/>
                        <a:cs typeface="Arial" panose="020B0604020202020204" pitchFamily="34" charset="0"/>
                      </a:rPr>
                      <m:t>,</m:t>
                    </m:r>
                    <m:r>
                      <a:rPr lang="en-US" altLang="zh-CN" sz="2000" b="1" i="1" smtClean="0">
                        <a:latin typeface="Cambria Math" panose="02040503050406030204" pitchFamily="18" charset="0"/>
                        <a:cs typeface="Arial" panose="020B0604020202020204" pitchFamily="34" charset="0"/>
                      </a:rPr>
                      <m:t>𝜹</m:t>
                    </m:r>
                    <m:r>
                      <a:rPr lang="en-US" altLang="zh-CN" sz="2000" b="1" i="1" smtClean="0">
                        <a:latin typeface="Cambria Math" panose="02040503050406030204" pitchFamily="18" charset="0"/>
                        <a:cs typeface="Arial" panose="020B0604020202020204" pitchFamily="34" charset="0"/>
                      </a:rPr>
                      <m:t>)</m:t>
                    </m:r>
                  </m:oMath>
                </a14:m>
                <a:r>
                  <a:rPr lang="en-US" altLang="zh-CN" sz="2000" b="1" dirty="0">
                    <a:latin typeface="Arial" panose="020B0604020202020204" pitchFamily="34" charset="0"/>
                    <a:cs typeface="Arial" panose="020B0604020202020204" pitchFamily="34" charset="0"/>
                  </a:rPr>
                  <a:t>-Differential Privacy</a:t>
                </a:r>
                <a:r>
                  <a:rPr lang="en-US" altLang="zh-CN" sz="2000" dirty="0">
                    <a:latin typeface="Arial" panose="020B0604020202020204" pitchFamily="34" charset="0"/>
                    <a:cs typeface="Arial" panose="020B0604020202020204" pitchFamily="34" charset="0"/>
                  </a:rPr>
                  <a:t>: A randomized algorithm </a:t>
                </a:r>
                <a14:m>
                  <m:oMath xmlns:m="http://schemas.openxmlformats.org/officeDocument/2006/math">
                    <m:r>
                      <a:rPr lang="en-US" altLang="zh-CN" sz="2000" i="1">
                        <a:latin typeface="Cambria Math" panose="02040503050406030204" pitchFamily="18" charset="0"/>
                        <a:cs typeface="Arial" panose="020B0604020202020204" pitchFamily="34" charset="0"/>
                      </a:rPr>
                      <m:t>𝑀</m:t>
                    </m:r>
                  </m:oMath>
                </a14:m>
                <a:r>
                  <a:rPr lang="en-US" altLang="zh-CN" sz="2000" dirty="0">
                    <a:latin typeface="Arial" panose="020B0604020202020204" pitchFamily="34" charset="0"/>
                    <a:cs typeface="Arial" panose="020B0604020202020204" pitchFamily="34" charset="0"/>
                  </a:rPr>
                  <a:t> is </a:t>
                </a:r>
                <a14:m>
                  <m:oMath xmlns:m="http://schemas.openxmlformats.org/officeDocument/2006/math">
                    <m:r>
                      <a:rPr lang="en-US" altLang="zh-CN" sz="2000" i="1">
                        <a:latin typeface="Cambria Math" panose="02040503050406030204" pitchFamily="18" charset="0"/>
                        <a:cs typeface="Arial" panose="020B0604020202020204" pitchFamily="34" charset="0"/>
                      </a:rPr>
                      <m:t>𝜖</m:t>
                    </m:r>
                  </m:oMath>
                </a14:m>
                <a:r>
                  <a:rPr lang="en-US" altLang="zh-CN" sz="2000" dirty="0">
                    <a:latin typeface="Arial" panose="020B0604020202020204" pitchFamily="34" charset="0"/>
                    <a:cs typeface="Arial" panose="020B0604020202020204" pitchFamily="34" charset="0"/>
                  </a:rPr>
                  <a:t>-DP if and only if </a:t>
                </a:r>
              </a:p>
              <a:p>
                <a:pPr/>
                <a14:m>
                  <m:oMathPara xmlns:m="http://schemas.openxmlformats.org/officeDocument/2006/math">
                    <m:oMathParaPr>
                      <m:jc m:val="centerGroup"/>
                    </m:oMathParaPr>
                    <m:oMath xmlns:m="http://schemas.openxmlformats.org/officeDocument/2006/math">
                      <m:func>
                        <m:funcPr>
                          <m:ctrlPr>
                            <a:rPr lang="en-US" altLang="zh-CN" sz="2000" i="1">
                              <a:latin typeface="Cambria Math" panose="02040503050406030204" pitchFamily="18" charset="0"/>
                              <a:cs typeface="Arial" panose="020B0604020202020204" pitchFamily="34" charset="0"/>
                            </a:rPr>
                          </m:ctrlPr>
                        </m:funcPr>
                        <m:fName>
                          <m:r>
                            <m:rPr>
                              <m:sty m:val="p"/>
                            </m:rPr>
                            <a:rPr lang="en-US" altLang="zh-CN" sz="2000">
                              <a:latin typeface="Cambria Math" panose="02040503050406030204" pitchFamily="18" charset="0"/>
                              <a:cs typeface="Arial" panose="020B0604020202020204" pitchFamily="34" charset="0"/>
                            </a:rPr>
                            <m:t>Pr</m:t>
                          </m:r>
                        </m:fName>
                        <m:e>
                          <m:d>
                            <m:dPr>
                              <m:begChr m:val="["/>
                              <m:endChr m:val="]"/>
                              <m:ctrlPr>
                                <a:rPr lang="en-US" altLang="zh-CN" sz="2000" i="1">
                                  <a:latin typeface="Cambria Math" panose="02040503050406030204" pitchFamily="18" charset="0"/>
                                  <a:cs typeface="Arial" panose="020B0604020202020204" pitchFamily="34" charset="0"/>
                                </a:rPr>
                              </m:ctrlPr>
                            </m:dPr>
                            <m:e>
                              <m:r>
                                <a:rPr lang="en-US" altLang="zh-CN" sz="2000" i="1">
                                  <a:latin typeface="Cambria Math" panose="02040503050406030204" pitchFamily="18" charset="0"/>
                                  <a:cs typeface="Arial" panose="020B0604020202020204" pitchFamily="34" charset="0"/>
                                </a:rPr>
                                <m:t>𝑀</m:t>
                              </m:r>
                              <m:d>
                                <m:dPr>
                                  <m:ctrlPr>
                                    <a:rPr lang="en-US" altLang="zh-CN" sz="2000" i="1">
                                      <a:latin typeface="Cambria Math" panose="02040503050406030204" pitchFamily="18" charset="0"/>
                                      <a:cs typeface="Arial" panose="020B0604020202020204" pitchFamily="34" charset="0"/>
                                    </a:rPr>
                                  </m:ctrlPr>
                                </m:dPr>
                                <m:e>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1</m:t>
                                      </m:r>
                                    </m:sub>
                                  </m:sSub>
                                </m:e>
                              </m:d>
                              <m:r>
                                <a:rPr lang="en-US" altLang="zh-CN" sz="2000" i="1">
                                  <a:latin typeface="Cambria Math" panose="02040503050406030204" pitchFamily="18" charset="0"/>
                                  <a:cs typeface="Arial" panose="020B0604020202020204" pitchFamily="34" charset="0"/>
                                </a:rPr>
                                <m:t>=</m:t>
                              </m:r>
                              <m:r>
                                <a:rPr lang="en-US" altLang="zh-CN" sz="2000" i="1">
                                  <a:latin typeface="Cambria Math" panose="02040503050406030204" pitchFamily="18" charset="0"/>
                                  <a:cs typeface="Arial" panose="020B0604020202020204" pitchFamily="34" charset="0"/>
                                </a:rPr>
                                <m:t>𝑡</m:t>
                              </m:r>
                            </m:e>
                          </m:d>
                          <m:r>
                            <a:rPr lang="en-US" altLang="zh-CN" sz="2000" i="1">
                              <a:latin typeface="Cambria Math" panose="02040503050406030204" pitchFamily="18" charset="0"/>
                              <a:cs typeface="Arial" panose="020B0604020202020204" pitchFamily="34" charset="0"/>
                            </a:rPr>
                            <m:t>≤</m:t>
                          </m:r>
                          <m:sSup>
                            <m:sSupPr>
                              <m:ctrlPr>
                                <a:rPr lang="en-US" altLang="zh-CN" sz="2000" i="1">
                                  <a:latin typeface="Cambria Math" panose="02040503050406030204" pitchFamily="18" charset="0"/>
                                  <a:cs typeface="Arial" panose="020B0604020202020204" pitchFamily="34" charset="0"/>
                                </a:rPr>
                              </m:ctrlPr>
                            </m:sSupPr>
                            <m:e>
                              <m:r>
                                <a:rPr lang="en-US" altLang="zh-CN" sz="2000" i="1">
                                  <a:latin typeface="Cambria Math" panose="02040503050406030204" pitchFamily="18" charset="0"/>
                                  <a:cs typeface="Arial" panose="020B0604020202020204" pitchFamily="34" charset="0"/>
                                </a:rPr>
                                <m:t>𝑒</m:t>
                              </m:r>
                            </m:e>
                            <m:sup>
                              <m:r>
                                <a:rPr lang="en-US" altLang="zh-CN" sz="2000" i="1">
                                  <a:latin typeface="Cambria Math" panose="02040503050406030204" pitchFamily="18" charset="0"/>
                                  <a:cs typeface="Arial" panose="020B0604020202020204" pitchFamily="34" charset="0"/>
                                </a:rPr>
                                <m:t>𝜖</m:t>
                              </m:r>
                            </m:sup>
                          </m:sSup>
                        </m:e>
                      </m:func>
                      <m:func>
                        <m:funcPr>
                          <m:ctrlPr>
                            <a:rPr lang="en-US" altLang="zh-CN" sz="2000" i="1">
                              <a:latin typeface="Cambria Math" panose="02040503050406030204" pitchFamily="18" charset="0"/>
                              <a:cs typeface="Arial" panose="020B0604020202020204" pitchFamily="34" charset="0"/>
                            </a:rPr>
                          </m:ctrlPr>
                        </m:funcPr>
                        <m:fName>
                          <m:r>
                            <m:rPr>
                              <m:sty m:val="p"/>
                            </m:rPr>
                            <a:rPr lang="en-US" altLang="zh-CN" sz="2000">
                              <a:latin typeface="Cambria Math" panose="02040503050406030204" pitchFamily="18" charset="0"/>
                              <a:cs typeface="Arial" panose="020B0604020202020204" pitchFamily="34" charset="0"/>
                            </a:rPr>
                            <m:t>Pr</m:t>
                          </m:r>
                        </m:fName>
                        <m:e>
                          <m:r>
                            <a:rPr lang="en-US" altLang="zh-CN" sz="2000" i="1">
                              <a:latin typeface="Cambria Math" panose="02040503050406030204" pitchFamily="18" charset="0"/>
                              <a:cs typeface="Arial" panose="020B0604020202020204" pitchFamily="34" charset="0"/>
                            </a:rPr>
                            <m:t>[</m:t>
                          </m:r>
                          <m:r>
                            <a:rPr lang="en-US" altLang="zh-CN" sz="2000" i="1">
                              <a:latin typeface="Cambria Math" panose="02040503050406030204" pitchFamily="18" charset="0"/>
                              <a:cs typeface="Arial" panose="020B0604020202020204" pitchFamily="34" charset="0"/>
                            </a:rPr>
                            <m:t>𝑀</m:t>
                          </m:r>
                          <m:d>
                            <m:dPr>
                              <m:ctrlPr>
                                <a:rPr lang="en-US" altLang="zh-CN" sz="2000" i="1">
                                  <a:latin typeface="Cambria Math" panose="02040503050406030204" pitchFamily="18" charset="0"/>
                                  <a:cs typeface="Arial" panose="020B0604020202020204" pitchFamily="34" charset="0"/>
                                </a:rPr>
                              </m:ctrlPr>
                            </m:dPr>
                            <m:e>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2</m:t>
                                  </m:r>
                                </m:sub>
                              </m:sSub>
                            </m:e>
                          </m:d>
                          <m:r>
                            <a:rPr lang="en-US" altLang="zh-CN" sz="2000" i="1">
                              <a:latin typeface="Cambria Math" panose="02040503050406030204" pitchFamily="18" charset="0"/>
                              <a:cs typeface="Arial" panose="020B0604020202020204" pitchFamily="34" charset="0"/>
                            </a:rPr>
                            <m:t>=</m:t>
                          </m:r>
                          <m:r>
                            <a:rPr lang="en-US" altLang="zh-CN" sz="2000" i="1">
                              <a:latin typeface="Cambria Math" panose="02040503050406030204" pitchFamily="18" charset="0"/>
                              <a:cs typeface="Arial" panose="020B0604020202020204" pitchFamily="34" charset="0"/>
                            </a:rPr>
                            <m:t>𝑡</m:t>
                          </m:r>
                          <m:r>
                            <a:rPr lang="en-US" altLang="zh-CN" sz="2000" i="1">
                              <a:latin typeface="Cambria Math" panose="02040503050406030204" pitchFamily="18" charset="0"/>
                              <a:cs typeface="Arial" panose="020B0604020202020204" pitchFamily="34" charset="0"/>
                            </a:rPr>
                            <m:t>]</m:t>
                          </m:r>
                        </m:e>
                      </m:func>
                      <m:r>
                        <a:rPr lang="en-US" altLang="zh-CN" sz="2000" b="0" i="1" smtClean="0">
                          <a:latin typeface="Cambria Math" panose="02040503050406030204" pitchFamily="18" charset="0"/>
                          <a:cs typeface="Arial" panose="020B0604020202020204" pitchFamily="34" charset="0"/>
                        </a:rPr>
                        <m:t>+</m:t>
                      </m:r>
                      <m:r>
                        <a:rPr lang="en-US" altLang="zh-CN" sz="2000" b="0" i="1" smtClean="0">
                          <a:latin typeface="Cambria Math" panose="02040503050406030204" pitchFamily="18" charset="0"/>
                          <a:cs typeface="Arial" panose="020B0604020202020204" pitchFamily="34" charset="0"/>
                        </a:rPr>
                        <m:t>𝛿</m:t>
                      </m:r>
                    </m:oMath>
                  </m:oMathPara>
                </a14:m>
                <a:endParaRPr lang="en-US" altLang="zh-CN" sz="2000" dirty="0">
                  <a:latin typeface="Arial" panose="020B0604020202020204" pitchFamily="34" charset="0"/>
                  <a:cs typeface="Arial" panose="020B0604020202020204" pitchFamily="34" charset="0"/>
                </a:endParaRPr>
              </a:p>
              <a:p>
                <a:r>
                  <a:rPr lang="en-US" altLang="zh-CN" sz="2000" dirty="0">
                    <a:latin typeface="Arial" panose="020B0604020202020204" pitchFamily="34" charset="0"/>
                    <a:cs typeface="Arial" panose="020B0604020202020204" pitchFamily="34" charset="0"/>
                  </a:rPr>
                  <a:t>where </a:t>
                </a:r>
                <a14:m>
                  <m:oMath xmlns:m="http://schemas.openxmlformats.org/officeDocument/2006/math">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1</m:t>
                        </m:r>
                      </m:sub>
                    </m:sSub>
                  </m:oMath>
                </a14:m>
                <a:r>
                  <a:rPr lang="en-US" altLang="zh-CN" sz="2000"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𝐷</m:t>
                        </m:r>
                      </m:e>
                      <m:sub>
                        <m:r>
                          <a:rPr lang="en-US" altLang="zh-CN" sz="2000" i="1">
                            <a:latin typeface="Cambria Math" panose="02040503050406030204" pitchFamily="18" charset="0"/>
                            <a:cs typeface="Arial" panose="020B0604020202020204" pitchFamily="34" charset="0"/>
                          </a:rPr>
                          <m:t>2</m:t>
                        </m:r>
                      </m:sub>
                    </m:sSub>
                  </m:oMath>
                </a14:m>
                <a:r>
                  <a:rPr lang="en-US" altLang="zh-CN" sz="2000" dirty="0">
                    <a:latin typeface="Arial" panose="020B0604020202020204" pitchFamily="34" charset="0"/>
                    <a:cs typeface="Arial" panose="020B0604020202020204" pitchFamily="34" charset="0"/>
                  </a:rPr>
                  <a:t> is a pair of neighbor datasets that only differ on one individual.</a:t>
                </a:r>
              </a:p>
              <a:p>
                <a:endParaRPr lang="en-US" altLang="zh-CN" sz="2000" dirty="0">
                  <a:latin typeface="Arial" panose="020B0604020202020204" pitchFamily="34" charset="0"/>
                  <a:cs typeface="Arial" panose="020B0604020202020204" pitchFamily="34" charset="0"/>
                </a:endParaRPr>
              </a:p>
              <a:p>
                <a:r>
                  <a:rPr lang="en-US" altLang="zh-CN" sz="2000" dirty="0">
                    <a:solidFill>
                      <a:srgbClr val="C00000"/>
                    </a:solidFill>
                    <a:latin typeface="Arial" panose="020B0604020202020204" pitchFamily="34" charset="0"/>
                    <a:cs typeface="Arial" panose="020B0604020202020204" pitchFamily="34" charset="0"/>
                  </a:rPr>
                  <a:t>The new parameter </a:t>
                </a:r>
                <a14:m>
                  <m:oMath xmlns:m="http://schemas.openxmlformats.org/officeDocument/2006/math">
                    <m:r>
                      <a:rPr lang="en-US" altLang="zh-CN" sz="2000" b="0" i="1" smtClean="0">
                        <a:solidFill>
                          <a:srgbClr val="C00000"/>
                        </a:solidFill>
                        <a:latin typeface="Cambria Math" panose="02040503050406030204" pitchFamily="18" charset="0"/>
                        <a:cs typeface="Arial" panose="020B0604020202020204" pitchFamily="34" charset="0"/>
                      </a:rPr>
                      <m:t>𝛿</m:t>
                    </m:r>
                  </m:oMath>
                </a14:m>
                <a:r>
                  <a:rPr lang="en-US" altLang="zh-CN" sz="2000" dirty="0">
                    <a:solidFill>
                      <a:srgbClr val="C00000"/>
                    </a:solidFill>
                    <a:latin typeface="Arial" panose="020B0604020202020204" pitchFamily="34" charset="0"/>
                    <a:cs typeface="Arial" panose="020B0604020202020204" pitchFamily="34" charset="0"/>
                  </a:rPr>
                  <a:t> represents a “failure probability” for the definition</a:t>
                </a:r>
              </a:p>
              <a:p>
                <a:pPr marL="342900" indent="-342900">
                  <a:buFont typeface="Arial" panose="020B0604020202020204" pitchFamily="34" charset="0"/>
                  <a:buChar char="•"/>
                </a:pPr>
                <a:r>
                  <a:rPr lang="en-US" altLang="zh-CN" sz="2000" dirty="0">
                    <a:solidFill>
                      <a:srgbClr val="C00000"/>
                    </a:solidFill>
                    <a:latin typeface="Arial" panose="020B0604020202020204" pitchFamily="34" charset="0"/>
                    <a:cs typeface="Arial" panose="020B0604020202020204" pitchFamily="34" charset="0"/>
                  </a:rPr>
                  <a:t>With probability </a:t>
                </a:r>
                <a14:m>
                  <m:oMath xmlns:m="http://schemas.openxmlformats.org/officeDocument/2006/math">
                    <m:r>
                      <a:rPr lang="en-US" altLang="zh-CN" sz="2000" b="0" i="0" smtClean="0">
                        <a:solidFill>
                          <a:srgbClr val="C00000"/>
                        </a:solidFill>
                        <a:latin typeface="Cambria Math" panose="02040503050406030204" pitchFamily="18" charset="0"/>
                        <a:cs typeface="Arial" panose="020B0604020202020204" pitchFamily="34" charset="0"/>
                      </a:rPr>
                      <m:t>1−</m:t>
                    </m:r>
                    <m:r>
                      <a:rPr lang="en-US" altLang="zh-CN" sz="2000" b="0" i="1" smtClean="0">
                        <a:solidFill>
                          <a:srgbClr val="C00000"/>
                        </a:solidFill>
                        <a:latin typeface="Cambria Math" panose="02040503050406030204" pitchFamily="18" charset="0"/>
                        <a:cs typeface="Arial" panose="020B0604020202020204" pitchFamily="34" charset="0"/>
                      </a:rPr>
                      <m:t>𝛿</m:t>
                    </m:r>
                  </m:oMath>
                </a14:m>
                <a:r>
                  <a:rPr lang="en-US" altLang="zh-CN" sz="2000" dirty="0">
                    <a:solidFill>
                      <a:srgbClr val="C00000"/>
                    </a:solidFill>
                    <a:latin typeface="Arial" panose="020B0604020202020204" pitchFamily="34" charset="0"/>
                    <a:cs typeface="Arial" panose="020B0604020202020204" pitchFamily="34" charset="0"/>
                  </a:rPr>
                  <a:t>, </a:t>
                </a:r>
                <a14:m>
                  <m:oMath xmlns:m="http://schemas.openxmlformats.org/officeDocument/2006/math">
                    <m:func>
                      <m:funcPr>
                        <m:ctrlPr>
                          <a:rPr lang="en-US" altLang="zh-CN" sz="2000" i="1" smtClean="0">
                            <a:solidFill>
                              <a:srgbClr val="C00000"/>
                            </a:solidFill>
                            <a:latin typeface="Cambria Math" panose="02040503050406030204" pitchFamily="18" charset="0"/>
                            <a:cs typeface="Arial" panose="020B0604020202020204" pitchFamily="34" charset="0"/>
                          </a:rPr>
                        </m:ctrlPr>
                      </m:funcPr>
                      <m:fName>
                        <m:r>
                          <m:rPr>
                            <m:sty m:val="p"/>
                          </m:rPr>
                          <a:rPr lang="en-US" altLang="zh-CN" sz="2000">
                            <a:solidFill>
                              <a:srgbClr val="C00000"/>
                            </a:solidFill>
                            <a:latin typeface="Cambria Math" panose="02040503050406030204" pitchFamily="18" charset="0"/>
                            <a:cs typeface="Arial" panose="020B0604020202020204" pitchFamily="34" charset="0"/>
                          </a:rPr>
                          <m:t>Pr</m:t>
                        </m:r>
                      </m:fName>
                      <m:e>
                        <m:d>
                          <m:dPr>
                            <m:begChr m:val="["/>
                            <m:endChr m:val="]"/>
                            <m:ctrlPr>
                              <a:rPr lang="en-US" altLang="zh-CN" sz="2000" i="1">
                                <a:solidFill>
                                  <a:srgbClr val="C00000"/>
                                </a:solidFill>
                                <a:latin typeface="Cambria Math" panose="02040503050406030204" pitchFamily="18" charset="0"/>
                                <a:cs typeface="Arial" panose="020B0604020202020204" pitchFamily="34" charset="0"/>
                              </a:rPr>
                            </m:ctrlPr>
                          </m:dPr>
                          <m:e>
                            <m:r>
                              <a:rPr lang="en-US" altLang="zh-CN" sz="2000" i="1">
                                <a:solidFill>
                                  <a:srgbClr val="C00000"/>
                                </a:solidFill>
                                <a:latin typeface="Cambria Math" panose="02040503050406030204" pitchFamily="18" charset="0"/>
                                <a:cs typeface="Arial" panose="020B0604020202020204" pitchFamily="34" charset="0"/>
                              </a:rPr>
                              <m:t>𝑀</m:t>
                            </m:r>
                            <m:d>
                              <m:dPr>
                                <m:ctrlPr>
                                  <a:rPr lang="en-US" altLang="zh-CN" sz="2000" i="1">
                                    <a:solidFill>
                                      <a:srgbClr val="C00000"/>
                                    </a:solidFill>
                                    <a:latin typeface="Cambria Math" panose="02040503050406030204" pitchFamily="18" charset="0"/>
                                    <a:cs typeface="Arial" panose="020B0604020202020204" pitchFamily="34" charset="0"/>
                                  </a:rPr>
                                </m:ctrlPr>
                              </m:dPr>
                              <m:e>
                                <m:sSub>
                                  <m:sSubPr>
                                    <m:ctrlPr>
                                      <a:rPr lang="en-US" altLang="zh-CN" sz="2000" i="1">
                                        <a:solidFill>
                                          <a:srgbClr val="C00000"/>
                                        </a:solidFill>
                                        <a:latin typeface="Cambria Math" panose="02040503050406030204" pitchFamily="18" charset="0"/>
                                        <a:cs typeface="Arial" panose="020B0604020202020204" pitchFamily="34" charset="0"/>
                                      </a:rPr>
                                    </m:ctrlPr>
                                  </m:sSubPr>
                                  <m:e>
                                    <m:r>
                                      <a:rPr lang="en-US" altLang="zh-CN" sz="2000" i="1">
                                        <a:solidFill>
                                          <a:srgbClr val="C00000"/>
                                        </a:solidFill>
                                        <a:latin typeface="Cambria Math" panose="02040503050406030204" pitchFamily="18" charset="0"/>
                                        <a:cs typeface="Arial" panose="020B0604020202020204" pitchFamily="34" charset="0"/>
                                      </a:rPr>
                                      <m:t>𝐷</m:t>
                                    </m:r>
                                  </m:e>
                                  <m:sub>
                                    <m:r>
                                      <a:rPr lang="en-US" altLang="zh-CN" sz="2000" i="1">
                                        <a:solidFill>
                                          <a:srgbClr val="C00000"/>
                                        </a:solidFill>
                                        <a:latin typeface="Cambria Math" panose="02040503050406030204" pitchFamily="18" charset="0"/>
                                        <a:cs typeface="Arial" panose="020B0604020202020204" pitchFamily="34" charset="0"/>
                                      </a:rPr>
                                      <m:t>1</m:t>
                                    </m:r>
                                  </m:sub>
                                </m:sSub>
                              </m:e>
                            </m:d>
                            <m:r>
                              <a:rPr lang="en-US" altLang="zh-CN" sz="2000" i="1">
                                <a:solidFill>
                                  <a:srgbClr val="C00000"/>
                                </a:solidFill>
                                <a:latin typeface="Cambria Math" panose="02040503050406030204" pitchFamily="18" charset="0"/>
                                <a:cs typeface="Arial" panose="020B0604020202020204" pitchFamily="34" charset="0"/>
                              </a:rPr>
                              <m:t>=</m:t>
                            </m:r>
                            <m:r>
                              <a:rPr lang="en-US" altLang="zh-CN" sz="2000" i="1">
                                <a:solidFill>
                                  <a:srgbClr val="C00000"/>
                                </a:solidFill>
                                <a:latin typeface="Cambria Math" panose="02040503050406030204" pitchFamily="18" charset="0"/>
                                <a:cs typeface="Arial" panose="020B0604020202020204" pitchFamily="34" charset="0"/>
                              </a:rPr>
                              <m:t>𝑡</m:t>
                            </m:r>
                          </m:e>
                        </m:d>
                        <m:r>
                          <a:rPr lang="en-US" altLang="zh-CN" sz="2000" i="1">
                            <a:solidFill>
                              <a:srgbClr val="C00000"/>
                            </a:solidFill>
                            <a:latin typeface="Cambria Math" panose="02040503050406030204" pitchFamily="18" charset="0"/>
                            <a:cs typeface="Arial" panose="020B0604020202020204" pitchFamily="34" charset="0"/>
                          </a:rPr>
                          <m:t>≤</m:t>
                        </m:r>
                        <m:sSup>
                          <m:sSupPr>
                            <m:ctrlPr>
                              <a:rPr lang="en-US" altLang="zh-CN" sz="2000" i="1">
                                <a:solidFill>
                                  <a:srgbClr val="C00000"/>
                                </a:solidFill>
                                <a:latin typeface="Cambria Math" panose="02040503050406030204" pitchFamily="18" charset="0"/>
                                <a:cs typeface="Arial" panose="020B0604020202020204" pitchFamily="34" charset="0"/>
                              </a:rPr>
                            </m:ctrlPr>
                          </m:sSupPr>
                          <m:e>
                            <m:r>
                              <a:rPr lang="en-US" altLang="zh-CN" sz="2000" i="1">
                                <a:solidFill>
                                  <a:srgbClr val="C00000"/>
                                </a:solidFill>
                                <a:latin typeface="Cambria Math" panose="02040503050406030204" pitchFamily="18" charset="0"/>
                                <a:cs typeface="Arial" panose="020B0604020202020204" pitchFamily="34" charset="0"/>
                              </a:rPr>
                              <m:t>𝑒</m:t>
                            </m:r>
                          </m:e>
                          <m:sup>
                            <m:r>
                              <a:rPr lang="en-US" altLang="zh-CN" sz="2000" i="1">
                                <a:solidFill>
                                  <a:srgbClr val="C00000"/>
                                </a:solidFill>
                                <a:latin typeface="Cambria Math" panose="02040503050406030204" pitchFamily="18" charset="0"/>
                                <a:cs typeface="Arial" panose="020B0604020202020204" pitchFamily="34" charset="0"/>
                              </a:rPr>
                              <m:t>𝜖</m:t>
                            </m:r>
                          </m:sup>
                        </m:sSup>
                      </m:e>
                    </m:func>
                    <m:func>
                      <m:funcPr>
                        <m:ctrlPr>
                          <a:rPr lang="en-US" altLang="zh-CN" sz="2000" i="1">
                            <a:solidFill>
                              <a:srgbClr val="C00000"/>
                            </a:solidFill>
                            <a:latin typeface="Cambria Math" panose="02040503050406030204" pitchFamily="18" charset="0"/>
                            <a:cs typeface="Arial" panose="020B0604020202020204" pitchFamily="34" charset="0"/>
                          </a:rPr>
                        </m:ctrlPr>
                      </m:funcPr>
                      <m:fName>
                        <m:r>
                          <m:rPr>
                            <m:sty m:val="p"/>
                          </m:rPr>
                          <a:rPr lang="en-US" altLang="zh-CN" sz="2000">
                            <a:solidFill>
                              <a:srgbClr val="C00000"/>
                            </a:solidFill>
                            <a:latin typeface="Cambria Math" panose="02040503050406030204" pitchFamily="18" charset="0"/>
                            <a:cs typeface="Arial" panose="020B0604020202020204" pitchFamily="34" charset="0"/>
                          </a:rPr>
                          <m:t>Pr</m:t>
                        </m:r>
                      </m:fName>
                      <m:e>
                        <m:r>
                          <a:rPr lang="en-US" altLang="zh-CN" sz="2000" i="1">
                            <a:solidFill>
                              <a:srgbClr val="C00000"/>
                            </a:solidFill>
                            <a:latin typeface="Cambria Math" panose="02040503050406030204" pitchFamily="18" charset="0"/>
                            <a:cs typeface="Arial" panose="020B0604020202020204" pitchFamily="34" charset="0"/>
                          </a:rPr>
                          <m:t>[</m:t>
                        </m:r>
                        <m:r>
                          <a:rPr lang="en-US" altLang="zh-CN" sz="2000" i="1">
                            <a:solidFill>
                              <a:srgbClr val="C00000"/>
                            </a:solidFill>
                            <a:latin typeface="Cambria Math" panose="02040503050406030204" pitchFamily="18" charset="0"/>
                            <a:cs typeface="Arial" panose="020B0604020202020204" pitchFamily="34" charset="0"/>
                          </a:rPr>
                          <m:t>𝑀</m:t>
                        </m:r>
                        <m:d>
                          <m:dPr>
                            <m:ctrlPr>
                              <a:rPr lang="en-US" altLang="zh-CN" sz="2000" i="1">
                                <a:solidFill>
                                  <a:srgbClr val="C00000"/>
                                </a:solidFill>
                                <a:latin typeface="Cambria Math" panose="02040503050406030204" pitchFamily="18" charset="0"/>
                                <a:cs typeface="Arial" panose="020B0604020202020204" pitchFamily="34" charset="0"/>
                              </a:rPr>
                            </m:ctrlPr>
                          </m:dPr>
                          <m:e>
                            <m:sSub>
                              <m:sSubPr>
                                <m:ctrlPr>
                                  <a:rPr lang="en-US" altLang="zh-CN" sz="2000" i="1">
                                    <a:solidFill>
                                      <a:srgbClr val="C00000"/>
                                    </a:solidFill>
                                    <a:latin typeface="Cambria Math" panose="02040503050406030204" pitchFamily="18" charset="0"/>
                                    <a:cs typeface="Arial" panose="020B0604020202020204" pitchFamily="34" charset="0"/>
                                  </a:rPr>
                                </m:ctrlPr>
                              </m:sSubPr>
                              <m:e>
                                <m:r>
                                  <a:rPr lang="en-US" altLang="zh-CN" sz="2000" i="1">
                                    <a:solidFill>
                                      <a:srgbClr val="C00000"/>
                                    </a:solidFill>
                                    <a:latin typeface="Cambria Math" panose="02040503050406030204" pitchFamily="18" charset="0"/>
                                    <a:cs typeface="Arial" panose="020B0604020202020204" pitchFamily="34" charset="0"/>
                                  </a:rPr>
                                  <m:t>𝐷</m:t>
                                </m:r>
                              </m:e>
                              <m:sub>
                                <m:r>
                                  <a:rPr lang="en-US" altLang="zh-CN" sz="2000" i="1">
                                    <a:solidFill>
                                      <a:srgbClr val="C00000"/>
                                    </a:solidFill>
                                    <a:latin typeface="Cambria Math" panose="02040503050406030204" pitchFamily="18" charset="0"/>
                                    <a:cs typeface="Arial" panose="020B0604020202020204" pitchFamily="34" charset="0"/>
                                  </a:rPr>
                                  <m:t>2</m:t>
                                </m:r>
                              </m:sub>
                            </m:sSub>
                          </m:e>
                        </m:d>
                        <m:r>
                          <a:rPr lang="en-US" altLang="zh-CN" sz="2000" i="1">
                            <a:solidFill>
                              <a:srgbClr val="C00000"/>
                            </a:solidFill>
                            <a:latin typeface="Cambria Math" panose="02040503050406030204" pitchFamily="18" charset="0"/>
                            <a:cs typeface="Arial" panose="020B0604020202020204" pitchFamily="34" charset="0"/>
                          </a:rPr>
                          <m:t>=</m:t>
                        </m:r>
                        <m:r>
                          <a:rPr lang="en-US" altLang="zh-CN" sz="2000" i="1">
                            <a:solidFill>
                              <a:srgbClr val="C00000"/>
                            </a:solidFill>
                            <a:latin typeface="Cambria Math" panose="02040503050406030204" pitchFamily="18" charset="0"/>
                            <a:cs typeface="Arial" panose="020B0604020202020204" pitchFamily="34" charset="0"/>
                          </a:rPr>
                          <m:t>𝑡</m:t>
                        </m:r>
                        <m:r>
                          <a:rPr lang="en-US" altLang="zh-CN" sz="2000" i="1">
                            <a:solidFill>
                              <a:srgbClr val="C00000"/>
                            </a:solidFill>
                            <a:latin typeface="Cambria Math" panose="02040503050406030204" pitchFamily="18" charset="0"/>
                            <a:cs typeface="Arial" panose="020B0604020202020204" pitchFamily="34" charset="0"/>
                          </a:rPr>
                          <m:t>]</m:t>
                        </m:r>
                      </m:e>
                    </m:func>
                  </m:oMath>
                </a14:m>
                <a:endParaRPr lang="en-US" altLang="zh-CN" sz="2000" dirty="0">
                  <a:solidFill>
                    <a:srgbClr val="C00000"/>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tLang="zh-CN" sz="2000" dirty="0">
                    <a:solidFill>
                      <a:srgbClr val="C00000"/>
                    </a:solidFill>
                    <a:latin typeface="Arial" panose="020B0604020202020204" pitchFamily="34" charset="0"/>
                    <a:cs typeface="Arial" panose="020B0604020202020204" pitchFamily="34" charset="0"/>
                  </a:rPr>
                  <a:t>With probability </a:t>
                </a:r>
                <a14:m>
                  <m:oMath xmlns:m="http://schemas.openxmlformats.org/officeDocument/2006/math">
                    <m:r>
                      <a:rPr lang="en-US" altLang="zh-CN" sz="2000" b="0" i="1" smtClean="0">
                        <a:solidFill>
                          <a:srgbClr val="C00000"/>
                        </a:solidFill>
                        <a:latin typeface="Cambria Math" panose="02040503050406030204" pitchFamily="18" charset="0"/>
                        <a:cs typeface="Arial" panose="020B0604020202020204" pitchFamily="34" charset="0"/>
                      </a:rPr>
                      <m:t>𝛿</m:t>
                    </m:r>
                  </m:oMath>
                </a14:m>
                <a:r>
                  <a:rPr lang="en-US" altLang="zh-CN" sz="2000" dirty="0">
                    <a:solidFill>
                      <a:srgbClr val="C00000"/>
                    </a:solidFill>
                    <a:latin typeface="Arial" panose="020B0604020202020204" pitchFamily="34" charset="0"/>
                    <a:cs typeface="Arial" panose="020B0604020202020204" pitchFamily="34" charset="0"/>
                  </a:rPr>
                  <a:t>, we get no privacy guarantee</a:t>
                </a:r>
              </a:p>
            </p:txBody>
          </p:sp>
        </mc:Choice>
        <mc:Fallback>
          <p:sp>
            <p:nvSpPr>
              <p:cNvPr id="2" name="文本框 1">
                <a:extLst>
                  <a:ext uri="{FF2B5EF4-FFF2-40B4-BE49-F238E27FC236}">
                    <a16:creationId xmlns:a16="http://schemas.microsoft.com/office/drawing/2014/main" id="{02E30A40-3002-3369-8639-C4AF29219100}"/>
                  </a:ext>
                </a:extLst>
              </p:cNvPr>
              <p:cNvSpPr txBox="1">
                <a:spLocks noRot="1" noChangeAspect="1" noMove="1" noResize="1" noEditPoints="1" noAdjustHandles="1" noChangeArrowheads="1" noChangeShapeType="1" noTextEdit="1"/>
              </p:cNvSpPr>
              <p:nvPr/>
            </p:nvSpPr>
            <p:spPr>
              <a:xfrm>
                <a:off x="314548" y="2262557"/>
                <a:ext cx="10878855" cy="3785652"/>
              </a:xfrm>
              <a:prstGeom prst="rect">
                <a:avLst/>
              </a:prstGeom>
              <a:blipFill>
                <a:blip r:embed="rId2"/>
                <a:stretch>
                  <a:fillRect l="-617" t="-644" b="-20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997517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60645-B786-6401-BB90-4C75F5FCEF44}"/>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DCC51145-E07A-3C7F-B30A-E139B3FFD0D6}"/>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Other</a:t>
            </a:r>
            <a:r>
              <a:rPr lang="zh-CN" altLang="en-US" sz="2400" b="1" dirty="0">
                <a:latin typeface="Arial" panose="020B0604020202020204" pitchFamily="34" charset="0"/>
                <a:cs typeface="Arial" panose="020B0604020202020204" pitchFamily="34" charset="0"/>
              </a:rPr>
              <a:t> </a:t>
            </a:r>
            <a:r>
              <a:rPr lang="en-US" altLang="zh-CN" sz="2400" b="1" dirty="0">
                <a:latin typeface="Arial" panose="020B0604020202020204" pitchFamily="34" charset="0"/>
                <a:cs typeface="Arial" panose="020B0604020202020204" pitchFamily="34" charset="0"/>
              </a:rPr>
              <a:t>Composition</a:t>
            </a:r>
            <a:r>
              <a:rPr lang="zh-CN" altLang="en-US" sz="2400" b="1" dirty="0">
                <a:latin typeface="Arial" panose="020B0604020202020204" pitchFamily="34" charset="0"/>
                <a:cs typeface="Arial" panose="020B0604020202020204" pitchFamily="34" charset="0"/>
              </a:rPr>
              <a:t> </a:t>
            </a:r>
            <a:r>
              <a:rPr lang="en-US" altLang="zh-CN" sz="2400" b="1" dirty="0">
                <a:latin typeface="Arial" panose="020B0604020202020204" pitchFamily="34" charset="0"/>
                <a:cs typeface="Arial" panose="020B0604020202020204" pitchFamily="34" charset="0"/>
              </a:rPr>
              <a:t>Theorem</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C9BADF41-808D-54ED-5FB5-A37EAF82FFF6}"/>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Solution:</a:t>
            </a:r>
            <a:r>
              <a:rPr lang="en-US" altLang="zh-CN" dirty="0">
                <a:latin typeface="Arial" panose="020B0604020202020204" pitchFamily="34" charset="0"/>
                <a:cs typeface="Arial" panose="020B0604020202020204" pitchFamily="34" charset="0"/>
              </a:rPr>
              <a:t> slack the privacy guarantee</a:t>
            </a:r>
          </a:p>
        </p:txBody>
      </p:sp>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02E30A40-3002-3369-8639-C4AF29219100}"/>
                  </a:ext>
                </a:extLst>
              </p:cNvPr>
              <p:cNvSpPr txBox="1"/>
              <p:nvPr/>
            </p:nvSpPr>
            <p:spPr>
              <a:xfrm>
                <a:off x="314548" y="2262557"/>
                <a:ext cx="10878855" cy="2232791"/>
              </a:xfrm>
              <a:prstGeom prst="rect">
                <a:avLst/>
              </a:prstGeom>
              <a:noFill/>
            </p:spPr>
            <p:txBody>
              <a:bodyPr wrap="square" rtlCol="0">
                <a:spAutoFit/>
              </a:bodyPr>
              <a:lstStyle/>
              <a:p>
                <a:r>
                  <a:rPr lang="en-US" altLang="zh-CN" sz="2000" b="1" dirty="0">
                    <a:latin typeface="Arial" panose="020B0604020202020204" pitchFamily="34" charset="0"/>
                    <a:cs typeface="Arial" panose="020B0604020202020204" pitchFamily="34" charset="0"/>
                  </a:rPr>
                  <a:t>Advanced composition</a:t>
                </a:r>
                <a:r>
                  <a:rPr lang="en-US" altLang="zh-CN" sz="2000" dirty="0">
                    <a:latin typeface="Arial" panose="020B0604020202020204" pitchFamily="34" charset="0"/>
                    <a:cs typeface="Arial" panose="020B0604020202020204" pitchFamily="34" charset="0"/>
                  </a:rPr>
                  <a:t>: If each mechanism </a:t>
                </a:r>
                <a14:m>
                  <m:oMath xmlns:m="http://schemas.openxmlformats.org/officeDocument/2006/math">
                    <m:sSub>
                      <m:sSubPr>
                        <m:ctrlPr>
                          <a:rPr lang="en-US" altLang="zh-CN" sz="2000" b="0" i="1" smtClean="0">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𝑀</m:t>
                        </m:r>
                      </m:e>
                      <m:sub>
                        <m:r>
                          <a:rPr lang="en-US" altLang="zh-CN" sz="2000" b="0" i="1" smtClean="0">
                            <a:latin typeface="Cambria Math" panose="02040503050406030204" pitchFamily="18" charset="0"/>
                            <a:cs typeface="Arial" panose="020B0604020202020204" pitchFamily="34" charset="0"/>
                          </a:rPr>
                          <m:t>1</m:t>
                        </m:r>
                      </m:sub>
                    </m:sSub>
                    <m:r>
                      <a:rPr lang="en-US" altLang="zh-CN" sz="2000" b="0" i="1" smtClean="0">
                        <a:latin typeface="Cambria Math" panose="02040503050406030204" pitchFamily="18" charset="0"/>
                        <a:cs typeface="Arial" panose="020B0604020202020204" pitchFamily="34" charset="0"/>
                      </a:rPr>
                      <m:t>,…,</m:t>
                    </m:r>
                    <m:sSub>
                      <m:sSubPr>
                        <m:ctrlPr>
                          <a:rPr lang="en-US" altLang="zh-CN" sz="2000" b="0" i="1" smtClean="0">
                            <a:latin typeface="Cambria Math" panose="02040503050406030204" pitchFamily="18" charset="0"/>
                            <a:cs typeface="Arial" panose="020B0604020202020204" pitchFamily="34" charset="0"/>
                          </a:rPr>
                        </m:ctrlPr>
                      </m:sSubPr>
                      <m:e>
                        <m:r>
                          <a:rPr lang="en-US" altLang="zh-CN" sz="2000" b="0" i="1" smtClean="0">
                            <a:latin typeface="Cambria Math" panose="02040503050406030204" pitchFamily="18" charset="0"/>
                            <a:cs typeface="Arial" panose="020B0604020202020204" pitchFamily="34" charset="0"/>
                          </a:rPr>
                          <m:t>𝑀</m:t>
                        </m:r>
                      </m:e>
                      <m:sub>
                        <m:r>
                          <a:rPr lang="en-US" altLang="zh-CN" sz="2000" b="0" i="1" smtClean="0">
                            <a:latin typeface="Cambria Math" panose="02040503050406030204" pitchFamily="18" charset="0"/>
                            <a:cs typeface="Arial" panose="020B0604020202020204" pitchFamily="34" charset="0"/>
                          </a:rPr>
                          <m:t>𝑘</m:t>
                        </m:r>
                      </m:sub>
                    </m:sSub>
                  </m:oMath>
                </a14:m>
                <a:r>
                  <a:rPr lang="en-US" altLang="zh-CN" sz="2000" dirty="0">
                    <a:latin typeface="Arial" panose="020B0604020202020204" pitchFamily="34" charset="0"/>
                    <a:cs typeface="Arial" panose="020B0604020202020204" pitchFamily="34" charset="0"/>
                  </a:rPr>
                  <a:t> is </a:t>
                </a:r>
                <a14:m>
                  <m:oMath xmlns:m="http://schemas.openxmlformats.org/officeDocument/2006/math">
                    <m:r>
                      <a:rPr lang="en-US" altLang="zh-CN" sz="2000" b="0" i="0" smtClean="0">
                        <a:latin typeface="Cambria Math" panose="02040503050406030204" pitchFamily="18" charset="0"/>
                        <a:cs typeface="Arial" panose="020B0604020202020204" pitchFamily="34" charset="0"/>
                      </a:rPr>
                      <m:t>(</m:t>
                    </m:r>
                    <m:r>
                      <a:rPr lang="en-US" altLang="zh-CN" sz="2000" i="1">
                        <a:latin typeface="Cambria Math" panose="02040503050406030204" pitchFamily="18" charset="0"/>
                        <a:cs typeface="Arial" panose="020B0604020202020204" pitchFamily="34" charset="0"/>
                      </a:rPr>
                      <m:t>𝜖</m:t>
                    </m:r>
                    <m:r>
                      <a:rPr lang="en-US" altLang="zh-CN" sz="2000" b="0" i="1" smtClean="0">
                        <a:latin typeface="Cambria Math" panose="02040503050406030204" pitchFamily="18" charset="0"/>
                        <a:cs typeface="Arial" panose="020B0604020202020204" pitchFamily="34" charset="0"/>
                      </a:rPr>
                      <m:t>,</m:t>
                    </m:r>
                    <m:r>
                      <a:rPr lang="en-US" altLang="zh-CN" sz="2000" b="0" i="1" smtClean="0">
                        <a:latin typeface="Cambria Math" panose="02040503050406030204" pitchFamily="18" charset="0"/>
                        <a:cs typeface="Arial" panose="020B0604020202020204" pitchFamily="34" charset="0"/>
                      </a:rPr>
                      <m:t>𝛿</m:t>
                    </m:r>
                    <m:r>
                      <a:rPr lang="en-US" altLang="zh-CN" sz="2000" b="0" i="1" smtClean="0">
                        <a:latin typeface="Cambria Math" panose="02040503050406030204" pitchFamily="18" charset="0"/>
                        <a:cs typeface="Arial" panose="020B0604020202020204" pitchFamily="34" charset="0"/>
                      </a:rPr>
                      <m:t>)</m:t>
                    </m:r>
                  </m:oMath>
                </a14:m>
                <a:r>
                  <a:rPr lang="en-US" altLang="zh-CN" sz="2000" dirty="0">
                    <a:latin typeface="Arial" panose="020B0604020202020204" pitchFamily="34" charset="0"/>
                    <a:cs typeface="Arial" panose="020B0604020202020204" pitchFamily="34" charset="0"/>
                  </a:rPr>
                  <a:t>-DP, then for any </a:t>
                </a:r>
                <a14:m>
                  <m:oMath xmlns:m="http://schemas.openxmlformats.org/officeDocument/2006/math">
                    <m:sSup>
                      <m:sSupPr>
                        <m:ctrlPr>
                          <a:rPr lang="en-US" altLang="zh-CN" sz="2000" b="0" i="1" smtClean="0">
                            <a:latin typeface="Cambria Math" panose="02040503050406030204" pitchFamily="18" charset="0"/>
                            <a:cs typeface="Arial" panose="020B0604020202020204" pitchFamily="34" charset="0"/>
                          </a:rPr>
                        </m:ctrlPr>
                      </m:sSupPr>
                      <m:e>
                        <m:r>
                          <a:rPr lang="en-US" altLang="zh-CN" sz="2000" i="1">
                            <a:latin typeface="Cambria Math" panose="02040503050406030204" pitchFamily="18" charset="0"/>
                            <a:cs typeface="Arial" panose="020B0604020202020204" pitchFamily="34" charset="0"/>
                          </a:rPr>
                          <m:t>𝛿</m:t>
                        </m:r>
                      </m:e>
                      <m:sup>
                        <m:r>
                          <a:rPr lang="en-US" altLang="zh-CN" sz="2000" b="0" i="1" smtClean="0">
                            <a:latin typeface="Cambria Math" panose="02040503050406030204" pitchFamily="18" charset="0"/>
                            <a:cs typeface="Arial" panose="020B0604020202020204" pitchFamily="34" charset="0"/>
                          </a:rPr>
                          <m:t>′</m:t>
                        </m:r>
                      </m:sup>
                    </m:sSup>
                    <m:r>
                      <a:rPr lang="en-US" altLang="zh-CN" sz="2000" b="0" i="1" smtClean="0">
                        <a:latin typeface="Cambria Math" panose="02040503050406030204" pitchFamily="18" charset="0"/>
                        <a:cs typeface="Arial" panose="020B0604020202020204" pitchFamily="34" charset="0"/>
                      </a:rPr>
                      <m:t>&gt;0</m:t>
                    </m:r>
                  </m:oMath>
                </a14:m>
                <a:r>
                  <a:rPr lang="en-US" altLang="zh-CN" sz="2000" dirty="0">
                    <a:latin typeface="Arial" panose="020B0604020202020204" pitchFamily="34" charset="0"/>
                    <a:cs typeface="Arial" panose="020B0604020202020204" pitchFamily="34" charset="0"/>
                  </a:rPr>
                  <a:t>, the entire k-fold composition satisfies </a:t>
                </a:r>
                <a14:m>
                  <m:oMath xmlns:m="http://schemas.openxmlformats.org/officeDocument/2006/math">
                    <m:r>
                      <a:rPr lang="en-US" altLang="zh-CN" sz="2000">
                        <a:latin typeface="Cambria Math" panose="02040503050406030204" pitchFamily="18" charset="0"/>
                        <a:cs typeface="Arial" panose="020B0604020202020204" pitchFamily="34" charset="0"/>
                      </a:rPr>
                      <m:t>(</m:t>
                    </m:r>
                    <m:sSup>
                      <m:sSupPr>
                        <m:ctrlPr>
                          <a:rPr lang="en-US" altLang="zh-CN" sz="2000" b="0" i="1" smtClean="0">
                            <a:latin typeface="Cambria Math" panose="02040503050406030204" pitchFamily="18" charset="0"/>
                            <a:cs typeface="Arial" panose="020B0604020202020204" pitchFamily="34" charset="0"/>
                          </a:rPr>
                        </m:ctrlPr>
                      </m:sSupPr>
                      <m:e>
                        <m:r>
                          <a:rPr lang="en-US" altLang="zh-CN" sz="2000" i="1">
                            <a:latin typeface="Cambria Math" panose="02040503050406030204" pitchFamily="18" charset="0"/>
                            <a:cs typeface="Arial" panose="020B0604020202020204" pitchFamily="34" charset="0"/>
                          </a:rPr>
                          <m:t>𝜖</m:t>
                        </m:r>
                      </m:e>
                      <m:sup>
                        <m:r>
                          <a:rPr lang="en-US" altLang="zh-CN" sz="2000" b="0" i="1" smtClean="0">
                            <a:latin typeface="Cambria Math" panose="02040503050406030204" pitchFamily="18" charset="0"/>
                            <a:cs typeface="Arial" panose="020B0604020202020204" pitchFamily="34" charset="0"/>
                          </a:rPr>
                          <m:t>′</m:t>
                        </m:r>
                      </m:sup>
                    </m:sSup>
                    <m:r>
                      <a:rPr lang="en-US" altLang="zh-CN" sz="2000" i="1">
                        <a:latin typeface="Cambria Math" panose="02040503050406030204" pitchFamily="18" charset="0"/>
                        <a:cs typeface="Arial" panose="020B0604020202020204" pitchFamily="34" charset="0"/>
                      </a:rPr>
                      <m:t>,</m:t>
                    </m:r>
                    <m:r>
                      <a:rPr lang="en-US" altLang="zh-CN" sz="2000" b="0" i="1" smtClean="0">
                        <a:latin typeface="Cambria Math" panose="02040503050406030204" pitchFamily="18" charset="0"/>
                        <a:cs typeface="Arial" panose="020B0604020202020204" pitchFamily="34" charset="0"/>
                      </a:rPr>
                      <m:t>𝑘</m:t>
                    </m:r>
                    <m:r>
                      <a:rPr lang="en-US" altLang="zh-CN" sz="2000" i="1">
                        <a:latin typeface="Cambria Math" panose="02040503050406030204" pitchFamily="18" charset="0"/>
                        <a:cs typeface="Arial" panose="020B0604020202020204" pitchFamily="34" charset="0"/>
                      </a:rPr>
                      <m:t>𝛿</m:t>
                    </m:r>
                    <m:r>
                      <a:rPr lang="en-US" altLang="zh-CN" sz="2000" b="0" i="1" smtClean="0">
                        <a:latin typeface="Cambria Math" panose="02040503050406030204" pitchFamily="18" charset="0"/>
                        <a:cs typeface="Arial" panose="020B0604020202020204" pitchFamily="34" charset="0"/>
                      </a:rPr>
                      <m:t>+</m:t>
                    </m:r>
                    <m:r>
                      <a:rPr lang="en-US" altLang="zh-CN" sz="2000" b="0" i="1" smtClean="0">
                        <a:latin typeface="Cambria Math" panose="02040503050406030204" pitchFamily="18" charset="0"/>
                        <a:cs typeface="Arial" panose="020B0604020202020204" pitchFamily="34" charset="0"/>
                      </a:rPr>
                      <m:t>𝛿</m:t>
                    </m:r>
                    <m:r>
                      <a:rPr lang="en-US" altLang="zh-CN" sz="2000" b="0" i="1" smtClean="0">
                        <a:latin typeface="Cambria Math" panose="02040503050406030204" pitchFamily="18" charset="0"/>
                        <a:cs typeface="Arial" panose="020B0604020202020204" pitchFamily="34" charset="0"/>
                      </a:rPr>
                      <m:t>′)</m:t>
                    </m:r>
                  </m:oMath>
                </a14:m>
                <a:r>
                  <a:rPr lang="en-US" altLang="zh-CN" sz="2000" dirty="0">
                    <a:latin typeface="Arial" panose="020B0604020202020204" pitchFamily="34" charset="0"/>
                    <a:cs typeface="Arial" panose="020B0604020202020204" pitchFamily="34" charset="0"/>
                  </a:rPr>
                  <a:t>-DP, where</a:t>
                </a:r>
              </a:p>
              <a:p>
                <a14:m>
                  <m:oMathPara xmlns:m="http://schemas.openxmlformats.org/officeDocument/2006/math">
                    <m:oMathParaPr>
                      <m:jc m:val="centerGroup"/>
                    </m:oMathParaPr>
                    <m:oMath xmlns:m="http://schemas.openxmlformats.org/officeDocument/2006/math">
                      <m:sSup>
                        <m:sSupPr>
                          <m:ctrlPr>
                            <a:rPr lang="en-US" altLang="zh-CN" sz="2000" b="0" i="1" smtClean="0">
                              <a:latin typeface="Cambria Math" panose="02040503050406030204" pitchFamily="18" charset="0"/>
                              <a:cs typeface="Arial" panose="020B0604020202020204" pitchFamily="34" charset="0"/>
                            </a:rPr>
                          </m:ctrlPr>
                        </m:sSupPr>
                        <m:e>
                          <m:r>
                            <a:rPr lang="en-US" altLang="zh-CN" sz="2000" b="0" i="1" smtClean="0">
                              <a:latin typeface="Cambria Math" panose="02040503050406030204" pitchFamily="18" charset="0"/>
                              <a:cs typeface="Arial" panose="020B0604020202020204" pitchFamily="34" charset="0"/>
                            </a:rPr>
                            <m:t>𝜖</m:t>
                          </m:r>
                        </m:e>
                        <m:sup>
                          <m:r>
                            <a:rPr lang="en-US" altLang="zh-CN" sz="2000" b="0" i="1" smtClean="0">
                              <a:latin typeface="Cambria Math" panose="02040503050406030204" pitchFamily="18" charset="0"/>
                              <a:cs typeface="Arial" panose="020B0604020202020204" pitchFamily="34" charset="0"/>
                            </a:rPr>
                            <m:t>′</m:t>
                          </m:r>
                        </m:sup>
                      </m:sSup>
                      <m:r>
                        <a:rPr lang="en-US" altLang="zh-CN" sz="2000" b="0" i="1" smtClean="0">
                          <a:latin typeface="Cambria Math" panose="02040503050406030204" pitchFamily="18" charset="0"/>
                          <a:cs typeface="Arial" panose="020B0604020202020204" pitchFamily="34" charset="0"/>
                        </a:rPr>
                        <m:t>=</m:t>
                      </m:r>
                      <m:r>
                        <a:rPr lang="en-US" altLang="zh-CN" sz="2000" b="0" i="1" smtClean="0">
                          <a:latin typeface="Cambria Math" panose="02040503050406030204" pitchFamily="18" charset="0"/>
                          <a:cs typeface="Arial" panose="020B0604020202020204" pitchFamily="34" charset="0"/>
                        </a:rPr>
                        <m:t>𝜖</m:t>
                      </m:r>
                      <m:rad>
                        <m:radPr>
                          <m:degHide m:val="on"/>
                          <m:ctrlPr>
                            <a:rPr lang="en-US" altLang="zh-CN" sz="2000" b="0" i="1" smtClean="0">
                              <a:latin typeface="Cambria Math" panose="02040503050406030204" pitchFamily="18" charset="0"/>
                              <a:cs typeface="Arial" panose="020B0604020202020204" pitchFamily="34" charset="0"/>
                            </a:rPr>
                          </m:ctrlPr>
                        </m:radPr>
                        <m:deg/>
                        <m:e>
                          <m:r>
                            <a:rPr lang="en-US" altLang="zh-CN" sz="2000" b="0" i="1" smtClean="0">
                              <a:latin typeface="Cambria Math" panose="02040503050406030204" pitchFamily="18" charset="0"/>
                              <a:cs typeface="Arial" panose="020B0604020202020204" pitchFamily="34" charset="0"/>
                            </a:rPr>
                            <m:t>2</m:t>
                          </m:r>
                          <m:r>
                            <a:rPr lang="en-US" altLang="zh-CN" sz="2000" b="0" i="1" smtClean="0">
                              <a:latin typeface="Cambria Math" panose="02040503050406030204" pitchFamily="18" charset="0"/>
                              <a:cs typeface="Arial" panose="020B0604020202020204" pitchFamily="34" charset="0"/>
                            </a:rPr>
                            <m:t>𝑘</m:t>
                          </m:r>
                          <m:func>
                            <m:funcPr>
                              <m:ctrlPr>
                                <a:rPr lang="en-US" altLang="zh-CN" sz="2000" b="0" i="1" smtClean="0">
                                  <a:latin typeface="Cambria Math" panose="02040503050406030204" pitchFamily="18" charset="0"/>
                                  <a:cs typeface="Arial" panose="020B0604020202020204" pitchFamily="34" charset="0"/>
                                </a:rPr>
                              </m:ctrlPr>
                            </m:funcPr>
                            <m:fName>
                              <m:r>
                                <m:rPr>
                                  <m:sty m:val="p"/>
                                </m:rPr>
                                <a:rPr lang="en-US" altLang="zh-CN" sz="2000" b="0" i="0" smtClean="0">
                                  <a:latin typeface="Cambria Math" panose="02040503050406030204" pitchFamily="18" charset="0"/>
                                  <a:cs typeface="Arial" panose="020B0604020202020204" pitchFamily="34" charset="0"/>
                                </a:rPr>
                                <m:t>ln</m:t>
                              </m:r>
                            </m:fName>
                            <m:e>
                              <m:d>
                                <m:dPr>
                                  <m:ctrlPr>
                                    <a:rPr lang="en-US" altLang="zh-CN" sz="2000" b="0" i="1" smtClean="0">
                                      <a:latin typeface="Cambria Math" panose="02040503050406030204" pitchFamily="18" charset="0"/>
                                      <a:cs typeface="Arial" panose="020B0604020202020204" pitchFamily="34" charset="0"/>
                                    </a:rPr>
                                  </m:ctrlPr>
                                </m:dPr>
                                <m:e>
                                  <m:f>
                                    <m:fPr>
                                      <m:ctrlPr>
                                        <a:rPr lang="en-US" altLang="zh-CN" sz="2000" b="0" i="1" smtClean="0">
                                          <a:latin typeface="Cambria Math" panose="02040503050406030204" pitchFamily="18" charset="0"/>
                                          <a:cs typeface="Arial" panose="020B0604020202020204" pitchFamily="34" charset="0"/>
                                        </a:rPr>
                                      </m:ctrlPr>
                                    </m:fPr>
                                    <m:num>
                                      <m:r>
                                        <a:rPr lang="en-US" altLang="zh-CN" sz="2000" b="0" i="1" smtClean="0">
                                          <a:latin typeface="Cambria Math" panose="02040503050406030204" pitchFamily="18" charset="0"/>
                                          <a:cs typeface="Arial" panose="020B0604020202020204" pitchFamily="34" charset="0"/>
                                        </a:rPr>
                                        <m:t>1</m:t>
                                      </m:r>
                                    </m:num>
                                    <m:den>
                                      <m:sSup>
                                        <m:sSupPr>
                                          <m:ctrlPr>
                                            <a:rPr lang="en-US" altLang="zh-CN" sz="2000" b="0" i="1" smtClean="0">
                                              <a:latin typeface="Cambria Math" panose="02040503050406030204" pitchFamily="18" charset="0"/>
                                              <a:cs typeface="Arial" panose="020B0604020202020204" pitchFamily="34" charset="0"/>
                                            </a:rPr>
                                          </m:ctrlPr>
                                        </m:sSupPr>
                                        <m:e>
                                          <m:r>
                                            <a:rPr lang="en-US" altLang="zh-CN" sz="2000" b="0" i="1" smtClean="0">
                                              <a:latin typeface="Cambria Math" panose="02040503050406030204" pitchFamily="18" charset="0"/>
                                              <a:cs typeface="Arial" panose="020B0604020202020204" pitchFamily="34" charset="0"/>
                                            </a:rPr>
                                            <m:t>𝛿</m:t>
                                          </m:r>
                                        </m:e>
                                        <m:sup>
                                          <m:r>
                                            <a:rPr lang="en-US" altLang="zh-CN" sz="2000" b="0" i="1" smtClean="0">
                                              <a:latin typeface="Cambria Math" panose="02040503050406030204" pitchFamily="18" charset="0"/>
                                              <a:cs typeface="Arial" panose="020B0604020202020204" pitchFamily="34" charset="0"/>
                                            </a:rPr>
                                            <m:t>′</m:t>
                                          </m:r>
                                        </m:sup>
                                      </m:sSup>
                                    </m:den>
                                  </m:f>
                                </m:e>
                              </m:d>
                            </m:e>
                          </m:func>
                          <m:r>
                            <a:rPr lang="en-US" altLang="zh-CN" sz="2000" b="0" i="1" smtClean="0">
                              <a:latin typeface="Cambria Math" panose="02040503050406030204" pitchFamily="18" charset="0"/>
                              <a:cs typeface="Arial" panose="020B0604020202020204" pitchFamily="34" charset="0"/>
                            </a:rPr>
                            <m:t> </m:t>
                          </m:r>
                        </m:e>
                      </m:rad>
                      <m:r>
                        <a:rPr lang="en-US" altLang="zh-CN" sz="2000" b="0" i="1" smtClean="0">
                          <a:latin typeface="Cambria Math" panose="02040503050406030204" pitchFamily="18" charset="0"/>
                          <a:cs typeface="Arial" panose="020B0604020202020204" pitchFamily="34" charset="0"/>
                        </a:rPr>
                        <m:t>+</m:t>
                      </m:r>
                      <m:r>
                        <a:rPr lang="en-US" altLang="zh-CN" sz="2000" b="0" i="1" smtClean="0">
                          <a:latin typeface="Cambria Math" panose="02040503050406030204" pitchFamily="18" charset="0"/>
                          <a:cs typeface="Arial" panose="020B0604020202020204" pitchFamily="34" charset="0"/>
                        </a:rPr>
                        <m:t>𝑘</m:t>
                      </m:r>
                      <m:r>
                        <a:rPr lang="en-US" altLang="zh-CN" sz="2000" b="0" i="1" smtClean="0">
                          <a:latin typeface="Cambria Math" panose="02040503050406030204" pitchFamily="18" charset="0"/>
                          <a:cs typeface="Arial" panose="020B0604020202020204" pitchFamily="34" charset="0"/>
                        </a:rPr>
                        <m:t>𝜖</m:t>
                      </m:r>
                      <m:r>
                        <a:rPr lang="en-US" altLang="zh-CN" sz="2000" b="0" i="1" smtClean="0">
                          <a:latin typeface="Cambria Math" panose="02040503050406030204" pitchFamily="18" charset="0"/>
                          <a:cs typeface="Arial" panose="020B0604020202020204" pitchFamily="34" charset="0"/>
                        </a:rPr>
                        <m:t>(</m:t>
                      </m:r>
                      <m:sSup>
                        <m:sSupPr>
                          <m:ctrlPr>
                            <a:rPr lang="en-US" altLang="zh-CN" sz="2000" b="0" i="1" smtClean="0">
                              <a:latin typeface="Cambria Math" panose="02040503050406030204" pitchFamily="18" charset="0"/>
                              <a:cs typeface="Arial" panose="020B0604020202020204" pitchFamily="34" charset="0"/>
                            </a:rPr>
                          </m:ctrlPr>
                        </m:sSupPr>
                        <m:e>
                          <m:r>
                            <a:rPr lang="en-US" altLang="zh-CN" sz="2000" b="0" i="1" smtClean="0">
                              <a:latin typeface="Cambria Math" panose="02040503050406030204" pitchFamily="18" charset="0"/>
                              <a:cs typeface="Arial" panose="020B0604020202020204" pitchFamily="34" charset="0"/>
                            </a:rPr>
                            <m:t>𝑒</m:t>
                          </m:r>
                        </m:e>
                        <m:sup>
                          <m:r>
                            <a:rPr lang="en-US" altLang="zh-CN" sz="2000" b="0" i="1" smtClean="0">
                              <a:latin typeface="Cambria Math" panose="02040503050406030204" pitchFamily="18" charset="0"/>
                              <a:cs typeface="Arial" panose="020B0604020202020204" pitchFamily="34" charset="0"/>
                            </a:rPr>
                            <m:t>𝜖</m:t>
                          </m:r>
                        </m:sup>
                      </m:sSup>
                      <m:r>
                        <a:rPr lang="en-US" altLang="zh-CN" sz="2000" b="0" i="1" smtClean="0">
                          <a:latin typeface="Cambria Math" panose="02040503050406030204" pitchFamily="18" charset="0"/>
                          <a:cs typeface="Arial" panose="020B0604020202020204" pitchFamily="34" charset="0"/>
                        </a:rPr>
                        <m:t>−1)</m:t>
                      </m:r>
                    </m:oMath>
                  </m:oMathPara>
                </a14:m>
                <a:endParaRPr lang="en-US" altLang="zh-CN" sz="2000" dirty="0">
                  <a:latin typeface="Arial" panose="020B0604020202020204" pitchFamily="34" charset="0"/>
                  <a:cs typeface="Arial" panose="020B0604020202020204" pitchFamily="34" charset="0"/>
                </a:endParaRPr>
              </a:p>
              <a:p>
                <a:endParaRPr lang="en-US" altLang="zh-CN" sz="2000" dirty="0">
                  <a:latin typeface="Arial" panose="020B0604020202020204" pitchFamily="34" charset="0"/>
                  <a:cs typeface="Arial" panose="020B0604020202020204" pitchFamily="34" charset="0"/>
                </a:endParaRPr>
              </a:p>
              <a:p>
                <a:r>
                  <a:rPr lang="en-US" altLang="zh-CN" sz="2000" dirty="0">
                    <a:latin typeface="Arial" panose="020B0604020202020204" pitchFamily="34" charset="0"/>
                    <a:cs typeface="Arial" panose="020B0604020202020204" pitchFamily="34" charset="0"/>
                  </a:rPr>
                  <a:t>If </a:t>
                </a:r>
                <a14:m>
                  <m:oMath xmlns:m="http://schemas.openxmlformats.org/officeDocument/2006/math">
                    <m:r>
                      <a:rPr lang="en-US" altLang="zh-CN" sz="2000" b="0" i="1" smtClean="0">
                        <a:latin typeface="Cambria Math" panose="02040503050406030204" pitchFamily="18" charset="0"/>
                        <a:cs typeface="Arial" panose="020B0604020202020204" pitchFamily="34" charset="0"/>
                      </a:rPr>
                      <m:t>𝛿</m:t>
                    </m:r>
                    <m:r>
                      <a:rPr lang="en-US" altLang="zh-CN" sz="2000" b="0" i="1" smtClean="0">
                        <a:latin typeface="Cambria Math" panose="02040503050406030204" pitchFamily="18" charset="0"/>
                        <a:cs typeface="Arial" panose="020B0604020202020204" pitchFamily="34" charset="0"/>
                      </a:rPr>
                      <m:t>=0</m:t>
                    </m:r>
                  </m:oMath>
                </a14:m>
                <a:r>
                  <a:rPr lang="en-US" altLang="zh-CN" sz="2000" dirty="0">
                    <a:latin typeface="Arial" panose="020B0604020202020204" pitchFamily="34" charset="0"/>
                    <a:cs typeface="Arial" panose="020B0604020202020204" pitchFamily="34" charset="0"/>
                  </a:rPr>
                  <a:t>, each </a:t>
                </a:r>
                <a14:m>
                  <m:oMath xmlns:m="http://schemas.openxmlformats.org/officeDocument/2006/math">
                    <m:sSub>
                      <m:sSubPr>
                        <m:ctrlPr>
                          <a:rPr lang="en-US" altLang="zh-CN" sz="2000" i="1">
                            <a:latin typeface="Cambria Math" panose="02040503050406030204" pitchFamily="18" charset="0"/>
                            <a:cs typeface="Arial" panose="020B0604020202020204" pitchFamily="34" charset="0"/>
                          </a:rPr>
                        </m:ctrlPr>
                      </m:sSubPr>
                      <m:e>
                        <m:r>
                          <a:rPr lang="en-US" altLang="zh-CN" sz="2000" i="1">
                            <a:latin typeface="Cambria Math" panose="02040503050406030204" pitchFamily="18" charset="0"/>
                            <a:cs typeface="Arial" panose="020B0604020202020204" pitchFamily="34" charset="0"/>
                          </a:rPr>
                          <m:t>𝑀</m:t>
                        </m:r>
                      </m:e>
                      <m:sub>
                        <m:r>
                          <a:rPr lang="en-US" altLang="zh-CN" sz="2000" b="0" i="1" smtClean="0">
                            <a:latin typeface="Cambria Math" panose="02040503050406030204" pitchFamily="18" charset="0"/>
                            <a:cs typeface="Arial" panose="020B0604020202020204" pitchFamily="34" charset="0"/>
                          </a:rPr>
                          <m:t>𝑖</m:t>
                        </m:r>
                      </m:sub>
                    </m:sSub>
                  </m:oMath>
                </a14:m>
                <a:r>
                  <a:rPr lang="en-US" altLang="zh-CN" sz="2000" dirty="0">
                    <a:latin typeface="Arial" panose="020B0604020202020204" pitchFamily="34" charset="0"/>
                    <a:cs typeface="Arial" panose="020B0604020202020204" pitchFamily="34" charset="0"/>
                  </a:rPr>
                  <a:t> is </a:t>
                </a:r>
                <a14:m>
                  <m:oMath xmlns:m="http://schemas.openxmlformats.org/officeDocument/2006/math">
                    <m:r>
                      <a:rPr lang="en-US" altLang="zh-CN" sz="2000" i="1">
                        <a:latin typeface="Cambria Math" panose="02040503050406030204" pitchFamily="18" charset="0"/>
                        <a:cs typeface="Arial" panose="020B0604020202020204" pitchFamily="34" charset="0"/>
                      </a:rPr>
                      <m:t>𝜖</m:t>
                    </m:r>
                  </m:oMath>
                </a14:m>
                <a:r>
                  <a:rPr lang="en-US" altLang="zh-CN" sz="2000" dirty="0">
                    <a:latin typeface="Arial" panose="020B0604020202020204" pitchFamily="34" charset="0"/>
                    <a:cs typeface="Arial" panose="020B0604020202020204" pitchFamily="34" charset="0"/>
                  </a:rPr>
                  <a:t>-DP</a:t>
                </a:r>
              </a:p>
            </p:txBody>
          </p:sp>
        </mc:Choice>
        <mc:Fallback>
          <p:sp>
            <p:nvSpPr>
              <p:cNvPr id="2" name="文本框 1">
                <a:extLst>
                  <a:ext uri="{FF2B5EF4-FFF2-40B4-BE49-F238E27FC236}">
                    <a16:creationId xmlns:a16="http://schemas.microsoft.com/office/drawing/2014/main" id="{02E30A40-3002-3369-8639-C4AF29219100}"/>
                  </a:ext>
                </a:extLst>
              </p:cNvPr>
              <p:cNvSpPr txBox="1">
                <a:spLocks noRot="1" noChangeAspect="1" noMove="1" noResize="1" noEditPoints="1" noAdjustHandles="1" noChangeArrowheads="1" noChangeShapeType="1" noTextEdit="1"/>
              </p:cNvSpPr>
              <p:nvPr/>
            </p:nvSpPr>
            <p:spPr>
              <a:xfrm>
                <a:off x="314548" y="2262557"/>
                <a:ext cx="10878855" cy="2232791"/>
              </a:xfrm>
              <a:prstGeom prst="rect">
                <a:avLst/>
              </a:prstGeom>
              <a:blipFill>
                <a:blip r:embed="rId2"/>
                <a:stretch>
                  <a:fillRect l="-617" t="-1093" b="-40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054770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60645-B786-6401-BB90-4C75F5FCEF44}"/>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DCC51145-E07A-3C7F-B30A-E139B3FFD0D6}"/>
              </a:ext>
            </a:extLst>
          </p:cNvPr>
          <p:cNvSpPr txBox="1"/>
          <p:nvPr/>
        </p:nvSpPr>
        <p:spPr>
          <a:xfrm>
            <a:off x="526094" y="419624"/>
            <a:ext cx="11148165" cy="461665"/>
          </a:xfrm>
          <a:prstGeom prst="rect">
            <a:avLst/>
          </a:prstGeom>
          <a:noFill/>
        </p:spPr>
        <p:txBody>
          <a:bodyPr wrap="square" rtlCol="0">
            <a:spAutoFit/>
          </a:bodyPr>
          <a:lstStyle/>
          <a:p>
            <a:r>
              <a:rPr lang="en-US" altLang="zh-CN" sz="2400" b="1" dirty="0">
                <a:latin typeface="Arial" panose="020B0604020202020204" pitchFamily="34" charset="0"/>
                <a:cs typeface="Arial" panose="020B0604020202020204" pitchFamily="34" charset="0"/>
              </a:rPr>
              <a:t>Other</a:t>
            </a:r>
            <a:r>
              <a:rPr lang="zh-CN" altLang="en-US" sz="2400" b="1" dirty="0">
                <a:latin typeface="Arial" panose="020B0604020202020204" pitchFamily="34" charset="0"/>
                <a:cs typeface="Arial" panose="020B0604020202020204" pitchFamily="34" charset="0"/>
              </a:rPr>
              <a:t> </a:t>
            </a:r>
            <a:r>
              <a:rPr lang="en-US" altLang="zh-CN" sz="2400" b="1" dirty="0">
                <a:latin typeface="Arial" panose="020B0604020202020204" pitchFamily="34" charset="0"/>
                <a:cs typeface="Arial" panose="020B0604020202020204" pitchFamily="34" charset="0"/>
              </a:rPr>
              <a:t>Composition</a:t>
            </a:r>
            <a:r>
              <a:rPr lang="zh-CN" altLang="en-US" sz="2400" b="1" dirty="0">
                <a:latin typeface="Arial" panose="020B0604020202020204" pitchFamily="34" charset="0"/>
                <a:cs typeface="Arial" panose="020B0604020202020204" pitchFamily="34" charset="0"/>
              </a:rPr>
              <a:t> </a:t>
            </a:r>
            <a:r>
              <a:rPr lang="en-US" altLang="zh-CN" sz="2400" b="1" dirty="0">
                <a:latin typeface="Arial" panose="020B0604020202020204" pitchFamily="34" charset="0"/>
                <a:cs typeface="Arial" panose="020B0604020202020204" pitchFamily="34" charset="0"/>
              </a:rPr>
              <a:t>Theorem</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C9BADF41-808D-54ED-5FB5-A37EAF82FFF6}"/>
              </a:ext>
            </a:extLst>
          </p:cNvPr>
          <p:cNvSpPr txBox="1"/>
          <p:nvPr/>
        </p:nvSpPr>
        <p:spPr>
          <a:xfrm>
            <a:off x="314548" y="1198180"/>
            <a:ext cx="1156290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Compare with basic sequential composition</a:t>
            </a:r>
            <a:endParaRPr lang="en-US" altLang="zh-CN" dirty="0">
              <a:latin typeface="Arial" panose="020B0604020202020204" pitchFamily="34" charset="0"/>
              <a:cs typeface="Arial" panose="020B0604020202020204" pitchFamily="34" charset="0"/>
            </a:endParaRPr>
          </a:p>
        </p:txBody>
      </p:sp>
      <p:pic>
        <p:nvPicPr>
          <p:cNvPr id="4" name="图片 3">
            <a:extLst>
              <a:ext uri="{FF2B5EF4-FFF2-40B4-BE49-F238E27FC236}">
                <a16:creationId xmlns:a16="http://schemas.microsoft.com/office/drawing/2014/main" id="{97BF62D5-6731-43AE-BA0A-40EDDA006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548" y="1705824"/>
            <a:ext cx="7523809" cy="4657143"/>
          </a:xfrm>
          <a:prstGeom prst="rect">
            <a:avLst/>
          </a:prstGeom>
        </p:spPr>
      </p:pic>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A05A6BD7-28A6-4C3B-9AE2-E7A93C8A0A38}"/>
                  </a:ext>
                </a:extLst>
              </p:cNvPr>
              <p:cNvSpPr txBox="1"/>
              <p:nvPr/>
            </p:nvSpPr>
            <p:spPr>
              <a:xfrm>
                <a:off x="7928478" y="1966224"/>
                <a:ext cx="3599267" cy="3416320"/>
              </a:xfrm>
              <a:prstGeom prst="rect">
                <a:avLst/>
              </a:prstGeom>
              <a:noFill/>
            </p:spPr>
            <p:txBody>
              <a:bodyPr wrap="square">
                <a:spAutoFit/>
              </a:bodyPr>
              <a:lstStyle/>
              <a:p>
                <a:pPr marL="285750" indent="-285750">
                  <a:buFont typeface="Arial" panose="020B0604020202020204" pitchFamily="34" charset="0"/>
                  <a:buChar char="•"/>
                </a:pPr>
                <a:r>
                  <a:rPr lang="en-US" altLang="zh-CN" b="0" i="0" dirty="0">
                    <a:solidFill>
                      <a:srgbClr val="222832"/>
                    </a:solidFill>
                    <a:effectLst/>
                    <a:latin typeface="Arial" panose="020B0604020202020204" pitchFamily="34" charset="0"/>
                    <a:cs typeface="Arial" panose="020B0604020202020204" pitchFamily="34" charset="0"/>
                  </a:rPr>
                  <a:t>Basic sequential composition</a:t>
                </a:r>
                <a:r>
                  <a:rPr lang="en-US" altLang="zh-CN" dirty="0">
                    <a:solidFill>
                      <a:srgbClr val="222832"/>
                    </a:solidFill>
                    <a:latin typeface="Arial" panose="020B0604020202020204" pitchFamily="34" charset="0"/>
                    <a:cs typeface="Arial" panose="020B0604020202020204" pitchFamily="34" charset="0"/>
                  </a:rPr>
                  <a:t> </a:t>
                </a:r>
                <a:r>
                  <a:rPr lang="en-US" altLang="zh-CN" b="0" i="0" dirty="0">
                    <a:solidFill>
                      <a:srgbClr val="222832"/>
                    </a:solidFill>
                    <a:effectLst/>
                    <a:latin typeface="Arial" panose="020B0604020202020204" pitchFamily="34" charset="0"/>
                    <a:cs typeface="Arial" panose="020B0604020202020204" pitchFamily="34" charset="0"/>
                  </a:rPr>
                  <a:t>beats advanced composition for smaller</a:t>
                </a:r>
                <a:r>
                  <a:rPr lang="en-US" altLang="zh-CN" dirty="0">
                    <a:solidFill>
                      <a:srgbClr val="222832"/>
                    </a:solidFill>
                    <a:cs typeface="Arial" panose="020B0604020202020204" pitchFamily="34" charset="0"/>
                  </a:rPr>
                  <a:t> </a:t>
                </a:r>
                <a14:m>
                  <m:oMath xmlns:m="http://schemas.openxmlformats.org/officeDocument/2006/math">
                    <m:r>
                      <a:rPr lang="en-US" altLang="zh-CN" i="1">
                        <a:solidFill>
                          <a:srgbClr val="222832"/>
                        </a:solidFill>
                        <a:latin typeface="Cambria Math" panose="02040503050406030204" pitchFamily="18" charset="0"/>
                        <a:cs typeface="Arial" panose="020B0604020202020204" pitchFamily="34" charset="0"/>
                      </a:rPr>
                      <m:t>𝑘</m:t>
                    </m:r>
                  </m:oMath>
                </a14:m>
                <a:r>
                  <a:rPr lang="en-US" altLang="zh-CN" b="0" i="0" dirty="0">
                    <a:solidFill>
                      <a:srgbClr val="222832"/>
                    </a:solidFill>
                    <a:effectLst/>
                    <a:latin typeface="Arial" panose="020B0604020202020204" pitchFamily="34" charset="0"/>
                    <a:cs typeface="Arial" panose="020B0604020202020204" pitchFamily="34" charset="0"/>
                  </a:rPr>
                  <a:t>.</a:t>
                </a:r>
              </a:p>
              <a:p>
                <a:pPr marL="285750" indent="-285750">
                  <a:buFont typeface="Arial" panose="020B0604020202020204" pitchFamily="34" charset="0"/>
                  <a:buChar char="•"/>
                </a:pPr>
                <a:endParaRPr lang="en-US" altLang="zh-CN" dirty="0">
                  <a:solidFill>
                    <a:srgbClr val="222832"/>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zh-CN" dirty="0">
                    <a:solidFill>
                      <a:srgbClr val="222832"/>
                    </a:solidFill>
                    <a:latin typeface="Arial" panose="020B0604020202020204" pitchFamily="34" charset="0"/>
                    <a:cs typeface="Arial" panose="020B0604020202020204" pitchFamily="34" charset="0"/>
                  </a:rPr>
                  <a:t>When </a:t>
                </a:r>
                <a14:m>
                  <m:oMath xmlns:m="http://schemas.openxmlformats.org/officeDocument/2006/math">
                    <m:r>
                      <a:rPr lang="en-US" altLang="zh-CN">
                        <a:solidFill>
                          <a:srgbClr val="222832"/>
                        </a:solidFill>
                        <a:latin typeface="Arial" panose="020B0604020202020204" pitchFamily="34" charset="0"/>
                        <a:cs typeface="Arial" panose="020B0604020202020204" pitchFamily="34" charset="0"/>
                      </a:rPr>
                      <m:t>𝛿</m:t>
                    </m:r>
                    <m:r>
                      <a:rPr lang="en-US" altLang="zh-CN">
                        <a:solidFill>
                          <a:srgbClr val="222832"/>
                        </a:solidFill>
                        <a:latin typeface="Arial" panose="020B0604020202020204" pitchFamily="34" charset="0"/>
                        <a:cs typeface="Arial" panose="020B0604020202020204" pitchFamily="34" charset="0"/>
                      </a:rPr>
                      <m:t>′</m:t>
                    </m:r>
                  </m:oMath>
                </a14:m>
                <a:r>
                  <a:rPr lang="en-US" altLang="zh-CN" dirty="0">
                    <a:solidFill>
                      <a:srgbClr val="222832"/>
                    </a:solidFill>
                    <a:latin typeface="Arial" panose="020B0604020202020204" pitchFamily="34" charset="0"/>
                    <a:cs typeface="Arial" panose="020B0604020202020204" pitchFamily="34" charset="0"/>
                  </a:rPr>
                  <a:t> is small, we will often compare the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solidFill>
                      <a:srgbClr val="222832"/>
                    </a:solidFill>
                    <a:latin typeface="Arial" panose="020B0604020202020204" pitchFamily="34" charset="0"/>
                    <a:cs typeface="Arial" panose="020B0604020202020204" pitchFamily="34" charset="0"/>
                  </a:rPr>
                  <a:t> given by both methods.</a:t>
                </a:r>
              </a:p>
              <a:p>
                <a:pPr marL="285750" indent="-285750">
                  <a:buFont typeface="Arial" panose="020B0604020202020204" pitchFamily="34" charset="0"/>
                  <a:buChar char="•"/>
                </a:pPr>
                <a:endParaRPr lang="en-US" altLang="zh-CN" dirty="0">
                  <a:solidFill>
                    <a:srgbClr val="222832"/>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zh-CN" dirty="0">
                    <a:solidFill>
                      <a:srgbClr val="222832"/>
                    </a:solidFill>
                    <a:latin typeface="Arial" panose="020B0604020202020204" pitchFamily="34" charset="0"/>
                    <a:cs typeface="Arial" panose="020B0604020202020204" pitchFamily="34" charset="0"/>
                  </a:rPr>
                  <a:t>Advanced composition derives a much lower bound on </a:t>
                </a:r>
                <a14:m>
                  <m:oMath xmlns:m="http://schemas.openxmlformats.org/officeDocument/2006/math">
                    <m:r>
                      <a:rPr lang="en-US" altLang="zh-CN" b="0" i="1" smtClean="0">
                        <a:latin typeface="Cambria Math" panose="02040503050406030204" pitchFamily="18" charset="0"/>
                        <a:cs typeface="Arial" panose="020B0604020202020204" pitchFamily="34" charset="0"/>
                      </a:rPr>
                      <m:t>𝜖</m:t>
                    </m:r>
                  </m:oMath>
                </a14:m>
                <a:r>
                  <a:rPr lang="en-US" altLang="zh-CN" dirty="0">
                    <a:solidFill>
                      <a:srgbClr val="222832"/>
                    </a:solidFill>
                    <a:latin typeface="Arial" panose="020B0604020202020204" pitchFamily="34" charset="0"/>
                    <a:cs typeface="Arial" panose="020B0604020202020204" pitchFamily="34" charset="0"/>
                  </a:rPr>
                  <a:t> than sequential composition for the same mechanism.</a:t>
                </a:r>
                <a:endParaRPr lang="zh-CN" altLang="en-US" dirty="0">
                  <a:solidFill>
                    <a:srgbClr val="222832"/>
                  </a:solidFill>
                  <a:latin typeface="Arial" panose="020B0604020202020204" pitchFamily="34" charset="0"/>
                  <a:cs typeface="Arial" panose="020B0604020202020204" pitchFamily="34" charset="0"/>
                </a:endParaRPr>
              </a:p>
            </p:txBody>
          </p:sp>
        </mc:Choice>
        <mc:Fallback>
          <p:sp>
            <p:nvSpPr>
              <p:cNvPr id="8" name="文本框 7">
                <a:extLst>
                  <a:ext uri="{FF2B5EF4-FFF2-40B4-BE49-F238E27FC236}">
                    <a16:creationId xmlns:a16="http://schemas.microsoft.com/office/drawing/2014/main" id="{A05A6BD7-28A6-4C3B-9AE2-E7A93C8A0A38}"/>
                  </a:ext>
                </a:extLst>
              </p:cNvPr>
              <p:cNvSpPr txBox="1">
                <a:spLocks noRot="1" noChangeAspect="1" noMove="1" noResize="1" noEditPoints="1" noAdjustHandles="1" noChangeArrowheads="1" noChangeShapeType="1" noTextEdit="1"/>
              </p:cNvSpPr>
              <p:nvPr/>
            </p:nvSpPr>
            <p:spPr>
              <a:xfrm>
                <a:off x="7928478" y="1966224"/>
                <a:ext cx="3599267" cy="3416320"/>
              </a:xfrm>
              <a:prstGeom prst="rect">
                <a:avLst/>
              </a:prstGeom>
              <a:blipFill>
                <a:blip r:embed="rId3"/>
                <a:stretch>
                  <a:fillRect l="-1186" t="-1071" r="-2373" b="-19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707412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528269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16493</TotalTime>
  <Words>5476</Words>
  <Application>Microsoft Office PowerPoint</Application>
  <PresentationFormat>宽屏</PresentationFormat>
  <Paragraphs>817</Paragraphs>
  <Slides>84</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84</vt:i4>
      </vt:variant>
    </vt:vector>
  </HeadingPairs>
  <TitlesOfParts>
    <vt:vector size="90" baseType="lpstr">
      <vt:lpstr>等线</vt:lpstr>
      <vt:lpstr>等线 Light</vt:lpstr>
      <vt:lpstr>宋体</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Xiaoguang Li</dc:creator>
  <cp:lastModifiedBy>Xiaoguang Li</cp:lastModifiedBy>
  <cp:revision>540</cp:revision>
  <dcterms:created xsi:type="dcterms:W3CDTF">2025-09-02T03:17:26Z</dcterms:created>
  <dcterms:modified xsi:type="dcterms:W3CDTF">2025-09-25T04:47:14Z</dcterms:modified>
</cp:coreProperties>
</file>